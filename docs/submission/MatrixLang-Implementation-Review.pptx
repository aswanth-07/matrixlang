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fe998b2-9c5f-c374-c5db-12b058a67ff9}">
          <p14:sldIdLst>
            <p14:sldId id="256"/>
          </p14:sldIdLst>
        </p14:section>
        <p14:section name="Implementation" id="{f5c6dbe7-ede8-8ee5-a441-4fdfe184e2e7}">
          <p14:sldIdLst>
            <p14:sldId id="257"/>
            <p14:sldId id="258"/>
            <p14:sldId id="259"/>
          </p14:sldIdLst>
        </p14:section>
        <p14:section name="Progress" id="{d4700153-a9fa-fd36-855f-41da6326c557}">
          <p14:sldIdLst>
            <p14:sldId id="260"/>
          </p14:sldIdLst>
        </p14:section>
        <p14:section name="Evidence" id="{57fff6fa-b584-888c-73ad-8094c035a9fd}">
          <p14:sldIdLst>
            <p14:sldId id="261"/>
          </p14:sldIdLst>
        </p14:section>
        <p14:section name="Close" id="{31dcfd3c-9ef4-6554-6fdb-75976a96fe84}">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-ffast-math (GCC)</c:v>
                </c:pt>
              </c:strCache>
            </c:strRef>
          </c:tx>
          <c:spPr>
            <a:solidFill>
              <a:srgbClr val="D96C6C"/>
            </a:solidFill>
            <a:effectLst/>
          </c:spPr>
          <c:invertIfNegative val="0"/>
          <c:dLbls>
            <c:numFmt formatCode="[&lt;10]0.00&quot;×&quot;;#,##0&quot;×&quot;" sourceLinked="0"/>
            <c:txPr>
              <a:bodyPr/>
              <a:lstStyle/>
              <a:p>
                <a:pPr>
                  <a:defRPr b="1" i="0" strike="noStrike" sz="1000" u="none">
                    <a:solidFill>
                      <a:srgbClr val="D5DAD7"/>
                    </a:solidFill>
                    <a:latin typeface="+mn-lt"/>
                  </a:defRPr>
                </a:pPr>
              </a:p>
            </c:txPr>
            <c:showLegendKey val="0"/>
            <c:showVal val="1"/>
            <c:showCatName val="0"/>
            <c:showSerName val="0"/>
            <c:showPercent val="0"/>
            <c:showBubbleSize val="0"/>
            <c:showLeaderLines val="0"/>
          </c:dLbls>
          <c:cat>
            <c:multiLvlStrRef>
              <c:f>Sheet1!$A$2:$A$5</c:f>
              <c:multiLvlStrCache>
                <c:ptCount val="4"/>
                <c:lvl>
                  <c:pt idx="0">
                    <c:v>walks (bool)</c:v>
                  </c:pt>
                  <c:pt idx="1">
                    <c:v>layers (int8)</c:v>
                  </c:pt>
                  <c:pt idx="2">
                    <c:v>lowrank (real)</c:v>
                  </c:pt>
                  <c:pt idx="3">
                    <c:v>diffusion (real)</c:v>
                  </c:pt>
                </c:lvl>
              </c:multiLvlStrCache>
            </c:multiLvlStrRef>
          </c:cat>
          <c:val>
            <c:numRef>
              <c:f>Sheet1!$B$2:$B$5</c:f>
              <c:numCache>
                <c:formatCode>General</c:formatCode>
                <c:ptCount val="4"/>
                <c:pt idx="0">
                  <c:v>1.12</c:v>
                </c:pt>
                <c:pt idx="1">
                  <c:v>0.99</c:v>
                </c:pt>
                <c:pt idx="2">
                  <c:v>1.01</c:v>
                </c:pt>
                <c:pt idx="3">
                  <c:v>1.13</c:v>
                </c:pt>
              </c:numCache>
            </c:numRef>
          </c:val>
        </c:ser>
        <c:ser>
          <c:idx val="1"/>
          <c:order val="1"/>
          <c:tx>
            <c:strRef>
              <c:f>Sheet1!$C$1</c:f>
              <c:strCache>
                <c:ptCount val="1"/>
                <c:pt idx="0">
                  <c:v>strict + proofs</c:v>
                </c:pt>
              </c:strCache>
            </c:strRef>
          </c:tx>
          <c:spPr>
            <a:solidFill>
              <a:srgbClr val="52B788"/>
            </a:solidFill>
            <a:effectLst/>
          </c:spPr>
          <c:invertIfNegative val="0"/>
          <c:dLbls>
            <c:numFmt formatCode="[&lt;10]0.00&quot;×&quot;;#,##0&quot;×&quot;" sourceLinked="0"/>
            <c:txPr>
              <a:bodyPr/>
              <a:lstStyle/>
              <a:p>
                <a:pPr>
                  <a:defRPr b="1" i="0" strike="noStrike" sz="1000" u="none">
                    <a:solidFill>
                      <a:srgbClr val="D5DAD7"/>
                    </a:solidFill>
                    <a:latin typeface="+mn-lt"/>
                  </a:defRPr>
                </a:pPr>
              </a:p>
            </c:txPr>
            <c:showLegendKey val="0"/>
            <c:showVal val="1"/>
            <c:showCatName val="0"/>
            <c:showSerName val="0"/>
            <c:showPercent val="0"/>
            <c:showBubbleSize val="0"/>
            <c:showLeaderLines val="0"/>
          </c:dLbls>
          <c:cat>
            <c:multiLvlStrRef>
              <c:f>Sheet1!$A$2:$A$5</c:f>
              <c:multiLvlStrCache>
                <c:ptCount val="4"/>
                <c:lvl>
                  <c:pt idx="0">
                    <c:v>walks (bool)</c:v>
                  </c:pt>
                  <c:pt idx="1">
                    <c:v>layers (int8)</c:v>
                  </c:pt>
                  <c:pt idx="2">
                    <c:v>lowrank (real)</c:v>
                  </c:pt>
                  <c:pt idx="3">
                    <c:v>diffusion (real)</c:v>
                  </c:pt>
                </c:lvl>
              </c:multiLvlStrCache>
            </c:multiLvlStrRef>
          </c:cat>
          <c:val>
            <c:numRef>
              <c:f>Sheet1!$C$2:$C$5</c:f>
              <c:numCache>
                <c:formatCode>General</c:formatCode>
                <c:ptCount val="4"/>
                <c:pt idx="0">
                  <c:v>278</c:v>
                </c:pt>
                <c:pt idx="1">
                  <c:v>4.98</c:v>
                </c:pt>
                <c:pt idx="2">
                  <c:v>1</c:v>
                </c:pt>
                <c:pt idx="3">
                  <c:v>1.06</c:v>
                </c:pt>
              </c:numCache>
            </c:numRef>
          </c:val>
        </c:ser>
        <c:ser>
          <c:idx val="2"/>
          <c:order val="2"/>
          <c:tx>
            <c:strRef>
              <c:f>Sheet1!$D$1</c:f>
              <c:strCache>
                <c:ptCount val="1"/>
                <c:pt idx="0">
                  <c:v>bounded + proofs</c:v>
                </c:pt>
              </c:strCache>
            </c:strRef>
          </c:tx>
          <c:spPr>
            <a:solidFill>
              <a:srgbClr val="D9A54C"/>
            </a:solidFill>
            <a:effectLst/>
          </c:spPr>
          <c:invertIfNegative val="0"/>
          <c:dLbls>
            <c:numFmt formatCode="[&lt;10]0.00&quot;×&quot;;#,##0&quot;×&quot;" sourceLinked="0"/>
            <c:txPr>
              <a:bodyPr/>
              <a:lstStyle/>
              <a:p>
                <a:pPr>
                  <a:defRPr b="1" i="0" strike="noStrike" sz="1000" u="none">
                    <a:solidFill>
                      <a:srgbClr val="D5DAD7"/>
                    </a:solidFill>
                    <a:latin typeface="+mn-lt"/>
                  </a:defRPr>
                </a:pPr>
              </a:p>
            </c:txPr>
            <c:showLegendKey val="0"/>
            <c:showVal val="1"/>
            <c:showCatName val="0"/>
            <c:showSerName val="0"/>
            <c:showPercent val="0"/>
            <c:showBubbleSize val="0"/>
            <c:showLeaderLines val="0"/>
          </c:dLbls>
          <c:cat>
            <c:multiLvlStrRef>
              <c:f>Sheet1!$A$2:$A$5</c:f>
              <c:multiLvlStrCache>
                <c:ptCount val="4"/>
                <c:lvl>
                  <c:pt idx="0">
                    <c:v>walks (bool)</c:v>
                  </c:pt>
                  <c:pt idx="1">
                    <c:v>layers (int8)</c:v>
                  </c:pt>
                  <c:pt idx="2">
                    <c:v>lowrank (real)</c:v>
                  </c:pt>
                  <c:pt idx="3">
                    <c:v>diffusion (real)</c:v>
                  </c:pt>
                </c:lvl>
              </c:multiLvlStrCache>
            </c:multiLvlStrRef>
          </c:cat>
          <c:val>
            <c:numRef>
              <c:f>Sheet1!$D$2:$D$5</c:f>
              <c:numCache>
                <c:formatCode>General</c:formatCode>
                <c:ptCount val="4"/>
                <c:pt idx="0">
                  <c:v>288</c:v>
                </c:pt>
                <c:pt idx="1">
                  <c:v>5.44</c:v>
                </c:pt>
                <c:pt idx="2">
                  <c:v>469</c:v>
                </c:pt>
                <c:pt idx="3">
                  <c:v>277</c:v>
                </c:pt>
              </c:numCache>
            </c:numRef>
          </c:val>
        </c:ser>
        <c:dLbls>
          <c:numFmt formatCode="[&lt;10]0.00&quot;×&quot;;#,##0&quot;×&quot;" sourceLinked="0"/>
          <c:txPr>
            <a:bodyPr/>
            <a:lstStyle/>
            <a:p>
              <a:pPr>
                <a:defRPr b="1" i="0" strike="noStrike" sz="1000" u="none">
                  <a:solidFill>
                    <a:srgbClr val="D5DAD7"/>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none"/>
        <c:minorTickMark val="none"/>
        <c:tickLblPos val="nextTo"/>
        <c:spPr>
          <a:ln w="12700" cap="flat">
            <a:solidFill>
              <a:srgbClr val="3A403D"/>
            </a:solidFill>
            <a:prstDash val="solid"/>
            <a:round/>
          </a:ln>
        </c:spPr>
        <c:txPr>
          <a:bodyPr/>
          <a:lstStyle/>
          <a:p>
            <a:pPr>
              <a:defRPr sz="1100" b="0" i="0" u="none" strike="noStrike">
                <a:solidFill>
                  <a:srgbClr val="A3AAA6"/>
                </a:solidFill>
                <a:latin typeface="+mn-lt"/>
              </a:defRPr>
            </a:pPr>
            <a:endParaRPr lang="en-US"/>
          </a:p>
        </c:txPr>
        <c:crossAx val="2094734552"/>
        <c:crosses val="autoZero"/>
        <c:auto val="1"/>
        <c:lblAlgn val="ctr"/>
        <c:noMultiLvlLbl val="1"/>
      </c:catAx>
      <c:valAx>
        <c:axId val="2094734552"/>
        <c:scaling>
          <c:orientation val="minMax"/>
          <c:max val="56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no proofs (last review)</c:v>
                </c:pt>
              </c:strCache>
            </c:strRef>
          </c:tx>
          <c:spPr>
            <a:solidFill>
              <a:srgbClr val="6B716D"/>
            </a:solidFill>
            <a:effectLst/>
          </c:spPr>
          <c:invertIfNegative val="0"/>
          <c:dLbls>
            <c:numFmt formatCode="0.0&quot;%&quot;" sourceLinked="0"/>
            <c:txPr>
              <a:bodyPr/>
              <a:lstStyle/>
              <a:p>
                <a:pPr>
                  <a:defRPr b="1" i="0" strike="noStrike" sz="1000" u="none">
                    <a:solidFill>
                      <a:srgbClr val="D5DAD7"/>
                    </a:solidFill>
                    <a:latin typeface="+mn-lt"/>
                  </a:defRPr>
                </a:pPr>
              </a:p>
            </c:txPr>
            <c:showLegendKey val="0"/>
            <c:showVal val="1"/>
            <c:showCatName val="0"/>
            <c:showSerName val="0"/>
            <c:showPercent val="0"/>
            <c:showBubbleSize val="0"/>
            <c:showLeaderLines val="0"/>
          </c:dLbls>
          <c:cat>
            <c:multiLvlStrRef>
              <c:f>Sheet1!$A$2:$A$4</c:f>
              <c:multiLvlStrCache>
                <c:ptCount val="3"/>
                <c:lvl>
                  <c:pt idx="0">
                    <c:v>int8</c:v>
                  </c:pt>
                  <c:pt idx="1">
                    <c:v>int16</c:v>
                  </c:pt>
                  <c:pt idx="2">
                    <c:v>real(1)</c:v>
                  </c:pt>
                </c:lvl>
              </c:multiLvlStrCache>
            </c:multiLvlStrRef>
          </c:cat>
          <c:val>
            <c:numRef>
              <c:f>Sheet1!$B$2:$B$4</c:f>
              <c:numCache>
                <c:formatCode>General</c:formatCode>
                <c:ptCount val="3"/>
                <c:pt idx="0">
                  <c:v>0.5</c:v>
                </c:pt>
                <c:pt idx="1">
                  <c:v>0.3</c:v>
                </c:pt>
                <c:pt idx="2">
                  <c:v>1.4</c:v>
                </c:pt>
              </c:numCache>
            </c:numRef>
          </c:val>
        </c:ser>
        <c:ser>
          <c:idx val="1"/>
          <c:order val="1"/>
          <c:tx>
            <c:strRef>
              <c:f>Sheet1!$C$1</c:f>
              <c:strCache>
                <c:ptCount val="1"/>
                <c:pt idx="0">
                  <c:v>strict + proofs</c:v>
                </c:pt>
              </c:strCache>
            </c:strRef>
          </c:tx>
          <c:spPr>
            <a:solidFill>
              <a:srgbClr val="52B788"/>
            </a:solidFill>
            <a:effectLst/>
          </c:spPr>
          <c:invertIfNegative val="0"/>
          <c:dLbls>
            <c:numFmt formatCode="0.0&quot;%&quot;" sourceLinked="0"/>
            <c:txPr>
              <a:bodyPr/>
              <a:lstStyle/>
              <a:p>
                <a:pPr>
                  <a:defRPr b="1" i="0" strike="noStrike" sz="1000" u="none">
                    <a:solidFill>
                      <a:srgbClr val="D5DAD7"/>
                    </a:solidFill>
                    <a:latin typeface="+mn-lt"/>
                  </a:defRPr>
                </a:pPr>
              </a:p>
            </c:txPr>
            <c:showLegendKey val="0"/>
            <c:showVal val="1"/>
            <c:showCatName val="0"/>
            <c:showSerName val="0"/>
            <c:showPercent val="0"/>
            <c:showBubbleSize val="0"/>
            <c:showLeaderLines val="0"/>
          </c:dLbls>
          <c:cat>
            <c:multiLvlStrRef>
              <c:f>Sheet1!$A$2:$A$4</c:f>
              <c:multiLvlStrCache>
                <c:ptCount val="3"/>
                <c:lvl>
                  <c:pt idx="0">
                    <c:v>int8</c:v>
                  </c:pt>
                  <c:pt idx="1">
                    <c:v>int16</c:v>
                  </c:pt>
                  <c:pt idx="2">
                    <c:v>real(1)</c:v>
                  </c:pt>
                </c:lvl>
              </c:multiLvlStrCache>
            </c:multiLvlStrRef>
          </c:cat>
          <c:val>
            <c:numRef>
              <c:f>Sheet1!$C$2:$C$4</c:f>
              <c:numCache>
                <c:formatCode>General</c:formatCode>
                <c:ptCount val="3"/>
                <c:pt idx="0">
                  <c:v>16.5</c:v>
                </c:pt>
                <c:pt idx="1">
                  <c:v>7.8</c:v>
                </c:pt>
                <c:pt idx="2">
                  <c:v>7.5</c:v>
                </c:pt>
              </c:numCache>
            </c:numRef>
          </c:val>
        </c:ser>
        <c:ser>
          <c:idx val="2"/>
          <c:order val="2"/>
          <c:tx>
            <c:strRef>
              <c:f>Sheet1!$D$1</c:f>
              <c:strCache>
                <c:ptCount val="1"/>
                <c:pt idx="0">
                  <c:v>bounded + proofs</c:v>
                </c:pt>
              </c:strCache>
            </c:strRef>
          </c:tx>
          <c:spPr>
            <a:solidFill>
              <a:srgbClr val="D9A54C"/>
            </a:solidFill>
            <a:effectLst/>
          </c:spPr>
          <c:invertIfNegative val="0"/>
          <c:dLbls>
            <c:numFmt formatCode="0.0&quot;%&quot;" sourceLinked="0"/>
            <c:txPr>
              <a:bodyPr/>
              <a:lstStyle/>
              <a:p>
                <a:pPr>
                  <a:defRPr b="1" i="0" strike="noStrike" sz="1000" u="none">
                    <a:solidFill>
                      <a:srgbClr val="D5DAD7"/>
                    </a:solidFill>
                    <a:latin typeface="+mn-lt"/>
                  </a:defRPr>
                </a:pPr>
              </a:p>
            </c:txPr>
            <c:showLegendKey val="0"/>
            <c:showVal val="1"/>
            <c:showCatName val="0"/>
            <c:showSerName val="0"/>
            <c:showPercent val="0"/>
            <c:showBubbleSize val="0"/>
            <c:showLeaderLines val="0"/>
          </c:dLbls>
          <c:cat>
            <c:multiLvlStrRef>
              <c:f>Sheet1!$A$2:$A$4</c:f>
              <c:multiLvlStrCache>
                <c:ptCount val="3"/>
                <c:lvl>
                  <c:pt idx="0">
                    <c:v>int8</c:v>
                  </c:pt>
                  <c:pt idx="1">
                    <c:v>int16</c:v>
                  </c:pt>
                  <c:pt idx="2">
                    <c:v>real(1)</c:v>
                  </c:pt>
                </c:lvl>
              </c:multiLvlStrCache>
            </c:multiLvlStrRef>
          </c:cat>
          <c:val>
            <c:numRef>
              <c:f>Sheet1!$D$2:$D$4</c:f>
              <c:numCache>
                <c:formatCode>General</c:formatCode>
                <c:ptCount val="3"/>
                <c:pt idx="0">
                  <c:v>19.6</c:v>
                </c:pt>
                <c:pt idx="1">
                  <c:v>22.3</c:v>
                </c:pt>
                <c:pt idx="2">
                  <c:v>25.1</c:v>
                </c:pt>
              </c:numCache>
            </c:numRef>
          </c:val>
        </c:ser>
        <c:dLbls>
          <c:numFmt formatCode="0.0&quot;%&quot;" sourceLinked="0"/>
          <c:txPr>
            <a:bodyPr/>
            <a:lstStyle/>
            <a:p>
              <a:pPr>
                <a:defRPr b="1" i="0" strike="noStrike" sz="1000" u="none">
                  <a:solidFill>
                    <a:srgbClr val="D5DAD7"/>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none"/>
        <c:minorTickMark val="none"/>
        <c:tickLblPos val="nextTo"/>
        <c:spPr>
          <a:ln w="12700" cap="flat">
            <a:solidFill>
              <a:srgbClr val="3A403D"/>
            </a:solidFill>
            <a:prstDash val="solid"/>
            <a:round/>
          </a:ln>
        </c:spPr>
        <c:txPr>
          <a:bodyPr/>
          <a:lstStyle/>
          <a:p>
            <a:pPr>
              <a:defRPr sz="1100" b="0" i="0" u="none" strike="noStrike">
                <a:solidFill>
                  <a:srgbClr val="A3AAA6"/>
                </a:solidFill>
                <a:latin typeface="+mn-lt"/>
              </a:defRPr>
            </a:pPr>
            <a:endParaRPr lang="en-US"/>
          </a:p>
        </c:txPr>
        <c:crossAx val="2094734552"/>
        <c:crosses val="autoZero"/>
        <c:auto val="1"/>
        <c:lblAlgn val="ctr"/>
        <c:noMultiLvlLbl val="1"/>
      </c:catAx>
      <c:valAx>
        <c:axId val="2094734552"/>
        <c:scaling>
          <c:orientation val="minMax"/>
          <c:max val="32"/>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Good morning, sir. I am A Aswanth Raj, 24BAI0044, and this is the implementation review of MatrixLang, done under Dr. Ranjithkumar S for the Compiler Design Lab, BCSE307P.
In one sentence: MatrixLang is a complete compiler for a small matrix language, and its optimizer proves, for every floating-point rewrite, which guarantee it keeps: bit-identical, bound-preserving or relaxed. Those three levels are the green, amber and red you will see on every slide.
The matrix on the right is a teaser. It comes back on slide 3 with its meaning.
(Run this in Slide Show: every transition is Morph.)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90 seconds.
Everything on this slide is implemented and runs: nine stages, 7,700 lines of C11 with Flex and Bison.
Front end: a Flex scanner; a Bison LALR(1) parser with no conflicts; and a type system in which the type of a matrix is its shape, Matrix&lt;40x2&gt;, so a dimension mismatch is a compile-time error. New since the last review: input domains. A program declares run-time inputs such as input(int8), and every value is checked against its domain when it is loaded.
Middle end: three-address code, then the optimizer: constant folding, common subexpressions, copy propagation, dead code, algebraic identities, and matrix-chain reordering by dynamic programming over a cost model. New: a fact analysis and three numerical contracts decide which value-changing rewrites are legal.
Back ends: a typed stack VM, and, new, a C11 emitter that hands the optimized program to GCC.
Bottom: a real run. The chain A*B*C becomes A*(B*C), 11,120 operations down to 556, and the compiler certifies that print(R) is still bit-identical, because every intermediate of every bracketing needs at most 28 of the 53 significand bits.
34 command-line flags show each stage; the browser workspace shows them side by side. make test passes: 234 acceptance checks, numerical fixtures, front-end agreement, service tests and a GCC check of the emitted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75 seconds.
Reordering a product chain is the biggest saving available, but floating-point addition is not associative, so a reorder can change the bits. Production compilers offer one switch: strict IEEE, or -ffast-math. That switch says what the compiler may do. It never says what the result is.
I separate three guarantees. Bit-identical: the same bits as the unoptimized program for every input in the declared domains. Bound-preserving: within the source order's worst-case error bound, with NaN and infinity unchanged. Relaxed: equal only over the real numbers. A contract names the weakest level the optimizer may use: strict, bounded or algebraic.
This is the matrix from the title slide. One program, R = A*B*C. Rows are the declared input domain; columns are the contract. On int8 data every contract reorders, 556 operations, and the output stays bit-identical. On real(1) data strict refuses and keeps 11,120; bounded reorders and certifies the error bound. On unbounded reals only algebraic reorders, and the output is certified relaxed. The program text never changes; what decides is the values it will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90 seconds.
How the compiler proves it, in four steps.
One: inputs declare a domain, and the runtime checks it.
Two: a grid-magnitude analysis keeps five facts per value: every entry is a multiple of 2 to the g, its magnitude is at most m, and whether it is finite, whether it can be negative, and whether it can be minus zero. For int8 data: g = 0 and m = 128.
Three: two theorems. Theorem 1: if every proper sub-chain fits in 53 significand bits and the final sums round at most once, every bracketing and every order of summation returns the correctly rounded product, so the reorder is bit-identical. It is tight. For int(0,m) chains of shape 100x2, 2x100, 100x2 the compiler reorders up to m = 35,697, because 198 times 35,697 cubed is at most 2 to the 53 and 198 times 35,698 cubed is not; at 35,698 we construct inputs on which the two bracketings print different bits.
Theorem 2: the standard componentwise error bound of a chain is the same for every bracketing, so the bounded contract needs only a range check that rules out overflow.
Four: every print gets a certificate, the weakest level among the rewrites that reach it. The C backend turns certificates into code: only the sums the facts prove order-free get an OpenMP reduction clause, which licenses GCC to vectorise exactly those.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Since the last review the code grew from 4,779 to 7,700 lines. The last review had one switch: reorder with no guarantee at all, or never reorder. Now there are three contracts, and every rewrite proves which one it satisfies. Two theorems stand behind the optimizer. The checks went from 157 to 234 acceptance checks, plus four independent verifiers: numerical fixtures, front-end agreement, the workspace service tests, and a GCC check of the emitted C.
Row by row: programs now take run-time inputs with declared domains; the back end emits C with OpenMP reduction clauses; the evidence is no longer modeled operation counts alone but six research questions with real GCC runtimes; and the nine-page teaching-compiler study became a ten-page research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90 seconds. Two baselines, every number regenerated from raw data by make contracts.
Left: runtime against GCC's own baseline, -ffast-math, on four kernels compiled by GCC 15.2. The red bars are -ffast-math, so short you can barely see them: at most 1.13x, because GCC reassociates scalar sums but never reorders a matrix chain. Green is the strict contract: walk counts on a graph, 278x faster with identical bits, because the proof says every bracketing gives the same answer. It refuses the real-valued kernels, which is correct: there the bits would change. Amber is the bounded contract: it takes those too, 469x and 277x, within the source order's worst-case error bound.
Right: the other baseline is my own optimizer from the last review, which had no proofs. Grey: it could remove almost nothing safely, 0.5% of the arithmetic on int8 programs. With proofs, strict removes 16.5% with identical bits, and bounded removes all of the available saving on every bounded domain.
Bottom: 0 of 57,600 outputs certified bit-identical ever changed; the threshold is tight: the first breaking input is at m* + 1 on three chain families, and at m* + 2 on the four-operand chain, where a parity argument rules out m* + 1; a mutant that allows 54 bits is killed by 24 proof-built tests and by no random test at all; and in a preregistered study of 2,700 chains the cheaper bracketing is also more accurate, p = 4.6e-11.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The QR code opens the repository: code, paper, raw data and the browser workspace.
The paper: "Exact, Bounded, or Relaxed: Proving Which Floating-Point Guarantee a Compiler Rewrite Keeps", ten pages in ACM SIGPLAN format, with you as co-author, sir, pending your review. Two theorems, an implementation, and six research questions. The target is CC 2027, ACM SIGPLAN Compiler Construction; its call is expected in November, following earlier years.
Likely questions:
Why not just use -ffast-math? It is a permission, not a guarantee: nobody can tell which outputs changed. And here it gains at most 1.13x, because GCC does not reorder matrix chains.
How do you know the certificates are sound? Theorem 1, plus 57,600 executions per contract with no violation. That check found, and I fixed, one real defect: the inheritance rule.
Is the threshold tight? Yes. A witness exists at m* + 1 on three chain families, and at m* + 2 on the four-operand chain, where a parity argument rules out m* + 1.
Limits? Straight-line, statically shaped programs. Bit-identity proofs cover integer and dyadic data. The bounded contract excludes gradual underflow. Runtimes come from one machine and one compiler.
What next? An LLVM prototype of the per-reduction license, loops through a fixed point over the same lattice, kernels from real applications, and submission to CC 2027.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X_TITLE">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9224" y="1298448"/>
            <a:ext cx="6766560" cy="1325880"/>
          </a:xfrm>
          <a:prstGeom prst="rect">
            <a:avLst/>
          </a:prstGeom>
          <a:noFill/>
          <a:ln/>
        </p:spPr>
        <p:txBody>
          <a:bodyPr wrap="square" rtlCol="0"/>
          <a:lstStyle>
            <a:lvl1pPr algn="l" indent="0" marL="0">
              <a:buNone/>
              <a:defRPr lang="en-US" sz="8000" dirty="0">
                <a:solidFill>
                  <a:schemeClr val="bg1"/>
                </a:solidFill>
                <a:latin typeface="Segoe UI Black" pitchFamily="34" charset="0"/>
                <a:ea typeface="Segoe UI Black" pitchFamily="34" charset="-122"/>
                <a:cs typeface="Segoe UI Black" pitchFamily="34" charset="-120"/>
              </a:defRPr>
            </a:lvl1pPr>
          </a:lstStyle>
          <a:p>
            <a:pPr algn="l" indent="0" marL="0">
              <a:buNone/>
            </a:pPr>
            <a:endParaRPr lang="en-US" sz="8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X_CONTENT">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676656"/>
            <a:ext cx="9326880" cy="658368"/>
          </a:xfrm>
          <a:prstGeom prst="rect">
            <a:avLst/>
          </a:prstGeom>
          <a:noFill/>
          <a:ln/>
        </p:spPr>
        <p:txBody>
          <a:bodyPr wrap="square" rtlCol="0"/>
          <a:lstStyle>
            <a:lvl1pPr algn="l" indent="0" marL="0">
              <a:buNone/>
              <a:defRPr lang="en-US" sz="3000" dirty="0">
                <a:solidFill>
                  <a:schemeClr val="bg1"/>
                </a:solidFill>
                <a:latin typeface="Segoe UI Semibold" pitchFamily="34" charset="0"/>
                <a:ea typeface="Segoe UI Semibold" pitchFamily="34" charset="-122"/>
                <a:cs typeface="Segoe UI Semibold" pitchFamily="34" charset="-120"/>
              </a:defRPr>
            </a:lvl1pPr>
          </a:lstStyle>
          <a:p>
            <a:pPr algn="l" indent="0" marL="0">
              <a:buNone/>
            </a:pPr>
            <a:endParaRPr lang="en-US" sz="3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MX_CLOSE">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097280" y="1243584"/>
            <a:ext cx="6858000" cy="1371600"/>
          </a:xfrm>
          <a:prstGeom prst="rect">
            <a:avLst/>
          </a:prstGeom>
          <a:noFill/>
          <a:ln/>
        </p:spPr>
        <p:txBody>
          <a:bodyPr wrap="square" rtlCol="0"/>
          <a:lstStyle>
            <a:lvl1pPr algn="l" indent="0" marL="0">
              <a:buNone/>
              <a:defRPr lang="en-US" sz="9600" dirty="0">
                <a:solidFill>
                  <a:schemeClr val="bg1"/>
                </a:solidFill>
                <a:latin typeface="Segoe UI Black" pitchFamily="34" charset="0"/>
                <a:ea typeface="Segoe UI Black" pitchFamily="34" charset="-122"/>
                <a:cs typeface="Segoe UI Black" pitchFamily="34" charset="-120"/>
              </a:defRPr>
            </a:lvl1pPr>
          </a:lstStyle>
          <a:p>
            <a:pPr algn="l" indent="0" marL="0">
              <a:buNone/>
            </a:pPr>
            <a:endParaRPr lang="en-US" sz="9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github.com/aswanth-07/matrixlang" TargetMode="External"/><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github.com/aswanth-07/matrixlang" TargetMode="External"/><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github.com/aswanth-07/matrixlang" TargetMode="Externa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github.com/aswanth-07/matrixlang" TargetMode="Externa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github.com/aswanth-07/matrixlang" TargetMode="Externa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github.com/aswanth-07/matrixlang" TargetMode="External"/><Relationship Id="rId2" Type="http://schemas.openxmlformats.org/officeDocument/2006/relationships/chart" Target="/ppt/charts/chart1.xml"/><Relationship Id="rId3" Type="http://schemas.openxmlformats.org/officeDocument/2006/relationships/chart" Target="/ppt/charts/chart2.xml"/><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hyperlink" Target="https://github.com/aswanth-07/matrixlang/blob/main/paper/matrixlang.pdf" TargetMode="External"/><Relationship Id="rId4" Type="http://schemas.openxmlformats.org/officeDocument/2006/relationships/hyperlink" Target="https://github.com/aswanth-07/matrixlang/blob/main/paper/matrixlang.pdf" TargetMode="External"/><Relationship Id="rId6" Type="http://schemas.openxmlformats.org/officeDocument/2006/relationships/hyperlink" Target="https://github.com/aswanth-07/matrixlang/blob/main/paper/matrixlang.pdf" TargetMode="External"/><Relationship Id="rId8" Type="http://schemas.openxmlformats.org/officeDocument/2006/relationships/hyperlink" Target="https://github.com/aswanth-07/matrixlang" TargetMode="External"/><Relationship Id="rId9" Type="http://schemas.openxmlformats.org/officeDocument/2006/relationships/hyperlink" Target="https://github.com/aswanth-07/matrixlang" TargetMode="External"/><Relationship Id="rId1" Type="http://schemas.openxmlformats.org/officeDocument/2006/relationships/image" Target="../media/image-7-1.png"/><Relationship Id="rId3" Type="http://schemas.openxmlformats.org/officeDocument/2006/relationships/image" Target="../media/image-7-2.png"/><Relationship Id="rId5" Type="http://schemas.openxmlformats.org/officeDocument/2006/relationships/image" Target="../media/image-7-3.png"/><Relationship Id="rId7" Type="http://schemas.openxmlformats.org/officeDocument/2006/relationships/image" Target="../media/image-7-4.png"/><Relationship Id="rId10" Type="http://schemas.openxmlformats.org/officeDocument/2006/relationships/slideLayout" Target="../slideLayouts/slideLayout4.xml"/><Relationship Id="rId11"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685800" y="347472"/>
            <a:ext cx="87782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Consolas" pitchFamily="34" charset="0"/>
                <a:ea typeface="Consolas" pitchFamily="34" charset="-122"/>
                <a:cs typeface="Consolas" pitchFamily="34" charset="-120"/>
              </a:rPr>
              <a:t>IMPLEMENTATION REVIEW  //  COMPILER DESIGN LAB</a:t>
            </a:r>
            <a:endParaRPr lang="en-US" sz="1200" dirty="0"/>
          </a:p>
        </p:txBody>
      </p:sp>
      <p:sp>
        <p:nvSpPr>
          <p:cNvPr id="3" name="!!vL"/>
          <p:cNvSpPr/>
          <p:nvPr/>
        </p:nvSpPr>
        <p:spPr>
          <a:xfrm>
            <a:off x="10241280" y="356616"/>
            <a:ext cx="54864" cy="256032"/>
          </a:xfrm>
          <a:custGeom>
            <a:avLst/>
            <a:gdLst/>
            <a:ahLst/>
            <a:cxnLst/>
            <a:rect l="l" t="t" r="r" b="b"/>
            <a:pathLst>
              <a:path w="54864" h="256032">
                <a:moveTo>
                  <a:pt x="54864" y="0"/>
                </a:moveTo>
                <a:lnTo>
                  <a:pt x="0" y="0"/>
                </a:lnTo>
                <a:lnTo>
                  <a:pt x="0" y="256032"/>
                </a:lnTo>
                <a:lnTo>
                  <a:pt x="54864" y="256032"/>
                </a:lnTo>
              </a:path>
            </a:pathLst>
          </a:custGeom>
          <a:noFill/>
          <a:ln w="12700">
            <a:solidFill>
              <a:srgbClr val="4A514D"/>
            </a:solidFill>
            <a:prstDash val="solid"/>
          </a:ln>
        </p:spPr>
      </p:sp>
      <p:sp>
        <p:nvSpPr>
          <p:cNvPr id="4" name="!!vR"/>
          <p:cNvSpPr/>
          <p:nvPr/>
        </p:nvSpPr>
        <p:spPr>
          <a:xfrm>
            <a:off x="11448288" y="356616"/>
            <a:ext cx="54864" cy="256032"/>
          </a:xfrm>
          <a:custGeom>
            <a:avLst/>
            <a:gdLst/>
            <a:ahLst/>
            <a:cxnLst/>
            <a:rect l="l" t="t" r="r" b="b"/>
            <a:pathLst>
              <a:path w="54864" h="256032">
                <a:moveTo>
                  <a:pt x="0" y="0"/>
                </a:moveTo>
                <a:lnTo>
                  <a:pt x="54864" y="0"/>
                </a:lnTo>
                <a:lnTo>
                  <a:pt x="54864" y="256032"/>
                </a:lnTo>
                <a:lnTo>
                  <a:pt x="0" y="256032"/>
                </a:lnTo>
              </a:path>
            </a:pathLst>
          </a:custGeom>
          <a:noFill/>
          <a:ln w="12700">
            <a:solidFill>
              <a:srgbClr val="4A514D"/>
            </a:solidFill>
            <a:prstDash val="solid"/>
          </a:ln>
        </p:spPr>
      </p:sp>
      <p:sp>
        <p:nvSpPr>
          <p:cNvPr id="5" name="!!e1"/>
          <p:cNvSpPr txBox="1"/>
          <p:nvPr/>
        </p:nvSpPr>
        <p:spPr>
          <a:xfrm>
            <a:off x="10341864" y="347472"/>
            <a:ext cx="146304" cy="274320"/>
          </a:xfrm>
          <a:prstGeom prst="rect">
            <a:avLst/>
          </a:prstGeom>
          <a:noFill/>
          <a:ln/>
        </p:spPr>
        <p:txBody>
          <a:bodyPr wrap="square" lIns="0" tIns="0" rIns="0" bIns="0" rtlCol="0" anchor="ctr"/>
          <a:lstStyle/>
          <a:p>
            <a:pPr algn="ctr" indent="0" marL="0">
              <a:buNone/>
            </a:pPr>
            <a:r>
              <a:rPr lang="en-US" sz="1200" b="1" dirty="0">
                <a:solidFill>
                  <a:schemeClr val="accent1"/>
                </a:solidFill>
                <a:latin typeface="Consolas" pitchFamily="34" charset="0"/>
                <a:ea typeface="Consolas" pitchFamily="34" charset="-122"/>
                <a:cs typeface="Consolas" pitchFamily="34" charset="-120"/>
              </a:rPr>
              <a:t>1</a:t>
            </a:r>
            <a:endParaRPr lang="en-US" sz="1200" dirty="0"/>
          </a:p>
        </p:txBody>
      </p:sp>
      <p:sp>
        <p:nvSpPr>
          <p:cNvPr id="6" name="!!e2"/>
          <p:cNvSpPr txBox="1"/>
          <p:nvPr/>
        </p:nvSpPr>
        <p:spPr>
          <a:xfrm>
            <a:off x="10492740" y="347472"/>
            <a:ext cx="146304" cy="274320"/>
          </a:xfrm>
          <a:prstGeom prst="rect">
            <a:avLst/>
          </a:prstGeom>
          <a:noFill/>
          <a:ln/>
        </p:spPr>
        <p:txBody>
          <a:bodyPr wrap="square" lIns="0" tIns="0" rIns="0" bIns="0" rtlCol="0" anchor="ctr"/>
          <a:lstStyle/>
          <a:p>
            <a:pPr algn="ctr" indent="0" marL="0">
              <a:buNone/>
            </a:pPr>
            <a:r>
              <a:rPr lang="en-US" sz="1200" dirty="0">
                <a:solidFill>
                  <a:srgbClr val="4A514D"/>
                </a:solidFill>
                <a:latin typeface="Consolas" pitchFamily="34" charset="0"/>
                <a:ea typeface="Consolas" pitchFamily="34" charset="-122"/>
                <a:cs typeface="Consolas" pitchFamily="34" charset="-120"/>
              </a:rPr>
              <a:t>0</a:t>
            </a:r>
            <a:endParaRPr lang="en-US" sz="1200" dirty="0"/>
          </a:p>
        </p:txBody>
      </p:sp>
      <p:sp>
        <p:nvSpPr>
          <p:cNvPr id="7" name="!!e3"/>
          <p:cNvSpPr txBox="1"/>
          <p:nvPr/>
        </p:nvSpPr>
        <p:spPr>
          <a:xfrm>
            <a:off x="10643616" y="347472"/>
            <a:ext cx="146304" cy="274320"/>
          </a:xfrm>
          <a:prstGeom prst="rect">
            <a:avLst/>
          </a:prstGeom>
          <a:noFill/>
          <a:ln/>
        </p:spPr>
        <p:txBody>
          <a:bodyPr wrap="square" lIns="0" tIns="0" rIns="0" bIns="0" rtlCol="0" anchor="ctr"/>
          <a:lstStyle/>
          <a:p>
            <a:pPr algn="ctr" indent="0" marL="0">
              <a:buNone/>
            </a:pPr>
            <a:r>
              <a:rPr lang="en-US" sz="1200" dirty="0">
                <a:solidFill>
                  <a:srgbClr val="4A514D"/>
                </a:solidFill>
                <a:latin typeface="Consolas" pitchFamily="34" charset="0"/>
                <a:ea typeface="Consolas" pitchFamily="34" charset="-122"/>
                <a:cs typeface="Consolas" pitchFamily="34" charset="-120"/>
              </a:rPr>
              <a:t>0</a:t>
            </a:r>
            <a:endParaRPr lang="en-US" sz="1200" dirty="0"/>
          </a:p>
        </p:txBody>
      </p:sp>
      <p:sp>
        <p:nvSpPr>
          <p:cNvPr id="8" name="!!e4"/>
          <p:cNvSpPr txBox="1"/>
          <p:nvPr/>
        </p:nvSpPr>
        <p:spPr>
          <a:xfrm>
            <a:off x="10794492" y="347472"/>
            <a:ext cx="146304" cy="274320"/>
          </a:xfrm>
          <a:prstGeom prst="rect">
            <a:avLst/>
          </a:prstGeom>
          <a:noFill/>
          <a:ln/>
        </p:spPr>
        <p:txBody>
          <a:bodyPr wrap="square" lIns="0" tIns="0" rIns="0" bIns="0" rtlCol="0" anchor="ctr"/>
          <a:lstStyle/>
          <a:p>
            <a:pPr algn="ctr" indent="0" marL="0">
              <a:buNone/>
            </a:pPr>
            <a:r>
              <a:rPr lang="en-US" sz="1200" dirty="0">
                <a:solidFill>
                  <a:srgbClr val="4A514D"/>
                </a:solidFill>
                <a:latin typeface="Consolas" pitchFamily="34" charset="0"/>
                <a:ea typeface="Consolas" pitchFamily="34" charset="-122"/>
                <a:cs typeface="Consolas" pitchFamily="34" charset="-120"/>
              </a:rPr>
              <a:t>0</a:t>
            </a:r>
            <a:endParaRPr lang="en-US" sz="1200" dirty="0"/>
          </a:p>
        </p:txBody>
      </p:sp>
      <p:sp>
        <p:nvSpPr>
          <p:cNvPr id="9" name="!!e5"/>
          <p:cNvSpPr txBox="1"/>
          <p:nvPr/>
        </p:nvSpPr>
        <p:spPr>
          <a:xfrm>
            <a:off x="10945368" y="347472"/>
            <a:ext cx="146304" cy="274320"/>
          </a:xfrm>
          <a:prstGeom prst="rect">
            <a:avLst/>
          </a:prstGeom>
          <a:noFill/>
          <a:ln/>
        </p:spPr>
        <p:txBody>
          <a:bodyPr wrap="square" lIns="0" tIns="0" rIns="0" bIns="0" rtlCol="0" anchor="ctr"/>
          <a:lstStyle/>
          <a:p>
            <a:pPr algn="ctr" indent="0" marL="0">
              <a:buNone/>
            </a:pPr>
            <a:r>
              <a:rPr lang="en-US" sz="1200" dirty="0">
                <a:solidFill>
                  <a:srgbClr val="4A514D"/>
                </a:solidFill>
                <a:latin typeface="Consolas" pitchFamily="34" charset="0"/>
                <a:ea typeface="Consolas" pitchFamily="34" charset="-122"/>
                <a:cs typeface="Consolas" pitchFamily="34" charset="-120"/>
              </a:rPr>
              <a:t>0</a:t>
            </a:r>
            <a:endParaRPr lang="en-US" sz="1200" dirty="0"/>
          </a:p>
        </p:txBody>
      </p:sp>
      <p:sp>
        <p:nvSpPr>
          <p:cNvPr id="10" name="!!e6"/>
          <p:cNvSpPr txBox="1"/>
          <p:nvPr/>
        </p:nvSpPr>
        <p:spPr>
          <a:xfrm>
            <a:off x="11096244" y="347472"/>
            <a:ext cx="146304" cy="274320"/>
          </a:xfrm>
          <a:prstGeom prst="rect">
            <a:avLst/>
          </a:prstGeom>
          <a:noFill/>
          <a:ln/>
        </p:spPr>
        <p:txBody>
          <a:bodyPr wrap="square" lIns="0" tIns="0" rIns="0" bIns="0" rtlCol="0" anchor="ctr"/>
          <a:lstStyle/>
          <a:p>
            <a:pPr algn="ctr" indent="0" marL="0">
              <a:buNone/>
            </a:pPr>
            <a:r>
              <a:rPr lang="en-US" sz="1200" dirty="0">
                <a:solidFill>
                  <a:srgbClr val="4A514D"/>
                </a:solidFill>
                <a:latin typeface="Consolas" pitchFamily="34" charset="0"/>
                <a:ea typeface="Consolas" pitchFamily="34" charset="-122"/>
                <a:cs typeface="Consolas" pitchFamily="34" charset="-120"/>
              </a:rPr>
              <a:t>0</a:t>
            </a:r>
            <a:endParaRPr lang="en-US" sz="1200" dirty="0"/>
          </a:p>
        </p:txBody>
      </p:sp>
      <p:sp>
        <p:nvSpPr>
          <p:cNvPr id="11" name="!!e7"/>
          <p:cNvSpPr txBox="1"/>
          <p:nvPr/>
        </p:nvSpPr>
        <p:spPr>
          <a:xfrm>
            <a:off x="11247120" y="347472"/>
            <a:ext cx="146304" cy="274320"/>
          </a:xfrm>
          <a:prstGeom prst="rect">
            <a:avLst/>
          </a:prstGeom>
          <a:noFill/>
          <a:ln/>
        </p:spPr>
        <p:txBody>
          <a:bodyPr wrap="square" lIns="0" tIns="0" rIns="0" bIns="0" rtlCol="0" anchor="ctr"/>
          <a:lstStyle/>
          <a:p>
            <a:pPr algn="ctr" indent="0" marL="0">
              <a:buNone/>
            </a:pPr>
            <a:r>
              <a:rPr lang="en-US" sz="1200" dirty="0">
                <a:solidFill>
                  <a:srgbClr val="4A514D"/>
                </a:solidFill>
                <a:latin typeface="Consolas" pitchFamily="34" charset="0"/>
                <a:ea typeface="Consolas" pitchFamily="34" charset="-122"/>
                <a:cs typeface="Consolas" pitchFamily="34" charset="-120"/>
              </a:rPr>
              <a:t>0</a:t>
            </a:r>
            <a:endParaRPr lang="en-US" sz="1200" dirty="0"/>
          </a:p>
        </p:txBody>
      </p:sp>
      <p:sp>
        <p:nvSpPr>
          <p:cNvPr id="12" name="Text 0"/>
          <p:cNvSpPr/>
          <p:nvPr>
            <p:ph idx="100" type="title" hasCustomPrompt="1"/>
          </p:nvPr>
        </p:nvSpPr>
        <p:spPr>
          <a:xfrm>
            <a:off x="649224" y="1298448"/>
            <a:ext cx="6766560" cy="1325880"/>
          </a:xfrm>
          <a:prstGeom prst="rect">
            <a:avLst/>
          </a:prstGeom>
          <a:noFill/>
          <a:ln/>
        </p:spPr>
        <p:txBody>
          <a:bodyPr wrap="square" lIns="0" tIns="0" rIns="0" bIns="0" rtlCol="0" anchor="ctr"/>
          <a:lstStyle/>
          <a:p>
            <a:pPr algn="l" indent="0" marL="0">
              <a:buNone/>
            </a:pPr>
            <a:r>
              <a:rPr lang="en-US" sz="8000" dirty="0">
                <a:solidFill>
                  <a:schemeClr val="bg1"/>
                </a:solidFill>
                <a:latin typeface="Segoe UI Black" pitchFamily="34" charset="0"/>
                <a:ea typeface="Segoe UI Black" pitchFamily="34" charset="-122"/>
                <a:cs typeface="Segoe UI Black" pitchFamily="34" charset="-120"/>
              </a:rPr>
              <a:t>Matrix</a:t>
            </a:r>
            <a:pPr algn="l" indent="0" marL="0">
              <a:buNone/>
            </a:pPr>
            <a:r>
              <a:rPr lang="en-US" sz="8000" dirty="0">
                <a:solidFill>
                  <a:schemeClr val="accent1"/>
                </a:solidFill>
                <a:latin typeface="Segoe UI Black" pitchFamily="34" charset="0"/>
                <a:ea typeface="Segoe UI Black" pitchFamily="34" charset="-122"/>
                <a:cs typeface="Segoe UI Black" pitchFamily="34" charset="-120"/>
              </a:rPr>
              <a:t>Lang</a:t>
            </a:r>
            <a:endParaRPr lang="en-US" sz="8000" dirty="0"/>
          </a:p>
        </p:txBody>
      </p:sp>
      <p:sp>
        <p:nvSpPr>
          <p:cNvPr id="13" name="Text 11"/>
          <p:cNvSpPr txBox="1"/>
          <p:nvPr/>
        </p:nvSpPr>
        <p:spPr>
          <a:xfrm>
            <a:off x="685800" y="2697480"/>
            <a:ext cx="6675120" cy="868680"/>
          </a:xfrm>
          <a:prstGeom prst="rect">
            <a:avLst/>
          </a:prstGeom>
          <a:noFill/>
          <a:ln/>
        </p:spPr>
        <p:txBody>
          <a:bodyPr wrap="square" lIns="0" tIns="0" rIns="0" bIns="0" rtlCol="0" anchor="t"/>
          <a:lstStyle/>
          <a:p>
            <a:pPr indent="0" marL="0">
              <a:buNone/>
            </a:pPr>
            <a:r>
              <a:rPr lang="en-US" sz="2000" dirty="0">
                <a:solidFill>
                  <a:schemeClr val="bg2"/>
                </a:solidFill>
                <a:latin typeface="Segoe UI" pitchFamily="34" charset="0"/>
                <a:ea typeface="Segoe UI" pitchFamily="34" charset="-122"/>
                <a:cs typeface="Segoe UI" pitchFamily="34" charset="-120"/>
              </a:rPr>
              <a:t>A dimension-aware compiler that </a:t>
            </a:r>
            <a:pPr indent="0" marL="0">
              <a:buNone/>
            </a:pPr>
            <a:r>
              <a:rPr lang="en-US" sz="2000" b="1" dirty="0">
                <a:solidFill>
                  <a:schemeClr val="accent1"/>
                </a:solidFill>
                <a:latin typeface="Segoe UI" pitchFamily="34" charset="0"/>
                <a:ea typeface="Segoe UI" pitchFamily="34" charset="-122"/>
                <a:cs typeface="Segoe UI" pitchFamily="34" charset="-120"/>
              </a:rPr>
              <a:t>proves</a:t>
            </a:r>
            <a:pPr indent="0" marL="0">
              <a:buNone/>
            </a:pPr>
            <a:r>
              <a:rPr lang="en-US" sz="2000" dirty="0">
                <a:solidFill>
                  <a:schemeClr val="bg2"/>
                </a:solidFill>
                <a:latin typeface="Segoe UI" pitchFamily="34" charset="0"/>
                <a:ea typeface="Segoe UI" pitchFamily="34" charset="-122"/>
                <a:cs typeface="Segoe UI" pitchFamily="34" charset="-120"/>
              </a:rPr>
              <a:t> which floating-point guarantee every optimization keeps</a:t>
            </a:r>
            <a:endParaRPr lang="en-US" sz="2000" dirty="0"/>
          </a:p>
        </p:txBody>
      </p:sp>
      <p:sp>
        <p:nvSpPr>
          <p:cNvPr id="14" name="!!k1"/>
          <p:cNvSpPr/>
          <p:nvPr/>
        </p:nvSpPr>
        <p:spPr>
          <a:xfrm>
            <a:off x="713232" y="3945636"/>
            <a:ext cx="155448" cy="155448"/>
          </a:xfrm>
          <a:prstGeom prst="roundRect">
            <a:avLst>
              <a:gd name="adj" fmla="val 50000"/>
            </a:avLst>
          </a:prstGeom>
          <a:solidFill>
            <a:schemeClr val="accent1"/>
          </a:solidFill>
          <a:ln/>
        </p:spPr>
      </p:sp>
      <p:sp>
        <p:nvSpPr>
          <p:cNvPr id="15" name="!!kl1"/>
          <p:cNvSpPr txBox="1"/>
          <p:nvPr/>
        </p:nvSpPr>
        <p:spPr>
          <a:xfrm>
            <a:off x="960120" y="3849624"/>
            <a:ext cx="1325880" cy="347472"/>
          </a:xfrm>
          <a:prstGeom prst="rect">
            <a:avLst/>
          </a:prstGeom>
          <a:noFill/>
          <a:ln/>
        </p:spPr>
        <p:txBody>
          <a:bodyPr wrap="square" lIns="0" tIns="0" rIns="0" bIns="0" rtlCol="0" anchor="ctr"/>
          <a:lstStyle/>
          <a:p>
            <a:pPr indent="0" marL="0">
              <a:buNone/>
            </a:pPr>
            <a:r>
              <a:rPr lang="en-US" sz="1200" dirty="0">
                <a:solidFill>
                  <a:schemeClr val="bg2"/>
                </a:solidFill>
                <a:latin typeface="Consolas" pitchFamily="34" charset="0"/>
                <a:ea typeface="Consolas" pitchFamily="34" charset="-122"/>
                <a:cs typeface="Consolas" pitchFamily="34" charset="-120"/>
              </a:rPr>
              <a:t>bit-identical</a:t>
            </a:r>
            <a:endParaRPr lang="en-US" sz="1200" dirty="0"/>
          </a:p>
        </p:txBody>
      </p:sp>
      <p:sp>
        <p:nvSpPr>
          <p:cNvPr id="16" name="!!k2"/>
          <p:cNvSpPr/>
          <p:nvPr/>
        </p:nvSpPr>
        <p:spPr>
          <a:xfrm>
            <a:off x="2487168" y="3945636"/>
            <a:ext cx="155448" cy="155448"/>
          </a:xfrm>
          <a:prstGeom prst="roundRect">
            <a:avLst>
              <a:gd name="adj" fmla="val 50000"/>
            </a:avLst>
          </a:prstGeom>
          <a:solidFill>
            <a:schemeClr val="accent2"/>
          </a:solidFill>
          <a:ln/>
        </p:spPr>
      </p:sp>
      <p:sp>
        <p:nvSpPr>
          <p:cNvPr id="17" name="!!kl2"/>
          <p:cNvSpPr txBox="1"/>
          <p:nvPr/>
        </p:nvSpPr>
        <p:spPr>
          <a:xfrm>
            <a:off x="2734056" y="3849624"/>
            <a:ext cx="1645920" cy="347472"/>
          </a:xfrm>
          <a:prstGeom prst="rect">
            <a:avLst/>
          </a:prstGeom>
          <a:noFill/>
          <a:ln/>
        </p:spPr>
        <p:txBody>
          <a:bodyPr wrap="square" lIns="0" tIns="0" rIns="0" bIns="0" rtlCol="0" anchor="ctr"/>
          <a:lstStyle/>
          <a:p>
            <a:pPr indent="0" marL="0">
              <a:buNone/>
            </a:pPr>
            <a:r>
              <a:rPr lang="en-US" sz="1200" dirty="0">
                <a:solidFill>
                  <a:schemeClr val="bg2"/>
                </a:solidFill>
                <a:latin typeface="Consolas" pitchFamily="34" charset="0"/>
                <a:ea typeface="Consolas" pitchFamily="34" charset="-122"/>
                <a:cs typeface="Consolas" pitchFamily="34" charset="-120"/>
              </a:rPr>
              <a:t>bound-preserving</a:t>
            </a:r>
            <a:endParaRPr lang="en-US" sz="1200" dirty="0"/>
          </a:p>
        </p:txBody>
      </p:sp>
      <p:sp>
        <p:nvSpPr>
          <p:cNvPr id="18" name="!!k3"/>
          <p:cNvSpPr/>
          <p:nvPr/>
        </p:nvSpPr>
        <p:spPr>
          <a:xfrm>
            <a:off x="4572000" y="3945636"/>
            <a:ext cx="155448" cy="155448"/>
          </a:xfrm>
          <a:prstGeom prst="roundRect">
            <a:avLst>
              <a:gd name="adj" fmla="val 50000"/>
            </a:avLst>
          </a:prstGeom>
          <a:solidFill>
            <a:schemeClr val="accent3"/>
          </a:solidFill>
          <a:ln/>
        </p:spPr>
      </p:sp>
      <p:sp>
        <p:nvSpPr>
          <p:cNvPr id="19" name="!!kl3"/>
          <p:cNvSpPr txBox="1"/>
          <p:nvPr/>
        </p:nvSpPr>
        <p:spPr>
          <a:xfrm>
            <a:off x="4818888" y="3849624"/>
            <a:ext cx="914400" cy="347472"/>
          </a:xfrm>
          <a:prstGeom prst="rect">
            <a:avLst/>
          </a:prstGeom>
          <a:noFill/>
          <a:ln/>
        </p:spPr>
        <p:txBody>
          <a:bodyPr wrap="square" lIns="0" tIns="0" rIns="0" bIns="0" rtlCol="0" anchor="ctr"/>
          <a:lstStyle/>
          <a:p>
            <a:pPr indent="0" marL="0">
              <a:buNone/>
            </a:pPr>
            <a:r>
              <a:rPr lang="en-US" sz="1200" dirty="0">
                <a:solidFill>
                  <a:schemeClr val="bg2"/>
                </a:solidFill>
                <a:latin typeface="Consolas" pitchFamily="34" charset="0"/>
                <a:ea typeface="Consolas" pitchFamily="34" charset="-122"/>
                <a:cs typeface="Consolas" pitchFamily="34" charset="-120"/>
              </a:rPr>
              <a:t>relaxed</a:t>
            </a:r>
            <a:endParaRPr lang="en-US" sz="1200" dirty="0"/>
          </a:p>
        </p:txBody>
      </p:sp>
      <p:sp>
        <p:nvSpPr>
          <p:cNvPr id="20" name="!!brL"/>
          <p:cNvSpPr/>
          <p:nvPr/>
        </p:nvSpPr>
        <p:spPr>
          <a:xfrm>
            <a:off x="7726680" y="1298448"/>
            <a:ext cx="267462" cy="2971800"/>
          </a:xfrm>
          <a:custGeom>
            <a:avLst/>
            <a:gdLst/>
            <a:ahLst/>
            <a:cxnLst/>
            <a:rect l="l" t="t" r="r" b="b"/>
            <a:pathLst>
              <a:path w="267462" h="2971800">
                <a:moveTo>
                  <a:pt x="267462" y="0"/>
                </a:moveTo>
                <a:lnTo>
                  <a:pt x="0" y="0"/>
                </a:lnTo>
                <a:lnTo>
                  <a:pt x="0" y="2971800"/>
                </a:lnTo>
                <a:lnTo>
                  <a:pt x="267462" y="2971800"/>
                </a:lnTo>
              </a:path>
            </a:pathLst>
          </a:custGeom>
          <a:noFill/>
          <a:ln w="22225">
            <a:solidFill>
              <a:schemeClr val="accent5"/>
            </a:solidFill>
            <a:prstDash val="solid"/>
          </a:ln>
        </p:spPr>
      </p:sp>
      <p:sp>
        <p:nvSpPr>
          <p:cNvPr id="21" name="!!brR"/>
          <p:cNvSpPr/>
          <p:nvPr/>
        </p:nvSpPr>
        <p:spPr>
          <a:xfrm>
            <a:off x="11235690" y="1298448"/>
            <a:ext cx="267462" cy="2971800"/>
          </a:xfrm>
          <a:custGeom>
            <a:avLst/>
            <a:gdLst/>
            <a:ahLst/>
            <a:cxnLst/>
            <a:rect l="l" t="t" r="r" b="b"/>
            <a:pathLst>
              <a:path w="267462" h="2971800">
                <a:moveTo>
                  <a:pt x="0" y="0"/>
                </a:moveTo>
                <a:lnTo>
                  <a:pt x="267462" y="0"/>
                </a:lnTo>
                <a:lnTo>
                  <a:pt x="267462" y="2971800"/>
                </a:lnTo>
                <a:lnTo>
                  <a:pt x="0" y="2971800"/>
                </a:lnTo>
              </a:path>
            </a:pathLst>
          </a:custGeom>
          <a:noFill/>
          <a:ln w="22225">
            <a:solidFill>
              <a:schemeClr val="accent5"/>
            </a:solidFill>
            <a:prstDash val="solid"/>
          </a:ln>
        </p:spPr>
      </p:sp>
      <p:sp>
        <p:nvSpPr>
          <p:cNvPr id="22" name="!!cell1"/>
          <p:cNvSpPr/>
          <p:nvPr/>
        </p:nvSpPr>
        <p:spPr>
          <a:xfrm>
            <a:off x="8110728" y="1453896"/>
            <a:ext cx="941832" cy="813816"/>
          </a:xfrm>
          <a:prstGeom prst="roundRect">
            <a:avLst>
              <a:gd name="adj" fmla="val 6742"/>
            </a:avLst>
          </a:prstGeom>
          <a:solidFill>
            <a:srgbClr val="070908"/>
          </a:solidFill>
          <a:ln/>
        </p:spPr>
        <p:txBody>
          <a:bodyPr wrap="square" lIns="0" tIns="0" rIns="0" bIns="0" rtlCol="0" anchor="ctr"/>
          <a:lstStyle/>
          <a:p>
            <a:pPr algn="ctr" indent="0" marL="0">
              <a:buNone/>
            </a:pPr>
            <a:r>
              <a:rPr lang="en-US" sz="1800" b="1" dirty="0">
                <a:solidFill>
                  <a:schemeClr val="accent1"/>
                </a:solidFill>
                <a:latin typeface="Consolas" pitchFamily="34" charset="0"/>
                <a:ea typeface="Consolas" pitchFamily="34" charset="-122"/>
                <a:cs typeface="Consolas" pitchFamily="34" charset="-120"/>
              </a:rPr>
              <a:t>556</a:t>
            </a:r>
            <a:endParaRPr lang="en-US" sz="1200" dirty="0"/>
          </a:p>
        </p:txBody>
      </p:sp>
      <p:sp>
        <p:nvSpPr>
          <p:cNvPr id="23" name="!!cell2"/>
          <p:cNvSpPr/>
          <p:nvPr/>
        </p:nvSpPr>
        <p:spPr>
          <a:xfrm>
            <a:off x="9144000" y="1453896"/>
            <a:ext cx="941832" cy="813816"/>
          </a:xfrm>
          <a:prstGeom prst="roundRect">
            <a:avLst>
              <a:gd name="adj" fmla="val 6742"/>
            </a:avLst>
          </a:prstGeom>
          <a:solidFill>
            <a:srgbClr val="070908"/>
          </a:solidFill>
          <a:ln/>
        </p:spPr>
        <p:txBody>
          <a:bodyPr wrap="square" lIns="0" tIns="0" rIns="0" bIns="0" rtlCol="0" anchor="ctr"/>
          <a:lstStyle/>
          <a:p>
            <a:pPr algn="ctr" indent="0" marL="0">
              <a:buNone/>
            </a:pPr>
            <a:r>
              <a:rPr lang="en-US" sz="1800" b="1" dirty="0">
                <a:solidFill>
                  <a:schemeClr val="accent1"/>
                </a:solidFill>
                <a:latin typeface="Consolas" pitchFamily="34" charset="0"/>
                <a:ea typeface="Consolas" pitchFamily="34" charset="-122"/>
                <a:cs typeface="Consolas" pitchFamily="34" charset="-120"/>
              </a:rPr>
              <a:t>556</a:t>
            </a:r>
            <a:endParaRPr lang="en-US" sz="1200" dirty="0"/>
          </a:p>
        </p:txBody>
      </p:sp>
      <p:sp>
        <p:nvSpPr>
          <p:cNvPr id="24" name="!!cell3"/>
          <p:cNvSpPr/>
          <p:nvPr/>
        </p:nvSpPr>
        <p:spPr>
          <a:xfrm>
            <a:off x="10177272" y="1453896"/>
            <a:ext cx="941832" cy="813816"/>
          </a:xfrm>
          <a:prstGeom prst="roundRect">
            <a:avLst>
              <a:gd name="adj" fmla="val 6742"/>
            </a:avLst>
          </a:prstGeom>
          <a:solidFill>
            <a:srgbClr val="070908"/>
          </a:solidFill>
          <a:ln/>
        </p:spPr>
        <p:txBody>
          <a:bodyPr wrap="square" lIns="0" tIns="0" rIns="0" bIns="0" rtlCol="0" anchor="ctr"/>
          <a:lstStyle/>
          <a:p>
            <a:pPr algn="ctr" indent="0" marL="0">
              <a:buNone/>
            </a:pPr>
            <a:r>
              <a:rPr lang="en-US" sz="1800" b="1" dirty="0">
                <a:solidFill>
                  <a:schemeClr val="accent1"/>
                </a:solidFill>
                <a:latin typeface="Consolas" pitchFamily="34" charset="0"/>
                <a:ea typeface="Consolas" pitchFamily="34" charset="-122"/>
                <a:cs typeface="Consolas" pitchFamily="34" charset="-120"/>
              </a:rPr>
              <a:t>556</a:t>
            </a:r>
            <a:endParaRPr lang="en-US" sz="1200" dirty="0"/>
          </a:p>
        </p:txBody>
      </p:sp>
      <p:sp>
        <p:nvSpPr>
          <p:cNvPr id="25" name="!!cell4"/>
          <p:cNvSpPr/>
          <p:nvPr/>
        </p:nvSpPr>
        <p:spPr>
          <a:xfrm>
            <a:off x="8110728" y="2377440"/>
            <a:ext cx="941832" cy="813816"/>
          </a:xfrm>
          <a:prstGeom prst="roundRect">
            <a:avLst>
              <a:gd name="adj" fmla="val 6742"/>
            </a:avLst>
          </a:prstGeom>
          <a:solidFill>
            <a:srgbClr val="070908"/>
          </a:solidFill>
          <a:ln/>
        </p:spPr>
        <p:txBody>
          <a:bodyPr wrap="square" lIns="0" tIns="0" rIns="0" bIns="0" rtlCol="0" anchor="ctr"/>
          <a:lstStyle/>
          <a:p>
            <a:pPr algn="ctr" indent="0" marL="0">
              <a:buNone/>
            </a:pPr>
            <a:r>
              <a:rPr lang="en-US" sz="1800" dirty="0">
                <a:solidFill>
                  <a:srgbClr val="4A514D"/>
                </a:solidFill>
                <a:latin typeface="Consolas" pitchFamily="34" charset="0"/>
                <a:ea typeface="Consolas" pitchFamily="34" charset="-122"/>
                <a:cs typeface="Consolas" pitchFamily="34" charset="-120"/>
              </a:rPr>
              <a:t>11,120</a:t>
            </a:r>
            <a:endParaRPr lang="en-US" sz="1200" dirty="0"/>
          </a:p>
        </p:txBody>
      </p:sp>
      <p:sp>
        <p:nvSpPr>
          <p:cNvPr id="26" name="!!cell5"/>
          <p:cNvSpPr/>
          <p:nvPr/>
        </p:nvSpPr>
        <p:spPr>
          <a:xfrm>
            <a:off x="9144000" y="2377440"/>
            <a:ext cx="941832" cy="813816"/>
          </a:xfrm>
          <a:prstGeom prst="roundRect">
            <a:avLst>
              <a:gd name="adj" fmla="val 6742"/>
            </a:avLst>
          </a:prstGeom>
          <a:solidFill>
            <a:srgbClr val="070908"/>
          </a:solidFill>
          <a:ln/>
        </p:spPr>
        <p:txBody>
          <a:bodyPr wrap="square" lIns="0" tIns="0" rIns="0" bIns="0" rtlCol="0" anchor="ctr"/>
          <a:lstStyle/>
          <a:p>
            <a:pPr algn="ctr" indent="0" marL="0">
              <a:buNone/>
            </a:pPr>
            <a:r>
              <a:rPr lang="en-US" sz="1800" b="1" dirty="0">
                <a:solidFill>
                  <a:schemeClr val="accent1"/>
                </a:solidFill>
                <a:latin typeface="Consolas" pitchFamily="34" charset="0"/>
                <a:ea typeface="Consolas" pitchFamily="34" charset="-122"/>
                <a:cs typeface="Consolas" pitchFamily="34" charset="-120"/>
              </a:rPr>
              <a:t>556</a:t>
            </a:r>
            <a:endParaRPr lang="en-US" sz="1200" dirty="0"/>
          </a:p>
        </p:txBody>
      </p:sp>
      <p:sp>
        <p:nvSpPr>
          <p:cNvPr id="27" name="!!cell6"/>
          <p:cNvSpPr/>
          <p:nvPr/>
        </p:nvSpPr>
        <p:spPr>
          <a:xfrm>
            <a:off x="10177272" y="2377440"/>
            <a:ext cx="941832" cy="813816"/>
          </a:xfrm>
          <a:prstGeom prst="roundRect">
            <a:avLst>
              <a:gd name="adj" fmla="val 6742"/>
            </a:avLst>
          </a:prstGeom>
          <a:solidFill>
            <a:srgbClr val="070908"/>
          </a:solidFill>
          <a:ln/>
        </p:spPr>
        <p:txBody>
          <a:bodyPr wrap="square" lIns="0" tIns="0" rIns="0" bIns="0" rtlCol="0" anchor="ctr"/>
          <a:lstStyle/>
          <a:p>
            <a:pPr algn="ctr" indent="0" marL="0">
              <a:buNone/>
            </a:pPr>
            <a:r>
              <a:rPr lang="en-US" sz="1800" b="1" dirty="0">
                <a:solidFill>
                  <a:schemeClr val="accent1"/>
                </a:solidFill>
                <a:latin typeface="Consolas" pitchFamily="34" charset="0"/>
                <a:ea typeface="Consolas" pitchFamily="34" charset="-122"/>
                <a:cs typeface="Consolas" pitchFamily="34" charset="-120"/>
              </a:rPr>
              <a:t>556</a:t>
            </a:r>
            <a:endParaRPr lang="en-US" sz="1200" dirty="0"/>
          </a:p>
        </p:txBody>
      </p:sp>
      <p:sp>
        <p:nvSpPr>
          <p:cNvPr id="28" name="!!cell7"/>
          <p:cNvSpPr/>
          <p:nvPr/>
        </p:nvSpPr>
        <p:spPr>
          <a:xfrm>
            <a:off x="8110728" y="3300984"/>
            <a:ext cx="941832" cy="813816"/>
          </a:xfrm>
          <a:prstGeom prst="roundRect">
            <a:avLst>
              <a:gd name="adj" fmla="val 6742"/>
            </a:avLst>
          </a:prstGeom>
          <a:solidFill>
            <a:srgbClr val="070908"/>
          </a:solidFill>
          <a:ln/>
        </p:spPr>
        <p:txBody>
          <a:bodyPr wrap="square" lIns="0" tIns="0" rIns="0" bIns="0" rtlCol="0" anchor="ctr"/>
          <a:lstStyle/>
          <a:p>
            <a:pPr algn="ctr" indent="0" marL="0">
              <a:buNone/>
            </a:pPr>
            <a:r>
              <a:rPr lang="en-US" sz="1800" dirty="0">
                <a:solidFill>
                  <a:srgbClr val="4A514D"/>
                </a:solidFill>
                <a:latin typeface="Consolas" pitchFamily="34" charset="0"/>
                <a:ea typeface="Consolas" pitchFamily="34" charset="-122"/>
                <a:cs typeface="Consolas" pitchFamily="34" charset="-120"/>
              </a:rPr>
              <a:t>11,120</a:t>
            </a:r>
            <a:endParaRPr lang="en-US" sz="1200" dirty="0"/>
          </a:p>
        </p:txBody>
      </p:sp>
      <p:sp>
        <p:nvSpPr>
          <p:cNvPr id="29" name="!!cell8"/>
          <p:cNvSpPr/>
          <p:nvPr/>
        </p:nvSpPr>
        <p:spPr>
          <a:xfrm>
            <a:off x="9144000" y="3300984"/>
            <a:ext cx="941832" cy="813816"/>
          </a:xfrm>
          <a:prstGeom prst="roundRect">
            <a:avLst>
              <a:gd name="adj" fmla="val 6742"/>
            </a:avLst>
          </a:prstGeom>
          <a:solidFill>
            <a:srgbClr val="070908"/>
          </a:solidFill>
          <a:ln/>
        </p:spPr>
        <p:txBody>
          <a:bodyPr wrap="square" lIns="0" tIns="0" rIns="0" bIns="0" rtlCol="0" anchor="ctr"/>
          <a:lstStyle/>
          <a:p>
            <a:pPr algn="ctr" indent="0" marL="0">
              <a:buNone/>
            </a:pPr>
            <a:r>
              <a:rPr lang="en-US" sz="1800" dirty="0">
                <a:solidFill>
                  <a:srgbClr val="4A514D"/>
                </a:solidFill>
                <a:latin typeface="Consolas" pitchFamily="34" charset="0"/>
                <a:ea typeface="Consolas" pitchFamily="34" charset="-122"/>
                <a:cs typeface="Consolas" pitchFamily="34" charset="-120"/>
              </a:rPr>
              <a:t>11,120</a:t>
            </a:r>
            <a:endParaRPr lang="en-US" sz="1200" dirty="0"/>
          </a:p>
        </p:txBody>
      </p:sp>
      <p:sp>
        <p:nvSpPr>
          <p:cNvPr id="30" name="!!cell9"/>
          <p:cNvSpPr/>
          <p:nvPr/>
        </p:nvSpPr>
        <p:spPr>
          <a:xfrm>
            <a:off x="10177272" y="3300984"/>
            <a:ext cx="941832" cy="813816"/>
          </a:xfrm>
          <a:prstGeom prst="roundRect">
            <a:avLst>
              <a:gd name="adj" fmla="val 6742"/>
            </a:avLst>
          </a:prstGeom>
          <a:solidFill>
            <a:srgbClr val="070908"/>
          </a:solidFill>
          <a:ln/>
        </p:spPr>
        <p:txBody>
          <a:bodyPr wrap="square" lIns="0" tIns="0" rIns="0" bIns="0" rtlCol="0" anchor="ctr"/>
          <a:lstStyle/>
          <a:p>
            <a:pPr algn="ctr" indent="0" marL="0">
              <a:buNone/>
            </a:pPr>
            <a:r>
              <a:rPr lang="en-US" sz="1800" b="1" dirty="0">
                <a:solidFill>
                  <a:schemeClr val="accent1"/>
                </a:solidFill>
                <a:latin typeface="Consolas" pitchFamily="34" charset="0"/>
                <a:ea typeface="Consolas" pitchFamily="34" charset="-122"/>
                <a:cs typeface="Consolas" pitchFamily="34" charset="-120"/>
              </a:rPr>
              <a:t>556</a:t>
            </a:r>
            <a:endParaRPr lang="en-US" sz="1200" dirty="0"/>
          </a:p>
        </p:txBody>
      </p:sp>
      <p:sp>
        <p:nvSpPr>
          <p:cNvPr id="31" name="Text 29"/>
          <p:cNvSpPr txBox="1"/>
          <p:nvPr/>
        </p:nvSpPr>
        <p:spPr>
          <a:xfrm>
            <a:off x="7726680" y="4389120"/>
            <a:ext cx="3776472" cy="274320"/>
          </a:xfrm>
          <a:prstGeom prst="rect">
            <a:avLst/>
          </a:prstGeom>
          <a:noFill/>
          <a:ln/>
        </p:spPr>
        <p:txBody>
          <a:bodyPr wrap="square" lIns="0" tIns="0" rIns="0" bIns="0" rtlCol="0" anchor="t"/>
          <a:lstStyle/>
          <a:p>
            <a:pPr algn="ctr" indent="0" marL="0">
              <a:buNone/>
            </a:pPr>
            <a:r>
              <a:rPr lang="en-US" sz="1100" dirty="0">
                <a:solidFill>
                  <a:srgbClr val="3F6F57"/>
                </a:solidFill>
                <a:latin typeface="Consolas" pitchFamily="34" charset="0"/>
                <a:ea typeface="Consolas" pitchFamily="34" charset="-122"/>
                <a:cs typeface="Consolas" pitchFamily="34" charset="-120"/>
              </a:rPr>
              <a:t>// remember this matrix</a:t>
            </a:r>
            <a:endParaRPr lang="en-US" sz="1100" dirty="0"/>
          </a:p>
        </p:txBody>
      </p:sp>
      <p:sp>
        <p:nvSpPr>
          <p:cNvPr id="32" name="Text 30"/>
          <p:cNvSpPr txBox="1"/>
          <p:nvPr/>
        </p:nvSpPr>
        <p:spPr>
          <a:xfrm>
            <a:off x="685800" y="4828032"/>
            <a:ext cx="3383280" cy="228600"/>
          </a:xfrm>
          <a:prstGeom prst="rect">
            <a:avLst/>
          </a:prstGeom>
          <a:noFill/>
          <a:ln/>
        </p:spPr>
        <p:txBody>
          <a:bodyPr wrap="square" lIns="0" tIns="0" rIns="0" bIns="0" rtlCol="0" anchor="t"/>
          <a:lstStyle/>
          <a:p>
            <a:pPr indent="0" marL="0">
              <a:buNone/>
            </a:pPr>
            <a:r>
              <a:rPr lang="en-US" sz="1050" spc="200" kern="0" dirty="0">
                <a:solidFill>
                  <a:schemeClr val="accent5"/>
                </a:solidFill>
                <a:latin typeface="Consolas" pitchFamily="34" charset="0"/>
                <a:ea typeface="Consolas" pitchFamily="34" charset="-122"/>
                <a:cs typeface="Consolas" pitchFamily="34" charset="-120"/>
              </a:rPr>
              <a:t>SUBMITTED BY</a:t>
            </a:r>
            <a:endParaRPr lang="en-US" sz="1050" dirty="0"/>
          </a:p>
        </p:txBody>
      </p:sp>
      <p:sp>
        <p:nvSpPr>
          <p:cNvPr id="33" name="Text 31"/>
          <p:cNvSpPr txBox="1"/>
          <p:nvPr/>
        </p:nvSpPr>
        <p:spPr>
          <a:xfrm>
            <a:off x="685800" y="5074920"/>
            <a:ext cx="3474720" cy="384048"/>
          </a:xfrm>
          <a:prstGeom prst="rect">
            <a:avLst/>
          </a:prstGeom>
          <a:noFill/>
          <a:ln/>
        </p:spPr>
        <p:txBody>
          <a:bodyPr wrap="square" lIns="0" tIns="0" rIns="0" bIns="0" rtlCol="0" anchor="t"/>
          <a:lstStyle/>
          <a:p>
            <a:pPr indent="0" marL="0">
              <a:buNone/>
            </a:pPr>
            <a:r>
              <a:rPr lang="en-US" sz="2000" dirty="0">
                <a:solidFill>
                  <a:schemeClr val="bg1"/>
                </a:solidFill>
                <a:latin typeface="Segoe UI Semibold" pitchFamily="34" charset="0"/>
                <a:ea typeface="Segoe UI Semibold" pitchFamily="34" charset="-122"/>
                <a:cs typeface="Segoe UI Semibold" pitchFamily="34" charset="-120"/>
              </a:rPr>
              <a:t>A Aswanth Raj</a:t>
            </a:r>
            <a:endParaRPr lang="en-US" sz="2000" dirty="0"/>
          </a:p>
        </p:txBody>
      </p:sp>
      <p:sp>
        <p:nvSpPr>
          <p:cNvPr id="34" name="Text 32"/>
          <p:cNvSpPr txBox="1"/>
          <p:nvPr/>
        </p:nvSpPr>
        <p:spPr>
          <a:xfrm>
            <a:off x="685800" y="5468112"/>
            <a:ext cx="3383280" cy="256032"/>
          </a:xfrm>
          <a:prstGeom prst="rect">
            <a:avLst/>
          </a:prstGeom>
          <a:noFill/>
          <a:ln/>
        </p:spPr>
        <p:txBody>
          <a:bodyPr wrap="square" lIns="0" tIns="0" rIns="0" bIns="0" rtlCol="0" anchor="t"/>
          <a:lstStyle/>
          <a:p>
            <a:pPr indent="0" marL="0">
              <a:buNone/>
            </a:pPr>
            <a:r>
              <a:rPr lang="en-US" sz="1200" dirty="0">
                <a:solidFill>
                  <a:schemeClr val="accent4"/>
                </a:solidFill>
                <a:latin typeface="Consolas" pitchFamily="34" charset="0"/>
                <a:ea typeface="Consolas" pitchFamily="34" charset="-122"/>
                <a:cs typeface="Consolas" pitchFamily="34" charset="-120"/>
              </a:rPr>
              <a:t>24BAI0044</a:t>
            </a:r>
            <a:endParaRPr lang="en-US" sz="1200" dirty="0"/>
          </a:p>
        </p:txBody>
      </p:sp>
      <p:sp>
        <p:nvSpPr>
          <p:cNvPr id="35" name="Text 33"/>
          <p:cNvSpPr txBox="1"/>
          <p:nvPr/>
        </p:nvSpPr>
        <p:spPr>
          <a:xfrm>
            <a:off x="4343400" y="4828032"/>
            <a:ext cx="3383280" cy="228600"/>
          </a:xfrm>
          <a:prstGeom prst="rect">
            <a:avLst/>
          </a:prstGeom>
          <a:noFill/>
          <a:ln/>
        </p:spPr>
        <p:txBody>
          <a:bodyPr wrap="square" lIns="0" tIns="0" rIns="0" bIns="0" rtlCol="0" anchor="t"/>
          <a:lstStyle/>
          <a:p>
            <a:pPr indent="0" marL="0">
              <a:buNone/>
            </a:pPr>
            <a:r>
              <a:rPr lang="en-US" sz="1050" spc="200" kern="0" dirty="0">
                <a:solidFill>
                  <a:schemeClr val="accent5"/>
                </a:solidFill>
                <a:latin typeface="Consolas" pitchFamily="34" charset="0"/>
                <a:ea typeface="Consolas" pitchFamily="34" charset="-122"/>
                <a:cs typeface="Consolas" pitchFamily="34" charset="-120"/>
              </a:rPr>
              <a:t>SUPERVISOR</a:t>
            </a:r>
            <a:endParaRPr lang="en-US" sz="1050" dirty="0"/>
          </a:p>
        </p:txBody>
      </p:sp>
      <p:sp>
        <p:nvSpPr>
          <p:cNvPr id="36" name="Text 34"/>
          <p:cNvSpPr txBox="1"/>
          <p:nvPr/>
        </p:nvSpPr>
        <p:spPr>
          <a:xfrm>
            <a:off x="4343400" y="5074920"/>
            <a:ext cx="3474720" cy="384048"/>
          </a:xfrm>
          <a:prstGeom prst="rect">
            <a:avLst/>
          </a:prstGeom>
          <a:noFill/>
          <a:ln/>
        </p:spPr>
        <p:txBody>
          <a:bodyPr wrap="square" lIns="0" tIns="0" rIns="0" bIns="0" rtlCol="0" anchor="t"/>
          <a:lstStyle/>
          <a:p>
            <a:pPr indent="0" marL="0">
              <a:buNone/>
            </a:pPr>
            <a:r>
              <a:rPr lang="en-US" sz="2000" dirty="0">
                <a:solidFill>
                  <a:schemeClr val="bg1"/>
                </a:solidFill>
                <a:latin typeface="Segoe UI Semibold" pitchFamily="34" charset="0"/>
                <a:ea typeface="Segoe UI Semibold" pitchFamily="34" charset="-122"/>
                <a:cs typeface="Segoe UI Semibold" pitchFamily="34" charset="-120"/>
              </a:rPr>
              <a:t>Dr. Ranjithkumar S</a:t>
            </a:r>
            <a:endParaRPr lang="en-US" sz="2000" dirty="0"/>
          </a:p>
        </p:txBody>
      </p:sp>
      <p:sp>
        <p:nvSpPr>
          <p:cNvPr id="37" name="Text 35"/>
          <p:cNvSpPr txBox="1"/>
          <p:nvPr/>
        </p:nvSpPr>
        <p:spPr>
          <a:xfrm>
            <a:off x="4343400" y="5468112"/>
            <a:ext cx="3383280" cy="256032"/>
          </a:xfrm>
          <a:prstGeom prst="rect">
            <a:avLst/>
          </a:prstGeom>
          <a:noFill/>
          <a:ln/>
        </p:spPr>
        <p:txBody>
          <a:bodyPr wrap="square" lIns="0" tIns="0" rIns="0" bIns="0" rtlCol="0" anchor="t"/>
          <a:lstStyle/>
          <a:p>
            <a:pPr indent="0" marL="0">
              <a:buNone/>
            </a:pPr>
            <a:r>
              <a:rPr lang="en-US" sz="1200" dirty="0">
                <a:solidFill>
                  <a:schemeClr val="accent4"/>
                </a:solidFill>
                <a:latin typeface="Consolas" pitchFamily="34" charset="0"/>
                <a:ea typeface="Consolas" pitchFamily="34" charset="-122"/>
                <a:cs typeface="Consolas" pitchFamily="34" charset="-120"/>
              </a:rPr>
              <a:t>SCOPE, VIT Vellore</a:t>
            </a:r>
            <a:endParaRPr lang="en-US" sz="1200" dirty="0"/>
          </a:p>
        </p:txBody>
      </p:sp>
      <p:sp>
        <p:nvSpPr>
          <p:cNvPr id="38" name="Text 36"/>
          <p:cNvSpPr txBox="1"/>
          <p:nvPr/>
        </p:nvSpPr>
        <p:spPr>
          <a:xfrm>
            <a:off x="8001000" y="4828032"/>
            <a:ext cx="3383280" cy="228600"/>
          </a:xfrm>
          <a:prstGeom prst="rect">
            <a:avLst/>
          </a:prstGeom>
          <a:noFill/>
          <a:ln/>
        </p:spPr>
        <p:txBody>
          <a:bodyPr wrap="square" lIns="0" tIns="0" rIns="0" bIns="0" rtlCol="0" anchor="t"/>
          <a:lstStyle/>
          <a:p>
            <a:pPr indent="0" marL="0">
              <a:buNone/>
            </a:pPr>
            <a:r>
              <a:rPr lang="en-US" sz="1050" spc="200" kern="0" dirty="0">
                <a:solidFill>
                  <a:schemeClr val="accent5"/>
                </a:solidFill>
                <a:latin typeface="Consolas" pitchFamily="34" charset="0"/>
                <a:ea typeface="Consolas" pitchFamily="34" charset="-122"/>
                <a:cs typeface="Consolas" pitchFamily="34" charset="-120"/>
              </a:rPr>
              <a:t>COURSE</a:t>
            </a:r>
            <a:endParaRPr lang="en-US" sz="1050" dirty="0"/>
          </a:p>
        </p:txBody>
      </p:sp>
      <p:sp>
        <p:nvSpPr>
          <p:cNvPr id="39" name="Text 37"/>
          <p:cNvSpPr txBox="1"/>
          <p:nvPr/>
        </p:nvSpPr>
        <p:spPr>
          <a:xfrm>
            <a:off x="8001000" y="5074920"/>
            <a:ext cx="3474720" cy="384048"/>
          </a:xfrm>
          <a:prstGeom prst="rect">
            <a:avLst/>
          </a:prstGeom>
          <a:noFill/>
          <a:ln/>
        </p:spPr>
        <p:txBody>
          <a:bodyPr wrap="square" lIns="0" tIns="0" rIns="0" bIns="0" rtlCol="0" anchor="t"/>
          <a:lstStyle/>
          <a:p>
            <a:pPr indent="0" marL="0">
              <a:buNone/>
            </a:pPr>
            <a:r>
              <a:rPr lang="en-US" sz="2000" dirty="0">
                <a:solidFill>
                  <a:schemeClr val="bg1"/>
                </a:solidFill>
                <a:latin typeface="Segoe UI Semibold" pitchFamily="34" charset="0"/>
                <a:ea typeface="Segoe UI Semibold" pitchFamily="34" charset="-122"/>
                <a:cs typeface="Segoe UI Semibold" pitchFamily="34" charset="-120"/>
              </a:rPr>
              <a:t>Compiler Design Lab</a:t>
            </a:r>
            <a:endParaRPr lang="en-US" sz="2000" dirty="0"/>
          </a:p>
        </p:txBody>
      </p:sp>
      <p:sp>
        <p:nvSpPr>
          <p:cNvPr id="40" name="Text 38"/>
          <p:cNvSpPr txBox="1"/>
          <p:nvPr/>
        </p:nvSpPr>
        <p:spPr>
          <a:xfrm>
            <a:off x="8001000" y="5468112"/>
            <a:ext cx="3383280" cy="256032"/>
          </a:xfrm>
          <a:prstGeom prst="rect">
            <a:avLst/>
          </a:prstGeom>
          <a:noFill/>
          <a:ln/>
        </p:spPr>
        <p:txBody>
          <a:bodyPr wrap="square" lIns="0" tIns="0" rIns="0" bIns="0" rtlCol="0" anchor="t"/>
          <a:lstStyle/>
          <a:p>
            <a:pPr indent="0" marL="0">
              <a:buNone/>
            </a:pPr>
            <a:r>
              <a:rPr lang="en-US" sz="1200" dirty="0">
                <a:solidFill>
                  <a:schemeClr val="accent4"/>
                </a:solidFill>
                <a:latin typeface="Consolas" pitchFamily="34" charset="0"/>
                <a:ea typeface="Consolas" pitchFamily="34" charset="-122"/>
                <a:cs typeface="Consolas" pitchFamily="34" charset="-120"/>
              </a:rPr>
              <a:t>BCSE307P</a:t>
            </a:r>
            <a:endParaRPr lang="en-US" sz="1200" dirty="0"/>
          </a:p>
        </p:txBody>
      </p:sp>
      <p:sp>
        <p:nvSpPr>
          <p:cNvPr id="41" name="!!repo"/>
          <p:cNvSpPr txBox="1"/>
          <p:nvPr/>
        </p:nvSpPr>
        <p:spPr>
          <a:xfrm>
            <a:off x="685800" y="6236208"/>
            <a:ext cx="4206240" cy="292608"/>
          </a:xfrm>
          <a:prstGeom prst="rect">
            <a:avLst/>
          </a:prstGeom>
          <a:noFill/>
          <a:ln/>
        </p:spPr>
        <p:txBody>
          <a:bodyPr wrap="square" lIns="0" tIns="0" rIns="0" bIns="0" rtlCol="0" anchor="ctr"/>
          <a:lstStyle/>
          <a:p>
            <a:pPr indent="0" marL="0">
              <a:buNone/>
            </a:pPr>
            <a:r>
              <a:rPr lang="en-US" sz="1300" u="sng" dirty="0">
                <a:solidFill>
                  <a:schemeClr val="accent1"/>
                </a:solidFill>
                <a:latin typeface="Consolas" pitchFamily="34" charset="0"/>
                <a:ea typeface="Consolas" pitchFamily="34" charset="-122"/>
                <a:cs typeface="Consolas" pitchFamily="34" charset="-120"/>
                <a:hlinkClick r:id="rId1" invalidUrl="" action="" tgtFrame="" tooltip="Open the MatrixLang repository" history="1" highlightClick="0" endSnd="0">
                  <a:extLst>
                    <a:ext uri="{A12FA001-AC4F-418D-AE19-62706E023703}">
                      <ahyp:hlinkClr xmlns:ahyp="http://schemas.microsoft.com/office/drawing/2018/hyperlinkcolor" val="tx"/>
                    </a:ext>
                  </a:extLst>
                </a:hlinkClick>
              </a:rPr>
              <a:t>github.com/aswanth-07/matrixlang</a:t>
            </a:r>
            <a:endParaRPr lang="en-US" sz="1300" dirty="0"/>
          </a:p>
        </p:txBody>
      </p:sp>
      <p:sp>
        <p:nvSpPr>
          <p:cNvPr id="42" name="Text 40"/>
          <p:cNvSpPr txBox="1"/>
          <p:nvPr/>
        </p:nvSpPr>
        <p:spPr>
          <a:xfrm>
            <a:off x="5669280" y="6236208"/>
            <a:ext cx="5833872" cy="292608"/>
          </a:xfrm>
          <a:prstGeom prst="rect">
            <a:avLst/>
          </a:prstGeom>
          <a:noFill/>
          <a:ln/>
        </p:spPr>
        <p:txBody>
          <a:bodyPr wrap="square" lIns="0" tIns="0" rIns="0" bIns="0" rtlCol="0" anchor="ctr"/>
          <a:lstStyle/>
          <a:p>
            <a:pPr algn="r" indent="0" marL="0">
              <a:buNone/>
            </a:pPr>
            <a:r>
              <a:rPr lang="en-US" sz="1100" dirty="0">
                <a:solidFill>
                  <a:schemeClr val="accent4"/>
                </a:solidFill>
                <a:latin typeface="Segoe UI" pitchFamily="34" charset="0"/>
                <a:ea typeface="Segoe UI" pitchFamily="34" charset="-122"/>
                <a:cs typeface="Segoe UI" pitchFamily="34" charset="-120"/>
              </a:rPr>
              <a:t>School of Computer Science and Engineering  ·  VIT Vellore</a:t>
            </a:r>
            <a:endParaRPr lang="en-US" sz="1100" dirty="0"/>
          </a:p>
        </p:txBody>
      </p:sp>
      <p:sp>
        <p:nvSpPr>
          <p:cNvPr id="44" name="!!p01">
            <a:extLst>
              <a:ext uri="{C183D7F6-B498-43B3-948B-1728B52AA6E4}">
                <adec:decorative xmlns:adec="http://schemas.microsoft.com/office/drawing/2017/decorative" val="1"/>
              </a:ext>
            </a:extLst>
          </p:cNvPr>
          <p:cNvSpPr txBox="1"/>
          <p:nvPr/>
        </p:nvSpPr>
        <p:spPr>
          <a:xfrm>
            <a:off x="6263640" y="4352544"/>
            <a:ext cx="1112520" cy="236474"/>
          </a:xfrm>
          <a:prstGeom prst="rect">
            <a:avLst/>
          </a:prstGeom>
          <a:noFill/>
          <a:ln/>
        </p:spPr>
        <p:txBody>
          <a:bodyPr wrap="none" lIns="0" tIns="0" rIns="0" bIns="0" rtlCol="0" anchor="ctr"/>
          <a:lstStyle/>
          <a:p>
            <a:pPr indent="0" marL="0">
              <a:buNone/>
            </a:pPr>
            <a:r>
              <a:rPr lang="en-US" sz="1100" dirty="0">
                <a:solidFill>
                  <a:srgbClr val="3A4A42"/>
                </a:solidFill>
                <a:latin typeface="Consolas" pitchFamily="34" charset="0"/>
                <a:ea typeface="Consolas" pitchFamily="34" charset="-122"/>
                <a:cs typeface="Consolas" pitchFamily="34" charset="-120"/>
              </a:rPr>
              <a:t>Matrix&lt;40x2&gt;</a:t>
            </a:r>
            <a:endParaRPr lang="en-US" sz="1100" dirty="0"/>
          </a:p>
        </p:txBody>
      </p:sp>
      <p:sp>
        <p:nvSpPr>
          <p:cNvPr id="45" name="!!p02">
            <a:extLst>
              <a:ext uri="{C183D7F6-B498-43B3-948B-1728B52AA6E4}">
                <adec:decorative xmlns:adec="http://schemas.microsoft.com/office/drawing/2017/decorative" val="1"/>
              </a:ext>
            </a:extLst>
          </p:cNvPr>
          <p:cNvSpPr txBox="1"/>
          <p:nvPr/>
        </p:nvSpPr>
        <p:spPr>
          <a:xfrm>
            <a:off x="3977640" y="841248"/>
            <a:ext cx="1025906" cy="236474"/>
          </a:xfrm>
          <a:prstGeom prst="rect">
            <a:avLst/>
          </a:prstGeom>
          <a:noFill/>
          <a:ln/>
        </p:spPr>
        <p:txBody>
          <a:bodyPr wrap="none" lIns="0" tIns="0" rIns="0" bIns="0" rtlCol="0" anchor="ctr"/>
          <a:lstStyle/>
          <a:p>
            <a:pPr indent="0" marL="0">
              <a:buNone/>
            </a:pPr>
            <a:r>
              <a:rPr lang="en-US" sz="1100" dirty="0">
                <a:solidFill>
                  <a:srgbClr val="34433B"/>
                </a:solidFill>
                <a:latin typeface="Consolas" pitchFamily="34" charset="0"/>
                <a:ea typeface="Consolas" pitchFamily="34" charset="-122"/>
                <a:cs typeface="Consolas" pitchFamily="34" charset="-120"/>
              </a:rPr>
              <a:t>A * (B * C)</a:t>
            </a:r>
            <a:endParaRPr lang="en-US" sz="1100" dirty="0"/>
          </a:p>
        </p:txBody>
      </p:sp>
      <p:sp>
        <p:nvSpPr>
          <p:cNvPr id="46" name="!!p03">
            <a:extLst>
              <a:ext uri="{C183D7F6-B498-43B3-948B-1728B52AA6E4}">
                <adec:decorative xmlns:adec="http://schemas.microsoft.com/office/drawing/2017/decorative" val="1"/>
              </a:ext>
            </a:extLst>
          </p:cNvPr>
          <p:cNvSpPr txBox="1"/>
          <p:nvPr/>
        </p:nvSpPr>
        <p:spPr>
          <a:xfrm>
            <a:off x="594360" y="841248"/>
            <a:ext cx="451104" cy="252984"/>
          </a:xfrm>
          <a:prstGeom prst="rect">
            <a:avLst/>
          </a:prstGeom>
          <a:noFill/>
          <a:ln/>
        </p:spPr>
        <p:txBody>
          <a:bodyPr wrap="none" lIns="0" tIns="0" rIns="0" bIns="0" rtlCol="0" anchor="ctr"/>
          <a:lstStyle/>
          <a:p>
            <a:pPr indent="0" marL="0">
              <a:buNone/>
            </a:pPr>
            <a:r>
              <a:rPr lang="en-US" sz="1200" dirty="0">
                <a:solidFill>
                  <a:srgbClr val="3A4A42"/>
                </a:solidFill>
                <a:latin typeface="Consolas" pitchFamily="34" charset="0"/>
                <a:ea typeface="Consolas" pitchFamily="34" charset="-122"/>
                <a:cs typeface="Consolas" pitchFamily="34" charset="-120"/>
              </a:rPr>
              <a:t>2^53</a:t>
            </a:r>
            <a:endParaRPr lang="en-US" sz="1200" dirty="0"/>
          </a:p>
        </p:txBody>
      </p:sp>
      <p:sp>
        <p:nvSpPr>
          <p:cNvPr id="47" name="!!p04">
            <a:extLst>
              <a:ext uri="{C183D7F6-B498-43B3-948B-1728B52AA6E4}">
                <adec:decorative xmlns:adec="http://schemas.microsoft.com/office/drawing/2017/decorative" val="1"/>
              </a:ext>
            </a:extLst>
          </p:cNvPr>
          <p:cNvSpPr txBox="1"/>
          <p:nvPr/>
        </p:nvSpPr>
        <p:spPr>
          <a:xfrm>
            <a:off x="228600" y="4352544"/>
            <a:ext cx="506222" cy="236474"/>
          </a:xfrm>
          <a:prstGeom prst="rect">
            <a:avLst/>
          </a:prstGeom>
          <a:noFill/>
          <a:ln/>
        </p:spPr>
        <p:txBody>
          <a:bodyPr wrap="none" lIns="0" tIns="0" rIns="0" bIns="0" rtlCol="0" anchor="ctr"/>
          <a:lstStyle/>
          <a:p>
            <a:pPr indent="0" marL="0">
              <a:buNone/>
            </a:pPr>
            <a:r>
              <a:rPr lang="en-US" sz="1100" dirty="0">
                <a:solidFill>
                  <a:srgbClr val="34433B"/>
                </a:solidFill>
                <a:latin typeface="Consolas" pitchFamily="34" charset="0"/>
                <a:ea typeface="Consolas" pitchFamily="34" charset="-122"/>
                <a:cs typeface="Consolas" pitchFamily="34" charset="-120"/>
              </a:rPr>
              <a:t>fl(x)</a:t>
            </a:r>
            <a:endParaRPr lang="en-US" sz="1100" dirty="0"/>
          </a:p>
        </p:txBody>
      </p:sp>
      <p:sp>
        <p:nvSpPr>
          <p:cNvPr id="48" name="!!p05">
            <a:extLst>
              <a:ext uri="{C183D7F6-B498-43B3-948B-1728B52AA6E4}">
                <adec:decorative xmlns:adec="http://schemas.microsoft.com/office/drawing/2017/decorative" val="1"/>
              </a:ext>
            </a:extLst>
          </p:cNvPr>
          <p:cNvSpPr txBox="1"/>
          <p:nvPr/>
        </p:nvSpPr>
        <p:spPr>
          <a:xfrm>
            <a:off x="-1131824" y="4060668"/>
            <a:ext cx="766064" cy="236474"/>
          </a:xfrm>
          <a:prstGeom prst="rect">
            <a:avLst/>
          </a:prstGeom>
          <a:noFill/>
          <a:ln/>
        </p:spPr>
        <p:txBody>
          <a:bodyPr wrap="none" lIns="0" tIns="0" rIns="0" bIns="0" rtlCol="0" anchor="ctr"/>
          <a:lstStyle/>
          <a:p>
            <a:pPr indent="0" marL="0">
              <a:buNone/>
            </a:pPr>
            <a:r>
              <a:rPr lang="en-US" sz="1100" dirty="0">
                <a:solidFill>
                  <a:srgbClr val="3A403D"/>
                </a:solidFill>
                <a:latin typeface="Consolas" pitchFamily="34" charset="0"/>
                <a:ea typeface="Consolas" pitchFamily="34" charset="-122"/>
                <a:cs typeface="Consolas" pitchFamily="34" charset="-120"/>
              </a:rPr>
              <a:t>-0 != +0</a:t>
            </a:r>
            <a:endParaRPr lang="en-US" sz="1100" dirty="0"/>
          </a:p>
        </p:txBody>
      </p:sp>
      <p:sp>
        <p:nvSpPr>
          <p:cNvPr id="49" name="!!p06">
            <a:extLst>
              <a:ext uri="{C183D7F6-B498-43B3-948B-1728B52AA6E4}">
                <adec:decorative xmlns:adec="http://schemas.microsoft.com/office/drawing/2017/decorative" val="1"/>
              </a:ext>
            </a:extLst>
          </p:cNvPr>
          <p:cNvSpPr txBox="1"/>
          <p:nvPr/>
        </p:nvSpPr>
        <p:spPr>
          <a:xfrm>
            <a:off x="-1564894" y="3131664"/>
            <a:ext cx="1199134" cy="236474"/>
          </a:xfrm>
          <a:prstGeom prst="rect">
            <a:avLst/>
          </a:prstGeom>
          <a:noFill/>
          <a:ln/>
        </p:spPr>
        <p:txBody>
          <a:bodyPr wrap="none" lIns="0" tIns="0" rIns="0" bIns="0" rtlCol="0" anchor="ctr"/>
          <a:lstStyle/>
          <a:p>
            <a:pPr indent="0" marL="0">
              <a:buNone/>
            </a:pPr>
            <a:r>
              <a:rPr lang="en-US" sz="1100" dirty="0">
                <a:solidFill>
                  <a:srgbClr val="34433B"/>
                </a:solidFill>
                <a:latin typeface="Consolas" pitchFamily="34" charset="0"/>
                <a:ea typeface="Consolas" pitchFamily="34" charset="-122"/>
                <a:cs typeface="Consolas" pitchFamily="34" charset="-120"/>
              </a:rPr>
              <a:t>inf * 0 = NaN</a:t>
            </a:r>
            <a:endParaRPr lang="en-US" sz="1100" dirty="0"/>
          </a:p>
        </p:txBody>
      </p:sp>
      <p:sp>
        <p:nvSpPr>
          <p:cNvPr id="50" name="!!p07">
            <a:extLst>
              <a:ext uri="{C183D7F6-B498-43B3-948B-1728B52AA6E4}">
                <adec:decorative xmlns:adec="http://schemas.microsoft.com/office/drawing/2017/decorative" val="1"/>
              </a:ext>
            </a:extLst>
          </p:cNvPr>
          <p:cNvSpPr txBox="1"/>
          <p:nvPr/>
        </p:nvSpPr>
        <p:spPr>
          <a:xfrm>
            <a:off x="-1564894" y="3767852"/>
            <a:ext cx="1199134" cy="236474"/>
          </a:xfrm>
          <a:prstGeom prst="rect">
            <a:avLst/>
          </a:prstGeom>
          <a:noFill/>
          <a:ln/>
        </p:spPr>
        <p:txBody>
          <a:bodyPr wrap="none" lIns="0" tIns="0" rIns="0" bIns="0" rtlCol="0" anchor="ctr"/>
          <a:lstStyle/>
          <a:p>
            <a:pPr indent="0" marL="0">
              <a:buNone/>
            </a:pPr>
            <a:r>
              <a:rPr lang="en-US" sz="1100" dirty="0">
                <a:solidFill>
                  <a:srgbClr val="3A4A42"/>
                </a:solidFill>
                <a:latin typeface="Consolas" pitchFamily="34" charset="0"/>
                <a:ea typeface="Consolas" pitchFamily="34" charset="-122"/>
                <a:cs typeface="Consolas" pitchFamily="34" charset="-120"/>
              </a:rPr>
              <a:t>{{1,0},{0,1}}</a:t>
            </a:r>
            <a:endParaRPr lang="en-US" sz="1100" dirty="0"/>
          </a:p>
        </p:txBody>
      </p:sp>
      <p:sp>
        <p:nvSpPr>
          <p:cNvPr id="51" name="!!p08">
            <a:extLst>
              <a:ext uri="{C183D7F6-B498-43B3-948B-1728B52AA6E4}">
                <adec:decorative xmlns:adec="http://schemas.microsoft.com/office/drawing/2017/decorative" val="1"/>
              </a:ext>
            </a:extLst>
          </p:cNvPr>
          <p:cNvSpPr txBox="1"/>
          <p:nvPr/>
        </p:nvSpPr>
        <p:spPr>
          <a:xfrm>
            <a:off x="-1045210" y="2083345"/>
            <a:ext cx="679450" cy="236474"/>
          </a:xfrm>
          <a:prstGeom prst="rect">
            <a:avLst/>
          </a:prstGeom>
          <a:noFill/>
          <a:ln/>
        </p:spPr>
        <p:txBody>
          <a:bodyPr wrap="none" lIns="0" tIns="0" rIns="0" bIns="0" rtlCol="0" anchor="ctr"/>
          <a:lstStyle/>
          <a:p>
            <a:pPr indent="0" marL="0">
              <a:buNone/>
            </a:pPr>
            <a:r>
              <a:rPr lang="en-US" sz="1100" dirty="0">
                <a:solidFill>
                  <a:srgbClr val="3A403D"/>
                </a:solidFill>
                <a:latin typeface="Consolas" pitchFamily="34" charset="0"/>
                <a:ea typeface="Consolas" pitchFamily="34" charset="-122"/>
                <a:cs typeface="Consolas" pitchFamily="34" charset="-120"/>
              </a:rPr>
              <a:t>0x1p+53</a:t>
            </a:r>
            <a:endParaRPr lang="en-US" sz="1100" dirty="0"/>
          </a:p>
        </p:txBody>
      </p:sp>
      <p:sp>
        <p:nvSpPr>
          <p:cNvPr id="52" name="!!p09">
            <a:extLst>
              <a:ext uri="{C183D7F6-B498-43B3-948B-1728B52AA6E4}">
                <adec:decorative xmlns:adec="http://schemas.microsoft.com/office/drawing/2017/decorative" val="1"/>
              </a:ext>
            </a:extLst>
          </p:cNvPr>
          <p:cNvSpPr txBox="1"/>
          <p:nvPr/>
        </p:nvSpPr>
        <p:spPr>
          <a:xfrm>
            <a:off x="-1391666" y="2020114"/>
            <a:ext cx="1025906" cy="236474"/>
          </a:xfrm>
          <a:prstGeom prst="rect">
            <a:avLst/>
          </a:prstGeom>
          <a:noFill/>
          <a:ln/>
        </p:spPr>
        <p:txBody>
          <a:bodyPr wrap="none" lIns="0" tIns="0" rIns="0" bIns="0" rtlCol="0" anchor="ctr"/>
          <a:lstStyle/>
          <a:p>
            <a:pPr indent="0" marL="0">
              <a:buNone/>
            </a:pPr>
            <a:r>
              <a:rPr lang="en-US" sz="1100" dirty="0">
                <a:solidFill>
                  <a:srgbClr val="34433B"/>
                </a:solidFill>
                <a:latin typeface="Consolas" pitchFamily="34" charset="0"/>
                <a:ea typeface="Consolas" pitchFamily="34" charset="-122"/>
                <a:cs typeface="Consolas" pitchFamily="34" charset="-120"/>
              </a:rPr>
              <a:t>input(int8)</a:t>
            </a:r>
            <a:endParaRPr lang="en-US" sz="1100" dirty="0"/>
          </a:p>
        </p:txBody>
      </p:sp>
      <p:sp>
        <p:nvSpPr>
          <p:cNvPr id="53" name="!!p10">
            <a:extLst>
              <a:ext uri="{C183D7F6-B498-43B3-948B-1728B52AA6E4}">
                <adec:decorative xmlns:adec="http://schemas.microsoft.com/office/drawing/2017/decorative" val="1"/>
              </a:ext>
            </a:extLst>
          </p:cNvPr>
          <p:cNvSpPr txBox="1"/>
          <p:nvPr/>
        </p:nvSpPr>
        <p:spPr>
          <a:xfrm>
            <a:off x="-1045210" y="5728327"/>
            <a:ext cx="679450" cy="236474"/>
          </a:xfrm>
          <a:prstGeom prst="rect">
            <a:avLst/>
          </a:prstGeom>
          <a:noFill/>
          <a:ln/>
        </p:spPr>
        <p:txBody>
          <a:bodyPr wrap="none" lIns="0" tIns="0" rIns="0" bIns="0" rtlCol="0" anchor="ctr"/>
          <a:lstStyle/>
          <a:p>
            <a:pPr indent="0" marL="0">
              <a:buNone/>
            </a:pPr>
            <a:r>
              <a:rPr lang="en-US" sz="1100" dirty="0">
                <a:solidFill>
                  <a:srgbClr val="3A4A42"/>
                </a:solidFill>
                <a:latin typeface="Consolas" pitchFamily="34" charset="0"/>
                <a:ea typeface="Consolas" pitchFamily="34" charset="-122"/>
                <a:cs typeface="Consolas" pitchFamily="34" charset="-120"/>
              </a:rPr>
              <a:t>(a+b)+c</a:t>
            </a:r>
            <a:endParaRPr lang="en-US" sz="1100" dirty="0"/>
          </a:p>
        </p:txBody>
      </p:sp>
      <p:sp>
        <p:nvSpPr>
          <p:cNvPr id="54" name="!!p11">
            <a:extLst>
              <a:ext uri="{C183D7F6-B498-43B3-948B-1728B52AA6E4}">
                <adec:decorative xmlns:adec="http://schemas.microsoft.com/office/drawing/2017/decorative" val="1"/>
              </a:ext>
            </a:extLst>
          </p:cNvPr>
          <p:cNvSpPr txBox="1"/>
          <p:nvPr/>
        </p:nvSpPr>
        <p:spPr>
          <a:xfrm>
            <a:off x="12557455" y="5398412"/>
            <a:ext cx="1112520" cy="236474"/>
          </a:xfrm>
          <a:prstGeom prst="rect">
            <a:avLst/>
          </a:prstGeom>
          <a:noFill/>
          <a:ln/>
        </p:spPr>
        <p:txBody>
          <a:bodyPr wrap="none" lIns="0" tIns="0" rIns="0" bIns="0" rtlCol="0" anchor="ctr"/>
          <a:lstStyle/>
          <a:p>
            <a:pPr indent="0" marL="0">
              <a:buNone/>
            </a:pPr>
            <a:r>
              <a:rPr lang="en-US" sz="1100" dirty="0">
                <a:solidFill>
                  <a:srgbClr val="3A403D"/>
                </a:solidFill>
                <a:latin typeface="Consolas" pitchFamily="34" charset="0"/>
                <a:ea typeface="Consolas" pitchFamily="34" charset="-122"/>
                <a:cs typeface="Consolas" pitchFamily="34" charset="-120"/>
              </a:rPr>
              <a:t>transpose(A)</a:t>
            </a:r>
            <a:endParaRPr lang="en-US" sz="1100" dirty="0"/>
          </a:p>
        </p:txBody>
      </p:sp>
      <p:sp>
        <p:nvSpPr>
          <p:cNvPr id="55" name="!!p12">
            <a:extLst>
              <a:ext uri="{C183D7F6-B498-43B3-948B-1728B52AA6E4}">
                <adec:decorative xmlns:adec="http://schemas.microsoft.com/office/drawing/2017/decorative" val="1"/>
              </a:ext>
            </a:extLst>
          </p:cNvPr>
          <p:cNvSpPr txBox="1"/>
          <p:nvPr/>
        </p:nvSpPr>
        <p:spPr>
          <a:xfrm>
            <a:off x="-1218438" y="3790997"/>
            <a:ext cx="852678" cy="236474"/>
          </a:xfrm>
          <a:prstGeom prst="rect">
            <a:avLst/>
          </a:prstGeom>
          <a:noFill/>
          <a:ln/>
        </p:spPr>
        <p:txBody>
          <a:bodyPr wrap="none" lIns="0" tIns="0" rIns="0" bIns="0" rtlCol="0" anchor="ctr"/>
          <a:lstStyle/>
          <a:p>
            <a:pPr indent="0" marL="0">
              <a:buNone/>
            </a:pPr>
            <a:r>
              <a:rPr lang="en-US" sz="1100" dirty="0">
                <a:solidFill>
                  <a:srgbClr val="34433B"/>
                </a:solidFill>
                <a:latin typeface="Consolas" pitchFamily="34" charset="0"/>
                <a:ea typeface="Consolas" pitchFamily="34" charset="-122"/>
                <a:cs typeface="Consolas" pitchFamily="34" charset="-120"/>
              </a:rPr>
              <a:t>print(R);</a:t>
            </a:r>
            <a:endParaRPr lang="en-US" sz="11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685800" y="347472"/>
            <a:ext cx="87782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Consolas" pitchFamily="34" charset="0"/>
                <a:ea typeface="Consolas" pitchFamily="34" charset="-122"/>
                <a:cs typeface="Consolas" pitchFamily="34" charset="-120"/>
              </a:rPr>
              <a:t>01 // THE COMPILER</a:t>
            </a:r>
            <a:endParaRPr lang="en-US" sz="1200" dirty="0"/>
          </a:p>
        </p:txBody>
      </p:sp>
      <p:sp>
        <p:nvSpPr>
          <p:cNvPr id="3" name="Text 0"/>
          <p:cNvSpPr/>
          <p:nvPr>
            <p:ph idx="100" type="title" hasCustomPrompt="1"/>
          </p:nvPr>
        </p:nvSpPr>
        <p:spPr>
          <a:xfrm>
            <a:off x="685800" y="676656"/>
            <a:ext cx="9326880" cy="658368"/>
          </a:xfrm>
          <a:prstGeom prst="rect">
            <a:avLst/>
          </a:prstGeom>
          <a:noFill/>
          <a:ln/>
        </p:spPr>
        <p:txBody>
          <a:bodyPr wrap="square" lIns="0" tIns="0" rIns="0" bIns="0" rtlCol="0" anchor="t"/>
          <a:lstStyle/>
          <a:p>
            <a:pPr algn="l" indent="0" marL="0">
              <a:buNone/>
            </a:pPr>
            <a:r>
              <a:rPr lang="en-US" sz="3000" dirty="0">
                <a:solidFill>
                  <a:schemeClr val="bg1"/>
                </a:solidFill>
                <a:latin typeface="Segoe UI Semibold" pitchFamily="34" charset="0"/>
                <a:ea typeface="Segoe UI Semibold" pitchFamily="34" charset="-122"/>
                <a:cs typeface="Segoe UI Semibold" pitchFamily="34" charset="-120"/>
              </a:rPr>
              <a:t>Nine stages, from source text to certified C</a:t>
            </a:r>
            <a:endParaRPr lang="en-US" sz="3000" dirty="0"/>
          </a:p>
        </p:txBody>
      </p:sp>
      <p:sp>
        <p:nvSpPr>
          <p:cNvPr id="4" name="!!vL"/>
          <p:cNvSpPr/>
          <p:nvPr/>
        </p:nvSpPr>
        <p:spPr>
          <a:xfrm>
            <a:off x="10241280" y="356616"/>
            <a:ext cx="54864" cy="256032"/>
          </a:xfrm>
          <a:custGeom>
            <a:avLst/>
            <a:gdLst/>
            <a:ahLst/>
            <a:cxnLst/>
            <a:rect l="l" t="t" r="r" b="b"/>
            <a:pathLst>
              <a:path w="54864" h="256032">
                <a:moveTo>
                  <a:pt x="54864" y="0"/>
                </a:moveTo>
                <a:lnTo>
                  <a:pt x="0" y="0"/>
                </a:lnTo>
                <a:lnTo>
                  <a:pt x="0" y="256032"/>
                </a:lnTo>
                <a:lnTo>
                  <a:pt x="54864" y="256032"/>
                </a:lnTo>
              </a:path>
            </a:pathLst>
          </a:custGeom>
          <a:noFill/>
          <a:ln w="12700">
            <a:solidFill>
              <a:srgbClr val="4A514D"/>
            </a:solidFill>
            <a:prstDash val="solid"/>
          </a:ln>
        </p:spPr>
      </p:sp>
      <p:sp>
        <p:nvSpPr>
          <p:cNvPr id="5" name="!!vR"/>
          <p:cNvSpPr/>
          <p:nvPr/>
        </p:nvSpPr>
        <p:spPr>
          <a:xfrm>
            <a:off x="11448288" y="356616"/>
            <a:ext cx="54864" cy="256032"/>
          </a:xfrm>
          <a:custGeom>
            <a:avLst/>
            <a:gdLst/>
            <a:ahLst/>
            <a:cxnLst/>
            <a:rect l="l" t="t" r="r" b="b"/>
            <a:pathLst>
              <a:path w="54864" h="256032">
                <a:moveTo>
                  <a:pt x="0" y="0"/>
                </a:moveTo>
                <a:lnTo>
                  <a:pt x="54864" y="0"/>
                </a:lnTo>
                <a:lnTo>
                  <a:pt x="54864" y="256032"/>
                </a:lnTo>
                <a:lnTo>
                  <a:pt x="0" y="256032"/>
                </a:lnTo>
              </a:path>
            </a:pathLst>
          </a:custGeom>
          <a:noFill/>
          <a:ln w="12700">
            <a:solidFill>
              <a:srgbClr val="4A514D"/>
            </a:solidFill>
            <a:prstDash val="solid"/>
          </a:ln>
        </p:spPr>
      </p:sp>
      <p:sp>
        <p:nvSpPr>
          <p:cNvPr id="6" name="!!e1"/>
          <p:cNvSpPr txBox="1"/>
          <p:nvPr/>
        </p:nvSpPr>
        <p:spPr>
          <a:xfrm>
            <a:off x="10341864" y="347472"/>
            <a:ext cx="146304" cy="274320"/>
          </a:xfrm>
          <a:prstGeom prst="rect">
            <a:avLst/>
          </a:prstGeom>
          <a:noFill/>
          <a:ln/>
        </p:spPr>
        <p:txBody>
          <a:bodyPr wrap="square" lIns="0" tIns="0" rIns="0" bIns="0" rtlCol="0" anchor="ctr"/>
          <a:lstStyle/>
          <a:p>
            <a:pPr algn="ctr" indent="0" marL="0">
              <a:buNone/>
            </a:pPr>
            <a:r>
              <a:rPr lang="en-US" sz="1200" dirty="0">
                <a:solidFill>
                  <a:srgbClr val="4A514D"/>
                </a:solidFill>
                <a:latin typeface="Consolas" pitchFamily="34" charset="0"/>
                <a:ea typeface="Consolas" pitchFamily="34" charset="-122"/>
                <a:cs typeface="Consolas" pitchFamily="34" charset="-120"/>
              </a:rPr>
              <a:t>0</a:t>
            </a:r>
            <a:endParaRPr lang="en-US" sz="1200" dirty="0"/>
          </a:p>
        </p:txBody>
      </p:sp>
      <p:sp>
        <p:nvSpPr>
          <p:cNvPr id="7" name="!!e2"/>
          <p:cNvSpPr txBox="1"/>
          <p:nvPr/>
        </p:nvSpPr>
        <p:spPr>
          <a:xfrm>
            <a:off x="10492740" y="347472"/>
            <a:ext cx="146304" cy="274320"/>
          </a:xfrm>
          <a:prstGeom prst="rect">
            <a:avLst/>
          </a:prstGeom>
          <a:noFill/>
          <a:ln/>
        </p:spPr>
        <p:txBody>
          <a:bodyPr wrap="square" lIns="0" tIns="0" rIns="0" bIns="0" rtlCol="0" anchor="ctr"/>
          <a:lstStyle/>
          <a:p>
            <a:pPr algn="ctr" indent="0" marL="0">
              <a:buNone/>
            </a:pPr>
            <a:r>
              <a:rPr lang="en-US" sz="1200" b="1" dirty="0">
                <a:solidFill>
                  <a:schemeClr val="accent1"/>
                </a:solidFill>
                <a:latin typeface="Consolas" pitchFamily="34" charset="0"/>
                <a:ea typeface="Consolas" pitchFamily="34" charset="-122"/>
                <a:cs typeface="Consolas" pitchFamily="34" charset="-120"/>
              </a:rPr>
              <a:t>1</a:t>
            </a:r>
            <a:endParaRPr lang="en-US" sz="1200" dirty="0"/>
          </a:p>
        </p:txBody>
      </p:sp>
      <p:sp>
        <p:nvSpPr>
          <p:cNvPr id="8" name="!!e3"/>
          <p:cNvSpPr txBox="1"/>
          <p:nvPr/>
        </p:nvSpPr>
        <p:spPr>
          <a:xfrm>
            <a:off x="10643616" y="347472"/>
            <a:ext cx="146304" cy="274320"/>
          </a:xfrm>
          <a:prstGeom prst="rect">
            <a:avLst/>
          </a:prstGeom>
          <a:noFill/>
          <a:ln/>
        </p:spPr>
        <p:txBody>
          <a:bodyPr wrap="square" lIns="0" tIns="0" rIns="0" bIns="0" rtlCol="0" anchor="ctr"/>
          <a:lstStyle/>
          <a:p>
            <a:pPr algn="ctr" indent="0" marL="0">
              <a:buNone/>
            </a:pPr>
            <a:r>
              <a:rPr lang="en-US" sz="1200" dirty="0">
                <a:solidFill>
                  <a:srgbClr val="4A514D"/>
                </a:solidFill>
                <a:latin typeface="Consolas" pitchFamily="34" charset="0"/>
                <a:ea typeface="Consolas" pitchFamily="34" charset="-122"/>
                <a:cs typeface="Consolas" pitchFamily="34" charset="-120"/>
              </a:rPr>
              <a:t>0</a:t>
            </a:r>
            <a:endParaRPr lang="en-US" sz="1200" dirty="0"/>
          </a:p>
        </p:txBody>
      </p:sp>
      <p:sp>
        <p:nvSpPr>
          <p:cNvPr id="9" name="!!e4"/>
          <p:cNvSpPr txBox="1"/>
          <p:nvPr/>
        </p:nvSpPr>
        <p:spPr>
          <a:xfrm>
            <a:off x="10794492" y="347472"/>
            <a:ext cx="146304" cy="274320"/>
          </a:xfrm>
          <a:prstGeom prst="rect">
            <a:avLst/>
          </a:prstGeom>
          <a:noFill/>
          <a:ln/>
        </p:spPr>
        <p:txBody>
          <a:bodyPr wrap="square" lIns="0" tIns="0" rIns="0" bIns="0" rtlCol="0" anchor="ctr"/>
          <a:lstStyle/>
          <a:p>
            <a:pPr algn="ctr" indent="0" marL="0">
              <a:buNone/>
            </a:pPr>
            <a:r>
              <a:rPr lang="en-US" sz="1200" dirty="0">
                <a:solidFill>
                  <a:srgbClr val="4A514D"/>
                </a:solidFill>
                <a:latin typeface="Consolas" pitchFamily="34" charset="0"/>
                <a:ea typeface="Consolas" pitchFamily="34" charset="-122"/>
                <a:cs typeface="Consolas" pitchFamily="34" charset="-120"/>
              </a:rPr>
              <a:t>0</a:t>
            </a:r>
            <a:endParaRPr lang="en-US" sz="1200" dirty="0"/>
          </a:p>
        </p:txBody>
      </p:sp>
      <p:sp>
        <p:nvSpPr>
          <p:cNvPr id="10" name="!!e5"/>
          <p:cNvSpPr txBox="1"/>
          <p:nvPr/>
        </p:nvSpPr>
        <p:spPr>
          <a:xfrm>
            <a:off x="10945368" y="347472"/>
            <a:ext cx="146304" cy="274320"/>
          </a:xfrm>
          <a:prstGeom prst="rect">
            <a:avLst/>
          </a:prstGeom>
          <a:noFill/>
          <a:ln/>
        </p:spPr>
        <p:txBody>
          <a:bodyPr wrap="square" lIns="0" tIns="0" rIns="0" bIns="0" rtlCol="0" anchor="ctr"/>
          <a:lstStyle/>
          <a:p>
            <a:pPr algn="ctr" indent="0" marL="0">
              <a:buNone/>
            </a:pPr>
            <a:r>
              <a:rPr lang="en-US" sz="1200" dirty="0">
                <a:solidFill>
                  <a:srgbClr val="4A514D"/>
                </a:solidFill>
                <a:latin typeface="Consolas" pitchFamily="34" charset="0"/>
                <a:ea typeface="Consolas" pitchFamily="34" charset="-122"/>
                <a:cs typeface="Consolas" pitchFamily="34" charset="-120"/>
              </a:rPr>
              <a:t>0</a:t>
            </a:r>
            <a:endParaRPr lang="en-US" sz="1200" dirty="0"/>
          </a:p>
        </p:txBody>
      </p:sp>
      <p:sp>
        <p:nvSpPr>
          <p:cNvPr id="11" name="!!e6"/>
          <p:cNvSpPr txBox="1"/>
          <p:nvPr/>
        </p:nvSpPr>
        <p:spPr>
          <a:xfrm>
            <a:off x="11096244" y="347472"/>
            <a:ext cx="146304" cy="274320"/>
          </a:xfrm>
          <a:prstGeom prst="rect">
            <a:avLst/>
          </a:prstGeom>
          <a:noFill/>
          <a:ln/>
        </p:spPr>
        <p:txBody>
          <a:bodyPr wrap="square" lIns="0" tIns="0" rIns="0" bIns="0" rtlCol="0" anchor="ctr"/>
          <a:lstStyle/>
          <a:p>
            <a:pPr algn="ctr" indent="0" marL="0">
              <a:buNone/>
            </a:pPr>
            <a:r>
              <a:rPr lang="en-US" sz="1200" dirty="0">
                <a:solidFill>
                  <a:srgbClr val="4A514D"/>
                </a:solidFill>
                <a:latin typeface="Consolas" pitchFamily="34" charset="0"/>
                <a:ea typeface="Consolas" pitchFamily="34" charset="-122"/>
                <a:cs typeface="Consolas" pitchFamily="34" charset="-120"/>
              </a:rPr>
              <a:t>0</a:t>
            </a:r>
            <a:endParaRPr lang="en-US" sz="1200" dirty="0"/>
          </a:p>
        </p:txBody>
      </p:sp>
      <p:sp>
        <p:nvSpPr>
          <p:cNvPr id="12" name="!!e7"/>
          <p:cNvSpPr txBox="1"/>
          <p:nvPr/>
        </p:nvSpPr>
        <p:spPr>
          <a:xfrm>
            <a:off x="11247120" y="347472"/>
            <a:ext cx="146304" cy="274320"/>
          </a:xfrm>
          <a:prstGeom prst="rect">
            <a:avLst/>
          </a:prstGeom>
          <a:noFill/>
          <a:ln/>
        </p:spPr>
        <p:txBody>
          <a:bodyPr wrap="square" lIns="0" tIns="0" rIns="0" bIns="0" rtlCol="0" anchor="ctr"/>
          <a:lstStyle/>
          <a:p>
            <a:pPr algn="ctr" indent="0" marL="0">
              <a:buNone/>
            </a:pPr>
            <a:r>
              <a:rPr lang="en-US" sz="1200" dirty="0">
                <a:solidFill>
                  <a:srgbClr val="4A514D"/>
                </a:solidFill>
                <a:latin typeface="Consolas" pitchFamily="34" charset="0"/>
                <a:ea typeface="Consolas" pitchFamily="34" charset="-122"/>
                <a:cs typeface="Consolas" pitchFamily="34" charset="-120"/>
              </a:rPr>
              <a:t>0</a:t>
            </a:r>
            <a:endParaRPr lang="en-US" sz="1200" dirty="0"/>
          </a:p>
        </p:txBody>
      </p:sp>
      <p:sp>
        <p:nvSpPr>
          <p:cNvPr id="13" name="!!logo"/>
          <p:cNvSpPr txBox="1"/>
          <p:nvPr/>
        </p:nvSpPr>
        <p:spPr>
          <a:xfrm>
            <a:off x="685800" y="6382512"/>
            <a:ext cx="2011680" cy="274320"/>
          </a:xfrm>
          <a:prstGeom prst="rect">
            <a:avLst/>
          </a:prstGeom>
          <a:noFill/>
          <a:ln/>
        </p:spPr>
        <p:txBody>
          <a:bodyPr wrap="square" lIns="0" tIns="0" rIns="0" bIns="0" rtlCol="0" anchor="ctr"/>
          <a:lstStyle/>
          <a:p>
            <a:pPr indent="0" marL="0">
              <a:buNone/>
            </a:pPr>
            <a:r>
              <a:rPr lang="en-US" sz="1300" dirty="0">
                <a:solidFill>
                  <a:schemeClr val="bg1"/>
                </a:solidFill>
                <a:latin typeface="Segoe UI Black" pitchFamily="34" charset="0"/>
                <a:ea typeface="Segoe UI Black" pitchFamily="34" charset="-122"/>
                <a:cs typeface="Segoe UI Black" pitchFamily="34" charset="-120"/>
              </a:rPr>
              <a:t>Matrix</a:t>
            </a:r>
            <a:pPr indent="0" marL="0">
              <a:buNone/>
            </a:pPr>
            <a:r>
              <a:rPr lang="en-US" sz="1300" dirty="0">
                <a:solidFill>
                  <a:schemeClr val="accent1"/>
                </a:solidFill>
                <a:latin typeface="Segoe UI Black" pitchFamily="34" charset="0"/>
                <a:ea typeface="Segoe UI Black" pitchFamily="34" charset="-122"/>
                <a:cs typeface="Segoe UI Black" pitchFamily="34" charset="-120"/>
              </a:rPr>
              <a:t>Lang</a:t>
            </a:r>
            <a:endParaRPr lang="en-US" sz="1300" dirty="0"/>
          </a:p>
        </p:txBody>
      </p:sp>
      <p:sp>
        <p:nvSpPr>
          <p:cNvPr id="14" name="!!repo"/>
          <p:cNvSpPr txBox="1"/>
          <p:nvPr/>
        </p:nvSpPr>
        <p:spPr>
          <a:xfrm>
            <a:off x="7662672" y="6382512"/>
            <a:ext cx="3840480" cy="274320"/>
          </a:xfrm>
          <a:prstGeom prst="rect">
            <a:avLst/>
          </a:prstGeom>
          <a:noFill/>
          <a:ln/>
        </p:spPr>
        <p:txBody>
          <a:bodyPr wrap="square" lIns="0" tIns="0" rIns="0" bIns="0" rtlCol="0" anchor="ctr"/>
          <a:lstStyle/>
          <a:p>
            <a:pPr algn="r" indent="0" marL="0">
              <a:buNone/>
            </a:pPr>
            <a:r>
              <a:rPr lang="en-US" sz="1100" u="sng" dirty="0">
                <a:solidFill>
                  <a:schemeClr val="accent1"/>
                </a:solidFill>
                <a:latin typeface="Consolas" pitchFamily="34" charset="0"/>
                <a:ea typeface="Consolas" pitchFamily="34" charset="-122"/>
                <a:cs typeface="Consolas" pitchFamily="34" charset="-120"/>
                <a:hlinkClick r:id="rId1" invalidUrl="" action="" tgtFrame="" tooltip="Open the MatrixLang repository" history="1" highlightClick="0" endSnd="0">
                  <a:extLst>
                    <a:ext uri="{A12FA001-AC4F-418D-AE19-62706E023703}">
                      <ahyp:hlinkClr xmlns:ahyp="http://schemas.microsoft.com/office/drawing/2018/hyperlinkcolor" val="tx"/>
                    </a:ext>
                  </a:extLst>
                </a:hlinkClick>
              </a:rPr>
              <a:t>github.com/aswanth-07/matrixlang</a:t>
            </a:r>
            <a:endParaRPr lang="en-US" sz="1100" dirty="0"/>
          </a:p>
        </p:txBody>
      </p:sp>
      <p:sp>
        <p:nvSpPr>
          <p:cNvPr id="15" name="!!brL"/>
          <p:cNvSpPr/>
          <p:nvPr/>
        </p:nvSpPr>
        <p:spPr>
          <a:xfrm>
            <a:off x="685800" y="1536192"/>
            <a:ext cx="164592" cy="1371600"/>
          </a:xfrm>
          <a:custGeom>
            <a:avLst/>
            <a:gdLst/>
            <a:ahLst/>
            <a:cxnLst/>
            <a:rect l="l" t="t" r="r" b="b"/>
            <a:pathLst>
              <a:path w="164592" h="1371600">
                <a:moveTo>
                  <a:pt x="164592" y="0"/>
                </a:moveTo>
                <a:lnTo>
                  <a:pt x="0" y="0"/>
                </a:lnTo>
                <a:lnTo>
                  <a:pt x="0" y="1371600"/>
                </a:lnTo>
                <a:lnTo>
                  <a:pt x="164592" y="1371600"/>
                </a:lnTo>
              </a:path>
            </a:pathLst>
          </a:custGeom>
          <a:noFill/>
          <a:ln w="22225">
            <a:solidFill>
              <a:schemeClr val="accent5"/>
            </a:solidFill>
            <a:prstDash val="solid"/>
          </a:ln>
        </p:spPr>
      </p:sp>
      <p:sp>
        <p:nvSpPr>
          <p:cNvPr id="16" name="!!brR"/>
          <p:cNvSpPr/>
          <p:nvPr/>
        </p:nvSpPr>
        <p:spPr>
          <a:xfrm>
            <a:off x="11338560" y="1536192"/>
            <a:ext cx="164592" cy="1371600"/>
          </a:xfrm>
          <a:custGeom>
            <a:avLst/>
            <a:gdLst/>
            <a:ahLst/>
            <a:cxnLst/>
            <a:rect l="l" t="t" r="r" b="b"/>
            <a:pathLst>
              <a:path w="164592" h="1371600">
                <a:moveTo>
                  <a:pt x="0" y="0"/>
                </a:moveTo>
                <a:lnTo>
                  <a:pt x="164592" y="0"/>
                </a:lnTo>
                <a:lnTo>
                  <a:pt x="164592" y="1371600"/>
                </a:lnTo>
                <a:lnTo>
                  <a:pt x="0" y="1371600"/>
                </a:lnTo>
              </a:path>
            </a:pathLst>
          </a:custGeom>
          <a:noFill/>
          <a:ln w="22225">
            <a:solidFill>
              <a:schemeClr val="accent5"/>
            </a:solidFill>
            <a:prstDash val="solid"/>
          </a:ln>
        </p:spPr>
      </p:sp>
      <p:sp>
        <p:nvSpPr>
          <p:cNvPr id="17" name="!!cell1"/>
          <p:cNvSpPr/>
          <p:nvPr/>
        </p:nvSpPr>
        <p:spPr>
          <a:xfrm>
            <a:off x="1024128" y="1636776"/>
            <a:ext cx="1053389" cy="1170432"/>
          </a:xfrm>
          <a:prstGeom prst="roundRect">
            <a:avLst>
              <a:gd name="adj" fmla="val 5208"/>
            </a:avLst>
          </a:prstGeom>
          <a:solidFill>
            <a:srgbClr val="0A0C0B"/>
          </a:solidFill>
          <a:ln w="9525">
            <a:solidFill>
              <a:srgbClr val="1F2523"/>
            </a:solidFill>
          </a:ln>
        </p:spPr>
        <p:txBody>
          <a:bodyPr wrap="square" lIns="88900" tIns="88900" rIns="63500" bIns="76200" rtlCol="0" anchor="t"/>
          <a:lstStyle/>
          <a:p>
            <a:pPr algn="l" indent="0" marL="0">
              <a:buNone/>
            </a:pPr>
            <a:r>
              <a:rPr lang="en-US" sz="1000" dirty="0">
                <a:solidFill>
                  <a:schemeClr val="accent4"/>
                </a:solidFill>
                <a:latin typeface="Consolas" pitchFamily="34" charset="0"/>
                <a:ea typeface="Consolas" pitchFamily="34" charset="-122"/>
                <a:cs typeface="Consolas" pitchFamily="34" charset="-120"/>
              </a:rPr>
              <a:t>01</a:t>
            </a:r>
            <a:endParaRPr lang="en-US" sz="1200" dirty="0"/>
          </a:p>
          <a:p>
            <a:pPr algn="l" indent="0" marL="0">
              <a:spcBef>
                <a:spcPts val="300"/>
              </a:spcBef>
              <a:buNone/>
            </a:pPr>
            <a:r>
              <a:rPr lang="en-US" sz="1300" dirty="0">
                <a:solidFill>
                  <a:schemeClr val="bg1"/>
                </a:solidFill>
                <a:latin typeface="Segoe UI Semibold" pitchFamily="34" charset="0"/>
                <a:ea typeface="Segoe UI Semibold" pitchFamily="34" charset="-122"/>
                <a:cs typeface="Segoe UI Semibold" pitchFamily="34" charset="-120"/>
              </a:rPr>
              <a:t>Scanner</a:t>
            </a:r>
            <a:endParaRPr lang="en-US" sz="1200" dirty="0"/>
          </a:p>
          <a:p>
            <a:pPr algn="l" indent="0" marL="0">
              <a:spcBef>
                <a:spcPts val="300"/>
              </a:spcBef>
              <a:buNone/>
            </a:pPr>
            <a:r>
              <a:rPr lang="en-US" sz="1000" dirty="0">
                <a:solidFill>
                  <a:schemeClr val="accent4"/>
                </a:solidFill>
                <a:latin typeface="Consolas" pitchFamily="34" charset="0"/>
                <a:ea typeface="Consolas" pitchFamily="34" charset="-122"/>
                <a:cs typeface="Consolas" pitchFamily="34" charset="-120"/>
              </a:rPr>
              <a:t>matrix.l</a:t>
            </a:r>
            <a:endParaRPr lang="en-US" sz="1200" dirty="0"/>
          </a:p>
        </p:txBody>
      </p:sp>
      <p:sp>
        <p:nvSpPr>
          <p:cNvPr id="18" name="!!cell2"/>
          <p:cNvSpPr/>
          <p:nvPr/>
        </p:nvSpPr>
        <p:spPr>
          <a:xfrm>
            <a:off x="2159813" y="1636776"/>
            <a:ext cx="1053389" cy="1170432"/>
          </a:xfrm>
          <a:prstGeom prst="roundRect">
            <a:avLst>
              <a:gd name="adj" fmla="val 5208"/>
            </a:avLst>
          </a:prstGeom>
          <a:solidFill>
            <a:srgbClr val="0A0C0B"/>
          </a:solidFill>
          <a:ln w="9525">
            <a:solidFill>
              <a:srgbClr val="1F2523"/>
            </a:solidFill>
          </a:ln>
        </p:spPr>
        <p:txBody>
          <a:bodyPr wrap="square" lIns="88900" tIns="88900" rIns="63500" bIns="76200" rtlCol="0" anchor="t"/>
          <a:lstStyle/>
          <a:p>
            <a:pPr algn="l" indent="0" marL="0">
              <a:buNone/>
            </a:pPr>
            <a:r>
              <a:rPr lang="en-US" sz="1000" dirty="0">
                <a:solidFill>
                  <a:schemeClr val="accent4"/>
                </a:solidFill>
                <a:latin typeface="Consolas" pitchFamily="34" charset="0"/>
                <a:ea typeface="Consolas" pitchFamily="34" charset="-122"/>
                <a:cs typeface="Consolas" pitchFamily="34" charset="-120"/>
              </a:rPr>
              <a:t>02</a:t>
            </a:r>
            <a:endParaRPr lang="en-US" sz="1200" dirty="0"/>
          </a:p>
          <a:p>
            <a:pPr algn="l" indent="0" marL="0">
              <a:spcBef>
                <a:spcPts val="300"/>
              </a:spcBef>
              <a:buNone/>
            </a:pPr>
            <a:r>
              <a:rPr lang="en-US" sz="1300" dirty="0">
                <a:solidFill>
                  <a:schemeClr val="bg1"/>
                </a:solidFill>
                <a:latin typeface="Segoe UI Semibold" pitchFamily="34" charset="0"/>
                <a:ea typeface="Segoe UI Semibold" pitchFamily="34" charset="-122"/>
                <a:cs typeface="Segoe UI Semibold" pitchFamily="34" charset="-120"/>
              </a:rPr>
              <a:t>Parser</a:t>
            </a:r>
            <a:endParaRPr lang="en-US" sz="1200" dirty="0"/>
          </a:p>
          <a:p>
            <a:pPr algn="l" indent="0" marL="0">
              <a:spcBef>
                <a:spcPts val="300"/>
              </a:spcBef>
              <a:buNone/>
            </a:pPr>
            <a:r>
              <a:rPr lang="en-US" sz="1000" dirty="0">
                <a:solidFill>
                  <a:schemeClr val="accent4"/>
                </a:solidFill>
                <a:latin typeface="Consolas" pitchFamily="34" charset="0"/>
                <a:ea typeface="Consolas" pitchFamily="34" charset="-122"/>
                <a:cs typeface="Consolas" pitchFamily="34" charset="-120"/>
              </a:rPr>
              <a:t>matrix.y</a:t>
            </a:r>
            <a:endParaRPr lang="en-US" sz="1200" dirty="0"/>
          </a:p>
        </p:txBody>
      </p:sp>
      <p:sp>
        <p:nvSpPr>
          <p:cNvPr id="19" name="!!cell3"/>
          <p:cNvSpPr/>
          <p:nvPr/>
        </p:nvSpPr>
        <p:spPr>
          <a:xfrm>
            <a:off x="3295498" y="1636776"/>
            <a:ext cx="1053389" cy="1170432"/>
          </a:xfrm>
          <a:prstGeom prst="roundRect">
            <a:avLst>
              <a:gd name="adj" fmla="val 5208"/>
            </a:avLst>
          </a:prstGeom>
          <a:solidFill>
            <a:srgbClr val="0A0C0B"/>
          </a:solidFill>
          <a:ln w="9525">
            <a:solidFill>
              <a:srgbClr val="1F2523"/>
            </a:solidFill>
          </a:ln>
        </p:spPr>
        <p:txBody>
          <a:bodyPr wrap="square" lIns="88900" tIns="88900" rIns="63500" bIns="76200" rtlCol="0" anchor="t"/>
          <a:lstStyle/>
          <a:p>
            <a:pPr algn="l" indent="0" marL="0">
              <a:buNone/>
            </a:pPr>
            <a:r>
              <a:rPr lang="en-US" sz="1000" dirty="0">
                <a:solidFill>
                  <a:schemeClr val="accent4"/>
                </a:solidFill>
                <a:latin typeface="Consolas" pitchFamily="34" charset="0"/>
                <a:ea typeface="Consolas" pitchFamily="34" charset="-122"/>
                <a:cs typeface="Consolas" pitchFamily="34" charset="-120"/>
              </a:rPr>
              <a:t>03</a:t>
            </a:r>
            <a:endParaRPr lang="en-US" sz="1200" dirty="0"/>
          </a:p>
          <a:p>
            <a:pPr algn="l" indent="0" marL="0">
              <a:spcBef>
                <a:spcPts val="300"/>
              </a:spcBef>
              <a:buNone/>
            </a:pPr>
            <a:r>
              <a:rPr lang="en-US" sz="1300" dirty="0">
                <a:solidFill>
                  <a:schemeClr val="bg1"/>
                </a:solidFill>
                <a:latin typeface="Segoe UI Semibold" pitchFamily="34" charset="0"/>
                <a:ea typeface="Segoe UI Semibold" pitchFamily="34" charset="-122"/>
                <a:cs typeface="Segoe UI Semibold" pitchFamily="34" charset="-120"/>
              </a:rPr>
              <a:t>Shape types</a:t>
            </a:r>
            <a:endParaRPr lang="en-US" sz="1200" dirty="0"/>
          </a:p>
          <a:p>
            <a:pPr algn="l" indent="0" marL="0">
              <a:spcBef>
                <a:spcPts val="300"/>
              </a:spcBef>
              <a:buNone/>
            </a:pPr>
            <a:r>
              <a:rPr lang="en-US" sz="1000" dirty="0">
                <a:solidFill>
                  <a:schemeClr val="accent4"/>
                </a:solidFill>
                <a:latin typeface="Consolas" pitchFamily="34" charset="0"/>
                <a:ea typeface="Consolas" pitchFamily="34" charset="-122"/>
                <a:cs typeface="Consolas" pitchFamily="34" charset="-120"/>
              </a:rPr>
              <a:t>types.c</a:t>
            </a:r>
            <a:endParaRPr lang="en-US" sz="1200" dirty="0"/>
          </a:p>
        </p:txBody>
      </p:sp>
      <p:sp>
        <p:nvSpPr>
          <p:cNvPr id="20" name="!!cell4"/>
          <p:cNvSpPr/>
          <p:nvPr/>
        </p:nvSpPr>
        <p:spPr>
          <a:xfrm>
            <a:off x="4431182" y="1636776"/>
            <a:ext cx="1053389" cy="1170432"/>
          </a:xfrm>
          <a:prstGeom prst="roundRect">
            <a:avLst>
              <a:gd name="adj" fmla="val 5208"/>
            </a:avLst>
          </a:prstGeom>
          <a:solidFill>
            <a:srgbClr val="0A0C0B"/>
          </a:solidFill>
          <a:ln w="9525">
            <a:solidFill>
              <a:srgbClr val="1F2523"/>
            </a:solidFill>
          </a:ln>
        </p:spPr>
        <p:txBody>
          <a:bodyPr wrap="square" lIns="88900" tIns="88900" rIns="63500" bIns="76200" rtlCol="0" anchor="t"/>
          <a:lstStyle/>
          <a:p>
            <a:pPr algn="l" indent="0" marL="0">
              <a:buNone/>
            </a:pPr>
            <a:r>
              <a:rPr lang="en-US" sz="1000" dirty="0">
                <a:solidFill>
                  <a:schemeClr val="accent4"/>
                </a:solidFill>
                <a:latin typeface="Consolas" pitchFamily="34" charset="0"/>
                <a:ea typeface="Consolas" pitchFamily="34" charset="-122"/>
                <a:cs typeface="Consolas" pitchFamily="34" charset="-120"/>
              </a:rPr>
              <a:t>04</a:t>
            </a:r>
            <a:endParaRPr lang="en-US" sz="1200" dirty="0"/>
          </a:p>
          <a:p>
            <a:pPr algn="l" indent="0" marL="0">
              <a:spcBef>
                <a:spcPts val="300"/>
              </a:spcBef>
              <a:buNone/>
            </a:pPr>
            <a:r>
              <a:rPr lang="en-US" sz="1300" dirty="0">
                <a:solidFill>
                  <a:schemeClr val="bg1"/>
                </a:solidFill>
                <a:latin typeface="Segoe UI Semibold" pitchFamily="34" charset="0"/>
                <a:ea typeface="Segoe UI Semibold" pitchFamily="34" charset="-122"/>
                <a:cs typeface="Segoe UI Semibold" pitchFamily="34" charset="-120"/>
              </a:rPr>
              <a:t>Semantics</a:t>
            </a:r>
            <a:endParaRPr lang="en-US" sz="1200" dirty="0"/>
          </a:p>
          <a:p>
            <a:pPr algn="l" indent="0" marL="0">
              <a:spcBef>
                <a:spcPts val="300"/>
              </a:spcBef>
              <a:buNone/>
            </a:pPr>
            <a:r>
              <a:rPr lang="en-US" sz="1000" dirty="0">
                <a:solidFill>
                  <a:schemeClr val="accent4"/>
                </a:solidFill>
                <a:latin typeface="Consolas" pitchFamily="34" charset="0"/>
                <a:ea typeface="Consolas" pitchFamily="34" charset="-122"/>
                <a:cs typeface="Consolas" pitchFamily="34" charset="-120"/>
              </a:rPr>
              <a:t>semantic.c</a:t>
            </a:r>
            <a:endParaRPr lang="en-US" sz="1200" dirty="0"/>
          </a:p>
        </p:txBody>
      </p:sp>
      <p:sp>
        <p:nvSpPr>
          <p:cNvPr id="21" name="!!cell5"/>
          <p:cNvSpPr/>
          <p:nvPr/>
        </p:nvSpPr>
        <p:spPr>
          <a:xfrm>
            <a:off x="5566867" y="1636776"/>
            <a:ext cx="1053389" cy="1170432"/>
          </a:xfrm>
          <a:prstGeom prst="roundRect">
            <a:avLst>
              <a:gd name="adj" fmla="val 5208"/>
            </a:avLst>
          </a:prstGeom>
          <a:solidFill>
            <a:srgbClr val="0D1712"/>
          </a:solidFill>
          <a:ln w="12700">
            <a:solidFill>
              <a:schemeClr val="accent5"/>
            </a:solidFill>
          </a:ln>
        </p:spPr>
        <p:txBody>
          <a:bodyPr wrap="square" lIns="88900" tIns="88900" rIns="63500" bIns="76200" rtlCol="0" anchor="t"/>
          <a:lstStyle/>
          <a:p>
            <a:pPr algn="l" indent="0" marL="0">
              <a:buNone/>
            </a:pPr>
            <a:r>
              <a:rPr lang="en-US" sz="1000" dirty="0">
                <a:solidFill>
                  <a:schemeClr val="accent1"/>
                </a:solidFill>
                <a:latin typeface="Consolas" pitchFamily="34" charset="0"/>
                <a:ea typeface="Consolas" pitchFamily="34" charset="-122"/>
                <a:cs typeface="Consolas" pitchFamily="34" charset="-120"/>
              </a:rPr>
              <a:t>05</a:t>
            </a:r>
            <a:endParaRPr lang="en-US" sz="1200" dirty="0"/>
          </a:p>
          <a:p>
            <a:pPr algn="l" indent="0" marL="0">
              <a:spcBef>
                <a:spcPts val="300"/>
              </a:spcBef>
              <a:buNone/>
            </a:pPr>
            <a:r>
              <a:rPr lang="en-US" sz="1300" dirty="0">
                <a:solidFill>
                  <a:schemeClr val="bg1"/>
                </a:solidFill>
                <a:latin typeface="Segoe UI Semibold" pitchFamily="34" charset="0"/>
                <a:ea typeface="Segoe UI Semibold" pitchFamily="34" charset="-122"/>
                <a:cs typeface="Segoe UI Semibold" pitchFamily="34" charset="-120"/>
              </a:rPr>
              <a:t>Input domains</a:t>
            </a:r>
            <a:endParaRPr lang="en-US" sz="1200" dirty="0"/>
          </a:p>
          <a:p>
            <a:pPr algn="l" indent="0" marL="0">
              <a:spcBef>
                <a:spcPts val="300"/>
              </a:spcBef>
              <a:buNone/>
            </a:pPr>
            <a:r>
              <a:rPr lang="en-US" sz="1000" dirty="0">
                <a:solidFill>
                  <a:schemeClr val="accent5"/>
                </a:solidFill>
                <a:latin typeface="Consolas" pitchFamily="34" charset="0"/>
                <a:ea typeface="Consolas" pitchFamily="34" charset="-122"/>
                <a:cs typeface="Consolas" pitchFamily="34" charset="-120"/>
              </a:rPr>
              <a:t>domain.c</a:t>
            </a:r>
            <a:endParaRPr lang="en-US" sz="1200" dirty="0"/>
          </a:p>
        </p:txBody>
      </p:sp>
      <p:sp>
        <p:nvSpPr>
          <p:cNvPr id="22" name="Text 20"/>
          <p:cNvSpPr txBox="1"/>
          <p:nvPr/>
        </p:nvSpPr>
        <p:spPr>
          <a:xfrm>
            <a:off x="6144768" y="1709928"/>
            <a:ext cx="402336" cy="182880"/>
          </a:xfrm>
          <a:prstGeom prst="rect">
            <a:avLst/>
          </a:prstGeom>
          <a:noFill/>
          <a:ln/>
        </p:spPr>
        <p:txBody>
          <a:bodyPr wrap="square" lIns="0" tIns="0" rIns="0" bIns="0" rtlCol="0" anchor="t"/>
          <a:lstStyle/>
          <a:p>
            <a:pPr algn="r" indent="0" marL="0">
              <a:buNone/>
            </a:pPr>
            <a:r>
              <a:rPr lang="en-US" sz="1000" b="1" dirty="0">
                <a:solidFill>
                  <a:schemeClr val="accent1"/>
                </a:solidFill>
                <a:latin typeface="Consolas" pitchFamily="34" charset="0"/>
                <a:ea typeface="Consolas" pitchFamily="34" charset="-122"/>
                <a:cs typeface="Consolas" pitchFamily="34" charset="-120"/>
              </a:rPr>
              <a:t>NEW</a:t>
            </a:r>
            <a:endParaRPr lang="en-US" sz="1000" dirty="0"/>
          </a:p>
        </p:txBody>
      </p:sp>
      <p:sp>
        <p:nvSpPr>
          <p:cNvPr id="23" name="!!cell6"/>
          <p:cNvSpPr/>
          <p:nvPr/>
        </p:nvSpPr>
        <p:spPr>
          <a:xfrm>
            <a:off x="6702552" y="1636776"/>
            <a:ext cx="1053389" cy="1170432"/>
          </a:xfrm>
          <a:prstGeom prst="roundRect">
            <a:avLst>
              <a:gd name="adj" fmla="val 5208"/>
            </a:avLst>
          </a:prstGeom>
          <a:solidFill>
            <a:srgbClr val="0A0C0B"/>
          </a:solidFill>
          <a:ln w="9525">
            <a:solidFill>
              <a:srgbClr val="1F2523"/>
            </a:solidFill>
          </a:ln>
        </p:spPr>
        <p:txBody>
          <a:bodyPr wrap="square" lIns="88900" tIns="88900" rIns="63500" bIns="76200" rtlCol="0" anchor="t"/>
          <a:lstStyle/>
          <a:p>
            <a:pPr algn="l" indent="0" marL="0">
              <a:buNone/>
            </a:pPr>
            <a:r>
              <a:rPr lang="en-US" sz="1000" dirty="0">
                <a:solidFill>
                  <a:schemeClr val="accent4"/>
                </a:solidFill>
                <a:latin typeface="Consolas" pitchFamily="34" charset="0"/>
                <a:ea typeface="Consolas" pitchFamily="34" charset="-122"/>
                <a:cs typeface="Consolas" pitchFamily="34" charset="-120"/>
              </a:rPr>
              <a:t>06</a:t>
            </a:r>
            <a:endParaRPr lang="en-US" sz="1200" dirty="0"/>
          </a:p>
          <a:p>
            <a:pPr algn="l" indent="0" marL="0">
              <a:spcBef>
                <a:spcPts val="300"/>
              </a:spcBef>
              <a:buNone/>
            </a:pPr>
            <a:r>
              <a:rPr lang="en-US" sz="1300" dirty="0">
                <a:solidFill>
                  <a:schemeClr val="bg1"/>
                </a:solidFill>
                <a:latin typeface="Segoe UI Semibold" pitchFamily="34" charset="0"/>
                <a:ea typeface="Segoe UI Semibold" pitchFamily="34" charset="-122"/>
                <a:cs typeface="Segoe UI Semibold" pitchFamily="34" charset="-120"/>
              </a:rPr>
              <a:t>Three-address code</a:t>
            </a:r>
            <a:endParaRPr lang="en-US" sz="1200" dirty="0"/>
          </a:p>
          <a:p>
            <a:pPr algn="l" indent="0" marL="0">
              <a:spcBef>
                <a:spcPts val="300"/>
              </a:spcBef>
              <a:buNone/>
            </a:pPr>
            <a:r>
              <a:rPr lang="en-US" sz="1000" dirty="0">
                <a:solidFill>
                  <a:schemeClr val="accent4"/>
                </a:solidFill>
                <a:latin typeface="Consolas" pitchFamily="34" charset="0"/>
                <a:ea typeface="Consolas" pitchFamily="34" charset="-122"/>
                <a:cs typeface="Consolas" pitchFamily="34" charset="-120"/>
              </a:rPr>
              <a:t>tac.c</a:t>
            </a:r>
            <a:endParaRPr lang="en-US" sz="1200" dirty="0"/>
          </a:p>
        </p:txBody>
      </p:sp>
      <p:sp>
        <p:nvSpPr>
          <p:cNvPr id="24" name="!!cell7"/>
          <p:cNvSpPr/>
          <p:nvPr/>
        </p:nvSpPr>
        <p:spPr>
          <a:xfrm>
            <a:off x="7838237" y="1636776"/>
            <a:ext cx="1053389" cy="1170432"/>
          </a:xfrm>
          <a:prstGeom prst="roundRect">
            <a:avLst>
              <a:gd name="adj" fmla="val 5208"/>
            </a:avLst>
          </a:prstGeom>
          <a:solidFill>
            <a:srgbClr val="0D1712"/>
          </a:solidFill>
          <a:ln w="12700">
            <a:solidFill>
              <a:schemeClr val="accent5"/>
            </a:solidFill>
          </a:ln>
        </p:spPr>
        <p:txBody>
          <a:bodyPr wrap="square" lIns="88900" tIns="88900" rIns="63500" bIns="76200" rtlCol="0" anchor="t"/>
          <a:lstStyle/>
          <a:p>
            <a:pPr algn="l" indent="0" marL="0">
              <a:buNone/>
            </a:pPr>
            <a:r>
              <a:rPr lang="en-US" sz="1000" dirty="0">
                <a:solidFill>
                  <a:schemeClr val="accent1"/>
                </a:solidFill>
                <a:latin typeface="Consolas" pitchFamily="34" charset="0"/>
                <a:ea typeface="Consolas" pitchFamily="34" charset="-122"/>
                <a:cs typeface="Consolas" pitchFamily="34" charset="-120"/>
              </a:rPr>
              <a:t>07</a:t>
            </a:r>
            <a:endParaRPr lang="en-US" sz="1200" dirty="0"/>
          </a:p>
          <a:p>
            <a:pPr algn="l" indent="0" marL="0">
              <a:spcBef>
                <a:spcPts val="300"/>
              </a:spcBef>
              <a:buNone/>
            </a:pPr>
            <a:r>
              <a:rPr lang="en-US" sz="1300" dirty="0">
                <a:solidFill>
                  <a:schemeClr val="bg1"/>
                </a:solidFill>
                <a:latin typeface="Segoe UI Semibold" pitchFamily="34" charset="0"/>
                <a:ea typeface="Segoe UI Semibold" pitchFamily="34" charset="-122"/>
                <a:cs typeface="Segoe UI Semibold" pitchFamily="34" charset="-120"/>
              </a:rPr>
              <a:t>Facts and contracts</a:t>
            </a:r>
            <a:endParaRPr lang="en-US" sz="1200" dirty="0"/>
          </a:p>
          <a:p>
            <a:pPr algn="l" indent="0" marL="0">
              <a:spcBef>
                <a:spcPts val="300"/>
              </a:spcBef>
              <a:buNone/>
            </a:pPr>
            <a:r>
              <a:rPr lang="en-US" sz="1000" dirty="0">
                <a:solidFill>
                  <a:schemeClr val="accent5"/>
                </a:solidFill>
                <a:latin typeface="Consolas" pitchFamily="34" charset="0"/>
                <a:ea typeface="Consolas" pitchFamily="34" charset="-122"/>
                <a:cs typeface="Consolas" pitchFamily="34" charset="-120"/>
              </a:rPr>
              <a:t>facts.c</a:t>
            </a:r>
            <a:endParaRPr lang="en-US" sz="1200" dirty="0"/>
          </a:p>
        </p:txBody>
      </p:sp>
      <p:sp>
        <p:nvSpPr>
          <p:cNvPr id="25" name="Text 23"/>
          <p:cNvSpPr txBox="1"/>
          <p:nvPr/>
        </p:nvSpPr>
        <p:spPr>
          <a:xfrm>
            <a:off x="8416138" y="1709928"/>
            <a:ext cx="402336" cy="182880"/>
          </a:xfrm>
          <a:prstGeom prst="rect">
            <a:avLst/>
          </a:prstGeom>
          <a:noFill/>
          <a:ln/>
        </p:spPr>
        <p:txBody>
          <a:bodyPr wrap="square" lIns="0" tIns="0" rIns="0" bIns="0" rtlCol="0" anchor="t"/>
          <a:lstStyle/>
          <a:p>
            <a:pPr algn="r" indent="0" marL="0">
              <a:buNone/>
            </a:pPr>
            <a:r>
              <a:rPr lang="en-US" sz="1000" b="1" dirty="0">
                <a:solidFill>
                  <a:schemeClr val="accent1"/>
                </a:solidFill>
                <a:latin typeface="Consolas" pitchFamily="34" charset="0"/>
                <a:ea typeface="Consolas" pitchFamily="34" charset="-122"/>
                <a:cs typeface="Consolas" pitchFamily="34" charset="-120"/>
              </a:rPr>
              <a:t>NEW</a:t>
            </a:r>
            <a:endParaRPr lang="en-US" sz="1000" dirty="0"/>
          </a:p>
        </p:txBody>
      </p:sp>
      <p:sp>
        <p:nvSpPr>
          <p:cNvPr id="26" name="!!cell8"/>
          <p:cNvSpPr/>
          <p:nvPr/>
        </p:nvSpPr>
        <p:spPr>
          <a:xfrm>
            <a:off x="8973922" y="1636776"/>
            <a:ext cx="1053389" cy="1170432"/>
          </a:xfrm>
          <a:prstGeom prst="roundRect">
            <a:avLst>
              <a:gd name="adj" fmla="val 5208"/>
            </a:avLst>
          </a:prstGeom>
          <a:solidFill>
            <a:srgbClr val="0A0C0B"/>
          </a:solidFill>
          <a:ln w="9525">
            <a:solidFill>
              <a:srgbClr val="1F2523"/>
            </a:solidFill>
          </a:ln>
        </p:spPr>
        <p:txBody>
          <a:bodyPr wrap="square" lIns="88900" tIns="88900" rIns="63500" bIns="76200" rtlCol="0" anchor="t"/>
          <a:lstStyle/>
          <a:p>
            <a:pPr algn="l" indent="0" marL="0">
              <a:buNone/>
            </a:pPr>
            <a:r>
              <a:rPr lang="en-US" sz="1000" dirty="0">
                <a:solidFill>
                  <a:schemeClr val="accent4"/>
                </a:solidFill>
                <a:latin typeface="Consolas" pitchFamily="34" charset="0"/>
                <a:ea typeface="Consolas" pitchFamily="34" charset="-122"/>
                <a:cs typeface="Consolas" pitchFamily="34" charset="-120"/>
              </a:rPr>
              <a:t>08</a:t>
            </a:r>
            <a:endParaRPr lang="en-US" sz="1200" dirty="0"/>
          </a:p>
          <a:p>
            <a:pPr algn="l" indent="0" marL="0">
              <a:spcBef>
                <a:spcPts val="300"/>
              </a:spcBef>
              <a:buNone/>
            </a:pPr>
            <a:r>
              <a:rPr lang="en-US" sz="1300" dirty="0">
                <a:solidFill>
                  <a:schemeClr val="bg1"/>
                </a:solidFill>
                <a:latin typeface="Segoe UI Semibold" pitchFamily="34" charset="0"/>
                <a:ea typeface="Segoe UI Semibold" pitchFamily="34" charset="-122"/>
                <a:cs typeface="Segoe UI Semibold" pitchFamily="34" charset="-120"/>
              </a:rPr>
              <a:t>Stack VM</a:t>
            </a:r>
            <a:endParaRPr lang="en-US" sz="1200" dirty="0"/>
          </a:p>
          <a:p>
            <a:pPr algn="l" indent="0" marL="0">
              <a:spcBef>
                <a:spcPts val="300"/>
              </a:spcBef>
              <a:buNone/>
            </a:pPr>
            <a:r>
              <a:rPr lang="en-US" sz="1000" dirty="0">
                <a:solidFill>
                  <a:schemeClr val="accent4"/>
                </a:solidFill>
                <a:latin typeface="Consolas" pitchFamily="34" charset="0"/>
                <a:ea typeface="Consolas" pitchFamily="34" charset="-122"/>
                <a:cs typeface="Consolas" pitchFamily="34" charset="-120"/>
              </a:rPr>
              <a:t>vm.c</a:t>
            </a:r>
            <a:endParaRPr lang="en-US" sz="1200" dirty="0"/>
          </a:p>
        </p:txBody>
      </p:sp>
      <p:sp>
        <p:nvSpPr>
          <p:cNvPr id="27" name="!!cell9"/>
          <p:cNvSpPr/>
          <p:nvPr/>
        </p:nvSpPr>
        <p:spPr>
          <a:xfrm>
            <a:off x="10109606" y="1636776"/>
            <a:ext cx="1053389" cy="1170432"/>
          </a:xfrm>
          <a:prstGeom prst="roundRect">
            <a:avLst>
              <a:gd name="adj" fmla="val 5208"/>
            </a:avLst>
          </a:prstGeom>
          <a:solidFill>
            <a:srgbClr val="0D1712"/>
          </a:solidFill>
          <a:ln w="12700">
            <a:solidFill>
              <a:schemeClr val="accent5"/>
            </a:solidFill>
          </a:ln>
        </p:spPr>
        <p:txBody>
          <a:bodyPr wrap="square" lIns="88900" tIns="88900" rIns="63500" bIns="76200" rtlCol="0" anchor="t"/>
          <a:lstStyle/>
          <a:p>
            <a:pPr algn="l" indent="0" marL="0">
              <a:buNone/>
            </a:pPr>
            <a:r>
              <a:rPr lang="en-US" sz="1000" dirty="0">
                <a:solidFill>
                  <a:schemeClr val="accent1"/>
                </a:solidFill>
                <a:latin typeface="Consolas" pitchFamily="34" charset="0"/>
                <a:ea typeface="Consolas" pitchFamily="34" charset="-122"/>
                <a:cs typeface="Consolas" pitchFamily="34" charset="-120"/>
              </a:rPr>
              <a:t>09</a:t>
            </a:r>
            <a:endParaRPr lang="en-US" sz="1200" dirty="0"/>
          </a:p>
          <a:p>
            <a:pPr algn="l" indent="0" marL="0">
              <a:spcBef>
                <a:spcPts val="300"/>
              </a:spcBef>
              <a:buNone/>
            </a:pPr>
            <a:r>
              <a:rPr lang="en-US" sz="1300" dirty="0">
                <a:solidFill>
                  <a:schemeClr val="bg1"/>
                </a:solidFill>
                <a:latin typeface="Segoe UI Semibold" pitchFamily="34" charset="0"/>
                <a:ea typeface="Segoe UI Semibold" pitchFamily="34" charset="-122"/>
                <a:cs typeface="Segoe UI Semibold" pitchFamily="34" charset="-120"/>
              </a:rPr>
              <a:t>Certified C</a:t>
            </a:r>
            <a:endParaRPr lang="en-US" sz="1200" dirty="0"/>
          </a:p>
          <a:p>
            <a:pPr algn="l" indent="0" marL="0">
              <a:spcBef>
                <a:spcPts val="300"/>
              </a:spcBef>
              <a:buNone/>
            </a:pPr>
            <a:r>
              <a:rPr lang="en-US" sz="1000" dirty="0">
                <a:solidFill>
                  <a:schemeClr val="accent5"/>
                </a:solidFill>
                <a:latin typeface="Consolas" pitchFamily="34" charset="0"/>
                <a:ea typeface="Consolas" pitchFamily="34" charset="-122"/>
                <a:cs typeface="Consolas" pitchFamily="34" charset="-120"/>
              </a:rPr>
              <a:t>emit_c.c</a:t>
            </a:r>
            <a:endParaRPr lang="en-US" sz="1200" dirty="0"/>
          </a:p>
        </p:txBody>
      </p:sp>
      <p:sp>
        <p:nvSpPr>
          <p:cNvPr id="28" name="Text 26"/>
          <p:cNvSpPr txBox="1"/>
          <p:nvPr/>
        </p:nvSpPr>
        <p:spPr>
          <a:xfrm>
            <a:off x="10687507" y="1709928"/>
            <a:ext cx="402336" cy="182880"/>
          </a:xfrm>
          <a:prstGeom prst="rect">
            <a:avLst/>
          </a:prstGeom>
          <a:noFill/>
          <a:ln/>
        </p:spPr>
        <p:txBody>
          <a:bodyPr wrap="square" lIns="0" tIns="0" rIns="0" bIns="0" rtlCol="0" anchor="t"/>
          <a:lstStyle/>
          <a:p>
            <a:pPr algn="r" indent="0" marL="0">
              <a:buNone/>
            </a:pPr>
            <a:r>
              <a:rPr lang="en-US" sz="1000" b="1" dirty="0">
                <a:solidFill>
                  <a:schemeClr val="accent1"/>
                </a:solidFill>
                <a:latin typeface="Consolas" pitchFamily="34" charset="0"/>
                <a:ea typeface="Consolas" pitchFamily="34" charset="-122"/>
                <a:cs typeface="Consolas" pitchFamily="34" charset="-120"/>
              </a:rPr>
              <a:t>NEW</a:t>
            </a:r>
            <a:endParaRPr lang="en-US" sz="1000" dirty="0"/>
          </a:p>
        </p:txBody>
      </p:sp>
      <p:sp>
        <p:nvSpPr>
          <p:cNvPr id="29" name="!!k1"/>
          <p:cNvSpPr/>
          <p:nvPr/>
        </p:nvSpPr>
        <p:spPr>
          <a:xfrm>
            <a:off x="8324698" y="2587752"/>
            <a:ext cx="109728" cy="109728"/>
          </a:xfrm>
          <a:prstGeom prst="roundRect">
            <a:avLst>
              <a:gd name="adj" fmla="val 50000"/>
            </a:avLst>
          </a:prstGeom>
          <a:solidFill>
            <a:schemeClr val="accent1"/>
          </a:solidFill>
          <a:ln/>
        </p:spPr>
      </p:sp>
      <p:sp>
        <p:nvSpPr>
          <p:cNvPr id="30" name="!!k2"/>
          <p:cNvSpPr/>
          <p:nvPr/>
        </p:nvSpPr>
        <p:spPr>
          <a:xfrm>
            <a:off x="8480146" y="2587752"/>
            <a:ext cx="109728" cy="109728"/>
          </a:xfrm>
          <a:prstGeom prst="roundRect">
            <a:avLst>
              <a:gd name="adj" fmla="val 50000"/>
            </a:avLst>
          </a:prstGeom>
          <a:solidFill>
            <a:schemeClr val="accent2"/>
          </a:solidFill>
          <a:ln/>
        </p:spPr>
      </p:sp>
      <p:sp>
        <p:nvSpPr>
          <p:cNvPr id="31" name="!!k3"/>
          <p:cNvSpPr/>
          <p:nvPr/>
        </p:nvSpPr>
        <p:spPr>
          <a:xfrm>
            <a:off x="8635594" y="2587752"/>
            <a:ext cx="109728" cy="109728"/>
          </a:xfrm>
          <a:prstGeom prst="roundRect">
            <a:avLst>
              <a:gd name="adj" fmla="val 50000"/>
            </a:avLst>
          </a:prstGeom>
          <a:solidFill>
            <a:schemeClr val="accent3"/>
          </a:solidFill>
          <a:ln/>
        </p:spPr>
      </p:sp>
      <p:sp>
        <p:nvSpPr>
          <p:cNvPr id="32" name="Shape 30"/>
          <p:cNvSpPr/>
          <p:nvPr/>
        </p:nvSpPr>
        <p:spPr>
          <a:xfrm>
            <a:off x="1024128" y="2999232"/>
            <a:ext cx="5596128" cy="73152"/>
          </a:xfrm>
          <a:custGeom>
            <a:avLst/>
            <a:gdLst/>
            <a:ahLst/>
            <a:cxnLst/>
            <a:rect l="l" t="t" r="r" b="b"/>
            <a:pathLst>
              <a:path w="5596128" h="73152">
                <a:moveTo>
                  <a:pt x="0" y="0"/>
                </a:moveTo>
                <a:lnTo>
                  <a:pt x="0" y="73152"/>
                </a:lnTo>
                <a:lnTo>
                  <a:pt x="5596128" y="73152"/>
                </a:lnTo>
                <a:lnTo>
                  <a:pt x="5596128" y="0"/>
                </a:lnTo>
              </a:path>
            </a:pathLst>
          </a:custGeom>
          <a:noFill/>
          <a:ln w="12700">
            <a:solidFill>
              <a:srgbClr val="4A514D"/>
            </a:solidFill>
            <a:prstDash val="solid"/>
          </a:ln>
        </p:spPr>
      </p:sp>
      <p:sp>
        <p:nvSpPr>
          <p:cNvPr id="33" name="Text 31"/>
          <p:cNvSpPr txBox="1"/>
          <p:nvPr/>
        </p:nvSpPr>
        <p:spPr>
          <a:xfrm>
            <a:off x="1024128" y="3108960"/>
            <a:ext cx="5596128" cy="219456"/>
          </a:xfrm>
          <a:prstGeom prst="rect">
            <a:avLst/>
          </a:prstGeom>
          <a:noFill/>
          <a:ln/>
        </p:spPr>
        <p:txBody>
          <a:bodyPr wrap="square" lIns="0" tIns="0" rIns="0" bIns="0" rtlCol="0" anchor="t"/>
          <a:lstStyle/>
          <a:p>
            <a:pPr algn="ctr" indent="0" marL="0">
              <a:buNone/>
            </a:pPr>
            <a:r>
              <a:rPr lang="en-US" sz="1050" spc="200" kern="0" dirty="0">
                <a:solidFill>
                  <a:schemeClr val="accent4"/>
                </a:solidFill>
                <a:latin typeface="Consolas" pitchFamily="34" charset="0"/>
                <a:ea typeface="Consolas" pitchFamily="34" charset="-122"/>
                <a:cs typeface="Consolas" pitchFamily="34" charset="-120"/>
              </a:rPr>
              <a:t>FRONT END</a:t>
            </a:r>
            <a:endParaRPr lang="en-US" sz="1050" dirty="0"/>
          </a:p>
        </p:txBody>
      </p:sp>
      <p:sp>
        <p:nvSpPr>
          <p:cNvPr id="34" name="Shape 32"/>
          <p:cNvSpPr/>
          <p:nvPr/>
        </p:nvSpPr>
        <p:spPr>
          <a:xfrm>
            <a:off x="6702552" y="2999232"/>
            <a:ext cx="2189074" cy="73152"/>
          </a:xfrm>
          <a:custGeom>
            <a:avLst/>
            <a:gdLst/>
            <a:ahLst/>
            <a:cxnLst/>
            <a:rect l="l" t="t" r="r" b="b"/>
            <a:pathLst>
              <a:path w="2189074" h="73152">
                <a:moveTo>
                  <a:pt x="0" y="0"/>
                </a:moveTo>
                <a:lnTo>
                  <a:pt x="0" y="73152"/>
                </a:lnTo>
                <a:lnTo>
                  <a:pt x="2189074" y="73152"/>
                </a:lnTo>
                <a:lnTo>
                  <a:pt x="2189074" y="0"/>
                </a:lnTo>
              </a:path>
            </a:pathLst>
          </a:custGeom>
          <a:noFill/>
          <a:ln w="12700">
            <a:solidFill>
              <a:srgbClr val="4A514D"/>
            </a:solidFill>
            <a:prstDash val="solid"/>
          </a:ln>
        </p:spPr>
      </p:sp>
      <p:sp>
        <p:nvSpPr>
          <p:cNvPr id="35" name="Text 33"/>
          <p:cNvSpPr txBox="1"/>
          <p:nvPr/>
        </p:nvSpPr>
        <p:spPr>
          <a:xfrm>
            <a:off x="6702552" y="3108960"/>
            <a:ext cx="2189074" cy="219456"/>
          </a:xfrm>
          <a:prstGeom prst="rect">
            <a:avLst/>
          </a:prstGeom>
          <a:noFill/>
          <a:ln/>
        </p:spPr>
        <p:txBody>
          <a:bodyPr wrap="square" lIns="0" tIns="0" rIns="0" bIns="0" rtlCol="0" anchor="t"/>
          <a:lstStyle/>
          <a:p>
            <a:pPr algn="ctr" indent="0" marL="0">
              <a:buNone/>
            </a:pPr>
            <a:r>
              <a:rPr lang="en-US" sz="1050" spc="200" kern="0" dirty="0">
                <a:solidFill>
                  <a:schemeClr val="accent4"/>
                </a:solidFill>
                <a:latin typeface="Consolas" pitchFamily="34" charset="0"/>
                <a:ea typeface="Consolas" pitchFamily="34" charset="-122"/>
                <a:cs typeface="Consolas" pitchFamily="34" charset="-120"/>
              </a:rPr>
              <a:t>MIDDLE END</a:t>
            </a:r>
            <a:endParaRPr lang="en-US" sz="1050" dirty="0"/>
          </a:p>
        </p:txBody>
      </p:sp>
      <p:sp>
        <p:nvSpPr>
          <p:cNvPr id="36" name="Shape 34"/>
          <p:cNvSpPr/>
          <p:nvPr/>
        </p:nvSpPr>
        <p:spPr>
          <a:xfrm>
            <a:off x="8973922" y="2999232"/>
            <a:ext cx="2189074" cy="73152"/>
          </a:xfrm>
          <a:custGeom>
            <a:avLst/>
            <a:gdLst/>
            <a:ahLst/>
            <a:cxnLst/>
            <a:rect l="l" t="t" r="r" b="b"/>
            <a:pathLst>
              <a:path w="2189074" h="73152">
                <a:moveTo>
                  <a:pt x="0" y="0"/>
                </a:moveTo>
                <a:lnTo>
                  <a:pt x="0" y="73152"/>
                </a:lnTo>
                <a:lnTo>
                  <a:pt x="2189074" y="73152"/>
                </a:lnTo>
                <a:lnTo>
                  <a:pt x="2189074" y="0"/>
                </a:lnTo>
              </a:path>
            </a:pathLst>
          </a:custGeom>
          <a:noFill/>
          <a:ln w="12700">
            <a:solidFill>
              <a:srgbClr val="4A514D"/>
            </a:solidFill>
            <a:prstDash val="solid"/>
          </a:ln>
        </p:spPr>
      </p:sp>
      <p:sp>
        <p:nvSpPr>
          <p:cNvPr id="37" name="Text 35"/>
          <p:cNvSpPr txBox="1"/>
          <p:nvPr/>
        </p:nvSpPr>
        <p:spPr>
          <a:xfrm>
            <a:off x="8973922" y="3108960"/>
            <a:ext cx="2189074" cy="219456"/>
          </a:xfrm>
          <a:prstGeom prst="rect">
            <a:avLst/>
          </a:prstGeom>
          <a:noFill/>
          <a:ln/>
        </p:spPr>
        <p:txBody>
          <a:bodyPr wrap="square" lIns="0" tIns="0" rIns="0" bIns="0" rtlCol="0" anchor="t"/>
          <a:lstStyle/>
          <a:p>
            <a:pPr algn="ctr" indent="0" marL="0">
              <a:buNone/>
            </a:pPr>
            <a:r>
              <a:rPr lang="en-US" sz="1050" spc="200" kern="0" dirty="0">
                <a:solidFill>
                  <a:schemeClr val="accent4"/>
                </a:solidFill>
                <a:latin typeface="Consolas" pitchFamily="34" charset="0"/>
                <a:ea typeface="Consolas" pitchFamily="34" charset="-122"/>
                <a:cs typeface="Consolas" pitchFamily="34" charset="-120"/>
              </a:rPr>
              <a:t>BACK ENDS</a:t>
            </a:r>
            <a:endParaRPr lang="en-US" sz="1050" dirty="0"/>
          </a:p>
        </p:txBody>
      </p:sp>
      <p:sp>
        <p:nvSpPr>
          <p:cNvPr id="38" name="Shape 36"/>
          <p:cNvSpPr/>
          <p:nvPr/>
        </p:nvSpPr>
        <p:spPr>
          <a:xfrm>
            <a:off x="685800" y="3474720"/>
            <a:ext cx="4526280" cy="2267712"/>
          </a:xfrm>
          <a:prstGeom prst="roundRect">
            <a:avLst>
              <a:gd name="adj" fmla="val 3226"/>
            </a:avLst>
          </a:prstGeom>
          <a:solidFill>
            <a:srgbClr val="0A0C0B"/>
          </a:solidFill>
          <a:ln w="9525">
            <a:solidFill>
              <a:srgbClr val="1F2523"/>
            </a:solidFill>
            <a:prstDash val="solid"/>
          </a:ln>
        </p:spPr>
      </p:sp>
      <p:sp>
        <p:nvSpPr>
          <p:cNvPr id="39" name="Text 37"/>
          <p:cNvSpPr txBox="1"/>
          <p:nvPr/>
        </p:nvSpPr>
        <p:spPr>
          <a:xfrm>
            <a:off x="886968" y="3584448"/>
            <a:ext cx="4114800" cy="237744"/>
          </a:xfrm>
          <a:prstGeom prst="rect">
            <a:avLst/>
          </a:prstGeom>
          <a:noFill/>
          <a:ln/>
        </p:spPr>
        <p:txBody>
          <a:bodyPr wrap="square" lIns="0" tIns="0" rIns="0" bIns="0" rtlCol="0" anchor="t"/>
          <a:lstStyle/>
          <a:p>
            <a:pPr indent="0" marL="0">
              <a:buNone/>
            </a:pPr>
            <a:r>
              <a:rPr lang="en-US" sz="1100" dirty="0">
                <a:solidFill>
                  <a:schemeClr val="accent4"/>
                </a:solidFill>
                <a:latin typeface="Consolas" pitchFamily="34" charset="0"/>
                <a:ea typeface="Consolas" pitchFamily="34" charset="-122"/>
                <a:cs typeface="Consolas" pitchFamily="34" charset="-120"/>
              </a:rPr>
              <a:t>source  ·  chain.ml</a:t>
            </a:r>
            <a:endParaRPr lang="en-US" sz="1100" dirty="0"/>
          </a:p>
        </p:txBody>
      </p:sp>
      <p:sp>
        <p:nvSpPr>
          <p:cNvPr id="40" name="Text 38"/>
          <p:cNvSpPr txBox="1"/>
          <p:nvPr/>
        </p:nvSpPr>
        <p:spPr>
          <a:xfrm>
            <a:off x="886968" y="3931920"/>
            <a:ext cx="4206240" cy="1645920"/>
          </a:xfrm>
          <a:prstGeom prst="rect">
            <a:avLst/>
          </a:prstGeom>
          <a:noFill/>
          <a:ln/>
        </p:spPr>
        <p:txBody>
          <a:bodyPr wrap="square" lIns="0" tIns="0" rIns="0" bIns="0" rtlCol="0" anchor="t"/>
          <a:lstStyle/>
          <a:p>
            <a:pPr indent="0" marL="0">
              <a:lnSpc>
                <a:spcPct val="112000"/>
              </a:lnSpc>
              <a:buNone/>
            </a:pPr>
            <a:r>
              <a:rPr lang="en-US" sz="1400" dirty="0">
                <a:solidFill>
                  <a:srgbClr val="52B788"/>
                </a:solidFill>
                <a:latin typeface="Consolas" pitchFamily="34" charset="0"/>
                <a:ea typeface="Consolas" pitchFamily="34" charset="-122"/>
                <a:cs typeface="Consolas" pitchFamily="34" charset="-120"/>
              </a:rPr>
              <a:t>matrix</a:t>
            </a:r>
            <a:pPr indent="0" marL="0">
              <a:lnSpc>
                <a:spcPct val="112000"/>
              </a:lnSpc>
              <a:buNone/>
            </a:pPr>
            <a:r>
              <a:rPr lang="en-US" sz="1400" dirty="0">
                <a:solidFill>
                  <a:srgbClr val="8E9590"/>
                </a:solidFill>
                <a:latin typeface="Consolas" pitchFamily="34" charset="0"/>
                <a:ea typeface="Consolas" pitchFamily="34" charset="-122"/>
                <a:cs typeface="Consolas" pitchFamily="34" charset="-120"/>
              </a:rPr>
              <a:t> </a:t>
            </a:r>
            <a:pPr indent="0" marL="0">
              <a:lnSpc>
                <a:spcPct val="112000"/>
              </a:lnSpc>
              <a:buNone/>
            </a:pPr>
            <a:r>
              <a:rPr lang="en-US" sz="1400" dirty="0">
                <a:solidFill>
                  <a:srgbClr val="E6EAE8"/>
                </a:solidFill>
                <a:latin typeface="Consolas" pitchFamily="34" charset="0"/>
                <a:ea typeface="Consolas" pitchFamily="34" charset="-122"/>
                <a:cs typeface="Consolas" pitchFamily="34" charset="-120"/>
              </a:rPr>
              <a:t>A</a:t>
            </a:r>
            <a:pPr indent="0" marL="0">
              <a:lnSpc>
                <a:spcPct val="112000"/>
              </a:lnSpc>
              <a:buNone/>
            </a:pPr>
            <a:r>
              <a:rPr lang="en-US" sz="1400" dirty="0">
                <a:solidFill>
                  <a:srgbClr val="8E9590"/>
                </a:solidFill>
                <a:latin typeface="Consolas" pitchFamily="34" charset="0"/>
                <a:ea typeface="Consolas" pitchFamily="34" charset="-122"/>
                <a:cs typeface="Consolas" pitchFamily="34" charset="-120"/>
              </a:rPr>
              <a:t>[</a:t>
            </a:r>
            <a:pPr indent="0" marL="0">
              <a:lnSpc>
                <a:spcPct val="112000"/>
              </a:lnSpc>
              <a:buNone/>
            </a:pPr>
            <a:r>
              <a:rPr lang="en-US" sz="1400" dirty="0">
                <a:solidFill>
                  <a:srgbClr val="D5DAD7"/>
                </a:solidFill>
                <a:latin typeface="Consolas" pitchFamily="34" charset="0"/>
                <a:ea typeface="Consolas" pitchFamily="34" charset="-122"/>
                <a:cs typeface="Consolas" pitchFamily="34" charset="-120"/>
              </a:rPr>
              <a:t>40,2</a:t>
            </a:r>
            <a:pPr indent="0" marL="0">
              <a:lnSpc>
                <a:spcPct val="112000"/>
              </a:lnSpc>
              <a:buNone/>
            </a:pPr>
            <a:r>
              <a:rPr lang="en-US" sz="1400" dirty="0">
                <a:solidFill>
                  <a:srgbClr val="8E9590"/>
                </a:solidFill>
                <a:latin typeface="Consolas" pitchFamily="34" charset="0"/>
                <a:ea typeface="Consolas" pitchFamily="34" charset="-122"/>
                <a:cs typeface="Consolas" pitchFamily="34" charset="-120"/>
              </a:rPr>
              <a:t>]</a:t>
            </a:r>
            <a:pPr indent="0" marL="0">
              <a:lnSpc>
                <a:spcPct val="112000"/>
              </a:lnSpc>
              <a:buNone/>
            </a:pPr>
            <a:r>
              <a:rPr lang="en-US" sz="1400" dirty="0">
                <a:solidFill>
                  <a:srgbClr val="8E9590"/>
                </a:solidFill>
                <a:latin typeface="Consolas" pitchFamily="34" charset="0"/>
                <a:ea typeface="Consolas" pitchFamily="34" charset="-122"/>
                <a:cs typeface="Consolas" pitchFamily="34" charset="-120"/>
              </a:rPr>
              <a:t> </a:t>
            </a:r>
            <a:pPr indent="0" marL="0">
              <a:lnSpc>
                <a:spcPct val="112000"/>
              </a:lnSpc>
              <a:buNone/>
            </a:pPr>
            <a:r>
              <a:rPr lang="en-US" sz="1400" dirty="0">
                <a:solidFill>
                  <a:srgbClr val="8E9590"/>
                </a:solidFill>
                <a:latin typeface="Consolas" pitchFamily="34" charset="0"/>
                <a:ea typeface="Consolas" pitchFamily="34" charset="-122"/>
                <a:cs typeface="Consolas" pitchFamily="34" charset="-120"/>
              </a:rPr>
              <a:t>=</a:t>
            </a:r>
            <a:pPr indent="0" marL="0">
              <a:lnSpc>
                <a:spcPct val="112000"/>
              </a:lnSpc>
              <a:buNone/>
            </a:pPr>
            <a:r>
              <a:rPr lang="en-US" sz="1400" dirty="0">
                <a:solidFill>
                  <a:srgbClr val="8E9590"/>
                </a:solidFill>
                <a:latin typeface="Consolas" pitchFamily="34" charset="0"/>
                <a:ea typeface="Consolas" pitchFamily="34" charset="-122"/>
                <a:cs typeface="Consolas" pitchFamily="34" charset="-120"/>
              </a:rPr>
              <a:t> </a:t>
            </a:r>
            <a:pPr indent="0" marL="0">
              <a:lnSpc>
                <a:spcPct val="112000"/>
              </a:lnSpc>
              <a:buNone/>
            </a:pPr>
            <a:r>
              <a:rPr lang="en-US" sz="1400" dirty="0">
                <a:solidFill>
                  <a:srgbClr val="9CC9B2"/>
                </a:solidFill>
                <a:latin typeface="Consolas" pitchFamily="34" charset="0"/>
                <a:ea typeface="Consolas" pitchFamily="34" charset="-122"/>
                <a:cs typeface="Consolas" pitchFamily="34" charset="-120"/>
              </a:rPr>
              <a:t>input</a:t>
            </a:r>
            <a:pPr indent="0" marL="0">
              <a:lnSpc>
                <a:spcPct val="112000"/>
              </a:lnSpc>
              <a:buNone/>
            </a:pPr>
            <a:r>
              <a:rPr lang="en-US" sz="1400" dirty="0">
                <a:solidFill>
                  <a:srgbClr val="8E9590"/>
                </a:solidFill>
                <a:latin typeface="Consolas" pitchFamily="34" charset="0"/>
                <a:ea typeface="Consolas" pitchFamily="34" charset="-122"/>
                <a:cs typeface="Consolas" pitchFamily="34" charset="-120"/>
              </a:rPr>
              <a:t>(</a:t>
            </a:r>
            <a:pPr indent="0" marL="0">
              <a:lnSpc>
                <a:spcPct val="112000"/>
              </a:lnSpc>
              <a:buNone/>
            </a:pPr>
            <a:r>
              <a:rPr lang="en-US" sz="1400" dirty="0">
                <a:solidFill>
                  <a:srgbClr val="7DB597"/>
                </a:solidFill>
                <a:latin typeface="Consolas" pitchFamily="34" charset="0"/>
                <a:ea typeface="Consolas" pitchFamily="34" charset="-122"/>
                <a:cs typeface="Consolas" pitchFamily="34" charset="-120"/>
              </a:rPr>
              <a:t>int8</a:t>
            </a:r>
            <a:pPr indent="0" marL="0">
              <a:lnSpc>
                <a:spcPct val="112000"/>
              </a:lnSpc>
              <a:buNone/>
            </a:pPr>
            <a:r>
              <a:rPr lang="en-US" sz="1400" dirty="0">
                <a:solidFill>
                  <a:srgbClr val="8E9590"/>
                </a:solidFill>
                <a:latin typeface="Consolas" pitchFamily="34" charset="0"/>
                <a:ea typeface="Consolas" pitchFamily="34" charset="-122"/>
                <a:cs typeface="Consolas" pitchFamily="34" charset="-120"/>
              </a:rPr>
              <a:t>)</a:t>
            </a:r>
            <a:pPr indent="0" marL="0">
              <a:lnSpc>
                <a:spcPct val="112000"/>
              </a:lnSpc>
              <a:buNone/>
            </a:pPr>
            <a:r>
              <a:rPr lang="en-US" sz="1400" dirty="0">
                <a:solidFill>
                  <a:srgbClr val="8E9590"/>
                </a:solidFill>
                <a:latin typeface="Consolas" pitchFamily="34" charset="0"/>
                <a:ea typeface="Consolas" pitchFamily="34" charset="-122"/>
                <a:cs typeface="Consolas" pitchFamily="34" charset="-120"/>
              </a:rPr>
              <a:t>;</a:t>
            </a:r>
            <a:endParaRPr lang="en-US" sz="1400" dirty="0"/>
          </a:p>
          <a:p>
            <a:pPr indent="0" marL="0">
              <a:lnSpc>
                <a:spcPct val="112000"/>
              </a:lnSpc>
              <a:buNone/>
            </a:pPr>
            <a:r>
              <a:rPr lang="en-US" sz="1400" dirty="0">
                <a:solidFill>
                  <a:srgbClr val="52B788"/>
                </a:solidFill>
                <a:latin typeface="Consolas" pitchFamily="34" charset="0"/>
                <a:ea typeface="Consolas" pitchFamily="34" charset="-122"/>
                <a:cs typeface="Consolas" pitchFamily="34" charset="-120"/>
              </a:rPr>
              <a:t>matrix</a:t>
            </a:r>
            <a:pPr indent="0" marL="0">
              <a:lnSpc>
                <a:spcPct val="112000"/>
              </a:lnSpc>
              <a:buNone/>
            </a:pPr>
            <a:r>
              <a:rPr lang="en-US" sz="1400" dirty="0">
                <a:solidFill>
                  <a:srgbClr val="8E9590"/>
                </a:solidFill>
                <a:latin typeface="Consolas" pitchFamily="34" charset="0"/>
                <a:ea typeface="Consolas" pitchFamily="34" charset="-122"/>
                <a:cs typeface="Consolas" pitchFamily="34" charset="-120"/>
              </a:rPr>
              <a:t> </a:t>
            </a:r>
            <a:pPr indent="0" marL="0">
              <a:lnSpc>
                <a:spcPct val="112000"/>
              </a:lnSpc>
              <a:buNone/>
            </a:pPr>
            <a:r>
              <a:rPr lang="en-US" sz="1400" dirty="0">
                <a:solidFill>
                  <a:srgbClr val="E6EAE8"/>
                </a:solidFill>
                <a:latin typeface="Consolas" pitchFamily="34" charset="0"/>
                <a:ea typeface="Consolas" pitchFamily="34" charset="-122"/>
                <a:cs typeface="Consolas" pitchFamily="34" charset="-120"/>
              </a:rPr>
              <a:t>B</a:t>
            </a:r>
            <a:pPr indent="0" marL="0">
              <a:lnSpc>
                <a:spcPct val="112000"/>
              </a:lnSpc>
              <a:buNone/>
            </a:pPr>
            <a:r>
              <a:rPr lang="en-US" sz="1400" dirty="0">
                <a:solidFill>
                  <a:srgbClr val="8E9590"/>
                </a:solidFill>
                <a:latin typeface="Consolas" pitchFamily="34" charset="0"/>
                <a:ea typeface="Consolas" pitchFamily="34" charset="-122"/>
                <a:cs typeface="Consolas" pitchFamily="34" charset="-120"/>
              </a:rPr>
              <a:t>[</a:t>
            </a:r>
            <a:pPr indent="0" marL="0">
              <a:lnSpc>
                <a:spcPct val="112000"/>
              </a:lnSpc>
              <a:buNone/>
            </a:pPr>
            <a:r>
              <a:rPr lang="en-US" sz="1400" dirty="0">
                <a:solidFill>
                  <a:srgbClr val="D5DAD7"/>
                </a:solidFill>
                <a:latin typeface="Consolas" pitchFamily="34" charset="0"/>
                <a:ea typeface="Consolas" pitchFamily="34" charset="-122"/>
                <a:cs typeface="Consolas" pitchFamily="34" charset="-120"/>
              </a:rPr>
              <a:t>2,40</a:t>
            </a:r>
            <a:pPr indent="0" marL="0">
              <a:lnSpc>
                <a:spcPct val="112000"/>
              </a:lnSpc>
              <a:buNone/>
            </a:pPr>
            <a:r>
              <a:rPr lang="en-US" sz="1400" dirty="0">
                <a:solidFill>
                  <a:srgbClr val="8E9590"/>
                </a:solidFill>
                <a:latin typeface="Consolas" pitchFamily="34" charset="0"/>
                <a:ea typeface="Consolas" pitchFamily="34" charset="-122"/>
                <a:cs typeface="Consolas" pitchFamily="34" charset="-120"/>
              </a:rPr>
              <a:t>]</a:t>
            </a:r>
            <a:pPr indent="0" marL="0">
              <a:lnSpc>
                <a:spcPct val="112000"/>
              </a:lnSpc>
              <a:buNone/>
            </a:pPr>
            <a:r>
              <a:rPr lang="en-US" sz="1400" dirty="0">
                <a:solidFill>
                  <a:srgbClr val="8E9590"/>
                </a:solidFill>
                <a:latin typeface="Consolas" pitchFamily="34" charset="0"/>
                <a:ea typeface="Consolas" pitchFamily="34" charset="-122"/>
                <a:cs typeface="Consolas" pitchFamily="34" charset="-120"/>
              </a:rPr>
              <a:t> </a:t>
            </a:r>
            <a:pPr indent="0" marL="0">
              <a:lnSpc>
                <a:spcPct val="112000"/>
              </a:lnSpc>
              <a:buNone/>
            </a:pPr>
            <a:r>
              <a:rPr lang="en-US" sz="1400" dirty="0">
                <a:solidFill>
                  <a:srgbClr val="8E9590"/>
                </a:solidFill>
                <a:latin typeface="Consolas" pitchFamily="34" charset="0"/>
                <a:ea typeface="Consolas" pitchFamily="34" charset="-122"/>
                <a:cs typeface="Consolas" pitchFamily="34" charset="-120"/>
              </a:rPr>
              <a:t>=</a:t>
            </a:r>
            <a:pPr indent="0" marL="0">
              <a:lnSpc>
                <a:spcPct val="112000"/>
              </a:lnSpc>
              <a:buNone/>
            </a:pPr>
            <a:r>
              <a:rPr lang="en-US" sz="1400" dirty="0">
                <a:solidFill>
                  <a:srgbClr val="8E9590"/>
                </a:solidFill>
                <a:latin typeface="Consolas" pitchFamily="34" charset="0"/>
                <a:ea typeface="Consolas" pitchFamily="34" charset="-122"/>
                <a:cs typeface="Consolas" pitchFamily="34" charset="-120"/>
              </a:rPr>
              <a:t> </a:t>
            </a:r>
            <a:pPr indent="0" marL="0">
              <a:lnSpc>
                <a:spcPct val="112000"/>
              </a:lnSpc>
              <a:buNone/>
            </a:pPr>
            <a:r>
              <a:rPr lang="en-US" sz="1400" dirty="0">
                <a:solidFill>
                  <a:srgbClr val="9CC9B2"/>
                </a:solidFill>
                <a:latin typeface="Consolas" pitchFamily="34" charset="0"/>
                <a:ea typeface="Consolas" pitchFamily="34" charset="-122"/>
                <a:cs typeface="Consolas" pitchFamily="34" charset="-120"/>
              </a:rPr>
              <a:t>input</a:t>
            </a:r>
            <a:pPr indent="0" marL="0">
              <a:lnSpc>
                <a:spcPct val="112000"/>
              </a:lnSpc>
              <a:buNone/>
            </a:pPr>
            <a:r>
              <a:rPr lang="en-US" sz="1400" dirty="0">
                <a:solidFill>
                  <a:srgbClr val="8E9590"/>
                </a:solidFill>
                <a:latin typeface="Consolas" pitchFamily="34" charset="0"/>
                <a:ea typeface="Consolas" pitchFamily="34" charset="-122"/>
                <a:cs typeface="Consolas" pitchFamily="34" charset="-120"/>
              </a:rPr>
              <a:t>(</a:t>
            </a:r>
            <a:pPr indent="0" marL="0">
              <a:lnSpc>
                <a:spcPct val="112000"/>
              </a:lnSpc>
              <a:buNone/>
            </a:pPr>
            <a:r>
              <a:rPr lang="en-US" sz="1400" dirty="0">
                <a:solidFill>
                  <a:srgbClr val="7DB597"/>
                </a:solidFill>
                <a:latin typeface="Consolas" pitchFamily="34" charset="0"/>
                <a:ea typeface="Consolas" pitchFamily="34" charset="-122"/>
                <a:cs typeface="Consolas" pitchFamily="34" charset="-120"/>
              </a:rPr>
              <a:t>int8</a:t>
            </a:r>
            <a:pPr indent="0" marL="0">
              <a:lnSpc>
                <a:spcPct val="112000"/>
              </a:lnSpc>
              <a:buNone/>
            </a:pPr>
            <a:r>
              <a:rPr lang="en-US" sz="1400" dirty="0">
                <a:solidFill>
                  <a:srgbClr val="8E9590"/>
                </a:solidFill>
                <a:latin typeface="Consolas" pitchFamily="34" charset="0"/>
                <a:ea typeface="Consolas" pitchFamily="34" charset="-122"/>
                <a:cs typeface="Consolas" pitchFamily="34" charset="-120"/>
              </a:rPr>
              <a:t>)</a:t>
            </a:r>
            <a:pPr indent="0" marL="0">
              <a:lnSpc>
                <a:spcPct val="112000"/>
              </a:lnSpc>
              <a:buNone/>
            </a:pPr>
            <a:r>
              <a:rPr lang="en-US" sz="1400" dirty="0">
                <a:solidFill>
                  <a:srgbClr val="8E9590"/>
                </a:solidFill>
                <a:latin typeface="Consolas" pitchFamily="34" charset="0"/>
                <a:ea typeface="Consolas" pitchFamily="34" charset="-122"/>
                <a:cs typeface="Consolas" pitchFamily="34" charset="-120"/>
              </a:rPr>
              <a:t>;</a:t>
            </a:r>
            <a:endParaRPr lang="en-US" sz="1400" dirty="0"/>
          </a:p>
          <a:p>
            <a:pPr indent="0" marL="0">
              <a:lnSpc>
                <a:spcPct val="112000"/>
              </a:lnSpc>
              <a:buNone/>
            </a:pPr>
            <a:r>
              <a:rPr lang="en-US" sz="1400" dirty="0">
                <a:solidFill>
                  <a:srgbClr val="52B788"/>
                </a:solidFill>
                <a:latin typeface="Consolas" pitchFamily="34" charset="0"/>
                <a:ea typeface="Consolas" pitchFamily="34" charset="-122"/>
                <a:cs typeface="Consolas" pitchFamily="34" charset="-120"/>
              </a:rPr>
              <a:t>matrix</a:t>
            </a:r>
            <a:pPr indent="0" marL="0">
              <a:lnSpc>
                <a:spcPct val="112000"/>
              </a:lnSpc>
              <a:buNone/>
            </a:pPr>
            <a:r>
              <a:rPr lang="en-US" sz="1400" dirty="0">
                <a:solidFill>
                  <a:srgbClr val="8E9590"/>
                </a:solidFill>
                <a:latin typeface="Consolas" pitchFamily="34" charset="0"/>
                <a:ea typeface="Consolas" pitchFamily="34" charset="-122"/>
                <a:cs typeface="Consolas" pitchFamily="34" charset="-120"/>
              </a:rPr>
              <a:t> </a:t>
            </a:r>
            <a:pPr indent="0" marL="0">
              <a:lnSpc>
                <a:spcPct val="112000"/>
              </a:lnSpc>
              <a:buNone/>
            </a:pPr>
            <a:r>
              <a:rPr lang="en-US" sz="1400" dirty="0">
                <a:solidFill>
                  <a:srgbClr val="E6EAE8"/>
                </a:solidFill>
                <a:latin typeface="Consolas" pitchFamily="34" charset="0"/>
                <a:ea typeface="Consolas" pitchFamily="34" charset="-122"/>
                <a:cs typeface="Consolas" pitchFamily="34" charset="-120"/>
              </a:rPr>
              <a:t>C</a:t>
            </a:r>
            <a:pPr indent="0" marL="0">
              <a:lnSpc>
                <a:spcPct val="112000"/>
              </a:lnSpc>
              <a:buNone/>
            </a:pPr>
            <a:r>
              <a:rPr lang="en-US" sz="1400" dirty="0">
                <a:solidFill>
                  <a:srgbClr val="8E9590"/>
                </a:solidFill>
                <a:latin typeface="Consolas" pitchFamily="34" charset="0"/>
                <a:ea typeface="Consolas" pitchFamily="34" charset="-122"/>
                <a:cs typeface="Consolas" pitchFamily="34" charset="-120"/>
              </a:rPr>
              <a:t>[</a:t>
            </a:r>
            <a:pPr indent="0" marL="0">
              <a:lnSpc>
                <a:spcPct val="112000"/>
              </a:lnSpc>
              <a:buNone/>
            </a:pPr>
            <a:r>
              <a:rPr lang="en-US" sz="1400" dirty="0">
                <a:solidFill>
                  <a:srgbClr val="D5DAD7"/>
                </a:solidFill>
                <a:latin typeface="Consolas" pitchFamily="34" charset="0"/>
                <a:ea typeface="Consolas" pitchFamily="34" charset="-122"/>
                <a:cs typeface="Consolas" pitchFamily="34" charset="-120"/>
              </a:rPr>
              <a:t>40,2</a:t>
            </a:r>
            <a:pPr indent="0" marL="0">
              <a:lnSpc>
                <a:spcPct val="112000"/>
              </a:lnSpc>
              <a:buNone/>
            </a:pPr>
            <a:r>
              <a:rPr lang="en-US" sz="1400" dirty="0">
                <a:solidFill>
                  <a:srgbClr val="8E9590"/>
                </a:solidFill>
                <a:latin typeface="Consolas" pitchFamily="34" charset="0"/>
                <a:ea typeface="Consolas" pitchFamily="34" charset="-122"/>
                <a:cs typeface="Consolas" pitchFamily="34" charset="-120"/>
              </a:rPr>
              <a:t>]</a:t>
            </a:r>
            <a:pPr indent="0" marL="0">
              <a:lnSpc>
                <a:spcPct val="112000"/>
              </a:lnSpc>
              <a:buNone/>
            </a:pPr>
            <a:r>
              <a:rPr lang="en-US" sz="1400" dirty="0">
                <a:solidFill>
                  <a:srgbClr val="8E9590"/>
                </a:solidFill>
                <a:latin typeface="Consolas" pitchFamily="34" charset="0"/>
                <a:ea typeface="Consolas" pitchFamily="34" charset="-122"/>
                <a:cs typeface="Consolas" pitchFamily="34" charset="-120"/>
              </a:rPr>
              <a:t> </a:t>
            </a:r>
            <a:pPr indent="0" marL="0">
              <a:lnSpc>
                <a:spcPct val="112000"/>
              </a:lnSpc>
              <a:buNone/>
            </a:pPr>
            <a:r>
              <a:rPr lang="en-US" sz="1400" dirty="0">
                <a:solidFill>
                  <a:srgbClr val="8E9590"/>
                </a:solidFill>
                <a:latin typeface="Consolas" pitchFamily="34" charset="0"/>
                <a:ea typeface="Consolas" pitchFamily="34" charset="-122"/>
                <a:cs typeface="Consolas" pitchFamily="34" charset="-120"/>
              </a:rPr>
              <a:t>=</a:t>
            </a:r>
            <a:pPr indent="0" marL="0">
              <a:lnSpc>
                <a:spcPct val="112000"/>
              </a:lnSpc>
              <a:buNone/>
            </a:pPr>
            <a:r>
              <a:rPr lang="en-US" sz="1400" dirty="0">
                <a:solidFill>
                  <a:srgbClr val="8E9590"/>
                </a:solidFill>
                <a:latin typeface="Consolas" pitchFamily="34" charset="0"/>
                <a:ea typeface="Consolas" pitchFamily="34" charset="-122"/>
                <a:cs typeface="Consolas" pitchFamily="34" charset="-120"/>
              </a:rPr>
              <a:t> </a:t>
            </a:r>
            <a:pPr indent="0" marL="0">
              <a:lnSpc>
                <a:spcPct val="112000"/>
              </a:lnSpc>
              <a:buNone/>
            </a:pPr>
            <a:r>
              <a:rPr lang="en-US" sz="1400" dirty="0">
                <a:solidFill>
                  <a:srgbClr val="9CC9B2"/>
                </a:solidFill>
                <a:latin typeface="Consolas" pitchFamily="34" charset="0"/>
                <a:ea typeface="Consolas" pitchFamily="34" charset="-122"/>
                <a:cs typeface="Consolas" pitchFamily="34" charset="-120"/>
              </a:rPr>
              <a:t>input</a:t>
            </a:r>
            <a:pPr indent="0" marL="0">
              <a:lnSpc>
                <a:spcPct val="112000"/>
              </a:lnSpc>
              <a:buNone/>
            </a:pPr>
            <a:r>
              <a:rPr lang="en-US" sz="1400" dirty="0">
                <a:solidFill>
                  <a:srgbClr val="8E9590"/>
                </a:solidFill>
                <a:latin typeface="Consolas" pitchFamily="34" charset="0"/>
                <a:ea typeface="Consolas" pitchFamily="34" charset="-122"/>
                <a:cs typeface="Consolas" pitchFamily="34" charset="-120"/>
              </a:rPr>
              <a:t>(</a:t>
            </a:r>
            <a:pPr indent="0" marL="0">
              <a:lnSpc>
                <a:spcPct val="112000"/>
              </a:lnSpc>
              <a:buNone/>
            </a:pPr>
            <a:r>
              <a:rPr lang="en-US" sz="1400" dirty="0">
                <a:solidFill>
                  <a:srgbClr val="7DB597"/>
                </a:solidFill>
                <a:latin typeface="Consolas" pitchFamily="34" charset="0"/>
                <a:ea typeface="Consolas" pitchFamily="34" charset="-122"/>
                <a:cs typeface="Consolas" pitchFamily="34" charset="-120"/>
              </a:rPr>
              <a:t>int8</a:t>
            </a:r>
            <a:pPr indent="0" marL="0">
              <a:lnSpc>
                <a:spcPct val="112000"/>
              </a:lnSpc>
              <a:buNone/>
            </a:pPr>
            <a:r>
              <a:rPr lang="en-US" sz="1400" dirty="0">
                <a:solidFill>
                  <a:srgbClr val="8E9590"/>
                </a:solidFill>
                <a:latin typeface="Consolas" pitchFamily="34" charset="0"/>
                <a:ea typeface="Consolas" pitchFamily="34" charset="-122"/>
                <a:cs typeface="Consolas" pitchFamily="34" charset="-120"/>
              </a:rPr>
              <a:t>)</a:t>
            </a:r>
            <a:pPr indent="0" marL="0">
              <a:lnSpc>
                <a:spcPct val="112000"/>
              </a:lnSpc>
              <a:buNone/>
            </a:pPr>
            <a:r>
              <a:rPr lang="en-US" sz="1400" dirty="0">
                <a:solidFill>
                  <a:srgbClr val="8E9590"/>
                </a:solidFill>
                <a:latin typeface="Consolas" pitchFamily="34" charset="0"/>
                <a:ea typeface="Consolas" pitchFamily="34" charset="-122"/>
                <a:cs typeface="Consolas" pitchFamily="34" charset="-120"/>
              </a:rPr>
              <a:t>;</a:t>
            </a:r>
            <a:endParaRPr lang="en-US" sz="1400" dirty="0"/>
          </a:p>
          <a:p>
            <a:pPr indent="0" marL="0">
              <a:lnSpc>
                <a:spcPct val="112000"/>
              </a:lnSpc>
              <a:buNone/>
            </a:pPr>
            <a:r>
              <a:rPr lang="en-US" sz="1400" dirty="0">
                <a:solidFill>
                  <a:srgbClr val="52B788"/>
                </a:solidFill>
                <a:latin typeface="Consolas" pitchFamily="34" charset="0"/>
                <a:ea typeface="Consolas" pitchFamily="34" charset="-122"/>
                <a:cs typeface="Consolas" pitchFamily="34" charset="-120"/>
              </a:rPr>
              <a:t>matrix</a:t>
            </a:r>
            <a:pPr indent="0" marL="0">
              <a:lnSpc>
                <a:spcPct val="112000"/>
              </a:lnSpc>
              <a:buNone/>
            </a:pPr>
            <a:r>
              <a:rPr lang="en-US" sz="1400" dirty="0">
                <a:solidFill>
                  <a:srgbClr val="8E9590"/>
                </a:solidFill>
                <a:latin typeface="Consolas" pitchFamily="34" charset="0"/>
                <a:ea typeface="Consolas" pitchFamily="34" charset="-122"/>
                <a:cs typeface="Consolas" pitchFamily="34" charset="-120"/>
              </a:rPr>
              <a:t> </a:t>
            </a:r>
            <a:pPr indent="0" marL="0">
              <a:lnSpc>
                <a:spcPct val="112000"/>
              </a:lnSpc>
              <a:buNone/>
            </a:pPr>
            <a:r>
              <a:rPr lang="en-US" sz="1400" dirty="0">
                <a:solidFill>
                  <a:srgbClr val="E6EAE8"/>
                </a:solidFill>
                <a:latin typeface="Consolas" pitchFamily="34" charset="0"/>
                <a:ea typeface="Consolas" pitchFamily="34" charset="-122"/>
                <a:cs typeface="Consolas" pitchFamily="34" charset="-120"/>
              </a:rPr>
              <a:t>R</a:t>
            </a:r>
            <a:pPr indent="0" marL="0">
              <a:lnSpc>
                <a:spcPct val="112000"/>
              </a:lnSpc>
              <a:buNone/>
            </a:pPr>
            <a:r>
              <a:rPr lang="en-US" sz="1400" dirty="0">
                <a:solidFill>
                  <a:srgbClr val="8E9590"/>
                </a:solidFill>
                <a:latin typeface="Consolas" pitchFamily="34" charset="0"/>
                <a:ea typeface="Consolas" pitchFamily="34" charset="-122"/>
                <a:cs typeface="Consolas" pitchFamily="34" charset="-120"/>
              </a:rPr>
              <a:t> </a:t>
            </a:r>
            <a:pPr indent="0" marL="0">
              <a:lnSpc>
                <a:spcPct val="112000"/>
              </a:lnSpc>
              <a:buNone/>
            </a:pPr>
            <a:r>
              <a:rPr lang="en-US" sz="1400" dirty="0">
                <a:solidFill>
                  <a:srgbClr val="8E9590"/>
                </a:solidFill>
                <a:latin typeface="Consolas" pitchFamily="34" charset="0"/>
                <a:ea typeface="Consolas" pitchFamily="34" charset="-122"/>
                <a:cs typeface="Consolas" pitchFamily="34" charset="-120"/>
              </a:rPr>
              <a:t>=</a:t>
            </a:r>
            <a:pPr indent="0" marL="0">
              <a:lnSpc>
                <a:spcPct val="112000"/>
              </a:lnSpc>
              <a:buNone/>
            </a:pPr>
            <a:r>
              <a:rPr lang="en-US" sz="1400" dirty="0">
                <a:solidFill>
                  <a:srgbClr val="8E9590"/>
                </a:solidFill>
                <a:latin typeface="Consolas" pitchFamily="34" charset="0"/>
                <a:ea typeface="Consolas" pitchFamily="34" charset="-122"/>
                <a:cs typeface="Consolas" pitchFamily="34" charset="-120"/>
              </a:rPr>
              <a:t> </a:t>
            </a:r>
            <a:pPr indent="0" marL="0">
              <a:lnSpc>
                <a:spcPct val="112000"/>
              </a:lnSpc>
              <a:buNone/>
            </a:pPr>
            <a:r>
              <a:rPr lang="en-US" sz="1400" dirty="0">
                <a:solidFill>
                  <a:srgbClr val="E6EAE8"/>
                </a:solidFill>
                <a:latin typeface="Consolas" pitchFamily="34" charset="0"/>
                <a:ea typeface="Consolas" pitchFamily="34" charset="-122"/>
                <a:cs typeface="Consolas" pitchFamily="34" charset="-120"/>
              </a:rPr>
              <a:t>A</a:t>
            </a:r>
            <a:pPr indent="0" marL="0">
              <a:lnSpc>
                <a:spcPct val="112000"/>
              </a:lnSpc>
              <a:buNone/>
            </a:pPr>
            <a:r>
              <a:rPr lang="en-US" sz="1400" dirty="0">
                <a:solidFill>
                  <a:srgbClr val="8E9590"/>
                </a:solidFill>
                <a:latin typeface="Consolas" pitchFamily="34" charset="0"/>
                <a:ea typeface="Consolas" pitchFamily="34" charset="-122"/>
                <a:cs typeface="Consolas" pitchFamily="34" charset="-120"/>
              </a:rPr>
              <a:t> </a:t>
            </a:r>
            <a:pPr indent="0" marL="0">
              <a:lnSpc>
                <a:spcPct val="112000"/>
              </a:lnSpc>
              <a:buNone/>
            </a:pPr>
            <a:r>
              <a:rPr lang="en-US" sz="1400" dirty="0">
                <a:solidFill>
                  <a:srgbClr val="8E9590"/>
                </a:solidFill>
                <a:latin typeface="Consolas" pitchFamily="34" charset="0"/>
                <a:ea typeface="Consolas" pitchFamily="34" charset="-122"/>
                <a:cs typeface="Consolas" pitchFamily="34" charset="-120"/>
              </a:rPr>
              <a:t>*</a:t>
            </a:r>
            <a:pPr indent="0" marL="0">
              <a:lnSpc>
                <a:spcPct val="112000"/>
              </a:lnSpc>
              <a:buNone/>
            </a:pPr>
            <a:r>
              <a:rPr lang="en-US" sz="1400" dirty="0">
                <a:solidFill>
                  <a:srgbClr val="8E9590"/>
                </a:solidFill>
                <a:latin typeface="Consolas" pitchFamily="34" charset="0"/>
                <a:ea typeface="Consolas" pitchFamily="34" charset="-122"/>
                <a:cs typeface="Consolas" pitchFamily="34" charset="-120"/>
              </a:rPr>
              <a:t> </a:t>
            </a:r>
            <a:pPr indent="0" marL="0">
              <a:lnSpc>
                <a:spcPct val="112000"/>
              </a:lnSpc>
              <a:buNone/>
            </a:pPr>
            <a:r>
              <a:rPr lang="en-US" sz="1400" dirty="0">
                <a:solidFill>
                  <a:srgbClr val="E6EAE8"/>
                </a:solidFill>
                <a:latin typeface="Consolas" pitchFamily="34" charset="0"/>
                <a:ea typeface="Consolas" pitchFamily="34" charset="-122"/>
                <a:cs typeface="Consolas" pitchFamily="34" charset="-120"/>
              </a:rPr>
              <a:t>B</a:t>
            </a:r>
            <a:pPr indent="0" marL="0">
              <a:lnSpc>
                <a:spcPct val="112000"/>
              </a:lnSpc>
              <a:buNone/>
            </a:pPr>
            <a:r>
              <a:rPr lang="en-US" sz="1400" dirty="0">
                <a:solidFill>
                  <a:srgbClr val="8E9590"/>
                </a:solidFill>
                <a:latin typeface="Consolas" pitchFamily="34" charset="0"/>
                <a:ea typeface="Consolas" pitchFamily="34" charset="-122"/>
                <a:cs typeface="Consolas" pitchFamily="34" charset="-120"/>
              </a:rPr>
              <a:t> </a:t>
            </a:r>
            <a:pPr indent="0" marL="0">
              <a:lnSpc>
                <a:spcPct val="112000"/>
              </a:lnSpc>
              <a:buNone/>
            </a:pPr>
            <a:r>
              <a:rPr lang="en-US" sz="1400" dirty="0">
                <a:solidFill>
                  <a:srgbClr val="8E9590"/>
                </a:solidFill>
                <a:latin typeface="Consolas" pitchFamily="34" charset="0"/>
                <a:ea typeface="Consolas" pitchFamily="34" charset="-122"/>
                <a:cs typeface="Consolas" pitchFamily="34" charset="-120"/>
              </a:rPr>
              <a:t>*</a:t>
            </a:r>
            <a:pPr indent="0" marL="0">
              <a:lnSpc>
                <a:spcPct val="112000"/>
              </a:lnSpc>
              <a:buNone/>
            </a:pPr>
            <a:r>
              <a:rPr lang="en-US" sz="1400" dirty="0">
                <a:solidFill>
                  <a:srgbClr val="8E9590"/>
                </a:solidFill>
                <a:latin typeface="Consolas" pitchFamily="34" charset="0"/>
                <a:ea typeface="Consolas" pitchFamily="34" charset="-122"/>
                <a:cs typeface="Consolas" pitchFamily="34" charset="-120"/>
              </a:rPr>
              <a:t> </a:t>
            </a:r>
            <a:pPr indent="0" marL="0">
              <a:lnSpc>
                <a:spcPct val="112000"/>
              </a:lnSpc>
              <a:buNone/>
            </a:pPr>
            <a:r>
              <a:rPr lang="en-US" sz="1400" dirty="0">
                <a:solidFill>
                  <a:srgbClr val="E6EAE8"/>
                </a:solidFill>
                <a:latin typeface="Consolas" pitchFamily="34" charset="0"/>
                <a:ea typeface="Consolas" pitchFamily="34" charset="-122"/>
                <a:cs typeface="Consolas" pitchFamily="34" charset="-120"/>
              </a:rPr>
              <a:t>C</a:t>
            </a:r>
            <a:pPr indent="0" marL="0">
              <a:lnSpc>
                <a:spcPct val="112000"/>
              </a:lnSpc>
              <a:buNone/>
            </a:pPr>
            <a:r>
              <a:rPr lang="en-US" sz="1400" dirty="0">
                <a:solidFill>
                  <a:srgbClr val="8E9590"/>
                </a:solidFill>
                <a:latin typeface="Consolas" pitchFamily="34" charset="0"/>
                <a:ea typeface="Consolas" pitchFamily="34" charset="-122"/>
                <a:cs typeface="Consolas" pitchFamily="34" charset="-120"/>
              </a:rPr>
              <a:t>;</a:t>
            </a:r>
            <a:pPr indent="0" marL="0">
              <a:lnSpc>
                <a:spcPct val="112000"/>
              </a:lnSpc>
              <a:buNone/>
            </a:pPr>
            <a:r>
              <a:rPr lang="en-US" sz="1400" dirty="0">
                <a:solidFill>
                  <a:srgbClr val="8E9590"/>
                </a:solidFill>
                <a:latin typeface="Consolas" pitchFamily="34" charset="0"/>
                <a:ea typeface="Consolas" pitchFamily="34" charset="-122"/>
                <a:cs typeface="Consolas" pitchFamily="34" charset="-120"/>
              </a:rPr>
              <a:t>  </a:t>
            </a:r>
            <a:pPr indent="0" marL="0">
              <a:lnSpc>
                <a:spcPct val="112000"/>
              </a:lnSpc>
              <a:buNone/>
            </a:pPr>
            <a:r>
              <a:rPr lang="en-US" sz="1400" dirty="0">
                <a:solidFill>
                  <a:srgbClr val="5C6560"/>
                </a:solidFill>
                <a:latin typeface="Consolas" pitchFamily="34" charset="0"/>
                <a:ea typeface="Consolas" pitchFamily="34" charset="-122"/>
                <a:cs typeface="Consolas" pitchFamily="34" charset="-120"/>
              </a:rPr>
              <a:t>// 40x2</a:t>
            </a:r>
            <a:endParaRPr lang="en-US" sz="1400" dirty="0"/>
          </a:p>
          <a:p>
            <a:pPr indent="0" marL="0">
              <a:lnSpc>
                <a:spcPct val="112000"/>
              </a:lnSpc>
              <a:buNone/>
            </a:pPr>
            <a:r>
              <a:rPr lang="en-US" sz="1400" dirty="0">
                <a:solidFill>
                  <a:srgbClr val="52B788"/>
                </a:solidFill>
                <a:latin typeface="Consolas" pitchFamily="34" charset="0"/>
                <a:ea typeface="Consolas" pitchFamily="34" charset="-122"/>
                <a:cs typeface="Consolas" pitchFamily="34" charset="-120"/>
              </a:rPr>
              <a:t>print</a:t>
            </a:r>
            <a:pPr indent="0" marL="0">
              <a:lnSpc>
                <a:spcPct val="112000"/>
              </a:lnSpc>
              <a:buNone/>
            </a:pPr>
            <a:r>
              <a:rPr lang="en-US" sz="1400" dirty="0">
                <a:solidFill>
                  <a:srgbClr val="8E9590"/>
                </a:solidFill>
                <a:latin typeface="Consolas" pitchFamily="34" charset="0"/>
                <a:ea typeface="Consolas" pitchFamily="34" charset="-122"/>
                <a:cs typeface="Consolas" pitchFamily="34" charset="-120"/>
              </a:rPr>
              <a:t>(</a:t>
            </a:r>
            <a:pPr indent="0" marL="0">
              <a:lnSpc>
                <a:spcPct val="112000"/>
              </a:lnSpc>
              <a:buNone/>
            </a:pPr>
            <a:r>
              <a:rPr lang="en-US" sz="1400" dirty="0">
                <a:solidFill>
                  <a:srgbClr val="E6EAE8"/>
                </a:solidFill>
                <a:latin typeface="Consolas" pitchFamily="34" charset="0"/>
                <a:ea typeface="Consolas" pitchFamily="34" charset="-122"/>
                <a:cs typeface="Consolas" pitchFamily="34" charset="-120"/>
              </a:rPr>
              <a:t>R</a:t>
            </a:r>
            <a:pPr indent="0" marL="0">
              <a:lnSpc>
                <a:spcPct val="112000"/>
              </a:lnSpc>
              <a:buNone/>
            </a:pPr>
            <a:r>
              <a:rPr lang="en-US" sz="1400" dirty="0">
                <a:solidFill>
                  <a:srgbClr val="8E9590"/>
                </a:solidFill>
                <a:latin typeface="Consolas" pitchFamily="34" charset="0"/>
                <a:ea typeface="Consolas" pitchFamily="34" charset="-122"/>
                <a:cs typeface="Consolas" pitchFamily="34" charset="-120"/>
              </a:rPr>
              <a:t>)</a:t>
            </a:r>
            <a:pPr indent="0" marL="0">
              <a:lnSpc>
                <a:spcPct val="112000"/>
              </a:lnSpc>
              <a:buNone/>
            </a:pPr>
            <a:r>
              <a:rPr lang="en-US" sz="1400" dirty="0">
                <a:solidFill>
                  <a:srgbClr val="8E9590"/>
                </a:solidFill>
                <a:latin typeface="Consolas" pitchFamily="34" charset="0"/>
                <a:ea typeface="Consolas" pitchFamily="34" charset="-122"/>
                <a:cs typeface="Consolas" pitchFamily="34" charset="-120"/>
              </a:rPr>
              <a:t>;</a:t>
            </a:r>
            <a:endParaRPr lang="en-US" sz="1400" dirty="0"/>
          </a:p>
        </p:txBody>
      </p:sp>
      <p:sp>
        <p:nvSpPr>
          <p:cNvPr id="41" name="Shape 39"/>
          <p:cNvSpPr/>
          <p:nvPr/>
        </p:nvSpPr>
        <p:spPr>
          <a:xfrm>
            <a:off x="5440680" y="3474720"/>
            <a:ext cx="6062472" cy="2267712"/>
          </a:xfrm>
          <a:prstGeom prst="roundRect">
            <a:avLst>
              <a:gd name="adj" fmla="val 3226"/>
            </a:avLst>
          </a:prstGeom>
          <a:solidFill>
            <a:srgbClr val="0A0C0B"/>
          </a:solidFill>
          <a:ln w="9525">
            <a:solidFill>
              <a:srgbClr val="1F2523"/>
            </a:solidFill>
            <a:prstDash val="solid"/>
          </a:ln>
        </p:spPr>
      </p:sp>
      <p:sp>
        <p:nvSpPr>
          <p:cNvPr id="42" name="Text 40"/>
          <p:cNvSpPr txBox="1"/>
          <p:nvPr/>
        </p:nvSpPr>
        <p:spPr>
          <a:xfrm>
            <a:off x="5641848" y="3584448"/>
            <a:ext cx="5669280" cy="237744"/>
          </a:xfrm>
          <a:prstGeom prst="rect">
            <a:avLst/>
          </a:prstGeom>
          <a:noFill/>
          <a:ln/>
        </p:spPr>
        <p:txBody>
          <a:bodyPr wrap="square" lIns="0" tIns="0" rIns="0" bIns="0" rtlCol="0" anchor="t"/>
          <a:lstStyle/>
          <a:p>
            <a:pPr indent="0" marL="0">
              <a:buNone/>
            </a:pPr>
            <a:r>
              <a:rPr lang="en-US" sz="1100" dirty="0">
                <a:solidFill>
                  <a:schemeClr val="accent4"/>
                </a:solidFill>
                <a:latin typeface="Consolas" pitchFamily="34" charset="0"/>
                <a:ea typeface="Consolas" pitchFamily="34" charset="-122"/>
                <a:cs typeface="Consolas" pitchFamily="34" charset="-120"/>
              </a:rPr>
              <a:t>$ matrixc --explain --certificate chain.ml</a:t>
            </a:r>
            <a:endParaRPr lang="en-US" sz="1100" dirty="0"/>
          </a:p>
        </p:txBody>
      </p:sp>
      <p:sp>
        <p:nvSpPr>
          <p:cNvPr id="43" name="Text 41"/>
          <p:cNvSpPr txBox="1"/>
          <p:nvPr/>
        </p:nvSpPr>
        <p:spPr>
          <a:xfrm>
            <a:off x="5641848" y="3931920"/>
            <a:ext cx="5715000" cy="1691640"/>
          </a:xfrm>
          <a:prstGeom prst="rect">
            <a:avLst/>
          </a:prstGeom>
          <a:noFill/>
          <a:ln/>
        </p:spPr>
        <p:txBody>
          <a:bodyPr wrap="square" lIns="0" tIns="0" rIns="0" bIns="0" rtlCol="0" anchor="t"/>
          <a:lstStyle/>
          <a:p>
            <a:pPr indent="0" marL="0">
              <a:lnSpc>
                <a:spcPct val="108000"/>
              </a:lnSpc>
              <a:buNone/>
            </a:pPr>
            <a:r>
              <a:rPr lang="en-US" sz="1250" dirty="0">
                <a:solidFill>
                  <a:schemeClr val="accent4"/>
                </a:solidFill>
                <a:latin typeface="Consolas" pitchFamily="34" charset="0"/>
                <a:ea typeface="Consolas" pitchFamily="34" charset="-122"/>
                <a:cs typeface="Consolas" pitchFamily="34" charset="-120"/>
              </a:rPr>
              <a:t>chain order  </a:t>
            </a:r>
            <a:pPr indent="0" marL="0">
              <a:lnSpc>
                <a:spcPct val="108000"/>
              </a:lnSpc>
              <a:buNone/>
            </a:pPr>
            <a:r>
              <a:rPr lang="en-US" sz="1250" dirty="0">
                <a:solidFill>
                  <a:schemeClr val="bg1"/>
                </a:solidFill>
                <a:latin typeface="Consolas" pitchFamily="34" charset="0"/>
                <a:ea typeface="Consolas" pitchFamily="34" charset="-122"/>
                <a:cs typeface="Consolas" pitchFamily="34" charset="-120"/>
              </a:rPr>
              <a:t>A * B * C</a:t>
            </a:r>
            <a:pPr indent="0" marL="0">
              <a:lnSpc>
                <a:spcPct val="108000"/>
              </a:lnSpc>
              <a:buNone/>
            </a:pPr>
            <a:r>
              <a:rPr lang="en-US" sz="1250" dirty="0">
                <a:solidFill>
                  <a:schemeClr val="accent4"/>
                </a:solidFill>
                <a:latin typeface="Consolas" pitchFamily="34" charset="0"/>
                <a:ea typeface="Consolas" pitchFamily="34" charset="-122"/>
                <a:cs typeface="Consolas" pitchFamily="34" charset="-120"/>
              </a:rPr>
              <a:t>  -&gt;  </a:t>
            </a:r>
            <a:pPr indent="0" marL="0">
              <a:lnSpc>
                <a:spcPct val="108000"/>
              </a:lnSpc>
              <a:buNone/>
            </a:pPr>
            <a:r>
              <a:rPr lang="en-US" sz="1250" dirty="0">
                <a:solidFill>
                  <a:schemeClr val="accent1"/>
                </a:solidFill>
                <a:latin typeface="Consolas" pitchFamily="34" charset="0"/>
                <a:ea typeface="Consolas" pitchFamily="34" charset="-122"/>
                <a:cs typeface="Consolas" pitchFamily="34" charset="-120"/>
              </a:rPr>
              <a:t>A * (B * C)</a:t>
            </a:r>
            <a:endParaRPr lang="en-US" sz="1400" dirty="0"/>
          </a:p>
          <a:p>
            <a:pPr indent="0" marL="0">
              <a:lnSpc>
                <a:spcPct val="108000"/>
              </a:lnSpc>
              <a:buNone/>
            </a:pPr>
            <a:r>
              <a:rPr lang="en-US" sz="1250" dirty="0">
                <a:solidFill>
                  <a:schemeClr val="accent4"/>
                </a:solidFill>
                <a:latin typeface="Consolas" pitchFamily="34" charset="0"/>
                <a:ea typeface="Consolas" pitchFamily="34" charset="-122"/>
                <a:cs typeface="Consolas" pitchFamily="34" charset="-120"/>
              </a:rPr>
              <a:t>             </a:t>
            </a:r>
            <a:pPr indent="0" marL="0">
              <a:lnSpc>
                <a:spcPct val="108000"/>
              </a:lnSpc>
              <a:buNone/>
            </a:pPr>
            <a:r>
              <a:rPr lang="en-US" sz="1250" dirty="0">
                <a:solidFill>
                  <a:schemeClr val="accent4"/>
                </a:solidFill>
                <a:latin typeface="Consolas" pitchFamily="34" charset="0"/>
                <a:ea typeface="Consolas" pitchFamily="34" charset="-122"/>
                <a:cs typeface="Consolas" pitchFamily="34" charset="-120"/>
              </a:rPr>
              <a:t>11,120</a:t>
            </a:r>
            <a:pPr indent="0" marL="0">
              <a:lnSpc>
                <a:spcPct val="108000"/>
              </a:lnSpc>
              <a:buNone/>
            </a:pPr>
            <a:r>
              <a:rPr lang="en-US" sz="1250" dirty="0">
                <a:solidFill>
                  <a:schemeClr val="accent4"/>
                </a:solidFill>
                <a:latin typeface="Consolas" pitchFamily="34" charset="0"/>
                <a:ea typeface="Consolas" pitchFamily="34" charset="-122"/>
                <a:cs typeface="Consolas" pitchFamily="34" charset="-120"/>
              </a:rPr>
              <a:t> -&gt; </a:t>
            </a:r>
            <a:pPr indent="0" marL="0">
              <a:lnSpc>
                <a:spcPct val="108000"/>
              </a:lnSpc>
              <a:buNone/>
            </a:pPr>
            <a:r>
              <a:rPr lang="en-US" sz="1250" b="1" dirty="0">
                <a:solidFill>
                  <a:schemeClr val="accent1"/>
                </a:solidFill>
                <a:latin typeface="Consolas" pitchFamily="34" charset="0"/>
                <a:ea typeface="Consolas" pitchFamily="34" charset="-122"/>
                <a:cs typeface="Consolas" pitchFamily="34" charset="-120"/>
              </a:rPr>
              <a:t>556</a:t>
            </a:r>
            <a:pPr indent="0" marL="0">
              <a:lnSpc>
                <a:spcPct val="108000"/>
              </a:lnSpc>
              <a:buNone/>
            </a:pPr>
            <a:r>
              <a:rPr lang="en-US" sz="1250" dirty="0">
                <a:solidFill>
                  <a:schemeClr val="accent4"/>
                </a:solidFill>
                <a:latin typeface="Consolas" pitchFamily="34" charset="0"/>
                <a:ea typeface="Consolas" pitchFamily="34" charset="-122"/>
                <a:cs typeface="Consolas" pitchFamily="34" charset="-120"/>
              </a:rPr>
              <a:t> operations, </a:t>
            </a:r>
            <a:pPr indent="0" marL="0">
              <a:lnSpc>
                <a:spcPct val="108000"/>
              </a:lnSpc>
              <a:buNone/>
            </a:pPr>
            <a:r>
              <a:rPr lang="en-US" sz="1250" dirty="0">
                <a:solidFill>
                  <a:schemeClr val="bg1"/>
                </a:solidFill>
                <a:latin typeface="Consolas" pitchFamily="34" charset="0"/>
                <a:ea typeface="Consolas" pitchFamily="34" charset="-122"/>
                <a:cs typeface="Consolas" pitchFamily="34" charset="-120"/>
              </a:rPr>
              <a:t>-95.0%</a:t>
            </a:r>
            <a:endParaRPr lang="en-US" sz="1400" dirty="0"/>
          </a:p>
          <a:p>
            <a:pPr indent="0" marL="0">
              <a:lnSpc>
                <a:spcPct val="108000"/>
              </a:lnSpc>
              <a:buNone/>
            </a:pPr>
            <a:r>
              <a:rPr lang="en-US" sz="1250" dirty="0">
                <a:solidFill>
                  <a:schemeClr val="accent4"/>
                </a:solidFill>
                <a:latin typeface="Consolas" pitchFamily="34" charset="0"/>
                <a:ea typeface="Consolas" pitchFamily="34" charset="-122"/>
                <a:cs typeface="Consolas" pitchFamily="34" charset="-120"/>
              </a:rPr>
              <a:t> </a:t>
            </a:r>
            <a:endParaRPr lang="en-US" sz="1400" dirty="0"/>
          </a:p>
          <a:p>
            <a:pPr indent="0" marL="0">
              <a:lnSpc>
                <a:spcPct val="108000"/>
              </a:lnSpc>
              <a:buNone/>
            </a:pPr>
            <a:r>
              <a:rPr lang="en-US" sz="1250" dirty="0">
                <a:solidFill>
                  <a:schemeClr val="accent4"/>
                </a:solidFill>
                <a:latin typeface="Consolas" pitchFamily="34" charset="0"/>
                <a:ea typeface="Consolas" pitchFamily="34" charset="-122"/>
                <a:cs typeface="Consolas" pitchFamily="34" charset="-120"/>
              </a:rPr>
              <a:t>Contract: strict</a:t>
            </a:r>
            <a:endParaRPr lang="en-US" sz="1400" dirty="0"/>
          </a:p>
          <a:p>
            <a:pPr indent="0" marL="0">
              <a:lnSpc>
                <a:spcPct val="108000"/>
              </a:lnSpc>
              <a:buNone/>
            </a:pPr>
            <a:r>
              <a:rPr lang="en-US" sz="1250" dirty="0">
                <a:solidFill>
                  <a:schemeClr val="accent4"/>
                </a:solidFill>
                <a:latin typeface="Consolas" pitchFamily="34" charset="0"/>
                <a:ea typeface="Consolas" pitchFamily="34" charset="-122"/>
                <a:cs typeface="Consolas" pitchFamily="34" charset="-120"/>
              </a:rPr>
              <a:t>  1. </a:t>
            </a:r>
            <a:pPr indent="0" marL="0">
              <a:lnSpc>
                <a:spcPct val="108000"/>
              </a:lnSpc>
              <a:buNone/>
            </a:pPr>
            <a:r>
              <a:rPr lang="en-US" sz="1250" b="1" dirty="0">
                <a:solidFill>
                  <a:schemeClr val="accent1"/>
                </a:solidFill>
                <a:latin typeface="Consolas" pitchFamily="34" charset="0"/>
                <a:ea typeface="Consolas" pitchFamily="34" charset="-122"/>
                <a:cs typeface="Consolas" pitchFamily="34" charset="-120"/>
              </a:rPr>
              <a:t>bit-identical</a:t>
            </a:r>
            <a:pPr indent="0" marL="0">
              <a:lnSpc>
                <a:spcPct val="108000"/>
              </a:lnSpc>
              <a:buNone/>
            </a:pPr>
            <a:r>
              <a:rPr lang="en-US" sz="1250" dirty="0">
                <a:solidFill>
                  <a:schemeClr val="accent4"/>
                </a:solidFill>
                <a:latin typeface="Consolas" pitchFamily="34" charset="0"/>
                <a:ea typeface="Consolas" pitchFamily="34" charset="-122"/>
                <a:cs typeface="Consolas" pitchFamily="34" charset="-120"/>
              </a:rPr>
              <a:t>   </a:t>
            </a:r>
            <a:pPr indent="0" marL="0">
              <a:lnSpc>
                <a:spcPct val="108000"/>
              </a:lnSpc>
              <a:buNone/>
            </a:pPr>
            <a:r>
              <a:rPr lang="en-US" sz="1250" dirty="0">
                <a:solidFill>
                  <a:schemeClr val="bg1"/>
                </a:solidFill>
                <a:latin typeface="Consolas" pitchFamily="34" charset="0"/>
                <a:ea typeface="Consolas" pitchFamily="34" charset="-122"/>
                <a:cs typeface="Consolas" pitchFamily="34" charset="-120"/>
              </a:rPr>
              <a:t>print(R)</a:t>
            </a:r>
            <a:endParaRPr lang="en-US" sz="1400" dirty="0"/>
          </a:p>
          <a:p>
            <a:pPr indent="0" marL="0">
              <a:lnSpc>
                <a:spcPct val="108000"/>
              </a:lnSpc>
              <a:buNone/>
            </a:pPr>
            <a:r>
              <a:rPr lang="en-US" sz="1250" dirty="0">
                <a:solidFill>
                  <a:schemeClr val="accent4"/>
                </a:solidFill>
                <a:latin typeface="Consolas" pitchFamily="34" charset="0"/>
                <a:ea typeface="Consolas" pitchFamily="34" charset="-122"/>
                <a:cs typeface="Consolas" pitchFamily="34" charset="-120"/>
              </a:rPr>
              <a:t>     every intermediate of every bracketing</a:t>
            </a:r>
            <a:endParaRPr lang="en-US" sz="1400" dirty="0"/>
          </a:p>
          <a:p>
            <a:pPr indent="0" marL="0">
              <a:lnSpc>
                <a:spcPct val="108000"/>
              </a:lnSpc>
              <a:buNone/>
            </a:pPr>
            <a:r>
              <a:rPr lang="en-US" sz="1250" dirty="0">
                <a:solidFill>
                  <a:schemeClr val="accent4"/>
                </a:solidFill>
                <a:latin typeface="Consolas" pitchFamily="34" charset="0"/>
                <a:ea typeface="Consolas" pitchFamily="34" charset="-122"/>
                <a:cs typeface="Consolas" pitchFamily="34" charset="-120"/>
              </a:rPr>
              <a:t>     needs at most </a:t>
            </a:r>
            <a:pPr indent="0" marL="0">
              <a:lnSpc>
                <a:spcPct val="108000"/>
              </a:lnSpc>
              <a:buNone/>
            </a:pPr>
            <a:r>
              <a:rPr lang="en-US" sz="1250" dirty="0">
                <a:solidFill>
                  <a:schemeClr val="bg1"/>
                </a:solidFill>
                <a:latin typeface="Consolas" pitchFamily="34" charset="0"/>
                <a:ea typeface="Consolas" pitchFamily="34" charset="-122"/>
                <a:cs typeface="Consolas" pitchFamily="34" charset="-120"/>
              </a:rPr>
              <a:t>28</a:t>
            </a:r>
            <a:pPr indent="0" marL="0">
              <a:lnSpc>
                <a:spcPct val="108000"/>
              </a:lnSpc>
              <a:buNone/>
            </a:pPr>
            <a:r>
              <a:rPr lang="en-US" sz="1250" dirty="0">
                <a:solidFill>
                  <a:schemeClr val="accent4"/>
                </a:solidFill>
                <a:latin typeface="Consolas" pitchFamily="34" charset="0"/>
                <a:ea typeface="Consolas" pitchFamily="34" charset="-122"/>
                <a:cs typeface="Consolas" pitchFamily="34" charset="-120"/>
              </a:rPr>
              <a:t> of </a:t>
            </a:r>
            <a:pPr indent="0" marL="0">
              <a:lnSpc>
                <a:spcPct val="108000"/>
              </a:lnSpc>
              <a:buNone/>
            </a:pPr>
            <a:r>
              <a:rPr lang="en-US" sz="1250" dirty="0">
                <a:solidFill>
                  <a:schemeClr val="bg1"/>
                </a:solidFill>
                <a:latin typeface="Consolas" pitchFamily="34" charset="0"/>
                <a:ea typeface="Consolas" pitchFamily="34" charset="-122"/>
                <a:cs typeface="Consolas" pitchFamily="34" charset="-120"/>
              </a:rPr>
              <a:t>53</a:t>
            </a:r>
            <a:pPr indent="0" marL="0">
              <a:lnSpc>
                <a:spcPct val="108000"/>
              </a:lnSpc>
              <a:buNone/>
            </a:pPr>
            <a:r>
              <a:rPr lang="en-US" sz="1250" dirty="0">
                <a:solidFill>
                  <a:schemeClr val="accent4"/>
                </a:solidFill>
                <a:latin typeface="Consolas" pitchFamily="34" charset="0"/>
                <a:ea typeface="Consolas" pitchFamily="34" charset="-122"/>
                <a:cs typeface="Consolas" pitchFamily="34" charset="-120"/>
              </a:rPr>
              <a:t> significand bits</a:t>
            </a:r>
            <a:endParaRPr lang="en-US" sz="1400" dirty="0"/>
          </a:p>
        </p:txBody>
      </p:sp>
      <p:sp>
        <p:nvSpPr>
          <p:cNvPr id="44" name="Text 42"/>
          <p:cNvSpPr txBox="1"/>
          <p:nvPr/>
        </p:nvSpPr>
        <p:spPr>
          <a:xfrm>
            <a:off x="685800" y="5879592"/>
            <a:ext cx="10817352" cy="274320"/>
          </a:xfrm>
          <a:prstGeom prst="rect">
            <a:avLst/>
          </a:prstGeom>
          <a:noFill/>
          <a:ln/>
        </p:spPr>
        <p:txBody>
          <a:bodyPr wrap="square" lIns="0" tIns="0" rIns="0" bIns="0" rtlCol="0" anchor="t"/>
          <a:lstStyle/>
          <a:p>
            <a:pPr indent="0" marL="0">
              <a:buNone/>
            </a:pPr>
            <a:r>
              <a:rPr lang="en-US" sz="1200" dirty="0">
                <a:solidFill>
                  <a:schemeClr val="accent4"/>
                </a:solidFill>
                <a:latin typeface="Segoe UI" pitchFamily="34" charset="0"/>
                <a:ea typeface="Segoe UI" pitchFamily="34" charset="-122"/>
                <a:cs typeface="Segoe UI" pitchFamily="34" charset="-120"/>
              </a:rPr>
              <a:t>7,700 lines of C11, Flex and Bison  ·  34 flags expose every stage  ·  a browser workspace shows them side by side  ·  make test passes</a:t>
            </a:r>
            <a:endParaRPr lang="en-US" sz="1200" dirty="0"/>
          </a:p>
        </p:txBody>
      </p:sp>
      <p:sp>
        <p:nvSpPr>
          <p:cNvPr id="46" name="!!p06">
            <a:extLst>
              <a:ext uri="{C183D7F6-B498-43B3-948B-1728B52AA6E4}">
                <adec:decorative xmlns:adec="http://schemas.microsoft.com/office/drawing/2017/decorative" val="1"/>
              </a:ext>
            </a:extLst>
          </p:cNvPr>
          <p:cNvSpPr txBox="1"/>
          <p:nvPr/>
        </p:nvSpPr>
        <p:spPr>
          <a:xfrm>
            <a:off x="5806440" y="6400800"/>
            <a:ext cx="1199134" cy="236474"/>
          </a:xfrm>
          <a:prstGeom prst="rect">
            <a:avLst/>
          </a:prstGeom>
          <a:noFill/>
          <a:ln/>
        </p:spPr>
        <p:txBody>
          <a:bodyPr wrap="none" lIns="0" tIns="0" rIns="0" bIns="0" rtlCol="0" anchor="ctr"/>
          <a:lstStyle/>
          <a:p>
            <a:pPr indent="0" marL="0">
              <a:buNone/>
            </a:pPr>
            <a:r>
              <a:rPr lang="en-US" sz="1100" dirty="0">
                <a:solidFill>
                  <a:srgbClr val="34433B"/>
                </a:solidFill>
                <a:latin typeface="Consolas" pitchFamily="34" charset="0"/>
                <a:ea typeface="Consolas" pitchFamily="34" charset="-122"/>
                <a:cs typeface="Consolas" pitchFamily="34" charset="-120"/>
              </a:rPr>
              <a:t>inf * 0 = NaN</a:t>
            </a:r>
            <a:endParaRPr lang="en-US" sz="1100" dirty="0"/>
          </a:p>
        </p:txBody>
      </p:sp>
      <p:sp>
        <p:nvSpPr>
          <p:cNvPr id="47" name="!!p07">
            <a:extLst>
              <a:ext uri="{C183D7F6-B498-43B3-948B-1728B52AA6E4}">
                <adec:decorative xmlns:adec="http://schemas.microsoft.com/office/drawing/2017/decorative" val="1"/>
              </a:ext>
            </a:extLst>
          </p:cNvPr>
          <p:cNvSpPr txBox="1"/>
          <p:nvPr/>
        </p:nvSpPr>
        <p:spPr>
          <a:xfrm>
            <a:off x="2880360" y="6473952"/>
            <a:ext cx="1199134" cy="236474"/>
          </a:xfrm>
          <a:prstGeom prst="rect">
            <a:avLst/>
          </a:prstGeom>
          <a:noFill/>
          <a:ln/>
        </p:spPr>
        <p:txBody>
          <a:bodyPr wrap="none" lIns="0" tIns="0" rIns="0" bIns="0" rtlCol="0" anchor="ctr"/>
          <a:lstStyle/>
          <a:p>
            <a:pPr indent="0" marL="0">
              <a:buNone/>
            </a:pPr>
            <a:r>
              <a:rPr lang="en-US" sz="1100" dirty="0">
                <a:solidFill>
                  <a:srgbClr val="3A4A42"/>
                </a:solidFill>
                <a:latin typeface="Consolas" pitchFamily="34" charset="0"/>
                <a:ea typeface="Consolas" pitchFamily="34" charset="-122"/>
                <a:cs typeface="Consolas" pitchFamily="34" charset="-120"/>
              </a:rPr>
              <a:t>{{1,0},{0,1}}</a:t>
            </a:r>
            <a:endParaRPr lang="en-US" sz="1100" dirty="0"/>
          </a:p>
        </p:txBody>
      </p:sp>
      <p:sp>
        <p:nvSpPr>
          <p:cNvPr id="48" name="!!p08">
            <a:extLst>
              <a:ext uri="{C183D7F6-B498-43B3-948B-1728B52AA6E4}">
                <adec:decorative xmlns:adec="http://schemas.microsoft.com/office/drawing/2017/decorative" val="1"/>
              </a:ext>
            </a:extLst>
          </p:cNvPr>
          <p:cNvSpPr txBox="1"/>
          <p:nvPr/>
        </p:nvSpPr>
        <p:spPr>
          <a:xfrm>
            <a:off x="-1045210" y="2083345"/>
            <a:ext cx="679450" cy="236474"/>
          </a:xfrm>
          <a:prstGeom prst="rect">
            <a:avLst/>
          </a:prstGeom>
          <a:noFill/>
          <a:ln/>
        </p:spPr>
        <p:txBody>
          <a:bodyPr wrap="none" lIns="0" tIns="0" rIns="0" bIns="0" rtlCol="0" anchor="ctr"/>
          <a:lstStyle/>
          <a:p>
            <a:pPr indent="0" marL="0">
              <a:buNone/>
            </a:pPr>
            <a:r>
              <a:rPr lang="en-US" sz="1100" dirty="0">
                <a:solidFill>
                  <a:srgbClr val="3A403D"/>
                </a:solidFill>
                <a:latin typeface="Consolas" pitchFamily="34" charset="0"/>
                <a:ea typeface="Consolas" pitchFamily="34" charset="-122"/>
                <a:cs typeface="Consolas" pitchFamily="34" charset="-120"/>
              </a:rPr>
              <a:t>0x1p+53</a:t>
            </a:r>
            <a:endParaRPr lang="en-US" sz="1100" dirty="0"/>
          </a:p>
        </p:txBody>
      </p:sp>
      <p:sp>
        <p:nvSpPr>
          <p:cNvPr id="49" name="!!p09">
            <a:extLst>
              <a:ext uri="{C183D7F6-B498-43B3-948B-1728B52AA6E4}">
                <adec:decorative xmlns:adec="http://schemas.microsoft.com/office/drawing/2017/decorative" val="1"/>
              </a:ext>
            </a:extLst>
          </p:cNvPr>
          <p:cNvSpPr txBox="1"/>
          <p:nvPr/>
        </p:nvSpPr>
        <p:spPr>
          <a:xfrm>
            <a:off x="-1391666" y="2020114"/>
            <a:ext cx="1025906" cy="236474"/>
          </a:xfrm>
          <a:prstGeom prst="rect">
            <a:avLst/>
          </a:prstGeom>
          <a:noFill/>
          <a:ln/>
        </p:spPr>
        <p:txBody>
          <a:bodyPr wrap="none" lIns="0" tIns="0" rIns="0" bIns="0" rtlCol="0" anchor="ctr"/>
          <a:lstStyle/>
          <a:p>
            <a:pPr indent="0" marL="0">
              <a:buNone/>
            </a:pPr>
            <a:r>
              <a:rPr lang="en-US" sz="1100" dirty="0">
                <a:solidFill>
                  <a:srgbClr val="34433B"/>
                </a:solidFill>
                <a:latin typeface="Consolas" pitchFamily="34" charset="0"/>
                <a:ea typeface="Consolas" pitchFamily="34" charset="-122"/>
                <a:cs typeface="Consolas" pitchFamily="34" charset="-120"/>
              </a:rPr>
              <a:t>input(int8)</a:t>
            </a:r>
            <a:endParaRPr lang="en-US" sz="1100" dirty="0"/>
          </a:p>
        </p:txBody>
      </p:sp>
      <p:sp>
        <p:nvSpPr>
          <p:cNvPr id="50" name="!!p10">
            <a:extLst>
              <a:ext uri="{C183D7F6-B498-43B3-948B-1728B52AA6E4}">
                <adec:decorative xmlns:adec="http://schemas.microsoft.com/office/drawing/2017/decorative" val="1"/>
              </a:ext>
            </a:extLst>
          </p:cNvPr>
          <p:cNvSpPr txBox="1"/>
          <p:nvPr/>
        </p:nvSpPr>
        <p:spPr>
          <a:xfrm>
            <a:off x="-1045210" y="5728327"/>
            <a:ext cx="679450" cy="236474"/>
          </a:xfrm>
          <a:prstGeom prst="rect">
            <a:avLst/>
          </a:prstGeom>
          <a:noFill/>
          <a:ln/>
        </p:spPr>
        <p:txBody>
          <a:bodyPr wrap="none" lIns="0" tIns="0" rIns="0" bIns="0" rtlCol="0" anchor="ctr"/>
          <a:lstStyle/>
          <a:p>
            <a:pPr indent="0" marL="0">
              <a:buNone/>
            </a:pPr>
            <a:r>
              <a:rPr lang="en-US" sz="1100" dirty="0">
                <a:solidFill>
                  <a:srgbClr val="3A4A42"/>
                </a:solidFill>
                <a:latin typeface="Consolas" pitchFamily="34" charset="0"/>
                <a:ea typeface="Consolas" pitchFamily="34" charset="-122"/>
                <a:cs typeface="Consolas" pitchFamily="34" charset="-120"/>
              </a:rPr>
              <a:t>(a+b)+c</a:t>
            </a:r>
            <a:endParaRPr lang="en-US" sz="1100" dirty="0"/>
          </a:p>
        </p:txBody>
      </p:sp>
      <p:sp>
        <p:nvSpPr>
          <p:cNvPr id="51" name="!!p11">
            <a:extLst>
              <a:ext uri="{C183D7F6-B498-43B3-948B-1728B52AA6E4}">
                <adec:decorative xmlns:adec="http://schemas.microsoft.com/office/drawing/2017/decorative" val="1"/>
              </a:ext>
            </a:extLst>
          </p:cNvPr>
          <p:cNvSpPr txBox="1"/>
          <p:nvPr/>
        </p:nvSpPr>
        <p:spPr>
          <a:xfrm>
            <a:off x="12557455" y="5398412"/>
            <a:ext cx="1112520" cy="236474"/>
          </a:xfrm>
          <a:prstGeom prst="rect">
            <a:avLst/>
          </a:prstGeom>
          <a:noFill/>
          <a:ln/>
        </p:spPr>
        <p:txBody>
          <a:bodyPr wrap="none" lIns="0" tIns="0" rIns="0" bIns="0" rtlCol="0" anchor="ctr"/>
          <a:lstStyle/>
          <a:p>
            <a:pPr indent="0" marL="0">
              <a:buNone/>
            </a:pPr>
            <a:r>
              <a:rPr lang="en-US" sz="1100" dirty="0">
                <a:solidFill>
                  <a:srgbClr val="3A403D"/>
                </a:solidFill>
                <a:latin typeface="Consolas" pitchFamily="34" charset="0"/>
                <a:ea typeface="Consolas" pitchFamily="34" charset="-122"/>
                <a:cs typeface="Consolas" pitchFamily="34" charset="-120"/>
              </a:rPr>
              <a:t>transpose(A)</a:t>
            </a:r>
            <a:endParaRPr lang="en-US" sz="1100" dirty="0"/>
          </a:p>
        </p:txBody>
      </p:sp>
      <p:sp>
        <p:nvSpPr>
          <p:cNvPr id="52" name="!!p12">
            <a:extLst>
              <a:ext uri="{C183D7F6-B498-43B3-948B-1728B52AA6E4}">
                <adec:decorative xmlns:adec="http://schemas.microsoft.com/office/drawing/2017/decorative" val="1"/>
              </a:ext>
            </a:extLst>
          </p:cNvPr>
          <p:cNvSpPr txBox="1"/>
          <p:nvPr/>
        </p:nvSpPr>
        <p:spPr>
          <a:xfrm>
            <a:off x="-1218438" y="3790997"/>
            <a:ext cx="852678" cy="236474"/>
          </a:xfrm>
          <a:prstGeom prst="rect">
            <a:avLst/>
          </a:prstGeom>
          <a:noFill/>
          <a:ln/>
        </p:spPr>
        <p:txBody>
          <a:bodyPr wrap="none" lIns="0" tIns="0" rIns="0" bIns="0" rtlCol="0" anchor="ctr"/>
          <a:lstStyle/>
          <a:p>
            <a:pPr indent="0" marL="0">
              <a:buNone/>
            </a:pPr>
            <a:r>
              <a:rPr lang="en-US" sz="1100" dirty="0">
                <a:solidFill>
                  <a:srgbClr val="34433B"/>
                </a:solidFill>
                <a:latin typeface="Consolas" pitchFamily="34" charset="0"/>
                <a:ea typeface="Consolas" pitchFamily="34" charset="-122"/>
                <a:cs typeface="Consolas" pitchFamily="34" charset="-120"/>
              </a:rPr>
              <a:t>print(R);</a:t>
            </a:r>
            <a:endParaRPr lang="en-US" sz="1100" dirty="0"/>
          </a:p>
        </p:txBody>
      </p:sp>
      <p:sp>
        <p:nvSpPr>
          <p:cNvPr id="53" name="!!p01">
            <a:extLst>
              <a:ext uri="{C183D7F6-B498-43B3-948B-1728B52AA6E4}">
                <adec:decorative xmlns:adec="http://schemas.microsoft.com/office/drawing/2017/decorative" val="1"/>
              </a:ext>
            </a:extLst>
          </p:cNvPr>
          <p:cNvSpPr txBox="1"/>
          <p:nvPr/>
        </p:nvSpPr>
        <p:spPr>
          <a:xfrm>
            <a:off x="12557455" y="4352544"/>
            <a:ext cx="1112520" cy="236474"/>
          </a:xfrm>
          <a:prstGeom prst="rect">
            <a:avLst/>
          </a:prstGeom>
          <a:noFill/>
          <a:ln/>
        </p:spPr>
        <p:txBody>
          <a:bodyPr wrap="none" lIns="0" tIns="0" rIns="0" bIns="0" rtlCol="0" anchor="ctr"/>
          <a:lstStyle/>
          <a:p>
            <a:pPr indent="0" marL="0">
              <a:buNone/>
            </a:pPr>
            <a:r>
              <a:rPr lang="en-US" sz="1100" dirty="0">
                <a:solidFill>
                  <a:srgbClr val="3A4A42"/>
                </a:solidFill>
                <a:latin typeface="Consolas" pitchFamily="34" charset="0"/>
                <a:ea typeface="Consolas" pitchFamily="34" charset="-122"/>
                <a:cs typeface="Consolas" pitchFamily="34" charset="-120"/>
              </a:rPr>
              <a:t>Matrix&lt;40x2&gt;</a:t>
            </a:r>
            <a:endParaRPr lang="en-US" sz="1100" dirty="0"/>
          </a:p>
        </p:txBody>
      </p:sp>
      <p:sp>
        <p:nvSpPr>
          <p:cNvPr id="54" name="!!p02">
            <a:extLst>
              <a:ext uri="{C183D7F6-B498-43B3-948B-1728B52AA6E4}">
                <adec:decorative xmlns:adec="http://schemas.microsoft.com/office/drawing/2017/decorative" val="1"/>
              </a:ext>
            </a:extLst>
          </p:cNvPr>
          <p:cNvSpPr txBox="1"/>
          <p:nvPr/>
        </p:nvSpPr>
        <p:spPr>
          <a:xfrm>
            <a:off x="-1391666" y="841248"/>
            <a:ext cx="1025906" cy="236474"/>
          </a:xfrm>
          <a:prstGeom prst="rect">
            <a:avLst/>
          </a:prstGeom>
          <a:noFill/>
          <a:ln/>
        </p:spPr>
        <p:txBody>
          <a:bodyPr wrap="none" lIns="0" tIns="0" rIns="0" bIns="0" rtlCol="0" anchor="ctr"/>
          <a:lstStyle/>
          <a:p>
            <a:pPr indent="0" marL="0">
              <a:buNone/>
            </a:pPr>
            <a:r>
              <a:rPr lang="en-US" sz="1100" dirty="0">
                <a:solidFill>
                  <a:srgbClr val="34433B"/>
                </a:solidFill>
                <a:latin typeface="Consolas" pitchFamily="34" charset="0"/>
                <a:ea typeface="Consolas" pitchFamily="34" charset="-122"/>
                <a:cs typeface="Consolas" pitchFamily="34" charset="-120"/>
              </a:rPr>
              <a:t>A * (B * C)</a:t>
            </a:r>
            <a:endParaRPr lang="en-US" sz="1100" dirty="0"/>
          </a:p>
        </p:txBody>
      </p:sp>
      <p:sp>
        <p:nvSpPr>
          <p:cNvPr id="55" name="!!p03">
            <a:extLst>
              <a:ext uri="{C183D7F6-B498-43B3-948B-1728B52AA6E4}">
                <adec:decorative xmlns:adec="http://schemas.microsoft.com/office/drawing/2017/decorative" val="1"/>
              </a:ext>
            </a:extLst>
          </p:cNvPr>
          <p:cNvSpPr txBox="1"/>
          <p:nvPr/>
        </p:nvSpPr>
        <p:spPr>
          <a:xfrm>
            <a:off x="-816864" y="841248"/>
            <a:ext cx="451104" cy="252984"/>
          </a:xfrm>
          <a:prstGeom prst="rect">
            <a:avLst/>
          </a:prstGeom>
          <a:noFill/>
          <a:ln/>
        </p:spPr>
        <p:txBody>
          <a:bodyPr wrap="none" lIns="0" tIns="0" rIns="0" bIns="0" rtlCol="0" anchor="ctr"/>
          <a:lstStyle/>
          <a:p>
            <a:pPr indent="0" marL="0">
              <a:buNone/>
            </a:pPr>
            <a:r>
              <a:rPr lang="en-US" sz="1200" dirty="0">
                <a:solidFill>
                  <a:srgbClr val="3A4A42"/>
                </a:solidFill>
                <a:latin typeface="Consolas" pitchFamily="34" charset="0"/>
                <a:ea typeface="Consolas" pitchFamily="34" charset="-122"/>
                <a:cs typeface="Consolas" pitchFamily="34" charset="-120"/>
              </a:rPr>
              <a:t>2^53</a:t>
            </a:r>
            <a:endParaRPr lang="en-US" sz="1200" dirty="0"/>
          </a:p>
        </p:txBody>
      </p:sp>
      <p:sp>
        <p:nvSpPr>
          <p:cNvPr id="56" name="!!p04">
            <a:extLst>
              <a:ext uri="{C183D7F6-B498-43B3-948B-1728B52AA6E4}">
                <adec:decorative xmlns:adec="http://schemas.microsoft.com/office/drawing/2017/decorative" val="1"/>
              </a:ext>
            </a:extLst>
          </p:cNvPr>
          <p:cNvSpPr txBox="1"/>
          <p:nvPr/>
        </p:nvSpPr>
        <p:spPr>
          <a:xfrm>
            <a:off x="-871982" y="4352544"/>
            <a:ext cx="506222" cy="236474"/>
          </a:xfrm>
          <a:prstGeom prst="rect">
            <a:avLst/>
          </a:prstGeom>
          <a:noFill/>
          <a:ln/>
        </p:spPr>
        <p:txBody>
          <a:bodyPr wrap="none" lIns="0" tIns="0" rIns="0" bIns="0" rtlCol="0" anchor="ctr"/>
          <a:lstStyle/>
          <a:p>
            <a:pPr indent="0" marL="0">
              <a:buNone/>
            </a:pPr>
            <a:r>
              <a:rPr lang="en-US" sz="1100" dirty="0">
                <a:solidFill>
                  <a:srgbClr val="34433B"/>
                </a:solidFill>
                <a:latin typeface="Consolas" pitchFamily="34" charset="0"/>
                <a:ea typeface="Consolas" pitchFamily="34" charset="-122"/>
                <a:cs typeface="Consolas" pitchFamily="34" charset="-120"/>
              </a:rPr>
              <a:t>fl(x)</a:t>
            </a:r>
            <a:endParaRPr lang="en-US" sz="1100" dirty="0"/>
          </a:p>
        </p:txBody>
      </p:sp>
      <p:sp>
        <p:nvSpPr>
          <p:cNvPr id="57" name="!!p05">
            <a:extLst>
              <a:ext uri="{C183D7F6-B498-43B3-948B-1728B52AA6E4}">
                <adec:decorative xmlns:adec="http://schemas.microsoft.com/office/drawing/2017/decorative" val="1"/>
              </a:ext>
            </a:extLst>
          </p:cNvPr>
          <p:cNvSpPr txBox="1"/>
          <p:nvPr/>
        </p:nvSpPr>
        <p:spPr>
          <a:xfrm>
            <a:off x="-1131824" y="4060668"/>
            <a:ext cx="766064" cy="236474"/>
          </a:xfrm>
          <a:prstGeom prst="rect">
            <a:avLst/>
          </a:prstGeom>
          <a:noFill/>
          <a:ln/>
        </p:spPr>
        <p:txBody>
          <a:bodyPr wrap="none" lIns="0" tIns="0" rIns="0" bIns="0" rtlCol="0" anchor="ctr"/>
          <a:lstStyle/>
          <a:p>
            <a:pPr indent="0" marL="0">
              <a:buNone/>
            </a:pPr>
            <a:r>
              <a:rPr lang="en-US" sz="1100" dirty="0">
                <a:solidFill>
                  <a:srgbClr val="3A403D"/>
                </a:solidFill>
                <a:latin typeface="Consolas" pitchFamily="34" charset="0"/>
                <a:ea typeface="Consolas" pitchFamily="34" charset="-122"/>
                <a:cs typeface="Consolas" pitchFamily="34" charset="-120"/>
              </a:rPr>
              <a:t>-0 != +0</a:t>
            </a:r>
            <a:endParaRPr lang="en-US" sz="11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6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685800" y="347472"/>
            <a:ext cx="87782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Consolas" pitchFamily="34" charset="0"/>
                <a:ea typeface="Consolas" pitchFamily="34" charset="-122"/>
                <a:cs typeface="Consolas" pitchFamily="34" charset="-120"/>
              </a:rPr>
              <a:t>02 // THE IDEA</a:t>
            </a:r>
            <a:endParaRPr lang="en-US" sz="1200" dirty="0"/>
          </a:p>
        </p:txBody>
      </p:sp>
      <p:sp>
        <p:nvSpPr>
          <p:cNvPr id="3" name="Text 0"/>
          <p:cNvSpPr/>
          <p:nvPr>
            <p:ph idx="100" type="title" hasCustomPrompt="1"/>
          </p:nvPr>
        </p:nvSpPr>
        <p:spPr>
          <a:xfrm>
            <a:off x="685800" y="676656"/>
            <a:ext cx="9326880" cy="658368"/>
          </a:xfrm>
          <a:prstGeom prst="rect">
            <a:avLst/>
          </a:prstGeom>
          <a:noFill/>
          <a:ln/>
        </p:spPr>
        <p:txBody>
          <a:bodyPr wrap="square" lIns="0" tIns="0" rIns="0" bIns="0" rtlCol="0" anchor="t"/>
          <a:lstStyle/>
          <a:p>
            <a:pPr algn="l" indent="0" marL="0">
              <a:buNone/>
            </a:pPr>
            <a:r>
              <a:rPr lang="en-US" sz="3000" dirty="0">
                <a:solidFill>
                  <a:schemeClr val="bg1"/>
                </a:solidFill>
                <a:latin typeface="Segoe UI Semibold" pitchFamily="34" charset="0"/>
                <a:ea typeface="Segoe UI Semibold" pitchFamily="34" charset="-122"/>
                <a:cs typeface="Segoe UI Semibold" pitchFamily="34" charset="-120"/>
              </a:rPr>
              <a:t>One fast-math switch hides three guarantees</a:t>
            </a:r>
            <a:endParaRPr lang="en-US" sz="3000" dirty="0"/>
          </a:p>
        </p:txBody>
      </p:sp>
      <p:sp>
        <p:nvSpPr>
          <p:cNvPr id="4" name="!!vL"/>
          <p:cNvSpPr/>
          <p:nvPr/>
        </p:nvSpPr>
        <p:spPr>
          <a:xfrm>
            <a:off x="10241280" y="356616"/>
            <a:ext cx="54864" cy="256032"/>
          </a:xfrm>
          <a:custGeom>
            <a:avLst/>
            <a:gdLst/>
            <a:ahLst/>
            <a:cxnLst/>
            <a:rect l="l" t="t" r="r" b="b"/>
            <a:pathLst>
              <a:path w="54864" h="256032">
                <a:moveTo>
                  <a:pt x="54864" y="0"/>
                </a:moveTo>
                <a:lnTo>
                  <a:pt x="0" y="0"/>
                </a:lnTo>
                <a:lnTo>
                  <a:pt x="0" y="256032"/>
                </a:lnTo>
                <a:lnTo>
                  <a:pt x="54864" y="256032"/>
                </a:lnTo>
              </a:path>
            </a:pathLst>
          </a:custGeom>
          <a:noFill/>
          <a:ln w="12700">
            <a:solidFill>
              <a:srgbClr val="4A514D"/>
            </a:solidFill>
            <a:prstDash val="solid"/>
          </a:ln>
        </p:spPr>
      </p:sp>
      <p:sp>
        <p:nvSpPr>
          <p:cNvPr id="5" name="!!vR"/>
          <p:cNvSpPr/>
          <p:nvPr/>
        </p:nvSpPr>
        <p:spPr>
          <a:xfrm>
            <a:off x="11448288" y="356616"/>
            <a:ext cx="54864" cy="256032"/>
          </a:xfrm>
          <a:custGeom>
            <a:avLst/>
            <a:gdLst/>
            <a:ahLst/>
            <a:cxnLst/>
            <a:rect l="l" t="t" r="r" b="b"/>
            <a:pathLst>
              <a:path w="54864" h="256032">
                <a:moveTo>
                  <a:pt x="0" y="0"/>
                </a:moveTo>
                <a:lnTo>
                  <a:pt x="54864" y="0"/>
                </a:lnTo>
                <a:lnTo>
                  <a:pt x="54864" y="256032"/>
                </a:lnTo>
                <a:lnTo>
                  <a:pt x="0" y="256032"/>
                </a:lnTo>
              </a:path>
            </a:pathLst>
          </a:custGeom>
          <a:noFill/>
          <a:ln w="12700">
            <a:solidFill>
              <a:srgbClr val="4A514D"/>
            </a:solidFill>
            <a:prstDash val="solid"/>
          </a:ln>
        </p:spPr>
      </p:sp>
      <p:sp>
        <p:nvSpPr>
          <p:cNvPr id="6" name="!!e1"/>
          <p:cNvSpPr txBox="1"/>
          <p:nvPr/>
        </p:nvSpPr>
        <p:spPr>
          <a:xfrm>
            <a:off x="10341864" y="347472"/>
            <a:ext cx="146304" cy="274320"/>
          </a:xfrm>
          <a:prstGeom prst="rect">
            <a:avLst/>
          </a:prstGeom>
          <a:noFill/>
          <a:ln/>
        </p:spPr>
        <p:txBody>
          <a:bodyPr wrap="square" lIns="0" tIns="0" rIns="0" bIns="0" rtlCol="0" anchor="ctr"/>
          <a:lstStyle/>
          <a:p>
            <a:pPr algn="ctr" indent="0" marL="0">
              <a:buNone/>
            </a:pPr>
            <a:r>
              <a:rPr lang="en-US" sz="1200" dirty="0">
                <a:solidFill>
                  <a:srgbClr val="4A514D"/>
                </a:solidFill>
                <a:latin typeface="Consolas" pitchFamily="34" charset="0"/>
                <a:ea typeface="Consolas" pitchFamily="34" charset="-122"/>
                <a:cs typeface="Consolas" pitchFamily="34" charset="-120"/>
              </a:rPr>
              <a:t>0</a:t>
            </a:r>
            <a:endParaRPr lang="en-US" sz="1200" dirty="0"/>
          </a:p>
        </p:txBody>
      </p:sp>
      <p:sp>
        <p:nvSpPr>
          <p:cNvPr id="7" name="!!e2"/>
          <p:cNvSpPr txBox="1"/>
          <p:nvPr/>
        </p:nvSpPr>
        <p:spPr>
          <a:xfrm>
            <a:off x="10492740" y="347472"/>
            <a:ext cx="146304" cy="274320"/>
          </a:xfrm>
          <a:prstGeom prst="rect">
            <a:avLst/>
          </a:prstGeom>
          <a:noFill/>
          <a:ln/>
        </p:spPr>
        <p:txBody>
          <a:bodyPr wrap="square" lIns="0" tIns="0" rIns="0" bIns="0" rtlCol="0" anchor="ctr"/>
          <a:lstStyle/>
          <a:p>
            <a:pPr algn="ctr" indent="0" marL="0">
              <a:buNone/>
            </a:pPr>
            <a:r>
              <a:rPr lang="en-US" sz="1200" dirty="0">
                <a:solidFill>
                  <a:srgbClr val="4A514D"/>
                </a:solidFill>
                <a:latin typeface="Consolas" pitchFamily="34" charset="0"/>
                <a:ea typeface="Consolas" pitchFamily="34" charset="-122"/>
                <a:cs typeface="Consolas" pitchFamily="34" charset="-120"/>
              </a:rPr>
              <a:t>0</a:t>
            </a:r>
            <a:endParaRPr lang="en-US" sz="1200" dirty="0"/>
          </a:p>
        </p:txBody>
      </p:sp>
      <p:sp>
        <p:nvSpPr>
          <p:cNvPr id="8" name="!!e3"/>
          <p:cNvSpPr txBox="1"/>
          <p:nvPr/>
        </p:nvSpPr>
        <p:spPr>
          <a:xfrm>
            <a:off x="10643616" y="347472"/>
            <a:ext cx="146304" cy="274320"/>
          </a:xfrm>
          <a:prstGeom prst="rect">
            <a:avLst/>
          </a:prstGeom>
          <a:noFill/>
          <a:ln/>
        </p:spPr>
        <p:txBody>
          <a:bodyPr wrap="square" lIns="0" tIns="0" rIns="0" bIns="0" rtlCol="0" anchor="ctr"/>
          <a:lstStyle/>
          <a:p>
            <a:pPr algn="ctr" indent="0" marL="0">
              <a:buNone/>
            </a:pPr>
            <a:r>
              <a:rPr lang="en-US" sz="1200" b="1" dirty="0">
                <a:solidFill>
                  <a:schemeClr val="accent1"/>
                </a:solidFill>
                <a:latin typeface="Consolas" pitchFamily="34" charset="0"/>
                <a:ea typeface="Consolas" pitchFamily="34" charset="-122"/>
                <a:cs typeface="Consolas" pitchFamily="34" charset="-120"/>
              </a:rPr>
              <a:t>1</a:t>
            </a:r>
            <a:endParaRPr lang="en-US" sz="1200" dirty="0"/>
          </a:p>
        </p:txBody>
      </p:sp>
      <p:sp>
        <p:nvSpPr>
          <p:cNvPr id="9" name="!!e4"/>
          <p:cNvSpPr txBox="1"/>
          <p:nvPr/>
        </p:nvSpPr>
        <p:spPr>
          <a:xfrm>
            <a:off x="10794492" y="347472"/>
            <a:ext cx="146304" cy="274320"/>
          </a:xfrm>
          <a:prstGeom prst="rect">
            <a:avLst/>
          </a:prstGeom>
          <a:noFill/>
          <a:ln/>
        </p:spPr>
        <p:txBody>
          <a:bodyPr wrap="square" lIns="0" tIns="0" rIns="0" bIns="0" rtlCol="0" anchor="ctr"/>
          <a:lstStyle/>
          <a:p>
            <a:pPr algn="ctr" indent="0" marL="0">
              <a:buNone/>
            </a:pPr>
            <a:r>
              <a:rPr lang="en-US" sz="1200" dirty="0">
                <a:solidFill>
                  <a:srgbClr val="4A514D"/>
                </a:solidFill>
                <a:latin typeface="Consolas" pitchFamily="34" charset="0"/>
                <a:ea typeface="Consolas" pitchFamily="34" charset="-122"/>
                <a:cs typeface="Consolas" pitchFamily="34" charset="-120"/>
              </a:rPr>
              <a:t>0</a:t>
            </a:r>
            <a:endParaRPr lang="en-US" sz="1200" dirty="0"/>
          </a:p>
        </p:txBody>
      </p:sp>
      <p:sp>
        <p:nvSpPr>
          <p:cNvPr id="10" name="!!e5"/>
          <p:cNvSpPr txBox="1"/>
          <p:nvPr/>
        </p:nvSpPr>
        <p:spPr>
          <a:xfrm>
            <a:off x="10945368" y="347472"/>
            <a:ext cx="146304" cy="274320"/>
          </a:xfrm>
          <a:prstGeom prst="rect">
            <a:avLst/>
          </a:prstGeom>
          <a:noFill/>
          <a:ln/>
        </p:spPr>
        <p:txBody>
          <a:bodyPr wrap="square" lIns="0" tIns="0" rIns="0" bIns="0" rtlCol="0" anchor="ctr"/>
          <a:lstStyle/>
          <a:p>
            <a:pPr algn="ctr" indent="0" marL="0">
              <a:buNone/>
            </a:pPr>
            <a:r>
              <a:rPr lang="en-US" sz="1200" dirty="0">
                <a:solidFill>
                  <a:srgbClr val="4A514D"/>
                </a:solidFill>
                <a:latin typeface="Consolas" pitchFamily="34" charset="0"/>
                <a:ea typeface="Consolas" pitchFamily="34" charset="-122"/>
                <a:cs typeface="Consolas" pitchFamily="34" charset="-120"/>
              </a:rPr>
              <a:t>0</a:t>
            </a:r>
            <a:endParaRPr lang="en-US" sz="1200" dirty="0"/>
          </a:p>
        </p:txBody>
      </p:sp>
      <p:sp>
        <p:nvSpPr>
          <p:cNvPr id="11" name="!!e6"/>
          <p:cNvSpPr txBox="1"/>
          <p:nvPr/>
        </p:nvSpPr>
        <p:spPr>
          <a:xfrm>
            <a:off x="11096244" y="347472"/>
            <a:ext cx="146304" cy="274320"/>
          </a:xfrm>
          <a:prstGeom prst="rect">
            <a:avLst/>
          </a:prstGeom>
          <a:noFill/>
          <a:ln/>
        </p:spPr>
        <p:txBody>
          <a:bodyPr wrap="square" lIns="0" tIns="0" rIns="0" bIns="0" rtlCol="0" anchor="ctr"/>
          <a:lstStyle/>
          <a:p>
            <a:pPr algn="ctr" indent="0" marL="0">
              <a:buNone/>
            </a:pPr>
            <a:r>
              <a:rPr lang="en-US" sz="1200" dirty="0">
                <a:solidFill>
                  <a:srgbClr val="4A514D"/>
                </a:solidFill>
                <a:latin typeface="Consolas" pitchFamily="34" charset="0"/>
                <a:ea typeface="Consolas" pitchFamily="34" charset="-122"/>
                <a:cs typeface="Consolas" pitchFamily="34" charset="-120"/>
              </a:rPr>
              <a:t>0</a:t>
            </a:r>
            <a:endParaRPr lang="en-US" sz="1200" dirty="0"/>
          </a:p>
        </p:txBody>
      </p:sp>
      <p:sp>
        <p:nvSpPr>
          <p:cNvPr id="12" name="!!e7"/>
          <p:cNvSpPr txBox="1"/>
          <p:nvPr/>
        </p:nvSpPr>
        <p:spPr>
          <a:xfrm>
            <a:off x="11247120" y="347472"/>
            <a:ext cx="146304" cy="274320"/>
          </a:xfrm>
          <a:prstGeom prst="rect">
            <a:avLst/>
          </a:prstGeom>
          <a:noFill/>
          <a:ln/>
        </p:spPr>
        <p:txBody>
          <a:bodyPr wrap="square" lIns="0" tIns="0" rIns="0" bIns="0" rtlCol="0" anchor="ctr"/>
          <a:lstStyle/>
          <a:p>
            <a:pPr algn="ctr" indent="0" marL="0">
              <a:buNone/>
            </a:pPr>
            <a:r>
              <a:rPr lang="en-US" sz="1200" dirty="0">
                <a:solidFill>
                  <a:srgbClr val="4A514D"/>
                </a:solidFill>
                <a:latin typeface="Consolas" pitchFamily="34" charset="0"/>
                <a:ea typeface="Consolas" pitchFamily="34" charset="-122"/>
                <a:cs typeface="Consolas" pitchFamily="34" charset="-120"/>
              </a:rPr>
              <a:t>0</a:t>
            </a:r>
            <a:endParaRPr lang="en-US" sz="1200" dirty="0"/>
          </a:p>
        </p:txBody>
      </p:sp>
      <p:sp>
        <p:nvSpPr>
          <p:cNvPr id="13" name="!!logo"/>
          <p:cNvSpPr txBox="1"/>
          <p:nvPr/>
        </p:nvSpPr>
        <p:spPr>
          <a:xfrm>
            <a:off x="685800" y="6382512"/>
            <a:ext cx="2011680" cy="274320"/>
          </a:xfrm>
          <a:prstGeom prst="rect">
            <a:avLst/>
          </a:prstGeom>
          <a:noFill/>
          <a:ln/>
        </p:spPr>
        <p:txBody>
          <a:bodyPr wrap="square" lIns="0" tIns="0" rIns="0" bIns="0" rtlCol="0" anchor="ctr"/>
          <a:lstStyle/>
          <a:p>
            <a:pPr indent="0" marL="0">
              <a:buNone/>
            </a:pPr>
            <a:r>
              <a:rPr lang="en-US" sz="1300" dirty="0">
                <a:solidFill>
                  <a:schemeClr val="bg1"/>
                </a:solidFill>
                <a:latin typeface="Segoe UI Black" pitchFamily="34" charset="0"/>
                <a:ea typeface="Segoe UI Black" pitchFamily="34" charset="-122"/>
                <a:cs typeface="Segoe UI Black" pitchFamily="34" charset="-120"/>
              </a:rPr>
              <a:t>Matrix</a:t>
            </a:r>
            <a:pPr indent="0" marL="0">
              <a:buNone/>
            </a:pPr>
            <a:r>
              <a:rPr lang="en-US" sz="1300" dirty="0">
                <a:solidFill>
                  <a:schemeClr val="accent1"/>
                </a:solidFill>
                <a:latin typeface="Segoe UI Black" pitchFamily="34" charset="0"/>
                <a:ea typeface="Segoe UI Black" pitchFamily="34" charset="-122"/>
                <a:cs typeface="Segoe UI Black" pitchFamily="34" charset="-120"/>
              </a:rPr>
              <a:t>Lang</a:t>
            </a:r>
            <a:endParaRPr lang="en-US" sz="1300" dirty="0"/>
          </a:p>
        </p:txBody>
      </p:sp>
      <p:sp>
        <p:nvSpPr>
          <p:cNvPr id="14" name="!!repo"/>
          <p:cNvSpPr txBox="1"/>
          <p:nvPr/>
        </p:nvSpPr>
        <p:spPr>
          <a:xfrm>
            <a:off x="7662672" y="6382512"/>
            <a:ext cx="3840480" cy="274320"/>
          </a:xfrm>
          <a:prstGeom prst="rect">
            <a:avLst/>
          </a:prstGeom>
          <a:noFill/>
          <a:ln/>
        </p:spPr>
        <p:txBody>
          <a:bodyPr wrap="square" lIns="0" tIns="0" rIns="0" bIns="0" rtlCol="0" anchor="ctr"/>
          <a:lstStyle/>
          <a:p>
            <a:pPr algn="r" indent="0" marL="0">
              <a:buNone/>
            </a:pPr>
            <a:r>
              <a:rPr lang="en-US" sz="1100" u="sng" dirty="0">
                <a:solidFill>
                  <a:schemeClr val="accent1"/>
                </a:solidFill>
                <a:latin typeface="Consolas" pitchFamily="34" charset="0"/>
                <a:ea typeface="Consolas" pitchFamily="34" charset="-122"/>
                <a:cs typeface="Consolas" pitchFamily="34" charset="-120"/>
                <a:hlinkClick r:id="rId1" invalidUrl="" action="" tgtFrame="" tooltip="Open the MatrixLang repository" history="1" highlightClick="0" endSnd="0">
                  <a:extLst>
                    <a:ext uri="{A12FA001-AC4F-418D-AE19-62706E023703}">
                      <ahyp:hlinkClr xmlns:ahyp="http://schemas.microsoft.com/office/drawing/2018/hyperlinkcolor" val="tx"/>
                    </a:ext>
                  </a:extLst>
                </a:hlinkClick>
              </a:rPr>
              <a:t>github.com/aswanth-07/matrixlang</a:t>
            </a:r>
            <a:endParaRPr lang="en-US" sz="1100" dirty="0"/>
          </a:p>
        </p:txBody>
      </p:sp>
      <p:sp>
        <p:nvSpPr>
          <p:cNvPr id="15" name="Text 13"/>
          <p:cNvSpPr txBox="1"/>
          <p:nvPr/>
        </p:nvSpPr>
        <p:spPr>
          <a:xfrm>
            <a:off x="685800" y="1572768"/>
            <a:ext cx="4069080" cy="1417320"/>
          </a:xfrm>
          <a:prstGeom prst="rect">
            <a:avLst/>
          </a:prstGeom>
          <a:noFill/>
          <a:ln/>
        </p:spPr>
        <p:txBody>
          <a:bodyPr wrap="square" lIns="0" tIns="0" rIns="0" bIns="0" rtlCol="0" anchor="t"/>
          <a:lstStyle/>
          <a:p>
            <a:pPr indent="0" marL="0">
              <a:buNone/>
            </a:pPr>
            <a:r>
              <a:rPr lang="en-US" sz="1500" dirty="0">
                <a:solidFill>
                  <a:schemeClr val="bg2"/>
                </a:solidFill>
                <a:latin typeface="Segoe UI" pitchFamily="34" charset="0"/>
                <a:ea typeface="Segoe UI" pitchFamily="34" charset="-122"/>
                <a:cs typeface="Segoe UI" pitchFamily="34" charset="-120"/>
              </a:rPr>
              <a:t>Floating-point addition is not associative, so reordering A·B·C can change its bits. Compilers offer one switch, strict IEEE or </a:t>
            </a:r>
            <a:pPr indent="0" marL="0">
              <a:buNone/>
            </a:pPr>
            <a:r>
              <a:rPr lang="en-US" sz="1500" dirty="0">
                <a:solidFill>
                  <a:schemeClr val="bg1"/>
                </a:solidFill>
                <a:latin typeface="Consolas" pitchFamily="34" charset="0"/>
                <a:ea typeface="Consolas" pitchFamily="34" charset="-122"/>
                <a:cs typeface="Consolas" pitchFamily="34" charset="-120"/>
              </a:rPr>
              <a:t>‑ffast‑math</a:t>
            </a:r>
            <a:pPr indent="0" marL="0">
              <a:buNone/>
            </a:pPr>
            <a:r>
              <a:rPr lang="en-US" sz="1500" dirty="0">
                <a:solidFill>
                  <a:schemeClr val="bg2"/>
                </a:solidFill>
                <a:latin typeface="Segoe UI" pitchFamily="34" charset="0"/>
                <a:ea typeface="Segoe UI" pitchFamily="34" charset="-122"/>
                <a:cs typeface="Segoe UI" pitchFamily="34" charset="-120"/>
              </a:rPr>
              <a:t>. </a:t>
            </a:r>
            <a:pPr indent="0" marL="0">
              <a:buNone/>
            </a:pPr>
            <a:r>
              <a:rPr lang="en-US" sz="1500" b="1" dirty="0">
                <a:solidFill>
                  <a:schemeClr val="bg1"/>
                </a:solidFill>
                <a:latin typeface="Segoe UI" pitchFamily="34" charset="0"/>
                <a:ea typeface="Segoe UI" pitchFamily="34" charset="-122"/>
                <a:cs typeface="Segoe UI" pitchFamily="34" charset="-120"/>
              </a:rPr>
              <a:t>A switch says what the compiler may do, never what the result is.</a:t>
            </a:r>
            <a:endParaRPr lang="en-US" sz="1500" dirty="0"/>
          </a:p>
        </p:txBody>
      </p:sp>
      <p:sp>
        <p:nvSpPr>
          <p:cNvPr id="16" name="Text 14"/>
          <p:cNvSpPr txBox="1"/>
          <p:nvPr/>
        </p:nvSpPr>
        <p:spPr>
          <a:xfrm>
            <a:off x="685800" y="3154680"/>
            <a:ext cx="4023360" cy="256032"/>
          </a:xfrm>
          <a:prstGeom prst="rect">
            <a:avLst/>
          </a:prstGeom>
          <a:noFill/>
          <a:ln/>
        </p:spPr>
        <p:txBody>
          <a:bodyPr wrap="square" lIns="0" tIns="0" rIns="0" bIns="0" rtlCol="0" anchor="t"/>
          <a:lstStyle/>
          <a:p>
            <a:pPr indent="0" marL="0">
              <a:buNone/>
            </a:pPr>
            <a:r>
              <a:rPr lang="en-US" sz="1100" spc="150" kern="0" dirty="0">
                <a:solidFill>
                  <a:schemeClr val="accent1"/>
                </a:solidFill>
                <a:latin typeface="Consolas" pitchFamily="34" charset="0"/>
                <a:ea typeface="Consolas" pitchFamily="34" charset="-122"/>
                <a:cs typeface="Consolas" pitchFamily="34" charset="-120"/>
              </a:rPr>
              <a:t>THREE GUARANTEES, WEAKEST LAST</a:t>
            </a:r>
            <a:endParaRPr lang="en-US" sz="1100" dirty="0"/>
          </a:p>
        </p:txBody>
      </p:sp>
      <p:sp>
        <p:nvSpPr>
          <p:cNvPr id="17" name="Shape 15"/>
          <p:cNvSpPr/>
          <p:nvPr/>
        </p:nvSpPr>
        <p:spPr>
          <a:xfrm>
            <a:off x="713232" y="3593592"/>
            <a:ext cx="137160" cy="137160"/>
          </a:xfrm>
          <a:prstGeom prst="ellipse">
            <a:avLst/>
          </a:prstGeom>
          <a:solidFill>
            <a:schemeClr val="accent1"/>
          </a:solidFill>
          <a:ln/>
        </p:spPr>
      </p:sp>
      <p:sp>
        <p:nvSpPr>
          <p:cNvPr id="18" name="Text 16"/>
          <p:cNvSpPr txBox="1"/>
          <p:nvPr/>
        </p:nvSpPr>
        <p:spPr>
          <a:xfrm>
            <a:off x="969264" y="3511296"/>
            <a:ext cx="3749040" cy="292608"/>
          </a:xfrm>
          <a:prstGeom prst="rect">
            <a:avLst/>
          </a:prstGeom>
          <a:noFill/>
          <a:ln/>
        </p:spPr>
        <p:txBody>
          <a:bodyPr wrap="square" lIns="0" tIns="0" rIns="0" bIns="0" rtlCol="0" anchor="t"/>
          <a:lstStyle/>
          <a:p>
            <a:pPr indent="0" marL="0">
              <a:buNone/>
            </a:pPr>
            <a:r>
              <a:rPr lang="en-US" sz="1500" dirty="0">
                <a:solidFill>
                  <a:schemeClr val="accent1"/>
                </a:solidFill>
                <a:latin typeface="Segoe UI Semibold" pitchFamily="34" charset="0"/>
                <a:ea typeface="Segoe UI Semibold" pitchFamily="34" charset="-122"/>
                <a:cs typeface="Segoe UI Semibold" pitchFamily="34" charset="-120"/>
              </a:rPr>
              <a:t>bit-identical</a:t>
            </a:r>
            <a:endParaRPr lang="en-US" sz="1500" dirty="0"/>
          </a:p>
        </p:txBody>
      </p:sp>
      <p:sp>
        <p:nvSpPr>
          <p:cNvPr id="19" name="Text 17"/>
          <p:cNvSpPr txBox="1"/>
          <p:nvPr/>
        </p:nvSpPr>
        <p:spPr>
          <a:xfrm>
            <a:off x="969264" y="3803904"/>
            <a:ext cx="3749040" cy="475488"/>
          </a:xfrm>
          <a:prstGeom prst="rect">
            <a:avLst/>
          </a:prstGeom>
          <a:noFill/>
          <a:ln/>
        </p:spPr>
        <p:txBody>
          <a:bodyPr wrap="square" lIns="0" tIns="0" rIns="0" bIns="0" rtlCol="0" anchor="t"/>
          <a:lstStyle/>
          <a:p>
            <a:pPr indent="0" marL="0">
              <a:buNone/>
            </a:pPr>
            <a:r>
              <a:rPr lang="en-US" sz="1400" dirty="0">
                <a:solidFill>
                  <a:schemeClr val="bg2"/>
                </a:solidFill>
                <a:latin typeface="Segoe UI" pitchFamily="34" charset="0"/>
                <a:ea typeface="Segoe UI" pitchFamily="34" charset="-122"/>
                <a:cs typeface="Segoe UI" pitchFamily="34" charset="-120"/>
              </a:rPr>
              <a:t>Same bits as the unoptimized program, for every input in the declared domains.</a:t>
            </a:r>
            <a:endParaRPr lang="en-US" sz="1400" dirty="0"/>
          </a:p>
        </p:txBody>
      </p:sp>
      <p:sp>
        <p:nvSpPr>
          <p:cNvPr id="20" name="Shape 18"/>
          <p:cNvSpPr/>
          <p:nvPr/>
        </p:nvSpPr>
        <p:spPr>
          <a:xfrm>
            <a:off x="713232" y="4416552"/>
            <a:ext cx="137160" cy="137160"/>
          </a:xfrm>
          <a:prstGeom prst="ellipse">
            <a:avLst/>
          </a:prstGeom>
          <a:solidFill>
            <a:schemeClr val="accent2"/>
          </a:solidFill>
          <a:ln/>
        </p:spPr>
      </p:sp>
      <p:sp>
        <p:nvSpPr>
          <p:cNvPr id="21" name="Text 19"/>
          <p:cNvSpPr txBox="1"/>
          <p:nvPr/>
        </p:nvSpPr>
        <p:spPr>
          <a:xfrm>
            <a:off x="969264" y="4334256"/>
            <a:ext cx="3749040" cy="292608"/>
          </a:xfrm>
          <a:prstGeom prst="rect">
            <a:avLst/>
          </a:prstGeom>
          <a:noFill/>
          <a:ln/>
        </p:spPr>
        <p:txBody>
          <a:bodyPr wrap="square" lIns="0" tIns="0" rIns="0" bIns="0" rtlCol="0" anchor="t"/>
          <a:lstStyle/>
          <a:p>
            <a:pPr indent="0" marL="0">
              <a:buNone/>
            </a:pPr>
            <a:r>
              <a:rPr lang="en-US" sz="1500" dirty="0">
                <a:solidFill>
                  <a:schemeClr val="accent2"/>
                </a:solidFill>
                <a:latin typeface="Segoe UI Semibold" pitchFamily="34" charset="0"/>
                <a:ea typeface="Segoe UI Semibold" pitchFamily="34" charset="-122"/>
                <a:cs typeface="Segoe UI Semibold" pitchFamily="34" charset="-120"/>
              </a:rPr>
              <a:t>bound-preserving</a:t>
            </a:r>
            <a:endParaRPr lang="en-US" sz="1500" dirty="0"/>
          </a:p>
        </p:txBody>
      </p:sp>
      <p:sp>
        <p:nvSpPr>
          <p:cNvPr id="22" name="Text 20"/>
          <p:cNvSpPr txBox="1"/>
          <p:nvPr/>
        </p:nvSpPr>
        <p:spPr>
          <a:xfrm>
            <a:off x="969264" y="4626864"/>
            <a:ext cx="3749040" cy="475488"/>
          </a:xfrm>
          <a:prstGeom prst="rect">
            <a:avLst/>
          </a:prstGeom>
          <a:noFill/>
          <a:ln/>
        </p:spPr>
        <p:txBody>
          <a:bodyPr wrap="square" lIns="0" tIns="0" rIns="0" bIns="0" rtlCol="0" anchor="t"/>
          <a:lstStyle/>
          <a:p>
            <a:pPr indent="0" marL="0">
              <a:buNone/>
            </a:pPr>
            <a:r>
              <a:rPr lang="en-US" sz="1400" dirty="0">
                <a:solidFill>
                  <a:schemeClr val="bg2"/>
                </a:solidFill>
                <a:latin typeface="Segoe UI" pitchFamily="34" charset="0"/>
                <a:ea typeface="Segoe UI" pitchFamily="34" charset="-122"/>
                <a:cs typeface="Segoe UI" pitchFamily="34" charset="-120"/>
              </a:rPr>
              <a:t>Within the source order's worst-case error bound; NaN and Inf unchanged.</a:t>
            </a:r>
            <a:endParaRPr lang="en-US" sz="1400" dirty="0"/>
          </a:p>
        </p:txBody>
      </p:sp>
      <p:sp>
        <p:nvSpPr>
          <p:cNvPr id="23" name="Shape 21"/>
          <p:cNvSpPr/>
          <p:nvPr/>
        </p:nvSpPr>
        <p:spPr>
          <a:xfrm>
            <a:off x="713232" y="5239512"/>
            <a:ext cx="137160" cy="137160"/>
          </a:xfrm>
          <a:prstGeom prst="ellipse">
            <a:avLst/>
          </a:prstGeom>
          <a:solidFill>
            <a:schemeClr val="accent3"/>
          </a:solidFill>
          <a:ln/>
        </p:spPr>
      </p:sp>
      <p:sp>
        <p:nvSpPr>
          <p:cNvPr id="24" name="Text 22"/>
          <p:cNvSpPr txBox="1"/>
          <p:nvPr/>
        </p:nvSpPr>
        <p:spPr>
          <a:xfrm>
            <a:off x="969264" y="5157216"/>
            <a:ext cx="3749040" cy="292608"/>
          </a:xfrm>
          <a:prstGeom prst="rect">
            <a:avLst/>
          </a:prstGeom>
          <a:noFill/>
          <a:ln/>
        </p:spPr>
        <p:txBody>
          <a:bodyPr wrap="square" lIns="0" tIns="0" rIns="0" bIns="0" rtlCol="0" anchor="t"/>
          <a:lstStyle/>
          <a:p>
            <a:pPr indent="0" marL="0">
              <a:buNone/>
            </a:pPr>
            <a:r>
              <a:rPr lang="en-US" sz="1500" dirty="0">
                <a:solidFill>
                  <a:schemeClr val="accent3"/>
                </a:solidFill>
                <a:latin typeface="Segoe UI Semibold" pitchFamily="34" charset="0"/>
                <a:ea typeface="Segoe UI Semibold" pitchFamily="34" charset="-122"/>
                <a:cs typeface="Segoe UI Semibold" pitchFamily="34" charset="-120"/>
              </a:rPr>
              <a:t>relaxed</a:t>
            </a:r>
            <a:endParaRPr lang="en-US" sz="1500" dirty="0"/>
          </a:p>
        </p:txBody>
      </p:sp>
      <p:sp>
        <p:nvSpPr>
          <p:cNvPr id="25" name="Text 23"/>
          <p:cNvSpPr txBox="1"/>
          <p:nvPr/>
        </p:nvSpPr>
        <p:spPr>
          <a:xfrm>
            <a:off x="969264" y="5449824"/>
            <a:ext cx="3749040" cy="475488"/>
          </a:xfrm>
          <a:prstGeom prst="rect">
            <a:avLst/>
          </a:prstGeom>
          <a:noFill/>
          <a:ln/>
        </p:spPr>
        <p:txBody>
          <a:bodyPr wrap="square" lIns="0" tIns="0" rIns="0" bIns="0" rtlCol="0" anchor="t"/>
          <a:lstStyle/>
          <a:p>
            <a:pPr indent="0" marL="0">
              <a:buNone/>
            </a:pPr>
            <a:r>
              <a:rPr lang="en-US" sz="1400" dirty="0">
                <a:solidFill>
                  <a:schemeClr val="bg2"/>
                </a:solidFill>
                <a:latin typeface="Segoe UI" pitchFamily="34" charset="0"/>
                <a:ea typeface="Segoe UI" pitchFamily="34" charset="-122"/>
                <a:cs typeface="Segoe UI" pitchFamily="34" charset="-120"/>
              </a:rPr>
              <a:t>Equal only over the real numbers.</a:t>
            </a:r>
            <a:endParaRPr lang="en-US" sz="1400" dirty="0"/>
          </a:p>
        </p:txBody>
      </p:sp>
      <p:sp>
        <p:nvSpPr>
          <p:cNvPr id="26" name="!!k1"/>
          <p:cNvSpPr/>
          <p:nvPr/>
        </p:nvSpPr>
        <p:spPr>
          <a:xfrm>
            <a:off x="6702552" y="1572768"/>
            <a:ext cx="1417320" cy="384048"/>
          </a:xfrm>
          <a:prstGeom prst="roundRect">
            <a:avLst>
              <a:gd name="adj" fmla="val 50000"/>
            </a:avLst>
          </a:prstGeom>
          <a:solidFill>
            <a:srgbClr val="0F1D16"/>
          </a:solidFill>
          <a:ln w="12700">
            <a:solidFill>
              <a:schemeClr val="accent1"/>
            </a:solidFill>
            <a:prstDash val="solid"/>
          </a:ln>
        </p:spPr>
      </p:sp>
      <p:sp>
        <p:nvSpPr>
          <p:cNvPr id="27" name="!!kl1"/>
          <p:cNvSpPr txBox="1"/>
          <p:nvPr/>
        </p:nvSpPr>
        <p:spPr>
          <a:xfrm>
            <a:off x="6702552" y="1572768"/>
            <a:ext cx="1417320" cy="384048"/>
          </a:xfrm>
          <a:prstGeom prst="rect">
            <a:avLst/>
          </a:prstGeom>
          <a:noFill/>
          <a:ln/>
        </p:spPr>
        <p:txBody>
          <a:bodyPr wrap="square" lIns="0" tIns="0" rIns="0" bIns="0" rtlCol="0" anchor="ctr"/>
          <a:lstStyle/>
          <a:p>
            <a:pPr algn="ctr" indent="0" marL="0">
              <a:buNone/>
            </a:pPr>
            <a:r>
              <a:rPr lang="en-US" sz="1200" b="1" dirty="0">
                <a:solidFill>
                  <a:schemeClr val="accent1"/>
                </a:solidFill>
                <a:latin typeface="Consolas" pitchFamily="34" charset="0"/>
                <a:ea typeface="Consolas" pitchFamily="34" charset="-122"/>
                <a:cs typeface="Consolas" pitchFamily="34" charset="-120"/>
              </a:rPr>
              <a:t>--fp-strict</a:t>
            </a:r>
            <a:endParaRPr lang="en-US" sz="1200" dirty="0"/>
          </a:p>
        </p:txBody>
      </p:sp>
      <p:sp>
        <p:nvSpPr>
          <p:cNvPr id="28" name="!!k2"/>
          <p:cNvSpPr/>
          <p:nvPr/>
        </p:nvSpPr>
        <p:spPr>
          <a:xfrm>
            <a:off x="8211312" y="1572768"/>
            <a:ext cx="1417320" cy="384048"/>
          </a:xfrm>
          <a:prstGeom prst="roundRect">
            <a:avLst>
              <a:gd name="adj" fmla="val 50000"/>
            </a:avLst>
          </a:prstGeom>
          <a:solidFill>
            <a:srgbClr val="211A0E"/>
          </a:solidFill>
          <a:ln w="12700">
            <a:solidFill>
              <a:schemeClr val="accent2"/>
            </a:solidFill>
            <a:prstDash val="solid"/>
          </a:ln>
        </p:spPr>
      </p:sp>
      <p:sp>
        <p:nvSpPr>
          <p:cNvPr id="29" name="!!kl2"/>
          <p:cNvSpPr txBox="1"/>
          <p:nvPr/>
        </p:nvSpPr>
        <p:spPr>
          <a:xfrm>
            <a:off x="8211312" y="1572768"/>
            <a:ext cx="1417320" cy="384048"/>
          </a:xfrm>
          <a:prstGeom prst="rect">
            <a:avLst/>
          </a:prstGeom>
          <a:noFill/>
          <a:ln/>
        </p:spPr>
        <p:txBody>
          <a:bodyPr wrap="square" lIns="0" tIns="0" rIns="0" bIns="0" rtlCol="0" anchor="ctr"/>
          <a:lstStyle/>
          <a:p>
            <a:pPr algn="ctr" indent="0" marL="0">
              <a:buNone/>
            </a:pPr>
            <a:r>
              <a:rPr lang="en-US" sz="1200" b="1" dirty="0">
                <a:solidFill>
                  <a:schemeClr val="accent2"/>
                </a:solidFill>
                <a:latin typeface="Consolas" pitchFamily="34" charset="0"/>
                <a:ea typeface="Consolas" pitchFamily="34" charset="-122"/>
                <a:cs typeface="Consolas" pitchFamily="34" charset="-120"/>
              </a:rPr>
              <a:t>--fp-bounded</a:t>
            </a:r>
            <a:endParaRPr lang="en-US" sz="1200" dirty="0"/>
          </a:p>
        </p:txBody>
      </p:sp>
      <p:sp>
        <p:nvSpPr>
          <p:cNvPr id="30" name="!!k3"/>
          <p:cNvSpPr/>
          <p:nvPr/>
        </p:nvSpPr>
        <p:spPr>
          <a:xfrm>
            <a:off x="9720072" y="1572768"/>
            <a:ext cx="1417320" cy="384048"/>
          </a:xfrm>
          <a:prstGeom prst="roundRect">
            <a:avLst>
              <a:gd name="adj" fmla="val 50000"/>
            </a:avLst>
          </a:prstGeom>
          <a:solidFill>
            <a:srgbClr val="211212"/>
          </a:solidFill>
          <a:ln w="12700">
            <a:solidFill>
              <a:schemeClr val="accent3"/>
            </a:solidFill>
            <a:prstDash val="solid"/>
          </a:ln>
        </p:spPr>
      </p:sp>
      <p:sp>
        <p:nvSpPr>
          <p:cNvPr id="31" name="!!kl3"/>
          <p:cNvSpPr txBox="1"/>
          <p:nvPr/>
        </p:nvSpPr>
        <p:spPr>
          <a:xfrm>
            <a:off x="9720072" y="1572768"/>
            <a:ext cx="1417320" cy="384048"/>
          </a:xfrm>
          <a:prstGeom prst="rect">
            <a:avLst/>
          </a:prstGeom>
          <a:noFill/>
          <a:ln/>
        </p:spPr>
        <p:txBody>
          <a:bodyPr wrap="square" lIns="0" tIns="0" rIns="0" bIns="0" rtlCol="0" anchor="ctr"/>
          <a:lstStyle/>
          <a:p>
            <a:pPr algn="ctr" indent="0" marL="0">
              <a:buNone/>
            </a:pPr>
            <a:r>
              <a:rPr lang="en-US" sz="1200" b="1" dirty="0">
                <a:solidFill>
                  <a:schemeClr val="accent3"/>
                </a:solidFill>
                <a:latin typeface="Consolas" pitchFamily="34" charset="0"/>
                <a:ea typeface="Consolas" pitchFamily="34" charset="-122"/>
                <a:cs typeface="Consolas" pitchFamily="34" charset="-120"/>
              </a:rPr>
              <a:t>--fp-algebraic</a:t>
            </a:r>
            <a:endParaRPr lang="en-US" sz="1200" dirty="0"/>
          </a:p>
        </p:txBody>
      </p:sp>
      <p:sp>
        <p:nvSpPr>
          <p:cNvPr id="32" name="!!brL"/>
          <p:cNvSpPr/>
          <p:nvPr/>
        </p:nvSpPr>
        <p:spPr>
          <a:xfrm>
            <a:off x="6355080" y="2084832"/>
            <a:ext cx="274320" cy="3145536"/>
          </a:xfrm>
          <a:custGeom>
            <a:avLst/>
            <a:gdLst/>
            <a:ahLst/>
            <a:cxnLst/>
            <a:rect l="l" t="t" r="r" b="b"/>
            <a:pathLst>
              <a:path w="274320" h="3145536">
                <a:moveTo>
                  <a:pt x="274320" y="0"/>
                </a:moveTo>
                <a:lnTo>
                  <a:pt x="0" y="0"/>
                </a:lnTo>
                <a:lnTo>
                  <a:pt x="0" y="3145536"/>
                </a:lnTo>
                <a:lnTo>
                  <a:pt x="274320" y="3145536"/>
                </a:lnTo>
              </a:path>
            </a:pathLst>
          </a:custGeom>
          <a:noFill/>
          <a:ln w="22225">
            <a:solidFill>
              <a:schemeClr val="accent5"/>
            </a:solidFill>
            <a:prstDash val="solid"/>
          </a:ln>
        </p:spPr>
      </p:sp>
      <p:sp>
        <p:nvSpPr>
          <p:cNvPr id="33" name="!!brR"/>
          <p:cNvSpPr/>
          <p:nvPr/>
        </p:nvSpPr>
        <p:spPr>
          <a:xfrm>
            <a:off x="11228832" y="2084832"/>
            <a:ext cx="274320" cy="3145536"/>
          </a:xfrm>
          <a:custGeom>
            <a:avLst/>
            <a:gdLst/>
            <a:ahLst/>
            <a:cxnLst/>
            <a:rect l="l" t="t" r="r" b="b"/>
            <a:pathLst>
              <a:path w="274320" h="3145536">
                <a:moveTo>
                  <a:pt x="0" y="0"/>
                </a:moveTo>
                <a:lnTo>
                  <a:pt x="274320" y="0"/>
                </a:lnTo>
                <a:lnTo>
                  <a:pt x="274320" y="3145536"/>
                </a:lnTo>
                <a:lnTo>
                  <a:pt x="0" y="3145536"/>
                </a:lnTo>
              </a:path>
            </a:pathLst>
          </a:custGeom>
          <a:noFill/>
          <a:ln w="22225">
            <a:solidFill>
              <a:schemeClr val="accent5"/>
            </a:solidFill>
            <a:prstDash val="solid"/>
          </a:ln>
        </p:spPr>
      </p:sp>
      <p:sp>
        <p:nvSpPr>
          <p:cNvPr id="34" name="Text 32"/>
          <p:cNvSpPr txBox="1"/>
          <p:nvPr/>
        </p:nvSpPr>
        <p:spPr>
          <a:xfrm>
            <a:off x="4846320" y="2194560"/>
            <a:ext cx="1389888" cy="914400"/>
          </a:xfrm>
          <a:prstGeom prst="rect">
            <a:avLst/>
          </a:prstGeom>
          <a:noFill/>
          <a:ln/>
        </p:spPr>
        <p:txBody>
          <a:bodyPr wrap="square" lIns="0" tIns="0" rIns="0" bIns="0" rtlCol="0" anchor="ctr"/>
          <a:lstStyle/>
          <a:p>
            <a:pPr algn="r" indent="0" marL="0">
              <a:buNone/>
            </a:pPr>
            <a:r>
              <a:rPr lang="en-US" sz="1250" dirty="0">
                <a:solidFill>
                  <a:schemeClr val="bg2"/>
                </a:solidFill>
                <a:latin typeface="Consolas" pitchFamily="34" charset="0"/>
                <a:ea typeface="Consolas" pitchFamily="34" charset="-122"/>
                <a:cs typeface="Consolas" pitchFamily="34" charset="-120"/>
              </a:rPr>
              <a:t>input(int8)</a:t>
            </a:r>
            <a:endParaRPr lang="en-US" sz="1250" dirty="0"/>
          </a:p>
        </p:txBody>
      </p:sp>
      <p:sp>
        <p:nvSpPr>
          <p:cNvPr id="35" name="!!cell1"/>
          <p:cNvSpPr/>
          <p:nvPr/>
        </p:nvSpPr>
        <p:spPr>
          <a:xfrm>
            <a:off x="6702552" y="2194560"/>
            <a:ext cx="1417320" cy="914400"/>
          </a:xfrm>
          <a:prstGeom prst="roundRect">
            <a:avLst>
              <a:gd name="adj" fmla="val 6000"/>
            </a:avLst>
          </a:prstGeom>
          <a:solidFill>
            <a:srgbClr val="0F1D16"/>
          </a:solidFill>
          <a:ln w="9525">
            <a:solidFill>
              <a:schemeClr val="accent1"/>
            </a:solidFill>
          </a:ln>
        </p:spPr>
        <p:txBody>
          <a:bodyPr wrap="square" lIns="38100" tIns="38100" rIns="38100" bIns="38100" rtlCol="0" anchor="ctr"/>
          <a:lstStyle/>
          <a:p>
            <a:pPr algn="ctr" indent="0" marL="0">
              <a:buNone/>
            </a:pPr>
            <a:r>
              <a:rPr lang="en-US" sz="2400" b="1" dirty="0">
                <a:solidFill>
                  <a:schemeClr val="accent1"/>
                </a:solidFill>
                <a:latin typeface="Consolas" pitchFamily="34" charset="0"/>
                <a:ea typeface="Consolas" pitchFamily="34" charset="-122"/>
                <a:cs typeface="Consolas" pitchFamily="34" charset="-120"/>
              </a:rPr>
              <a:t>556</a:t>
            </a:r>
            <a:endParaRPr lang="en-US" sz="1200" dirty="0"/>
          </a:p>
          <a:p>
            <a:pPr algn="ctr" indent="0" marL="0">
              <a:spcBef>
                <a:spcPts val="200"/>
              </a:spcBef>
              <a:buNone/>
            </a:pPr>
            <a:r>
              <a:rPr lang="en-US" sz="1050" dirty="0">
                <a:solidFill>
                  <a:schemeClr val="bg2"/>
                </a:solidFill>
                <a:latin typeface="Consolas" pitchFamily="34" charset="0"/>
                <a:ea typeface="Consolas" pitchFamily="34" charset="-122"/>
                <a:cs typeface="Consolas" pitchFamily="34" charset="-120"/>
              </a:rPr>
              <a:t>bit-identical</a:t>
            </a:r>
            <a:endParaRPr lang="en-US" sz="1200" dirty="0"/>
          </a:p>
        </p:txBody>
      </p:sp>
      <p:sp>
        <p:nvSpPr>
          <p:cNvPr id="36" name="!!cell2"/>
          <p:cNvSpPr/>
          <p:nvPr/>
        </p:nvSpPr>
        <p:spPr>
          <a:xfrm>
            <a:off x="8211312" y="2194560"/>
            <a:ext cx="1417320" cy="914400"/>
          </a:xfrm>
          <a:prstGeom prst="roundRect">
            <a:avLst>
              <a:gd name="adj" fmla="val 6000"/>
            </a:avLst>
          </a:prstGeom>
          <a:solidFill>
            <a:srgbClr val="0F1D16"/>
          </a:solidFill>
          <a:ln w="9525">
            <a:solidFill>
              <a:schemeClr val="accent1"/>
            </a:solidFill>
          </a:ln>
        </p:spPr>
        <p:txBody>
          <a:bodyPr wrap="square" lIns="38100" tIns="38100" rIns="38100" bIns="38100" rtlCol="0" anchor="ctr"/>
          <a:lstStyle/>
          <a:p>
            <a:pPr algn="ctr" indent="0" marL="0">
              <a:buNone/>
            </a:pPr>
            <a:r>
              <a:rPr lang="en-US" sz="2400" b="1" dirty="0">
                <a:solidFill>
                  <a:schemeClr val="accent1"/>
                </a:solidFill>
                <a:latin typeface="Consolas" pitchFamily="34" charset="0"/>
                <a:ea typeface="Consolas" pitchFamily="34" charset="-122"/>
                <a:cs typeface="Consolas" pitchFamily="34" charset="-120"/>
              </a:rPr>
              <a:t>556</a:t>
            </a:r>
            <a:endParaRPr lang="en-US" sz="1200" dirty="0"/>
          </a:p>
          <a:p>
            <a:pPr algn="ctr" indent="0" marL="0">
              <a:spcBef>
                <a:spcPts val="200"/>
              </a:spcBef>
              <a:buNone/>
            </a:pPr>
            <a:r>
              <a:rPr lang="en-US" sz="1050" dirty="0">
                <a:solidFill>
                  <a:schemeClr val="bg2"/>
                </a:solidFill>
                <a:latin typeface="Consolas" pitchFamily="34" charset="0"/>
                <a:ea typeface="Consolas" pitchFamily="34" charset="-122"/>
                <a:cs typeface="Consolas" pitchFamily="34" charset="-120"/>
              </a:rPr>
              <a:t>bit-identical</a:t>
            </a:r>
            <a:endParaRPr lang="en-US" sz="1200" dirty="0"/>
          </a:p>
        </p:txBody>
      </p:sp>
      <p:sp>
        <p:nvSpPr>
          <p:cNvPr id="37" name="!!cell3"/>
          <p:cNvSpPr/>
          <p:nvPr/>
        </p:nvSpPr>
        <p:spPr>
          <a:xfrm>
            <a:off x="9720072" y="2194560"/>
            <a:ext cx="1417320" cy="914400"/>
          </a:xfrm>
          <a:prstGeom prst="roundRect">
            <a:avLst>
              <a:gd name="adj" fmla="val 6000"/>
            </a:avLst>
          </a:prstGeom>
          <a:solidFill>
            <a:srgbClr val="0F1D16"/>
          </a:solidFill>
          <a:ln w="9525">
            <a:solidFill>
              <a:schemeClr val="accent1"/>
            </a:solidFill>
          </a:ln>
        </p:spPr>
        <p:txBody>
          <a:bodyPr wrap="square" lIns="38100" tIns="38100" rIns="38100" bIns="38100" rtlCol="0" anchor="ctr"/>
          <a:lstStyle/>
          <a:p>
            <a:pPr algn="ctr" indent="0" marL="0">
              <a:buNone/>
            </a:pPr>
            <a:r>
              <a:rPr lang="en-US" sz="2400" b="1" dirty="0">
                <a:solidFill>
                  <a:schemeClr val="accent1"/>
                </a:solidFill>
                <a:latin typeface="Consolas" pitchFamily="34" charset="0"/>
                <a:ea typeface="Consolas" pitchFamily="34" charset="-122"/>
                <a:cs typeface="Consolas" pitchFamily="34" charset="-120"/>
              </a:rPr>
              <a:t>556</a:t>
            </a:r>
            <a:endParaRPr lang="en-US" sz="1200" dirty="0"/>
          </a:p>
          <a:p>
            <a:pPr algn="ctr" indent="0" marL="0">
              <a:spcBef>
                <a:spcPts val="200"/>
              </a:spcBef>
              <a:buNone/>
            </a:pPr>
            <a:r>
              <a:rPr lang="en-US" sz="1050" dirty="0">
                <a:solidFill>
                  <a:schemeClr val="bg2"/>
                </a:solidFill>
                <a:latin typeface="Consolas" pitchFamily="34" charset="0"/>
                <a:ea typeface="Consolas" pitchFamily="34" charset="-122"/>
                <a:cs typeface="Consolas" pitchFamily="34" charset="-120"/>
              </a:rPr>
              <a:t>bit-identical</a:t>
            </a:r>
            <a:endParaRPr lang="en-US" sz="1200" dirty="0"/>
          </a:p>
        </p:txBody>
      </p:sp>
      <p:sp>
        <p:nvSpPr>
          <p:cNvPr id="38" name="Text 36"/>
          <p:cNvSpPr txBox="1"/>
          <p:nvPr/>
        </p:nvSpPr>
        <p:spPr>
          <a:xfrm>
            <a:off x="4846320" y="3200400"/>
            <a:ext cx="1389888" cy="914400"/>
          </a:xfrm>
          <a:prstGeom prst="rect">
            <a:avLst/>
          </a:prstGeom>
          <a:noFill/>
          <a:ln/>
        </p:spPr>
        <p:txBody>
          <a:bodyPr wrap="square" lIns="0" tIns="0" rIns="0" bIns="0" rtlCol="0" anchor="ctr"/>
          <a:lstStyle/>
          <a:p>
            <a:pPr algn="r" indent="0" marL="0">
              <a:buNone/>
            </a:pPr>
            <a:r>
              <a:rPr lang="en-US" sz="1250" dirty="0">
                <a:solidFill>
                  <a:schemeClr val="bg2"/>
                </a:solidFill>
                <a:latin typeface="Consolas" pitchFamily="34" charset="0"/>
                <a:ea typeface="Consolas" pitchFamily="34" charset="-122"/>
                <a:cs typeface="Consolas" pitchFamily="34" charset="-120"/>
              </a:rPr>
              <a:t>input(real(1))</a:t>
            </a:r>
            <a:endParaRPr lang="en-US" sz="1250" dirty="0"/>
          </a:p>
        </p:txBody>
      </p:sp>
      <p:sp>
        <p:nvSpPr>
          <p:cNvPr id="39" name="!!cell4"/>
          <p:cNvSpPr/>
          <p:nvPr/>
        </p:nvSpPr>
        <p:spPr>
          <a:xfrm>
            <a:off x="6702552" y="3200400"/>
            <a:ext cx="1417320" cy="914400"/>
          </a:xfrm>
          <a:prstGeom prst="roundRect">
            <a:avLst>
              <a:gd name="adj" fmla="val 6000"/>
            </a:avLst>
          </a:prstGeom>
          <a:solidFill>
            <a:srgbClr val="0B0D0C"/>
          </a:solidFill>
          <a:ln w="9525">
            <a:solidFill>
              <a:srgbClr val="242A27"/>
            </a:solidFill>
          </a:ln>
        </p:spPr>
        <p:txBody>
          <a:bodyPr wrap="square" lIns="38100" tIns="38100" rIns="38100" bIns="38100" rtlCol="0" anchor="ctr"/>
          <a:lstStyle/>
          <a:p>
            <a:pPr algn="ctr" indent="0" marL="0">
              <a:buNone/>
            </a:pPr>
            <a:r>
              <a:rPr lang="en-US" sz="2400" b="1" dirty="0">
                <a:solidFill>
                  <a:schemeClr val="accent4"/>
                </a:solidFill>
                <a:latin typeface="Consolas" pitchFamily="34" charset="0"/>
                <a:ea typeface="Consolas" pitchFamily="34" charset="-122"/>
                <a:cs typeface="Consolas" pitchFamily="34" charset="-120"/>
              </a:rPr>
              <a:t>11,120</a:t>
            </a:r>
            <a:endParaRPr lang="en-US" sz="1200" dirty="0"/>
          </a:p>
          <a:p>
            <a:pPr algn="ctr" indent="0" marL="0">
              <a:spcBef>
                <a:spcPts val="200"/>
              </a:spcBef>
              <a:buNone/>
            </a:pPr>
            <a:r>
              <a:rPr lang="en-US" sz="1050" dirty="0">
                <a:solidFill>
                  <a:schemeClr val="accent4"/>
                </a:solidFill>
                <a:latin typeface="Consolas" pitchFamily="34" charset="0"/>
                <a:ea typeface="Consolas" pitchFamily="34" charset="-122"/>
                <a:cs typeface="Consolas" pitchFamily="34" charset="-120"/>
              </a:rPr>
              <a:t>kept order</a:t>
            </a:r>
            <a:endParaRPr lang="en-US" sz="1200" dirty="0"/>
          </a:p>
        </p:txBody>
      </p:sp>
      <p:sp>
        <p:nvSpPr>
          <p:cNvPr id="40" name="!!cell5"/>
          <p:cNvSpPr/>
          <p:nvPr/>
        </p:nvSpPr>
        <p:spPr>
          <a:xfrm>
            <a:off x="8211312" y="3200400"/>
            <a:ext cx="1417320" cy="914400"/>
          </a:xfrm>
          <a:prstGeom prst="roundRect">
            <a:avLst>
              <a:gd name="adj" fmla="val 6000"/>
            </a:avLst>
          </a:prstGeom>
          <a:solidFill>
            <a:srgbClr val="211A0E"/>
          </a:solidFill>
          <a:ln w="9525">
            <a:solidFill>
              <a:schemeClr val="accent2"/>
            </a:solidFill>
          </a:ln>
        </p:spPr>
        <p:txBody>
          <a:bodyPr wrap="square" lIns="38100" tIns="38100" rIns="38100" bIns="38100" rtlCol="0" anchor="ctr"/>
          <a:lstStyle/>
          <a:p>
            <a:pPr algn="ctr" indent="0" marL="0">
              <a:buNone/>
            </a:pPr>
            <a:r>
              <a:rPr lang="en-US" sz="2400" b="1" dirty="0">
                <a:solidFill>
                  <a:schemeClr val="accent2"/>
                </a:solidFill>
                <a:latin typeface="Consolas" pitchFamily="34" charset="0"/>
                <a:ea typeface="Consolas" pitchFamily="34" charset="-122"/>
                <a:cs typeface="Consolas" pitchFamily="34" charset="-120"/>
              </a:rPr>
              <a:t>556</a:t>
            </a:r>
            <a:endParaRPr lang="en-US" sz="1200" dirty="0"/>
          </a:p>
          <a:p>
            <a:pPr algn="ctr" indent="0" marL="0">
              <a:spcBef>
                <a:spcPts val="200"/>
              </a:spcBef>
              <a:buNone/>
            </a:pPr>
            <a:r>
              <a:rPr lang="en-US" sz="1050" dirty="0">
                <a:solidFill>
                  <a:schemeClr val="bg2"/>
                </a:solidFill>
                <a:latin typeface="Consolas" pitchFamily="34" charset="0"/>
                <a:ea typeface="Consolas" pitchFamily="34" charset="-122"/>
                <a:cs typeface="Consolas" pitchFamily="34" charset="-120"/>
              </a:rPr>
              <a:t>bound-preserving</a:t>
            </a:r>
            <a:endParaRPr lang="en-US" sz="1200" dirty="0"/>
          </a:p>
        </p:txBody>
      </p:sp>
      <p:sp>
        <p:nvSpPr>
          <p:cNvPr id="41" name="!!cell6"/>
          <p:cNvSpPr/>
          <p:nvPr/>
        </p:nvSpPr>
        <p:spPr>
          <a:xfrm>
            <a:off x="9720072" y="3200400"/>
            <a:ext cx="1417320" cy="914400"/>
          </a:xfrm>
          <a:prstGeom prst="roundRect">
            <a:avLst>
              <a:gd name="adj" fmla="val 6000"/>
            </a:avLst>
          </a:prstGeom>
          <a:solidFill>
            <a:srgbClr val="211A0E"/>
          </a:solidFill>
          <a:ln w="9525">
            <a:solidFill>
              <a:schemeClr val="accent2"/>
            </a:solidFill>
          </a:ln>
        </p:spPr>
        <p:txBody>
          <a:bodyPr wrap="square" lIns="38100" tIns="38100" rIns="38100" bIns="38100" rtlCol="0" anchor="ctr"/>
          <a:lstStyle/>
          <a:p>
            <a:pPr algn="ctr" indent="0" marL="0">
              <a:buNone/>
            </a:pPr>
            <a:r>
              <a:rPr lang="en-US" sz="2400" b="1" dirty="0">
                <a:solidFill>
                  <a:schemeClr val="accent2"/>
                </a:solidFill>
                <a:latin typeface="Consolas" pitchFamily="34" charset="0"/>
                <a:ea typeface="Consolas" pitchFamily="34" charset="-122"/>
                <a:cs typeface="Consolas" pitchFamily="34" charset="-120"/>
              </a:rPr>
              <a:t>556</a:t>
            </a:r>
            <a:endParaRPr lang="en-US" sz="1200" dirty="0"/>
          </a:p>
          <a:p>
            <a:pPr algn="ctr" indent="0" marL="0">
              <a:spcBef>
                <a:spcPts val="200"/>
              </a:spcBef>
              <a:buNone/>
            </a:pPr>
            <a:r>
              <a:rPr lang="en-US" sz="1050" dirty="0">
                <a:solidFill>
                  <a:schemeClr val="bg2"/>
                </a:solidFill>
                <a:latin typeface="Consolas" pitchFamily="34" charset="0"/>
                <a:ea typeface="Consolas" pitchFamily="34" charset="-122"/>
                <a:cs typeface="Consolas" pitchFamily="34" charset="-120"/>
              </a:rPr>
              <a:t>bound-preserving</a:t>
            </a:r>
            <a:endParaRPr lang="en-US" sz="1200" dirty="0"/>
          </a:p>
        </p:txBody>
      </p:sp>
      <p:sp>
        <p:nvSpPr>
          <p:cNvPr id="42" name="Text 40"/>
          <p:cNvSpPr txBox="1"/>
          <p:nvPr/>
        </p:nvSpPr>
        <p:spPr>
          <a:xfrm>
            <a:off x="4846320" y="4206240"/>
            <a:ext cx="1389888" cy="914400"/>
          </a:xfrm>
          <a:prstGeom prst="rect">
            <a:avLst/>
          </a:prstGeom>
          <a:noFill/>
          <a:ln/>
        </p:spPr>
        <p:txBody>
          <a:bodyPr wrap="square" lIns="0" tIns="0" rIns="0" bIns="0" rtlCol="0" anchor="ctr"/>
          <a:lstStyle/>
          <a:p>
            <a:pPr algn="r" indent="0" marL="0">
              <a:buNone/>
            </a:pPr>
            <a:r>
              <a:rPr lang="en-US" sz="1250" dirty="0">
                <a:solidFill>
                  <a:schemeClr val="bg2"/>
                </a:solidFill>
                <a:latin typeface="Consolas" pitchFamily="34" charset="0"/>
                <a:ea typeface="Consolas" pitchFamily="34" charset="-122"/>
                <a:cs typeface="Consolas" pitchFamily="34" charset="-120"/>
              </a:rPr>
              <a:t>input(real)</a:t>
            </a:r>
            <a:endParaRPr lang="en-US" sz="1250" dirty="0"/>
          </a:p>
        </p:txBody>
      </p:sp>
      <p:sp>
        <p:nvSpPr>
          <p:cNvPr id="43" name="!!cell7"/>
          <p:cNvSpPr/>
          <p:nvPr/>
        </p:nvSpPr>
        <p:spPr>
          <a:xfrm>
            <a:off x="6702552" y="4206240"/>
            <a:ext cx="1417320" cy="914400"/>
          </a:xfrm>
          <a:prstGeom prst="roundRect">
            <a:avLst>
              <a:gd name="adj" fmla="val 6000"/>
            </a:avLst>
          </a:prstGeom>
          <a:solidFill>
            <a:srgbClr val="0B0D0C"/>
          </a:solidFill>
          <a:ln w="9525">
            <a:solidFill>
              <a:srgbClr val="242A27"/>
            </a:solidFill>
          </a:ln>
        </p:spPr>
        <p:txBody>
          <a:bodyPr wrap="square" lIns="38100" tIns="38100" rIns="38100" bIns="38100" rtlCol="0" anchor="ctr"/>
          <a:lstStyle/>
          <a:p>
            <a:pPr algn="ctr" indent="0" marL="0">
              <a:buNone/>
            </a:pPr>
            <a:r>
              <a:rPr lang="en-US" sz="2400" b="1" dirty="0">
                <a:solidFill>
                  <a:schemeClr val="accent4"/>
                </a:solidFill>
                <a:latin typeface="Consolas" pitchFamily="34" charset="0"/>
                <a:ea typeface="Consolas" pitchFamily="34" charset="-122"/>
                <a:cs typeface="Consolas" pitchFamily="34" charset="-120"/>
              </a:rPr>
              <a:t>11,120</a:t>
            </a:r>
            <a:endParaRPr lang="en-US" sz="1200" dirty="0"/>
          </a:p>
          <a:p>
            <a:pPr algn="ctr" indent="0" marL="0">
              <a:spcBef>
                <a:spcPts val="200"/>
              </a:spcBef>
              <a:buNone/>
            </a:pPr>
            <a:r>
              <a:rPr lang="en-US" sz="1050" dirty="0">
                <a:solidFill>
                  <a:schemeClr val="accent4"/>
                </a:solidFill>
                <a:latin typeface="Consolas" pitchFamily="34" charset="0"/>
                <a:ea typeface="Consolas" pitchFamily="34" charset="-122"/>
                <a:cs typeface="Consolas" pitchFamily="34" charset="-120"/>
              </a:rPr>
              <a:t>kept order</a:t>
            </a:r>
            <a:endParaRPr lang="en-US" sz="1200" dirty="0"/>
          </a:p>
        </p:txBody>
      </p:sp>
      <p:sp>
        <p:nvSpPr>
          <p:cNvPr id="44" name="!!cell8"/>
          <p:cNvSpPr/>
          <p:nvPr/>
        </p:nvSpPr>
        <p:spPr>
          <a:xfrm>
            <a:off x="8211312" y="4206240"/>
            <a:ext cx="1417320" cy="914400"/>
          </a:xfrm>
          <a:prstGeom prst="roundRect">
            <a:avLst>
              <a:gd name="adj" fmla="val 6000"/>
            </a:avLst>
          </a:prstGeom>
          <a:solidFill>
            <a:srgbClr val="0B0D0C"/>
          </a:solidFill>
          <a:ln w="9525">
            <a:solidFill>
              <a:srgbClr val="242A27"/>
            </a:solidFill>
          </a:ln>
        </p:spPr>
        <p:txBody>
          <a:bodyPr wrap="square" lIns="38100" tIns="38100" rIns="38100" bIns="38100" rtlCol="0" anchor="ctr"/>
          <a:lstStyle/>
          <a:p>
            <a:pPr algn="ctr" indent="0" marL="0">
              <a:buNone/>
            </a:pPr>
            <a:r>
              <a:rPr lang="en-US" sz="2400" b="1" dirty="0">
                <a:solidFill>
                  <a:schemeClr val="accent4"/>
                </a:solidFill>
                <a:latin typeface="Consolas" pitchFamily="34" charset="0"/>
                <a:ea typeface="Consolas" pitchFamily="34" charset="-122"/>
                <a:cs typeface="Consolas" pitchFamily="34" charset="-120"/>
              </a:rPr>
              <a:t>11,120</a:t>
            </a:r>
            <a:endParaRPr lang="en-US" sz="1200" dirty="0"/>
          </a:p>
          <a:p>
            <a:pPr algn="ctr" indent="0" marL="0">
              <a:spcBef>
                <a:spcPts val="200"/>
              </a:spcBef>
              <a:buNone/>
            </a:pPr>
            <a:r>
              <a:rPr lang="en-US" sz="1050" dirty="0">
                <a:solidFill>
                  <a:schemeClr val="accent4"/>
                </a:solidFill>
                <a:latin typeface="Consolas" pitchFamily="34" charset="0"/>
                <a:ea typeface="Consolas" pitchFamily="34" charset="-122"/>
                <a:cs typeface="Consolas" pitchFamily="34" charset="-120"/>
              </a:rPr>
              <a:t>kept order</a:t>
            </a:r>
            <a:endParaRPr lang="en-US" sz="1200" dirty="0"/>
          </a:p>
        </p:txBody>
      </p:sp>
      <p:sp>
        <p:nvSpPr>
          <p:cNvPr id="45" name="!!cell9"/>
          <p:cNvSpPr/>
          <p:nvPr/>
        </p:nvSpPr>
        <p:spPr>
          <a:xfrm>
            <a:off x="9720072" y="4206240"/>
            <a:ext cx="1417320" cy="914400"/>
          </a:xfrm>
          <a:prstGeom prst="roundRect">
            <a:avLst>
              <a:gd name="adj" fmla="val 6000"/>
            </a:avLst>
          </a:prstGeom>
          <a:solidFill>
            <a:srgbClr val="211212"/>
          </a:solidFill>
          <a:ln w="9525">
            <a:solidFill>
              <a:schemeClr val="accent3"/>
            </a:solidFill>
          </a:ln>
        </p:spPr>
        <p:txBody>
          <a:bodyPr wrap="square" lIns="38100" tIns="38100" rIns="38100" bIns="38100" rtlCol="0" anchor="ctr"/>
          <a:lstStyle/>
          <a:p>
            <a:pPr algn="ctr" indent="0" marL="0">
              <a:buNone/>
            </a:pPr>
            <a:r>
              <a:rPr lang="en-US" sz="2400" b="1" dirty="0">
                <a:solidFill>
                  <a:schemeClr val="accent3"/>
                </a:solidFill>
                <a:latin typeface="Consolas" pitchFamily="34" charset="0"/>
                <a:ea typeface="Consolas" pitchFamily="34" charset="-122"/>
                <a:cs typeface="Consolas" pitchFamily="34" charset="-120"/>
              </a:rPr>
              <a:t>556</a:t>
            </a:r>
            <a:endParaRPr lang="en-US" sz="1200" dirty="0"/>
          </a:p>
          <a:p>
            <a:pPr algn="ctr" indent="0" marL="0">
              <a:spcBef>
                <a:spcPts val="200"/>
              </a:spcBef>
              <a:buNone/>
            </a:pPr>
            <a:r>
              <a:rPr lang="en-US" sz="1050" dirty="0">
                <a:solidFill>
                  <a:schemeClr val="bg2"/>
                </a:solidFill>
                <a:latin typeface="Consolas" pitchFamily="34" charset="0"/>
                <a:ea typeface="Consolas" pitchFamily="34" charset="-122"/>
                <a:cs typeface="Consolas" pitchFamily="34" charset="-120"/>
              </a:rPr>
              <a:t>relaxed</a:t>
            </a:r>
            <a:endParaRPr lang="en-US" sz="1200" dirty="0"/>
          </a:p>
        </p:txBody>
      </p:sp>
      <p:sp>
        <p:nvSpPr>
          <p:cNvPr id="46" name="Text 44"/>
          <p:cNvSpPr txBox="1"/>
          <p:nvPr/>
        </p:nvSpPr>
        <p:spPr>
          <a:xfrm>
            <a:off x="6355080" y="5358384"/>
            <a:ext cx="5148072" cy="502920"/>
          </a:xfrm>
          <a:prstGeom prst="rect">
            <a:avLst/>
          </a:prstGeom>
          <a:noFill/>
          <a:ln/>
        </p:spPr>
        <p:txBody>
          <a:bodyPr wrap="square" lIns="0" tIns="0" rIns="0" bIns="0" rtlCol="0" anchor="t"/>
          <a:lstStyle/>
          <a:p>
            <a:pPr indent="0" marL="0">
              <a:buNone/>
            </a:pPr>
            <a:r>
              <a:rPr lang="en-US" sz="1200" dirty="0">
                <a:solidFill>
                  <a:schemeClr val="accent4"/>
                </a:solidFill>
                <a:latin typeface="Segoe UI" pitchFamily="34" charset="0"/>
                <a:ea typeface="Segoe UI" pitchFamily="34" charset="-122"/>
                <a:cs typeface="Segoe UI" pitchFamily="34" charset="-120"/>
              </a:rPr>
              <a:t>Operations left after optimization, and the certificate of print(R), as matrixc reports them for R = A·B·C with shapes 40×2, 2×40 and 40×2.</a:t>
            </a:r>
            <a:endParaRPr lang="en-US" sz="1200" dirty="0"/>
          </a:p>
        </p:txBody>
      </p:sp>
      <p:sp>
        <p:nvSpPr>
          <p:cNvPr id="48" name="!!p11">
            <a:extLst>
              <a:ext uri="{C183D7F6-B498-43B3-948B-1728B52AA6E4}">
                <adec:decorative xmlns:adec="http://schemas.microsoft.com/office/drawing/2017/decorative" val="1"/>
              </a:ext>
            </a:extLst>
          </p:cNvPr>
          <p:cNvSpPr txBox="1"/>
          <p:nvPr/>
        </p:nvSpPr>
        <p:spPr>
          <a:xfrm>
            <a:off x="4983480" y="1645920"/>
            <a:ext cx="1112520" cy="236474"/>
          </a:xfrm>
          <a:prstGeom prst="rect">
            <a:avLst/>
          </a:prstGeom>
          <a:noFill/>
          <a:ln/>
        </p:spPr>
        <p:txBody>
          <a:bodyPr wrap="none" lIns="0" tIns="0" rIns="0" bIns="0" rtlCol="0" anchor="ctr"/>
          <a:lstStyle/>
          <a:p>
            <a:pPr indent="0" marL="0">
              <a:buNone/>
            </a:pPr>
            <a:r>
              <a:rPr lang="en-US" sz="1100" dirty="0">
                <a:solidFill>
                  <a:srgbClr val="3A403D"/>
                </a:solidFill>
                <a:latin typeface="Consolas" pitchFamily="34" charset="0"/>
                <a:ea typeface="Consolas" pitchFamily="34" charset="-122"/>
                <a:cs typeface="Consolas" pitchFamily="34" charset="-120"/>
              </a:rPr>
              <a:t>transpose(A)</a:t>
            </a:r>
            <a:endParaRPr lang="en-US" sz="1100" dirty="0"/>
          </a:p>
        </p:txBody>
      </p:sp>
      <p:sp>
        <p:nvSpPr>
          <p:cNvPr id="49" name="!!p12">
            <a:extLst>
              <a:ext uri="{C183D7F6-B498-43B3-948B-1728B52AA6E4}">
                <adec:decorative xmlns:adec="http://schemas.microsoft.com/office/drawing/2017/decorative" val="1"/>
              </a:ext>
            </a:extLst>
          </p:cNvPr>
          <p:cNvSpPr txBox="1"/>
          <p:nvPr/>
        </p:nvSpPr>
        <p:spPr>
          <a:xfrm>
            <a:off x="5257800" y="5449824"/>
            <a:ext cx="852678" cy="236474"/>
          </a:xfrm>
          <a:prstGeom prst="rect">
            <a:avLst/>
          </a:prstGeom>
          <a:noFill/>
          <a:ln/>
        </p:spPr>
        <p:txBody>
          <a:bodyPr wrap="none" lIns="0" tIns="0" rIns="0" bIns="0" rtlCol="0" anchor="ctr"/>
          <a:lstStyle/>
          <a:p>
            <a:pPr indent="0" marL="0">
              <a:buNone/>
            </a:pPr>
            <a:r>
              <a:rPr lang="en-US" sz="1100" dirty="0">
                <a:solidFill>
                  <a:srgbClr val="34433B"/>
                </a:solidFill>
                <a:latin typeface="Consolas" pitchFamily="34" charset="0"/>
                <a:ea typeface="Consolas" pitchFamily="34" charset="-122"/>
                <a:cs typeface="Consolas" pitchFamily="34" charset="-120"/>
              </a:rPr>
              <a:t>print(R);</a:t>
            </a:r>
            <a:endParaRPr lang="en-US" sz="1100" dirty="0"/>
          </a:p>
        </p:txBody>
      </p:sp>
      <p:sp>
        <p:nvSpPr>
          <p:cNvPr id="50" name="!!p01">
            <a:extLst>
              <a:ext uri="{C183D7F6-B498-43B3-948B-1728B52AA6E4}">
                <adec:decorative xmlns:adec="http://schemas.microsoft.com/office/drawing/2017/decorative" val="1"/>
              </a:ext>
            </a:extLst>
          </p:cNvPr>
          <p:cNvSpPr txBox="1"/>
          <p:nvPr/>
        </p:nvSpPr>
        <p:spPr>
          <a:xfrm>
            <a:off x="3246120" y="6108192"/>
            <a:ext cx="1112520" cy="236474"/>
          </a:xfrm>
          <a:prstGeom prst="rect">
            <a:avLst/>
          </a:prstGeom>
          <a:noFill/>
          <a:ln/>
        </p:spPr>
        <p:txBody>
          <a:bodyPr wrap="none" lIns="0" tIns="0" rIns="0" bIns="0" rtlCol="0" anchor="ctr"/>
          <a:lstStyle/>
          <a:p>
            <a:pPr indent="0" marL="0">
              <a:buNone/>
            </a:pPr>
            <a:r>
              <a:rPr lang="en-US" sz="1100" dirty="0">
                <a:solidFill>
                  <a:srgbClr val="3A4A42"/>
                </a:solidFill>
                <a:latin typeface="Consolas" pitchFamily="34" charset="0"/>
                <a:ea typeface="Consolas" pitchFamily="34" charset="-122"/>
                <a:cs typeface="Consolas" pitchFamily="34" charset="-120"/>
              </a:rPr>
              <a:t>Matrix&lt;40x2&gt;</a:t>
            </a:r>
            <a:endParaRPr lang="en-US" sz="1100" dirty="0"/>
          </a:p>
        </p:txBody>
      </p:sp>
      <p:sp>
        <p:nvSpPr>
          <p:cNvPr id="51" name="!!p02">
            <a:extLst>
              <a:ext uri="{C183D7F6-B498-43B3-948B-1728B52AA6E4}">
                <adec:decorative xmlns:adec="http://schemas.microsoft.com/office/drawing/2017/decorative" val="1"/>
              </a:ext>
            </a:extLst>
          </p:cNvPr>
          <p:cNvSpPr txBox="1"/>
          <p:nvPr/>
        </p:nvSpPr>
        <p:spPr>
          <a:xfrm>
            <a:off x="-1391666" y="841248"/>
            <a:ext cx="1025906" cy="236474"/>
          </a:xfrm>
          <a:prstGeom prst="rect">
            <a:avLst/>
          </a:prstGeom>
          <a:noFill/>
          <a:ln/>
        </p:spPr>
        <p:txBody>
          <a:bodyPr wrap="none" lIns="0" tIns="0" rIns="0" bIns="0" rtlCol="0" anchor="ctr"/>
          <a:lstStyle/>
          <a:p>
            <a:pPr indent="0" marL="0">
              <a:buNone/>
            </a:pPr>
            <a:r>
              <a:rPr lang="en-US" sz="1100" dirty="0">
                <a:solidFill>
                  <a:srgbClr val="34433B"/>
                </a:solidFill>
                <a:latin typeface="Consolas" pitchFamily="34" charset="0"/>
                <a:ea typeface="Consolas" pitchFamily="34" charset="-122"/>
                <a:cs typeface="Consolas" pitchFamily="34" charset="-120"/>
              </a:rPr>
              <a:t>A * (B * C)</a:t>
            </a:r>
            <a:endParaRPr lang="en-US" sz="1100" dirty="0"/>
          </a:p>
        </p:txBody>
      </p:sp>
      <p:sp>
        <p:nvSpPr>
          <p:cNvPr id="52" name="!!p03">
            <a:extLst>
              <a:ext uri="{C183D7F6-B498-43B3-948B-1728B52AA6E4}">
                <adec:decorative xmlns:adec="http://schemas.microsoft.com/office/drawing/2017/decorative" val="1"/>
              </a:ext>
            </a:extLst>
          </p:cNvPr>
          <p:cNvSpPr txBox="1"/>
          <p:nvPr/>
        </p:nvSpPr>
        <p:spPr>
          <a:xfrm>
            <a:off x="-816864" y="841248"/>
            <a:ext cx="451104" cy="252984"/>
          </a:xfrm>
          <a:prstGeom prst="rect">
            <a:avLst/>
          </a:prstGeom>
          <a:noFill/>
          <a:ln/>
        </p:spPr>
        <p:txBody>
          <a:bodyPr wrap="none" lIns="0" tIns="0" rIns="0" bIns="0" rtlCol="0" anchor="ctr"/>
          <a:lstStyle/>
          <a:p>
            <a:pPr indent="0" marL="0">
              <a:buNone/>
            </a:pPr>
            <a:r>
              <a:rPr lang="en-US" sz="1200" dirty="0">
                <a:solidFill>
                  <a:srgbClr val="3A4A42"/>
                </a:solidFill>
                <a:latin typeface="Consolas" pitchFamily="34" charset="0"/>
                <a:ea typeface="Consolas" pitchFamily="34" charset="-122"/>
                <a:cs typeface="Consolas" pitchFamily="34" charset="-120"/>
              </a:rPr>
              <a:t>2^53</a:t>
            </a:r>
            <a:endParaRPr lang="en-US" sz="1200" dirty="0"/>
          </a:p>
        </p:txBody>
      </p:sp>
      <p:sp>
        <p:nvSpPr>
          <p:cNvPr id="53" name="!!p04">
            <a:extLst>
              <a:ext uri="{C183D7F6-B498-43B3-948B-1728B52AA6E4}">
                <adec:decorative xmlns:adec="http://schemas.microsoft.com/office/drawing/2017/decorative" val="1"/>
              </a:ext>
            </a:extLst>
          </p:cNvPr>
          <p:cNvSpPr txBox="1"/>
          <p:nvPr/>
        </p:nvSpPr>
        <p:spPr>
          <a:xfrm>
            <a:off x="-871982" y="4352544"/>
            <a:ext cx="506222" cy="236474"/>
          </a:xfrm>
          <a:prstGeom prst="rect">
            <a:avLst/>
          </a:prstGeom>
          <a:noFill/>
          <a:ln/>
        </p:spPr>
        <p:txBody>
          <a:bodyPr wrap="none" lIns="0" tIns="0" rIns="0" bIns="0" rtlCol="0" anchor="ctr"/>
          <a:lstStyle/>
          <a:p>
            <a:pPr indent="0" marL="0">
              <a:buNone/>
            </a:pPr>
            <a:r>
              <a:rPr lang="en-US" sz="1100" dirty="0">
                <a:solidFill>
                  <a:srgbClr val="34433B"/>
                </a:solidFill>
                <a:latin typeface="Consolas" pitchFamily="34" charset="0"/>
                <a:ea typeface="Consolas" pitchFamily="34" charset="-122"/>
                <a:cs typeface="Consolas" pitchFamily="34" charset="-120"/>
              </a:rPr>
              <a:t>fl(x)</a:t>
            </a:r>
            <a:endParaRPr lang="en-US" sz="1100" dirty="0"/>
          </a:p>
        </p:txBody>
      </p:sp>
      <p:sp>
        <p:nvSpPr>
          <p:cNvPr id="54" name="!!p05">
            <a:extLst>
              <a:ext uri="{C183D7F6-B498-43B3-948B-1728B52AA6E4}">
                <adec:decorative xmlns:adec="http://schemas.microsoft.com/office/drawing/2017/decorative" val="1"/>
              </a:ext>
            </a:extLst>
          </p:cNvPr>
          <p:cNvSpPr txBox="1"/>
          <p:nvPr/>
        </p:nvSpPr>
        <p:spPr>
          <a:xfrm>
            <a:off x="-1131824" y="4060668"/>
            <a:ext cx="766064" cy="236474"/>
          </a:xfrm>
          <a:prstGeom prst="rect">
            <a:avLst/>
          </a:prstGeom>
          <a:noFill/>
          <a:ln/>
        </p:spPr>
        <p:txBody>
          <a:bodyPr wrap="none" lIns="0" tIns="0" rIns="0" bIns="0" rtlCol="0" anchor="ctr"/>
          <a:lstStyle/>
          <a:p>
            <a:pPr indent="0" marL="0">
              <a:buNone/>
            </a:pPr>
            <a:r>
              <a:rPr lang="en-US" sz="1100" dirty="0">
                <a:solidFill>
                  <a:srgbClr val="3A403D"/>
                </a:solidFill>
                <a:latin typeface="Consolas" pitchFamily="34" charset="0"/>
                <a:ea typeface="Consolas" pitchFamily="34" charset="-122"/>
                <a:cs typeface="Consolas" pitchFamily="34" charset="-120"/>
              </a:rPr>
              <a:t>-0 != +0</a:t>
            </a:r>
            <a:endParaRPr lang="en-US" sz="1100" dirty="0"/>
          </a:p>
        </p:txBody>
      </p:sp>
      <p:sp>
        <p:nvSpPr>
          <p:cNvPr id="55" name="!!p06">
            <a:extLst>
              <a:ext uri="{C183D7F6-B498-43B3-948B-1728B52AA6E4}">
                <adec:decorative xmlns:adec="http://schemas.microsoft.com/office/drawing/2017/decorative" val="1"/>
              </a:ext>
            </a:extLst>
          </p:cNvPr>
          <p:cNvSpPr txBox="1"/>
          <p:nvPr/>
        </p:nvSpPr>
        <p:spPr>
          <a:xfrm>
            <a:off x="12557455" y="6309360"/>
            <a:ext cx="1199134" cy="236474"/>
          </a:xfrm>
          <a:prstGeom prst="rect">
            <a:avLst/>
          </a:prstGeom>
          <a:noFill/>
          <a:ln/>
        </p:spPr>
        <p:txBody>
          <a:bodyPr wrap="none" lIns="0" tIns="0" rIns="0" bIns="0" rtlCol="0" anchor="ctr"/>
          <a:lstStyle/>
          <a:p>
            <a:pPr indent="0" marL="0">
              <a:buNone/>
            </a:pPr>
            <a:r>
              <a:rPr lang="en-US" sz="1100" dirty="0">
                <a:solidFill>
                  <a:srgbClr val="34433B"/>
                </a:solidFill>
                <a:latin typeface="Consolas" pitchFamily="34" charset="0"/>
                <a:ea typeface="Consolas" pitchFamily="34" charset="-122"/>
                <a:cs typeface="Consolas" pitchFamily="34" charset="-120"/>
              </a:rPr>
              <a:t>inf * 0 = NaN</a:t>
            </a:r>
            <a:endParaRPr lang="en-US" sz="1100" dirty="0"/>
          </a:p>
        </p:txBody>
      </p:sp>
      <p:sp>
        <p:nvSpPr>
          <p:cNvPr id="56" name="!!p07">
            <a:extLst>
              <a:ext uri="{C183D7F6-B498-43B3-948B-1728B52AA6E4}">
                <adec:decorative xmlns:adec="http://schemas.microsoft.com/office/drawing/2017/decorative" val="1"/>
              </a:ext>
            </a:extLst>
          </p:cNvPr>
          <p:cNvSpPr txBox="1"/>
          <p:nvPr/>
        </p:nvSpPr>
        <p:spPr>
          <a:xfrm>
            <a:off x="-1564894" y="6309360"/>
            <a:ext cx="1199134" cy="236474"/>
          </a:xfrm>
          <a:prstGeom prst="rect">
            <a:avLst/>
          </a:prstGeom>
          <a:noFill/>
          <a:ln/>
        </p:spPr>
        <p:txBody>
          <a:bodyPr wrap="none" lIns="0" tIns="0" rIns="0" bIns="0" rtlCol="0" anchor="ctr"/>
          <a:lstStyle/>
          <a:p>
            <a:pPr indent="0" marL="0">
              <a:buNone/>
            </a:pPr>
            <a:r>
              <a:rPr lang="en-US" sz="1100" dirty="0">
                <a:solidFill>
                  <a:srgbClr val="3A4A42"/>
                </a:solidFill>
                <a:latin typeface="Consolas" pitchFamily="34" charset="0"/>
                <a:ea typeface="Consolas" pitchFamily="34" charset="-122"/>
                <a:cs typeface="Consolas" pitchFamily="34" charset="-120"/>
              </a:rPr>
              <a:t>{{1,0},{0,1}}</a:t>
            </a:r>
            <a:endParaRPr lang="en-US" sz="1100" dirty="0"/>
          </a:p>
        </p:txBody>
      </p:sp>
      <p:sp>
        <p:nvSpPr>
          <p:cNvPr id="57" name="!!p08">
            <a:extLst>
              <a:ext uri="{C183D7F6-B498-43B3-948B-1728B52AA6E4}">
                <adec:decorative xmlns:adec="http://schemas.microsoft.com/office/drawing/2017/decorative" val="1"/>
              </a:ext>
            </a:extLst>
          </p:cNvPr>
          <p:cNvSpPr txBox="1"/>
          <p:nvPr/>
        </p:nvSpPr>
        <p:spPr>
          <a:xfrm>
            <a:off x="-1045210" y="2083345"/>
            <a:ext cx="679450" cy="236474"/>
          </a:xfrm>
          <a:prstGeom prst="rect">
            <a:avLst/>
          </a:prstGeom>
          <a:noFill/>
          <a:ln/>
        </p:spPr>
        <p:txBody>
          <a:bodyPr wrap="none" lIns="0" tIns="0" rIns="0" bIns="0" rtlCol="0" anchor="ctr"/>
          <a:lstStyle/>
          <a:p>
            <a:pPr indent="0" marL="0">
              <a:buNone/>
            </a:pPr>
            <a:r>
              <a:rPr lang="en-US" sz="1100" dirty="0">
                <a:solidFill>
                  <a:srgbClr val="3A403D"/>
                </a:solidFill>
                <a:latin typeface="Consolas" pitchFamily="34" charset="0"/>
                <a:ea typeface="Consolas" pitchFamily="34" charset="-122"/>
                <a:cs typeface="Consolas" pitchFamily="34" charset="-120"/>
              </a:rPr>
              <a:t>0x1p+53</a:t>
            </a:r>
            <a:endParaRPr lang="en-US" sz="1100" dirty="0"/>
          </a:p>
        </p:txBody>
      </p:sp>
      <p:sp>
        <p:nvSpPr>
          <p:cNvPr id="58" name="!!p09">
            <a:extLst>
              <a:ext uri="{C183D7F6-B498-43B3-948B-1728B52AA6E4}">
                <adec:decorative xmlns:adec="http://schemas.microsoft.com/office/drawing/2017/decorative" val="1"/>
              </a:ext>
            </a:extLst>
          </p:cNvPr>
          <p:cNvSpPr txBox="1"/>
          <p:nvPr/>
        </p:nvSpPr>
        <p:spPr>
          <a:xfrm>
            <a:off x="-1391666" y="2020114"/>
            <a:ext cx="1025906" cy="236474"/>
          </a:xfrm>
          <a:prstGeom prst="rect">
            <a:avLst/>
          </a:prstGeom>
          <a:noFill/>
          <a:ln/>
        </p:spPr>
        <p:txBody>
          <a:bodyPr wrap="none" lIns="0" tIns="0" rIns="0" bIns="0" rtlCol="0" anchor="ctr"/>
          <a:lstStyle/>
          <a:p>
            <a:pPr indent="0" marL="0">
              <a:buNone/>
            </a:pPr>
            <a:r>
              <a:rPr lang="en-US" sz="1100" dirty="0">
                <a:solidFill>
                  <a:srgbClr val="34433B"/>
                </a:solidFill>
                <a:latin typeface="Consolas" pitchFamily="34" charset="0"/>
                <a:ea typeface="Consolas" pitchFamily="34" charset="-122"/>
                <a:cs typeface="Consolas" pitchFamily="34" charset="-120"/>
              </a:rPr>
              <a:t>input(int8)</a:t>
            </a:r>
            <a:endParaRPr lang="en-US" sz="1100" dirty="0"/>
          </a:p>
        </p:txBody>
      </p:sp>
      <p:sp>
        <p:nvSpPr>
          <p:cNvPr id="59" name="!!p10">
            <a:extLst>
              <a:ext uri="{C183D7F6-B498-43B3-948B-1728B52AA6E4}">
                <adec:decorative xmlns:adec="http://schemas.microsoft.com/office/drawing/2017/decorative" val="1"/>
              </a:ext>
            </a:extLst>
          </p:cNvPr>
          <p:cNvSpPr txBox="1"/>
          <p:nvPr/>
        </p:nvSpPr>
        <p:spPr>
          <a:xfrm>
            <a:off x="-1045210" y="5728327"/>
            <a:ext cx="679450" cy="236474"/>
          </a:xfrm>
          <a:prstGeom prst="rect">
            <a:avLst/>
          </a:prstGeom>
          <a:noFill/>
          <a:ln/>
        </p:spPr>
        <p:txBody>
          <a:bodyPr wrap="none" lIns="0" tIns="0" rIns="0" bIns="0" rtlCol="0" anchor="ctr"/>
          <a:lstStyle/>
          <a:p>
            <a:pPr indent="0" marL="0">
              <a:buNone/>
            </a:pPr>
            <a:r>
              <a:rPr lang="en-US" sz="1100" dirty="0">
                <a:solidFill>
                  <a:srgbClr val="3A4A42"/>
                </a:solidFill>
                <a:latin typeface="Consolas" pitchFamily="34" charset="0"/>
                <a:ea typeface="Consolas" pitchFamily="34" charset="-122"/>
                <a:cs typeface="Consolas" pitchFamily="34" charset="-120"/>
              </a:rPr>
              <a:t>(a+b)+c</a:t>
            </a:r>
            <a:endParaRPr lang="en-US" sz="11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5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685800" y="347472"/>
            <a:ext cx="87782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Consolas" pitchFamily="34" charset="0"/>
                <a:ea typeface="Consolas" pitchFamily="34" charset="-122"/>
                <a:cs typeface="Consolas" pitchFamily="34" charset="-120"/>
              </a:rPr>
              <a:t>03 // THE PROOFS</a:t>
            </a:r>
            <a:endParaRPr lang="en-US" sz="1200" dirty="0"/>
          </a:p>
        </p:txBody>
      </p:sp>
      <p:sp>
        <p:nvSpPr>
          <p:cNvPr id="3" name="Text 0"/>
          <p:cNvSpPr/>
          <p:nvPr>
            <p:ph idx="100" type="title" hasCustomPrompt="1"/>
          </p:nvPr>
        </p:nvSpPr>
        <p:spPr>
          <a:xfrm>
            <a:off x="685800" y="676656"/>
            <a:ext cx="9326880" cy="658368"/>
          </a:xfrm>
          <a:prstGeom prst="rect">
            <a:avLst/>
          </a:prstGeom>
          <a:noFill/>
          <a:ln/>
        </p:spPr>
        <p:txBody>
          <a:bodyPr wrap="square" lIns="0" tIns="0" rIns="0" bIns="0" rtlCol="0" anchor="t"/>
          <a:lstStyle/>
          <a:p>
            <a:pPr algn="l" indent="0" marL="0">
              <a:buNone/>
            </a:pPr>
            <a:r>
              <a:rPr lang="en-US" sz="3000" dirty="0">
                <a:solidFill>
                  <a:schemeClr val="bg1"/>
                </a:solidFill>
                <a:latin typeface="Segoe UI Semibold" pitchFamily="34" charset="0"/>
                <a:ea typeface="Segoe UI Semibold" pitchFamily="34" charset="-122"/>
                <a:cs typeface="Segoe UI Semibold" pitchFamily="34" charset="-120"/>
              </a:rPr>
              <a:t>Domains in, proofs through, certificates out</a:t>
            </a:r>
            <a:endParaRPr lang="en-US" sz="3000" dirty="0"/>
          </a:p>
        </p:txBody>
      </p:sp>
      <p:sp>
        <p:nvSpPr>
          <p:cNvPr id="4" name="!!vL"/>
          <p:cNvSpPr/>
          <p:nvPr/>
        </p:nvSpPr>
        <p:spPr>
          <a:xfrm>
            <a:off x="10241280" y="356616"/>
            <a:ext cx="54864" cy="256032"/>
          </a:xfrm>
          <a:custGeom>
            <a:avLst/>
            <a:gdLst/>
            <a:ahLst/>
            <a:cxnLst/>
            <a:rect l="l" t="t" r="r" b="b"/>
            <a:pathLst>
              <a:path w="54864" h="256032">
                <a:moveTo>
                  <a:pt x="54864" y="0"/>
                </a:moveTo>
                <a:lnTo>
                  <a:pt x="0" y="0"/>
                </a:lnTo>
                <a:lnTo>
                  <a:pt x="0" y="256032"/>
                </a:lnTo>
                <a:lnTo>
                  <a:pt x="54864" y="256032"/>
                </a:lnTo>
              </a:path>
            </a:pathLst>
          </a:custGeom>
          <a:noFill/>
          <a:ln w="12700">
            <a:solidFill>
              <a:srgbClr val="4A514D"/>
            </a:solidFill>
            <a:prstDash val="solid"/>
          </a:ln>
        </p:spPr>
      </p:sp>
      <p:sp>
        <p:nvSpPr>
          <p:cNvPr id="5" name="!!vR"/>
          <p:cNvSpPr/>
          <p:nvPr/>
        </p:nvSpPr>
        <p:spPr>
          <a:xfrm>
            <a:off x="11448288" y="356616"/>
            <a:ext cx="54864" cy="256032"/>
          </a:xfrm>
          <a:custGeom>
            <a:avLst/>
            <a:gdLst/>
            <a:ahLst/>
            <a:cxnLst/>
            <a:rect l="l" t="t" r="r" b="b"/>
            <a:pathLst>
              <a:path w="54864" h="256032">
                <a:moveTo>
                  <a:pt x="0" y="0"/>
                </a:moveTo>
                <a:lnTo>
                  <a:pt x="54864" y="0"/>
                </a:lnTo>
                <a:lnTo>
                  <a:pt x="54864" y="256032"/>
                </a:lnTo>
                <a:lnTo>
                  <a:pt x="0" y="256032"/>
                </a:lnTo>
              </a:path>
            </a:pathLst>
          </a:custGeom>
          <a:noFill/>
          <a:ln w="12700">
            <a:solidFill>
              <a:srgbClr val="4A514D"/>
            </a:solidFill>
            <a:prstDash val="solid"/>
          </a:ln>
        </p:spPr>
      </p:sp>
      <p:sp>
        <p:nvSpPr>
          <p:cNvPr id="6" name="!!e1"/>
          <p:cNvSpPr txBox="1"/>
          <p:nvPr/>
        </p:nvSpPr>
        <p:spPr>
          <a:xfrm>
            <a:off x="10341864" y="347472"/>
            <a:ext cx="146304" cy="274320"/>
          </a:xfrm>
          <a:prstGeom prst="rect">
            <a:avLst/>
          </a:prstGeom>
          <a:noFill/>
          <a:ln/>
        </p:spPr>
        <p:txBody>
          <a:bodyPr wrap="square" lIns="0" tIns="0" rIns="0" bIns="0" rtlCol="0" anchor="ctr"/>
          <a:lstStyle/>
          <a:p>
            <a:pPr algn="ctr" indent="0" marL="0">
              <a:buNone/>
            </a:pPr>
            <a:r>
              <a:rPr lang="en-US" sz="1200" dirty="0">
                <a:solidFill>
                  <a:srgbClr val="4A514D"/>
                </a:solidFill>
                <a:latin typeface="Consolas" pitchFamily="34" charset="0"/>
                <a:ea typeface="Consolas" pitchFamily="34" charset="-122"/>
                <a:cs typeface="Consolas" pitchFamily="34" charset="-120"/>
              </a:rPr>
              <a:t>0</a:t>
            </a:r>
            <a:endParaRPr lang="en-US" sz="1200" dirty="0"/>
          </a:p>
        </p:txBody>
      </p:sp>
      <p:sp>
        <p:nvSpPr>
          <p:cNvPr id="7" name="!!e2"/>
          <p:cNvSpPr txBox="1"/>
          <p:nvPr/>
        </p:nvSpPr>
        <p:spPr>
          <a:xfrm>
            <a:off x="10492740" y="347472"/>
            <a:ext cx="146304" cy="274320"/>
          </a:xfrm>
          <a:prstGeom prst="rect">
            <a:avLst/>
          </a:prstGeom>
          <a:noFill/>
          <a:ln/>
        </p:spPr>
        <p:txBody>
          <a:bodyPr wrap="square" lIns="0" tIns="0" rIns="0" bIns="0" rtlCol="0" anchor="ctr"/>
          <a:lstStyle/>
          <a:p>
            <a:pPr algn="ctr" indent="0" marL="0">
              <a:buNone/>
            </a:pPr>
            <a:r>
              <a:rPr lang="en-US" sz="1200" dirty="0">
                <a:solidFill>
                  <a:srgbClr val="4A514D"/>
                </a:solidFill>
                <a:latin typeface="Consolas" pitchFamily="34" charset="0"/>
                <a:ea typeface="Consolas" pitchFamily="34" charset="-122"/>
                <a:cs typeface="Consolas" pitchFamily="34" charset="-120"/>
              </a:rPr>
              <a:t>0</a:t>
            </a:r>
            <a:endParaRPr lang="en-US" sz="1200" dirty="0"/>
          </a:p>
        </p:txBody>
      </p:sp>
      <p:sp>
        <p:nvSpPr>
          <p:cNvPr id="8" name="!!e3"/>
          <p:cNvSpPr txBox="1"/>
          <p:nvPr/>
        </p:nvSpPr>
        <p:spPr>
          <a:xfrm>
            <a:off x="10643616" y="347472"/>
            <a:ext cx="146304" cy="274320"/>
          </a:xfrm>
          <a:prstGeom prst="rect">
            <a:avLst/>
          </a:prstGeom>
          <a:noFill/>
          <a:ln/>
        </p:spPr>
        <p:txBody>
          <a:bodyPr wrap="square" lIns="0" tIns="0" rIns="0" bIns="0" rtlCol="0" anchor="ctr"/>
          <a:lstStyle/>
          <a:p>
            <a:pPr algn="ctr" indent="0" marL="0">
              <a:buNone/>
            </a:pPr>
            <a:r>
              <a:rPr lang="en-US" sz="1200" dirty="0">
                <a:solidFill>
                  <a:srgbClr val="4A514D"/>
                </a:solidFill>
                <a:latin typeface="Consolas" pitchFamily="34" charset="0"/>
                <a:ea typeface="Consolas" pitchFamily="34" charset="-122"/>
                <a:cs typeface="Consolas" pitchFamily="34" charset="-120"/>
              </a:rPr>
              <a:t>0</a:t>
            </a:r>
            <a:endParaRPr lang="en-US" sz="1200" dirty="0"/>
          </a:p>
        </p:txBody>
      </p:sp>
      <p:sp>
        <p:nvSpPr>
          <p:cNvPr id="9" name="!!e4"/>
          <p:cNvSpPr txBox="1"/>
          <p:nvPr/>
        </p:nvSpPr>
        <p:spPr>
          <a:xfrm>
            <a:off x="10794492" y="347472"/>
            <a:ext cx="146304" cy="274320"/>
          </a:xfrm>
          <a:prstGeom prst="rect">
            <a:avLst/>
          </a:prstGeom>
          <a:noFill/>
          <a:ln/>
        </p:spPr>
        <p:txBody>
          <a:bodyPr wrap="square" lIns="0" tIns="0" rIns="0" bIns="0" rtlCol="0" anchor="ctr"/>
          <a:lstStyle/>
          <a:p>
            <a:pPr algn="ctr" indent="0" marL="0">
              <a:buNone/>
            </a:pPr>
            <a:r>
              <a:rPr lang="en-US" sz="1200" b="1" dirty="0">
                <a:solidFill>
                  <a:schemeClr val="accent1"/>
                </a:solidFill>
                <a:latin typeface="Consolas" pitchFamily="34" charset="0"/>
                <a:ea typeface="Consolas" pitchFamily="34" charset="-122"/>
                <a:cs typeface="Consolas" pitchFamily="34" charset="-120"/>
              </a:rPr>
              <a:t>1</a:t>
            </a:r>
            <a:endParaRPr lang="en-US" sz="1200" dirty="0"/>
          </a:p>
        </p:txBody>
      </p:sp>
      <p:sp>
        <p:nvSpPr>
          <p:cNvPr id="10" name="!!e5"/>
          <p:cNvSpPr txBox="1"/>
          <p:nvPr/>
        </p:nvSpPr>
        <p:spPr>
          <a:xfrm>
            <a:off x="10945368" y="347472"/>
            <a:ext cx="146304" cy="274320"/>
          </a:xfrm>
          <a:prstGeom prst="rect">
            <a:avLst/>
          </a:prstGeom>
          <a:noFill/>
          <a:ln/>
        </p:spPr>
        <p:txBody>
          <a:bodyPr wrap="square" lIns="0" tIns="0" rIns="0" bIns="0" rtlCol="0" anchor="ctr"/>
          <a:lstStyle/>
          <a:p>
            <a:pPr algn="ctr" indent="0" marL="0">
              <a:buNone/>
            </a:pPr>
            <a:r>
              <a:rPr lang="en-US" sz="1200" dirty="0">
                <a:solidFill>
                  <a:srgbClr val="4A514D"/>
                </a:solidFill>
                <a:latin typeface="Consolas" pitchFamily="34" charset="0"/>
                <a:ea typeface="Consolas" pitchFamily="34" charset="-122"/>
                <a:cs typeface="Consolas" pitchFamily="34" charset="-120"/>
              </a:rPr>
              <a:t>0</a:t>
            </a:r>
            <a:endParaRPr lang="en-US" sz="1200" dirty="0"/>
          </a:p>
        </p:txBody>
      </p:sp>
      <p:sp>
        <p:nvSpPr>
          <p:cNvPr id="11" name="!!e6"/>
          <p:cNvSpPr txBox="1"/>
          <p:nvPr/>
        </p:nvSpPr>
        <p:spPr>
          <a:xfrm>
            <a:off x="11096244" y="347472"/>
            <a:ext cx="146304" cy="274320"/>
          </a:xfrm>
          <a:prstGeom prst="rect">
            <a:avLst/>
          </a:prstGeom>
          <a:noFill/>
          <a:ln/>
        </p:spPr>
        <p:txBody>
          <a:bodyPr wrap="square" lIns="0" tIns="0" rIns="0" bIns="0" rtlCol="0" anchor="ctr"/>
          <a:lstStyle/>
          <a:p>
            <a:pPr algn="ctr" indent="0" marL="0">
              <a:buNone/>
            </a:pPr>
            <a:r>
              <a:rPr lang="en-US" sz="1200" dirty="0">
                <a:solidFill>
                  <a:srgbClr val="4A514D"/>
                </a:solidFill>
                <a:latin typeface="Consolas" pitchFamily="34" charset="0"/>
                <a:ea typeface="Consolas" pitchFamily="34" charset="-122"/>
                <a:cs typeface="Consolas" pitchFamily="34" charset="-120"/>
              </a:rPr>
              <a:t>0</a:t>
            </a:r>
            <a:endParaRPr lang="en-US" sz="1200" dirty="0"/>
          </a:p>
        </p:txBody>
      </p:sp>
      <p:sp>
        <p:nvSpPr>
          <p:cNvPr id="12" name="!!e7"/>
          <p:cNvSpPr txBox="1"/>
          <p:nvPr/>
        </p:nvSpPr>
        <p:spPr>
          <a:xfrm>
            <a:off x="11247120" y="347472"/>
            <a:ext cx="146304" cy="274320"/>
          </a:xfrm>
          <a:prstGeom prst="rect">
            <a:avLst/>
          </a:prstGeom>
          <a:noFill/>
          <a:ln/>
        </p:spPr>
        <p:txBody>
          <a:bodyPr wrap="square" lIns="0" tIns="0" rIns="0" bIns="0" rtlCol="0" anchor="ctr"/>
          <a:lstStyle/>
          <a:p>
            <a:pPr algn="ctr" indent="0" marL="0">
              <a:buNone/>
            </a:pPr>
            <a:r>
              <a:rPr lang="en-US" sz="1200" dirty="0">
                <a:solidFill>
                  <a:srgbClr val="4A514D"/>
                </a:solidFill>
                <a:latin typeface="Consolas" pitchFamily="34" charset="0"/>
                <a:ea typeface="Consolas" pitchFamily="34" charset="-122"/>
                <a:cs typeface="Consolas" pitchFamily="34" charset="-120"/>
              </a:rPr>
              <a:t>0</a:t>
            </a:r>
            <a:endParaRPr lang="en-US" sz="1200" dirty="0"/>
          </a:p>
        </p:txBody>
      </p:sp>
      <p:sp>
        <p:nvSpPr>
          <p:cNvPr id="13" name="!!logo"/>
          <p:cNvSpPr txBox="1"/>
          <p:nvPr/>
        </p:nvSpPr>
        <p:spPr>
          <a:xfrm>
            <a:off x="685800" y="6382512"/>
            <a:ext cx="2011680" cy="274320"/>
          </a:xfrm>
          <a:prstGeom prst="rect">
            <a:avLst/>
          </a:prstGeom>
          <a:noFill/>
          <a:ln/>
        </p:spPr>
        <p:txBody>
          <a:bodyPr wrap="square" lIns="0" tIns="0" rIns="0" bIns="0" rtlCol="0" anchor="ctr"/>
          <a:lstStyle/>
          <a:p>
            <a:pPr indent="0" marL="0">
              <a:buNone/>
            </a:pPr>
            <a:r>
              <a:rPr lang="en-US" sz="1300" dirty="0">
                <a:solidFill>
                  <a:schemeClr val="bg1"/>
                </a:solidFill>
                <a:latin typeface="Segoe UI Black" pitchFamily="34" charset="0"/>
                <a:ea typeface="Segoe UI Black" pitchFamily="34" charset="-122"/>
                <a:cs typeface="Segoe UI Black" pitchFamily="34" charset="-120"/>
              </a:rPr>
              <a:t>Matrix</a:t>
            </a:r>
            <a:pPr indent="0" marL="0">
              <a:buNone/>
            </a:pPr>
            <a:r>
              <a:rPr lang="en-US" sz="1300" dirty="0">
                <a:solidFill>
                  <a:schemeClr val="accent1"/>
                </a:solidFill>
                <a:latin typeface="Segoe UI Black" pitchFamily="34" charset="0"/>
                <a:ea typeface="Segoe UI Black" pitchFamily="34" charset="-122"/>
                <a:cs typeface="Segoe UI Black" pitchFamily="34" charset="-120"/>
              </a:rPr>
              <a:t>Lang</a:t>
            </a:r>
            <a:endParaRPr lang="en-US" sz="1300" dirty="0"/>
          </a:p>
        </p:txBody>
      </p:sp>
      <p:sp>
        <p:nvSpPr>
          <p:cNvPr id="14" name="!!repo"/>
          <p:cNvSpPr txBox="1"/>
          <p:nvPr/>
        </p:nvSpPr>
        <p:spPr>
          <a:xfrm>
            <a:off x="7662672" y="6382512"/>
            <a:ext cx="3840480" cy="274320"/>
          </a:xfrm>
          <a:prstGeom prst="rect">
            <a:avLst/>
          </a:prstGeom>
          <a:noFill/>
          <a:ln/>
        </p:spPr>
        <p:txBody>
          <a:bodyPr wrap="square" lIns="0" tIns="0" rIns="0" bIns="0" rtlCol="0" anchor="ctr"/>
          <a:lstStyle/>
          <a:p>
            <a:pPr algn="r" indent="0" marL="0">
              <a:buNone/>
            </a:pPr>
            <a:r>
              <a:rPr lang="en-US" sz="1100" u="sng" dirty="0">
                <a:solidFill>
                  <a:schemeClr val="accent1"/>
                </a:solidFill>
                <a:latin typeface="Consolas" pitchFamily="34" charset="0"/>
                <a:ea typeface="Consolas" pitchFamily="34" charset="-122"/>
                <a:cs typeface="Consolas" pitchFamily="34" charset="-120"/>
                <a:hlinkClick r:id="rId1" invalidUrl="" action="" tgtFrame="" tooltip="Open the MatrixLang repository" history="1" highlightClick="0" endSnd="0">
                  <a:extLst>
                    <a:ext uri="{A12FA001-AC4F-418D-AE19-62706E023703}">
                      <ahyp:hlinkClr xmlns:ahyp="http://schemas.microsoft.com/office/drawing/2018/hyperlinkcolor" val="tx"/>
                    </a:ext>
                  </a:extLst>
                </a:hlinkClick>
              </a:rPr>
              <a:t>github.com/aswanth-07/matrixlang</a:t>
            </a:r>
            <a:endParaRPr lang="en-US" sz="1100" dirty="0"/>
          </a:p>
        </p:txBody>
      </p:sp>
      <p:sp>
        <p:nvSpPr>
          <p:cNvPr id="15" name="!!cell1"/>
          <p:cNvSpPr/>
          <p:nvPr/>
        </p:nvSpPr>
        <p:spPr>
          <a:xfrm>
            <a:off x="685800" y="1572768"/>
            <a:ext cx="5120640" cy="868680"/>
          </a:xfrm>
          <a:prstGeom prst="roundRect">
            <a:avLst>
              <a:gd name="adj" fmla="val 6316"/>
            </a:avLst>
          </a:prstGeom>
          <a:solidFill>
            <a:srgbClr val="0A0C0B"/>
          </a:solidFill>
          <a:ln w="9525">
            <a:solidFill>
              <a:srgbClr val="1F2523"/>
            </a:solidFill>
          </a:ln>
        </p:spPr>
        <p:txBody>
          <a:bodyPr wrap="square" lIns="152400" tIns="114300" rIns="127000" bIns="101600" rtlCol="0" anchor="t"/>
          <a:lstStyle/>
          <a:p>
            <a:pPr algn="l" indent="0" marL="0">
              <a:buNone/>
            </a:pPr>
            <a:r>
              <a:rPr lang="en-US" sz="1100" b="1" spc="150" kern="0" dirty="0">
                <a:solidFill>
                  <a:schemeClr val="accent1"/>
                </a:solidFill>
                <a:latin typeface="Consolas" pitchFamily="34" charset="0"/>
                <a:ea typeface="Consolas" pitchFamily="34" charset="-122"/>
                <a:cs typeface="Consolas" pitchFamily="34" charset="-120"/>
              </a:rPr>
              <a:t>1  DECLARE</a:t>
            </a:r>
            <a:endParaRPr lang="en-US" sz="1200" dirty="0"/>
          </a:p>
          <a:p>
            <a:pPr algn="l" indent="0" marL="0">
              <a:spcBef>
                <a:spcPts val="400"/>
              </a:spcBef>
              <a:buNone/>
            </a:pPr>
            <a:r>
              <a:rPr lang="en-US" sz="1300" dirty="0">
                <a:solidFill>
                  <a:srgbClr val="52B788"/>
                </a:solidFill>
                <a:latin typeface="Consolas" pitchFamily="34" charset="0"/>
                <a:ea typeface="Consolas" pitchFamily="34" charset="-122"/>
                <a:cs typeface="Consolas" pitchFamily="34" charset="-120"/>
              </a:rPr>
              <a:t>matrix</a:t>
            </a:r>
            <a:pPr algn="l" indent="0" marL="0">
              <a:buNone/>
            </a:pPr>
            <a:r>
              <a:rPr lang="en-US" sz="1300" dirty="0">
                <a:solidFill>
                  <a:srgbClr val="8E9590"/>
                </a:solidFill>
                <a:latin typeface="Consolas" pitchFamily="34" charset="0"/>
                <a:ea typeface="Consolas" pitchFamily="34" charset="-122"/>
                <a:cs typeface="Consolas" pitchFamily="34" charset="-120"/>
              </a:rPr>
              <a:t> </a:t>
            </a:r>
            <a:pPr algn="l" indent="0" marL="0">
              <a:buNone/>
            </a:pPr>
            <a:r>
              <a:rPr lang="en-US" sz="1300" dirty="0">
                <a:solidFill>
                  <a:srgbClr val="E6EAE8"/>
                </a:solidFill>
                <a:latin typeface="Consolas" pitchFamily="34" charset="0"/>
                <a:ea typeface="Consolas" pitchFamily="34" charset="-122"/>
                <a:cs typeface="Consolas" pitchFamily="34" charset="-120"/>
              </a:rPr>
              <a:t>A</a:t>
            </a:r>
            <a:pPr algn="l" indent="0" marL="0">
              <a:buNone/>
            </a:pPr>
            <a:r>
              <a:rPr lang="en-US" sz="1300" dirty="0">
                <a:solidFill>
                  <a:srgbClr val="8E9590"/>
                </a:solidFill>
                <a:latin typeface="Consolas" pitchFamily="34" charset="0"/>
                <a:ea typeface="Consolas" pitchFamily="34" charset="-122"/>
                <a:cs typeface="Consolas" pitchFamily="34" charset="-120"/>
              </a:rPr>
              <a:t>[</a:t>
            </a:r>
            <a:pPr algn="l" indent="0" marL="0">
              <a:buNone/>
            </a:pPr>
            <a:r>
              <a:rPr lang="en-US" sz="1300" dirty="0">
                <a:solidFill>
                  <a:srgbClr val="D5DAD7"/>
                </a:solidFill>
                <a:latin typeface="Consolas" pitchFamily="34" charset="0"/>
                <a:ea typeface="Consolas" pitchFamily="34" charset="-122"/>
                <a:cs typeface="Consolas" pitchFamily="34" charset="-120"/>
              </a:rPr>
              <a:t>40,2</a:t>
            </a:r>
            <a:pPr algn="l" indent="0" marL="0">
              <a:buNone/>
            </a:pPr>
            <a:r>
              <a:rPr lang="en-US" sz="1300" dirty="0">
                <a:solidFill>
                  <a:srgbClr val="8E9590"/>
                </a:solidFill>
                <a:latin typeface="Consolas" pitchFamily="34" charset="0"/>
                <a:ea typeface="Consolas" pitchFamily="34" charset="-122"/>
                <a:cs typeface="Consolas" pitchFamily="34" charset="-120"/>
              </a:rPr>
              <a:t>]</a:t>
            </a:r>
            <a:pPr algn="l" indent="0" marL="0">
              <a:buNone/>
            </a:pPr>
            <a:r>
              <a:rPr lang="en-US" sz="1300" dirty="0">
                <a:solidFill>
                  <a:srgbClr val="8E9590"/>
                </a:solidFill>
                <a:latin typeface="Consolas" pitchFamily="34" charset="0"/>
                <a:ea typeface="Consolas" pitchFamily="34" charset="-122"/>
                <a:cs typeface="Consolas" pitchFamily="34" charset="-120"/>
              </a:rPr>
              <a:t> </a:t>
            </a:r>
            <a:pPr algn="l" indent="0" marL="0">
              <a:buNone/>
            </a:pPr>
            <a:r>
              <a:rPr lang="en-US" sz="1300" dirty="0">
                <a:solidFill>
                  <a:srgbClr val="8E9590"/>
                </a:solidFill>
                <a:latin typeface="Consolas" pitchFamily="34" charset="0"/>
                <a:ea typeface="Consolas" pitchFamily="34" charset="-122"/>
                <a:cs typeface="Consolas" pitchFamily="34" charset="-120"/>
              </a:rPr>
              <a:t>=</a:t>
            </a:r>
            <a:pPr algn="l" indent="0" marL="0">
              <a:buNone/>
            </a:pPr>
            <a:r>
              <a:rPr lang="en-US" sz="1300" dirty="0">
                <a:solidFill>
                  <a:srgbClr val="8E9590"/>
                </a:solidFill>
                <a:latin typeface="Consolas" pitchFamily="34" charset="0"/>
                <a:ea typeface="Consolas" pitchFamily="34" charset="-122"/>
                <a:cs typeface="Consolas" pitchFamily="34" charset="-120"/>
              </a:rPr>
              <a:t> </a:t>
            </a:r>
            <a:pPr algn="l" indent="0" marL="0">
              <a:buNone/>
            </a:pPr>
            <a:r>
              <a:rPr lang="en-US" sz="1300" dirty="0">
                <a:solidFill>
                  <a:srgbClr val="9CC9B2"/>
                </a:solidFill>
                <a:latin typeface="Consolas" pitchFamily="34" charset="0"/>
                <a:ea typeface="Consolas" pitchFamily="34" charset="-122"/>
                <a:cs typeface="Consolas" pitchFamily="34" charset="-120"/>
              </a:rPr>
              <a:t>input</a:t>
            </a:r>
            <a:pPr algn="l" indent="0" marL="0">
              <a:buNone/>
            </a:pPr>
            <a:r>
              <a:rPr lang="en-US" sz="1300" dirty="0">
                <a:solidFill>
                  <a:srgbClr val="8E9590"/>
                </a:solidFill>
                <a:latin typeface="Consolas" pitchFamily="34" charset="0"/>
                <a:ea typeface="Consolas" pitchFamily="34" charset="-122"/>
                <a:cs typeface="Consolas" pitchFamily="34" charset="-120"/>
              </a:rPr>
              <a:t>(</a:t>
            </a:r>
            <a:pPr algn="l" indent="0" marL="0">
              <a:buNone/>
            </a:pPr>
            <a:r>
              <a:rPr lang="en-US" sz="1300" dirty="0">
                <a:solidFill>
                  <a:srgbClr val="7DB597"/>
                </a:solidFill>
                <a:latin typeface="Consolas" pitchFamily="34" charset="0"/>
                <a:ea typeface="Consolas" pitchFamily="34" charset="-122"/>
                <a:cs typeface="Consolas" pitchFamily="34" charset="-120"/>
              </a:rPr>
              <a:t>int8</a:t>
            </a:r>
            <a:pPr algn="l" indent="0" marL="0">
              <a:buNone/>
            </a:pPr>
            <a:r>
              <a:rPr lang="en-US" sz="1300" dirty="0">
                <a:solidFill>
                  <a:srgbClr val="8E9590"/>
                </a:solidFill>
                <a:latin typeface="Consolas" pitchFamily="34" charset="0"/>
                <a:ea typeface="Consolas" pitchFamily="34" charset="-122"/>
                <a:cs typeface="Consolas" pitchFamily="34" charset="-120"/>
              </a:rPr>
              <a:t>)</a:t>
            </a:r>
            <a:pPr algn="l" indent="0" marL="0">
              <a:buNone/>
            </a:pPr>
            <a:r>
              <a:rPr lang="en-US" sz="1300" dirty="0">
                <a:solidFill>
                  <a:srgbClr val="8E9590"/>
                </a:solidFill>
                <a:latin typeface="Consolas" pitchFamily="34" charset="0"/>
                <a:ea typeface="Consolas" pitchFamily="34" charset="-122"/>
                <a:cs typeface="Consolas" pitchFamily="34" charset="-120"/>
              </a:rPr>
              <a:t>;</a:t>
            </a:r>
            <a:endParaRPr lang="en-US" sz="1200" dirty="0"/>
          </a:p>
          <a:p>
            <a:pPr algn="l" indent="0" marL="0">
              <a:spcBef>
                <a:spcPts val="400"/>
              </a:spcBef>
              <a:buNone/>
            </a:pPr>
            <a:r>
              <a:rPr lang="en-US" sz="1250" dirty="0">
                <a:solidFill>
                  <a:schemeClr val="accent4"/>
                </a:solidFill>
                <a:latin typeface="Segoe UI" pitchFamily="34" charset="0"/>
                <a:ea typeface="Segoe UI" pitchFamily="34" charset="-122"/>
                <a:cs typeface="Segoe UI" pitchFamily="34" charset="-120"/>
              </a:rPr>
              <a:t>Checked against its domain at load time, before execution.</a:t>
            </a:r>
            <a:endParaRPr lang="en-US" sz="1200" dirty="0"/>
          </a:p>
        </p:txBody>
      </p:sp>
      <p:sp>
        <p:nvSpPr>
          <p:cNvPr id="16" name="!!cell2"/>
          <p:cNvSpPr/>
          <p:nvPr/>
        </p:nvSpPr>
        <p:spPr>
          <a:xfrm>
            <a:off x="685800" y="2551176"/>
            <a:ext cx="5120640" cy="1234440"/>
          </a:xfrm>
          <a:prstGeom prst="roundRect">
            <a:avLst>
              <a:gd name="adj" fmla="val 4444"/>
            </a:avLst>
          </a:prstGeom>
          <a:solidFill>
            <a:srgbClr val="0A0C0B"/>
          </a:solidFill>
          <a:ln w="9525">
            <a:solidFill>
              <a:srgbClr val="1F2523"/>
            </a:solidFill>
          </a:ln>
        </p:spPr>
        <p:txBody>
          <a:bodyPr wrap="square" lIns="152400" tIns="114300" rIns="127000" bIns="101600" rtlCol="0" anchor="t"/>
          <a:lstStyle/>
          <a:p>
            <a:pPr algn="l" indent="0" marL="0">
              <a:buNone/>
            </a:pPr>
            <a:r>
              <a:rPr lang="en-US" sz="1100" b="1" spc="150" kern="0" dirty="0">
                <a:solidFill>
                  <a:schemeClr val="accent1"/>
                </a:solidFill>
                <a:latin typeface="Consolas" pitchFamily="34" charset="0"/>
                <a:ea typeface="Consolas" pitchFamily="34" charset="-122"/>
                <a:cs typeface="Consolas" pitchFamily="34" charset="-120"/>
              </a:rPr>
              <a:t>2  TRACK FACTS</a:t>
            </a:r>
            <a:endParaRPr lang="en-US" sz="1200" dirty="0"/>
          </a:p>
          <a:p>
            <a:pPr algn="l" indent="0" marL="0">
              <a:spcBef>
                <a:spcPts val="400"/>
              </a:spcBef>
              <a:buNone/>
            </a:pPr>
            <a:r>
              <a:rPr lang="en-US" sz="1250" dirty="0">
                <a:solidFill>
                  <a:schemeClr val="accent4"/>
                </a:solidFill>
                <a:latin typeface="Segoe UI" pitchFamily="34" charset="0"/>
                <a:ea typeface="Segoe UI" pitchFamily="34" charset="-122"/>
                <a:cs typeface="Segoe UI" pitchFamily="34" charset="-120"/>
              </a:rPr>
              <a:t>Each entry is a multiple of 2</a:t>
            </a:r>
            <a:pPr algn="l" indent="0" marL="0">
              <a:buNone/>
            </a:pPr>
            <a:r>
              <a:rPr lang="en-US" sz="1250" baseline="30000" dirty="0">
                <a:solidFill>
                  <a:schemeClr val="accent4"/>
                </a:solidFill>
                <a:latin typeface="Segoe UI" pitchFamily="34" charset="0"/>
                <a:ea typeface="Segoe UI" pitchFamily="34" charset="-122"/>
                <a:cs typeface="Segoe UI" pitchFamily="34" charset="-120"/>
              </a:rPr>
              <a:t>g</a:t>
            </a:r>
            <a:pPr algn="l" indent="0" marL="0">
              <a:buNone/>
            </a:pPr>
            <a:r>
              <a:rPr lang="en-US" sz="1250" dirty="0">
                <a:solidFill>
                  <a:schemeClr val="accent4"/>
                </a:solidFill>
                <a:latin typeface="Segoe UI" pitchFamily="34" charset="0"/>
                <a:ea typeface="Segoe UI" pitchFamily="34" charset="-122"/>
                <a:cs typeface="Segoe UI" pitchFamily="34" charset="-120"/>
              </a:rPr>
              <a:t>, at most m in size. For int8:</a:t>
            </a:r>
            <a:endParaRPr lang="en-US" sz="1200" dirty="0"/>
          </a:p>
        </p:txBody>
      </p:sp>
      <p:sp>
        <p:nvSpPr>
          <p:cNvPr id="17" name="!!cell5"/>
          <p:cNvSpPr/>
          <p:nvPr/>
        </p:nvSpPr>
        <p:spPr>
          <a:xfrm>
            <a:off x="868680" y="3310128"/>
            <a:ext cx="877824" cy="347472"/>
          </a:xfrm>
          <a:prstGeom prst="roundRect">
            <a:avLst>
              <a:gd name="adj" fmla="val 50000"/>
            </a:avLst>
          </a:prstGeom>
          <a:solidFill>
            <a:srgbClr val="0F1D16"/>
          </a:solidFill>
          <a:ln w="9525">
            <a:solidFill>
              <a:srgbClr val="3F6F57"/>
            </a:solidFill>
          </a:ln>
        </p:spPr>
        <p:txBody>
          <a:bodyPr wrap="square" lIns="0" tIns="0" rIns="0" bIns="0" rtlCol="0" anchor="ctr"/>
          <a:lstStyle/>
          <a:p>
            <a:pPr algn="ctr" indent="0" marL="0">
              <a:buNone/>
            </a:pPr>
            <a:r>
              <a:rPr lang="en-US" sz="1100" dirty="0">
                <a:solidFill>
                  <a:schemeClr val="accent1"/>
                </a:solidFill>
                <a:latin typeface="Consolas" pitchFamily="34" charset="0"/>
                <a:ea typeface="Consolas" pitchFamily="34" charset="-122"/>
                <a:cs typeface="Consolas" pitchFamily="34" charset="-120"/>
              </a:rPr>
              <a:t>g = 0</a:t>
            </a:r>
            <a:endParaRPr lang="en-US" sz="1200" dirty="0"/>
          </a:p>
        </p:txBody>
      </p:sp>
      <p:sp>
        <p:nvSpPr>
          <p:cNvPr id="18" name="!!cell6"/>
          <p:cNvSpPr/>
          <p:nvPr/>
        </p:nvSpPr>
        <p:spPr>
          <a:xfrm>
            <a:off x="1837944" y="3310128"/>
            <a:ext cx="877824" cy="347472"/>
          </a:xfrm>
          <a:prstGeom prst="roundRect">
            <a:avLst>
              <a:gd name="adj" fmla="val 50000"/>
            </a:avLst>
          </a:prstGeom>
          <a:solidFill>
            <a:srgbClr val="0F1D16"/>
          </a:solidFill>
          <a:ln w="9525">
            <a:solidFill>
              <a:srgbClr val="3F6F57"/>
            </a:solidFill>
          </a:ln>
        </p:spPr>
        <p:txBody>
          <a:bodyPr wrap="square" lIns="0" tIns="0" rIns="0" bIns="0" rtlCol="0" anchor="ctr"/>
          <a:lstStyle/>
          <a:p>
            <a:pPr algn="ctr" indent="0" marL="0">
              <a:buNone/>
            </a:pPr>
            <a:r>
              <a:rPr lang="en-US" sz="1100" dirty="0">
                <a:solidFill>
                  <a:schemeClr val="accent1"/>
                </a:solidFill>
                <a:latin typeface="Consolas" pitchFamily="34" charset="0"/>
                <a:ea typeface="Consolas" pitchFamily="34" charset="-122"/>
                <a:cs typeface="Consolas" pitchFamily="34" charset="-120"/>
              </a:rPr>
              <a:t>m = 128</a:t>
            </a:r>
            <a:endParaRPr lang="en-US" sz="1200" dirty="0"/>
          </a:p>
        </p:txBody>
      </p:sp>
      <p:sp>
        <p:nvSpPr>
          <p:cNvPr id="19" name="!!cell7"/>
          <p:cNvSpPr/>
          <p:nvPr/>
        </p:nvSpPr>
        <p:spPr>
          <a:xfrm>
            <a:off x="2807208" y="3310128"/>
            <a:ext cx="877824" cy="347472"/>
          </a:xfrm>
          <a:prstGeom prst="roundRect">
            <a:avLst>
              <a:gd name="adj" fmla="val 50000"/>
            </a:avLst>
          </a:prstGeom>
          <a:solidFill>
            <a:srgbClr val="0F1D16"/>
          </a:solidFill>
          <a:ln w="9525">
            <a:solidFill>
              <a:srgbClr val="3F6F57"/>
            </a:solidFill>
          </a:ln>
        </p:spPr>
        <p:txBody>
          <a:bodyPr wrap="square" lIns="0" tIns="0" rIns="0" bIns="0" rtlCol="0" anchor="ctr"/>
          <a:lstStyle/>
          <a:p>
            <a:pPr algn="ctr" indent="0" marL="0">
              <a:buNone/>
            </a:pPr>
            <a:r>
              <a:rPr lang="en-US" sz="1100" dirty="0">
                <a:solidFill>
                  <a:schemeClr val="accent1"/>
                </a:solidFill>
                <a:latin typeface="Consolas" pitchFamily="34" charset="0"/>
                <a:ea typeface="Consolas" pitchFamily="34" charset="-122"/>
                <a:cs typeface="Consolas" pitchFamily="34" charset="-120"/>
              </a:rPr>
              <a:t>finite</a:t>
            </a:r>
            <a:endParaRPr lang="en-US" sz="1200" dirty="0"/>
          </a:p>
        </p:txBody>
      </p:sp>
      <p:sp>
        <p:nvSpPr>
          <p:cNvPr id="20" name="!!cell8"/>
          <p:cNvSpPr/>
          <p:nvPr/>
        </p:nvSpPr>
        <p:spPr>
          <a:xfrm>
            <a:off x="3776472" y="3310128"/>
            <a:ext cx="877824" cy="347472"/>
          </a:xfrm>
          <a:prstGeom prst="roundRect">
            <a:avLst>
              <a:gd name="adj" fmla="val 50000"/>
            </a:avLst>
          </a:prstGeom>
          <a:solidFill>
            <a:srgbClr val="0B0D0C"/>
          </a:solidFill>
          <a:ln w="9525">
            <a:solidFill>
              <a:srgbClr val="242A27"/>
            </a:solidFill>
          </a:ln>
        </p:spPr>
        <p:txBody>
          <a:bodyPr wrap="square" lIns="0" tIns="0" rIns="0" bIns="0" rtlCol="0" anchor="ctr"/>
          <a:lstStyle/>
          <a:p>
            <a:pPr algn="ctr" indent="0" marL="0">
              <a:buNone/>
            </a:pPr>
            <a:r>
              <a:rPr lang="en-US" sz="1100" dirty="0">
                <a:solidFill>
                  <a:schemeClr val="accent4"/>
                </a:solidFill>
                <a:latin typeface="Consolas" pitchFamily="34" charset="0"/>
                <a:ea typeface="Consolas" pitchFamily="34" charset="-122"/>
                <a:cs typeface="Consolas" pitchFamily="34" charset="-120"/>
              </a:rPr>
              <a:t>signed</a:t>
            </a:r>
            <a:endParaRPr lang="en-US" sz="1200" dirty="0"/>
          </a:p>
        </p:txBody>
      </p:sp>
      <p:sp>
        <p:nvSpPr>
          <p:cNvPr id="21" name="!!cell9"/>
          <p:cNvSpPr/>
          <p:nvPr/>
        </p:nvSpPr>
        <p:spPr>
          <a:xfrm>
            <a:off x="4745736" y="3310128"/>
            <a:ext cx="877824" cy="347472"/>
          </a:xfrm>
          <a:prstGeom prst="roundRect">
            <a:avLst>
              <a:gd name="adj" fmla="val 50000"/>
            </a:avLst>
          </a:prstGeom>
          <a:solidFill>
            <a:srgbClr val="0F1D16"/>
          </a:solidFill>
          <a:ln w="9525">
            <a:solidFill>
              <a:srgbClr val="3F6F57"/>
            </a:solidFill>
          </a:ln>
        </p:spPr>
        <p:txBody>
          <a:bodyPr wrap="square" lIns="0" tIns="0" rIns="0" bIns="0" rtlCol="0" anchor="ctr"/>
          <a:lstStyle/>
          <a:p>
            <a:pPr algn="ctr" indent="0" marL="0">
              <a:buNone/>
            </a:pPr>
            <a:r>
              <a:rPr lang="en-US" sz="1100" dirty="0">
                <a:solidFill>
                  <a:schemeClr val="accent1"/>
                </a:solidFill>
                <a:latin typeface="Consolas" pitchFamily="34" charset="0"/>
                <a:ea typeface="Consolas" pitchFamily="34" charset="-122"/>
                <a:cs typeface="Consolas" pitchFamily="34" charset="-120"/>
              </a:rPr>
              <a:t>no -0</a:t>
            </a:r>
            <a:endParaRPr lang="en-US" sz="1200" dirty="0"/>
          </a:p>
        </p:txBody>
      </p:sp>
      <p:sp>
        <p:nvSpPr>
          <p:cNvPr id="22" name="!!cell3"/>
          <p:cNvSpPr/>
          <p:nvPr/>
        </p:nvSpPr>
        <p:spPr>
          <a:xfrm>
            <a:off x="685800" y="3895344"/>
            <a:ext cx="5120640" cy="868680"/>
          </a:xfrm>
          <a:prstGeom prst="roundRect">
            <a:avLst>
              <a:gd name="adj" fmla="val 6316"/>
            </a:avLst>
          </a:prstGeom>
          <a:solidFill>
            <a:srgbClr val="0A0C0B"/>
          </a:solidFill>
          <a:ln w="9525">
            <a:solidFill>
              <a:srgbClr val="1F2523"/>
            </a:solidFill>
          </a:ln>
        </p:spPr>
        <p:txBody>
          <a:bodyPr wrap="square" lIns="152400" tIns="114300" rIns="127000" bIns="101600" rtlCol="0" anchor="t"/>
          <a:lstStyle/>
          <a:p>
            <a:pPr algn="l" indent="0" marL="0">
              <a:buNone/>
            </a:pPr>
            <a:r>
              <a:rPr lang="en-US" sz="1100" b="1" spc="150" kern="0" dirty="0">
                <a:solidFill>
                  <a:schemeClr val="accent1"/>
                </a:solidFill>
                <a:latin typeface="Consolas" pitchFamily="34" charset="0"/>
                <a:ea typeface="Consolas" pitchFamily="34" charset="-122"/>
                <a:cs typeface="Consolas" pitchFamily="34" charset="-120"/>
              </a:rPr>
              <a:t>3  PROVE</a:t>
            </a:r>
            <a:endParaRPr lang="en-US" sz="1200" dirty="0"/>
          </a:p>
          <a:p>
            <a:pPr algn="l" indent="0" marL="0">
              <a:spcBef>
                <a:spcPts val="400"/>
              </a:spcBef>
              <a:buNone/>
            </a:pPr>
            <a:r>
              <a:rPr lang="en-US" sz="1250" dirty="0">
                <a:solidFill>
                  <a:schemeClr val="accent4"/>
                </a:solidFill>
                <a:latin typeface="Segoe UI" pitchFamily="34" charset="0"/>
                <a:ea typeface="Segoe UI" pitchFamily="34" charset="-122"/>
                <a:cs typeface="Segoe UI" pitchFamily="34" charset="-120"/>
              </a:rPr>
              <a:t>Two theorems give each value-changing rewrite its level:</a:t>
            </a:r>
            <a:endParaRPr lang="en-US" sz="1200" dirty="0"/>
          </a:p>
          <a:p>
            <a:pPr algn="l" indent="0" marL="0">
              <a:spcBef>
                <a:spcPts val="500"/>
              </a:spcBef>
              <a:buNone/>
            </a:pPr>
            <a:r>
              <a:rPr lang="en-US" sz="1050" dirty="0">
                <a:solidFill>
                  <a:schemeClr val="accent4"/>
                </a:solidFill>
                <a:latin typeface="Consolas" pitchFamily="34" charset="0"/>
                <a:ea typeface="Consolas" pitchFamily="34" charset="-122"/>
                <a:cs typeface="Consolas" pitchFamily="34" charset="-120"/>
              </a:rPr>
              <a:t>T1 </a:t>
            </a:r>
            <a:pPr algn="l" indent="0" marL="0">
              <a:buNone/>
            </a:pPr>
            <a:r>
              <a:rPr lang="en-US" sz="1050" dirty="0">
                <a:solidFill>
                  <a:schemeClr val="accent1"/>
                </a:solidFill>
                <a:latin typeface="Consolas" pitchFamily="34" charset="0"/>
                <a:ea typeface="Consolas" pitchFamily="34" charset="-122"/>
                <a:cs typeface="Consolas" pitchFamily="34" charset="-120"/>
              </a:rPr>
              <a:t>bit-identical</a:t>
            </a:r>
            <a:pPr algn="l" indent="0" marL="0">
              <a:buNone/>
            </a:pPr>
            <a:r>
              <a:rPr lang="en-US" sz="1050" dirty="0">
                <a:solidFill>
                  <a:schemeClr val="accent4"/>
                </a:solidFill>
                <a:latin typeface="Consolas" pitchFamily="34" charset="0"/>
                <a:ea typeface="Consolas" pitchFamily="34" charset="-122"/>
                <a:cs typeface="Consolas" pitchFamily="34" charset="-120"/>
              </a:rPr>
              <a:t>   T2 </a:t>
            </a:r>
            <a:pPr algn="l" indent="0" marL="0">
              <a:buNone/>
            </a:pPr>
            <a:r>
              <a:rPr lang="en-US" sz="1050" dirty="0">
                <a:solidFill>
                  <a:schemeClr val="accent2"/>
                </a:solidFill>
                <a:latin typeface="Consolas" pitchFamily="34" charset="0"/>
                <a:ea typeface="Consolas" pitchFamily="34" charset="-122"/>
                <a:cs typeface="Consolas" pitchFamily="34" charset="-120"/>
              </a:rPr>
              <a:t>bound-preserving</a:t>
            </a:r>
            <a:pPr algn="l" indent="0" marL="0">
              <a:buNone/>
            </a:pPr>
            <a:r>
              <a:rPr lang="en-US" sz="1050" dirty="0">
                <a:solidFill>
                  <a:schemeClr val="accent4"/>
                </a:solidFill>
                <a:latin typeface="Consolas" pitchFamily="34" charset="0"/>
                <a:ea typeface="Consolas" pitchFamily="34" charset="-122"/>
                <a:cs typeface="Consolas" pitchFamily="34" charset="-120"/>
              </a:rPr>
              <a:t>   else </a:t>
            </a:r>
            <a:pPr algn="l" indent="0" marL="0">
              <a:buNone/>
            </a:pPr>
            <a:r>
              <a:rPr lang="en-US" sz="1050" dirty="0">
                <a:solidFill>
                  <a:schemeClr val="accent3"/>
                </a:solidFill>
                <a:latin typeface="Consolas" pitchFamily="34" charset="0"/>
                <a:ea typeface="Consolas" pitchFamily="34" charset="-122"/>
                <a:cs typeface="Consolas" pitchFamily="34" charset="-120"/>
              </a:rPr>
              <a:t>relaxed</a:t>
            </a:r>
            <a:endParaRPr lang="en-US" sz="1200" dirty="0"/>
          </a:p>
        </p:txBody>
      </p:sp>
      <p:sp>
        <p:nvSpPr>
          <p:cNvPr id="23" name="!!cell4"/>
          <p:cNvSpPr/>
          <p:nvPr/>
        </p:nvSpPr>
        <p:spPr>
          <a:xfrm>
            <a:off x="685800" y="4873752"/>
            <a:ext cx="5120640" cy="1051560"/>
          </a:xfrm>
          <a:prstGeom prst="roundRect">
            <a:avLst>
              <a:gd name="adj" fmla="val 5217"/>
            </a:avLst>
          </a:prstGeom>
          <a:solidFill>
            <a:srgbClr val="0A0C0B"/>
          </a:solidFill>
          <a:ln w="9525">
            <a:solidFill>
              <a:srgbClr val="1F2523"/>
            </a:solidFill>
          </a:ln>
        </p:spPr>
        <p:txBody>
          <a:bodyPr wrap="square" lIns="152400" tIns="114300" rIns="127000" bIns="101600" rtlCol="0" anchor="t"/>
          <a:lstStyle/>
          <a:p>
            <a:pPr algn="l" indent="0" marL="0">
              <a:buNone/>
            </a:pPr>
            <a:r>
              <a:rPr lang="en-US" sz="1100" b="1" spc="150" kern="0" dirty="0">
                <a:solidFill>
                  <a:schemeClr val="accent1"/>
                </a:solidFill>
                <a:latin typeface="Consolas" pitchFamily="34" charset="0"/>
                <a:ea typeface="Consolas" pitchFamily="34" charset="-122"/>
                <a:cs typeface="Consolas" pitchFamily="34" charset="-120"/>
              </a:rPr>
              <a:t>4  CERTIFY</a:t>
            </a:r>
            <a:endParaRPr lang="en-US" sz="1200" dirty="0"/>
          </a:p>
          <a:p>
            <a:pPr algn="l" indent="0" marL="0">
              <a:spcBef>
                <a:spcPts val="400"/>
              </a:spcBef>
              <a:buNone/>
            </a:pPr>
            <a:r>
              <a:rPr lang="en-US" sz="1250" dirty="0">
                <a:solidFill>
                  <a:schemeClr val="accent4"/>
                </a:solidFill>
                <a:latin typeface="Segoe UI" pitchFamily="34" charset="0"/>
                <a:ea typeface="Segoe UI" pitchFamily="34" charset="-122"/>
                <a:cs typeface="Segoe UI" pitchFamily="34" charset="-120"/>
              </a:rPr>
              <a:t>Each print gets the weakest level that reaches it. Emitted C licenses exactly the sums the facts free:</a:t>
            </a:r>
            <a:endParaRPr lang="en-US" sz="1200" dirty="0"/>
          </a:p>
          <a:p>
            <a:pPr algn="l" indent="0" marL="0">
              <a:spcBef>
                <a:spcPts val="400"/>
              </a:spcBef>
              <a:buNone/>
            </a:pPr>
            <a:r>
              <a:rPr lang="en-US" sz="1200" dirty="0">
                <a:solidFill>
                  <a:schemeClr val="accent1"/>
                </a:solidFill>
                <a:latin typeface="Consolas" pitchFamily="34" charset="0"/>
                <a:ea typeface="Consolas" pitchFamily="34" charset="-122"/>
                <a:cs typeface="Consolas" pitchFamily="34" charset="-120"/>
              </a:rPr>
              <a:t>#pragma omp simd reduction(+:acc)</a:t>
            </a:r>
            <a:endParaRPr lang="en-US" sz="1200" dirty="0"/>
          </a:p>
        </p:txBody>
      </p:sp>
      <p:sp>
        <p:nvSpPr>
          <p:cNvPr id="24" name="!!brL"/>
          <p:cNvSpPr/>
          <p:nvPr/>
        </p:nvSpPr>
        <p:spPr>
          <a:xfrm>
            <a:off x="6172200" y="1572768"/>
            <a:ext cx="274320" cy="4352544"/>
          </a:xfrm>
          <a:custGeom>
            <a:avLst/>
            <a:gdLst/>
            <a:ahLst/>
            <a:cxnLst/>
            <a:rect l="l" t="t" r="r" b="b"/>
            <a:pathLst>
              <a:path w="274320" h="4352544">
                <a:moveTo>
                  <a:pt x="274320" y="0"/>
                </a:moveTo>
                <a:lnTo>
                  <a:pt x="0" y="0"/>
                </a:lnTo>
                <a:lnTo>
                  <a:pt x="0" y="4352544"/>
                </a:lnTo>
                <a:lnTo>
                  <a:pt x="274320" y="4352544"/>
                </a:lnTo>
              </a:path>
            </a:pathLst>
          </a:custGeom>
          <a:noFill/>
          <a:ln w="22225">
            <a:solidFill>
              <a:schemeClr val="accent5"/>
            </a:solidFill>
            <a:prstDash val="solid"/>
          </a:ln>
        </p:spPr>
      </p:sp>
      <p:sp>
        <p:nvSpPr>
          <p:cNvPr id="25" name="!!brR"/>
          <p:cNvSpPr/>
          <p:nvPr/>
        </p:nvSpPr>
        <p:spPr>
          <a:xfrm>
            <a:off x="11228832" y="1572768"/>
            <a:ext cx="274320" cy="4352544"/>
          </a:xfrm>
          <a:custGeom>
            <a:avLst/>
            <a:gdLst/>
            <a:ahLst/>
            <a:cxnLst/>
            <a:rect l="l" t="t" r="r" b="b"/>
            <a:pathLst>
              <a:path w="274320" h="4352544">
                <a:moveTo>
                  <a:pt x="0" y="0"/>
                </a:moveTo>
                <a:lnTo>
                  <a:pt x="274320" y="0"/>
                </a:lnTo>
                <a:lnTo>
                  <a:pt x="274320" y="4352544"/>
                </a:lnTo>
                <a:lnTo>
                  <a:pt x="0" y="4352544"/>
                </a:lnTo>
              </a:path>
            </a:pathLst>
          </a:custGeom>
          <a:noFill/>
          <a:ln w="22225">
            <a:solidFill>
              <a:schemeClr val="accent5"/>
            </a:solidFill>
            <a:prstDash val="solid"/>
          </a:ln>
        </p:spPr>
      </p:sp>
      <p:sp>
        <p:nvSpPr>
          <p:cNvPr id="26" name="Text 24"/>
          <p:cNvSpPr txBox="1"/>
          <p:nvPr/>
        </p:nvSpPr>
        <p:spPr>
          <a:xfrm>
            <a:off x="6556248" y="1737360"/>
            <a:ext cx="4562856" cy="256032"/>
          </a:xfrm>
          <a:prstGeom prst="rect">
            <a:avLst/>
          </a:prstGeom>
          <a:noFill/>
          <a:ln/>
        </p:spPr>
        <p:txBody>
          <a:bodyPr wrap="square" lIns="0" tIns="0" rIns="0" bIns="0" rtlCol="0" anchor="t"/>
          <a:lstStyle/>
          <a:p>
            <a:pPr indent="0" marL="0">
              <a:buNone/>
            </a:pPr>
            <a:r>
              <a:rPr lang="en-US" sz="1100" spc="150" kern="0" dirty="0">
                <a:solidFill>
                  <a:schemeClr val="accent1"/>
                </a:solidFill>
                <a:latin typeface="Consolas" pitchFamily="34" charset="0"/>
                <a:ea typeface="Consolas" pitchFamily="34" charset="-122"/>
                <a:cs typeface="Consolas" pitchFamily="34" charset="-120"/>
              </a:rPr>
              <a:t>THEOREM 1  ·  CORRECTLY ROUNDED CHAINS</a:t>
            </a:r>
            <a:endParaRPr lang="en-US" sz="1100" dirty="0"/>
          </a:p>
        </p:txBody>
      </p:sp>
      <p:sp>
        <p:nvSpPr>
          <p:cNvPr id="27" name="Text 25"/>
          <p:cNvSpPr txBox="1"/>
          <p:nvPr/>
        </p:nvSpPr>
        <p:spPr>
          <a:xfrm>
            <a:off x="6556248" y="2011680"/>
            <a:ext cx="4562856" cy="914400"/>
          </a:xfrm>
          <a:prstGeom prst="rect">
            <a:avLst/>
          </a:prstGeom>
          <a:noFill/>
          <a:ln/>
        </p:spPr>
        <p:txBody>
          <a:bodyPr wrap="square" lIns="0" tIns="0" rIns="0" bIns="0" rtlCol="0" anchor="t"/>
          <a:lstStyle/>
          <a:p>
            <a:pPr indent="0" marL="0">
              <a:buNone/>
            </a:pPr>
            <a:r>
              <a:rPr lang="en-US" sz="1400" dirty="0">
                <a:solidFill>
                  <a:schemeClr val="bg1"/>
                </a:solidFill>
                <a:latin typeface="Segoe UI" pitchFamily="34" charset="0"/>
                <a:ea typeface="Segoe UI" pitchFamily="34" charset="-122"/>
                <a:cs typeface="Segoe UI" pitchFamily="34" charset="-120"/>
              </a:rPr>
              <a:t>If every proper sub-chain fits in 53 significand bits and the final sums round at most once, every bracketing and every order of summation returns the correctly rounded product.</a:t>
            </a:r>
            <a:endParaRPr lang="en-US" sz="1400" dirty="0"/>
          </a:p>
        </p:txBody>
      </p:sp>
      <p:sp>
        <p:nvSpPr>
          <p:cNvPr id="28" name="Text 26"/>
          <p:cNvSpPr txBox="1"/>
          <p:nvPr/>
        </p:nvSpPr>
        <p:spPr>
          <a:xfrm>
            <a:off x="6556248" y="2962656"/>
            <a:ext cx="4562856" cy="502920"/>
          </a:xfrm>
          <a:prstGeom prst="rect">
            <a:avLst/>
          </a:prstGeom>
          <a:noFill/>
          <a:ln/>
        </p:spPr>
        <p:txBody>
          <a:bodyPr wrap="square" lIns="0" tIns="0" rIns="0" bIns="0" rtlCol="0" anchor="ctr"/>
          <a:lstStyle/>
          <a:p>
            <a:pPr algn="ctr" indent="0" marL="0">
              <a:buNone/>
            </a:pPr>
            <a:r>
              <a:rPr lang="en-US" sz="2200" dirty="0">
                <a:solidFill>
                  <a:schemeClr val="bg1"/>
                </a:solidFill>
                <a:latin typeface="Cambria" pitchFamily="34" charset="0"/>
                <a:ea typeface="Cambria" pitchFamily="34" charset="-122"/>
                <a:cs typeface="Cambria" pitchFamily="34" charset="-120"/>
              </a:rPr>
              <a:t>198 · </a:t>
            </a:r>
            <a:pPr algn="ctr" indent="0" marL="0">
              <a:buNone/>
            </a:pPr>
            <a:r>
              <a:rPr lang="en-US" sz="2200" b="1" dirty="0">
                <a:solidFill>
                  <a:schemeClr val="accent1"/>
                </a:solidFill>
                <a:latin typeface="Cambria" pitchFamily="34" charset="0"/>
                <a:ea typeface="Cambria" pitchFamily="34" charset="-122"/>
                <a:cs typeface="Cambria" pitchFamily="34" charset="-120"/>
              </a:rPr>
              <a:t>35,697</a:t>
            </a:r>
            <a:pPr algn="ctr" indent="0" marL="0">
              <a:buNone/>
            </a:pPr>
            <a:r>
              <a:rPr lang="en-US" sz="2200" baseline="30000" dirty="0">
                <a:solidFill>
                  <a:schemeClr val="bg1"/>
                </a:solidFill>
                <a:latin typeface="Cambria" pitchFamily="34" charset="0"/>
                <a:ea typeface="Cambria" pitchFamily="34" charset="-122"/>
                <a:cs typeface="Cambria" pitchFamily="34" charset="-120"/>
              </a:rPr>
              <a:t>3</a:t>
            </a:r>
            <a:pPr algn="ctr" indent="0" marL="0">
              <a:buNone/>
            </a:pPr>
            <a:r>
              <a:rPr lang="en-US" sz="2200" dirty="0">
                <a:solidFill>
                  <a:schemeClr val="bg1"/>
                </a:solidFill>
                <a:latin typeface="Cambria" pitchFamily="34" charset="0"/>
                <a:ea typeface="Cambria" pitchFamily="34" charset="-122"/>
                <a:cs typeface="Cambria" pitchFamily="34" charset="-120"/>
              </a:rPr>
              <a:t>  ≤  2</a:t>
            </a:r>
            <a:pPr algn="ctr" indent="0" marL="0">
              <a:buNone/>
            </a:pPr>
            <a:r>
              <a:rPr lang="en-US" sz="2200" baseline="30000" dirty="0">
                <a:solidFill>
                  <a:schemeClr val="bg1"/>
                </a:solidFill>
                <a:latin typeface="Cambria" pitchFamily="34" charset="0"/>
                <a:ea typeface="Cambria" pitchFamily="34" charset="-122"/>
                <a:cs typeface="Cambria" pitchFamily="34" charset="-120"/>
              </a:rPr>
              <a:t>53</a:t>
            </a:r>
            <a:pPr algn="ctr" indent="0" marL="0">
              <a:buNone/>
            </a:pPr>
            <a:r>
              <a:rPr lang="en-US" sz="2200" dirty="0">
                <a:solidFill>
                  <a:schemeClr val="bg1"/>
                </a:solidFill>
                <a:latin typeface="Cambria" pitchFamily="34" charset="0"/>
                <a:ea typeface="Cambria" pitchFamily="34" charset="-122"/>
                <a:cs typeface="Cambria" pitchFamily="34" charset="-120"/>
              </a:rPr>
              <a:t>  &lt;  198 · </a:t>
            </a:r>
            <a:pPr algn="ctr" indent="0" marL="0">
              <a:buNone/>
            </a:pPr>
            <a:r>
              <a:rPr lang="en-US" sz="2200" b="1" dirty="0">
                <a:solidFill>
                  <a:schemeClr val="accent3"/>
                </a:solidFill>
                <a:latin typeface="Cambria" pitchFamily="34" charset="0"/>
                <a:ea typeface="Cambria" pitchFamily="34" charset="-122"/>
                <a:cs typeface="Cambria" pitchFamily="34" charset="-120"/>
              </a:rPr>
              <a:t>35,698</a:t>
            </a:r>
            <a:pPr algn="ctr" indent="0" marL="0">
              <a:buNone/>
            </a:pPr>
            <a:r>
              <a:rPr lang="en-US" sz="2200" baseline="30000" dirty="0">
                <a:solidFill>
                  <a:schemeClr val="bg1"/>
                </a:solidFill>
                <a:latin typeface="Cambria" pitchFamily="34" charset="0"/>
                <a:ea typeface="Cambria" pitchFamily="34" charset="-122"/>
                <a:cs typeface="Cambria" pitchFamily="34" charset="-120"/>
              </a:rPr>
              <a:t>3</a:t>
            </a:r>
            <a:endParaRPr lang="en-US" sz="1400" dirty="0"/>
          </a:p>
        </p:txBody>
      </p:sp>
      <p:sp>
        <p:nvSpPr>
          <p:cNvPr id="29" name="Text 27"/>
          <p:cNvSpPr txBox="1"/>
          <p:nvPr/>
        </p:nvSpPr>
        <p:spPr>
          <a:xfrm>
            <a:off x="6556248" y="3529584"/>
            <a:ext cx="4562856" cy="777240"/>
          </a:xfrm>
          <a:prstGeom prst="rect">
            <a:avLst/>
          </a:prstGeom>
          <a:noFill/>
          <a:ln/>
        </p:spPr>
        <p:txBody>
          <a:bodyPr wrap="square" lIns="0" tIns="0" rIns="0" bIns="0" rtlCol="0" anchor="t"/>
          <a:lstStyle/>
          <a:p>
            <a:pPr indent="0" marL="0">
              <a:buNone/>
            </a:pPr>
            <a:r>
              <a:rPr lang="en-US" sz="1200" dirty="0">
                <a:solidFill>
                  <a:schemeClr val="accent4"/>
                </a:solidFill>
                <a:latin typeface="Segoe UI" pitchFamily="34" charset="0"/>
                <a:ea typeface="Segoe UI" pitchFamily="34" charset="-122"/>
                <a:cs typeface="Segoe UI" pitchFamily="34" charset="-120"/>
              </a:rPr>
              <a:t>For int(0,m) chains 100×2 · 2×100 · 100×2, strict reorders up to m* = 35,697. At m* + 1 we build inputs on which the bracketings print different bits: the proved threshold is the true boundary.</a:t>
            </a:r>
            <a:endParaRPr lang="en-US" sz="1200" dirty="0"/>
          </a:p>
        </p:txBody>
      </p:sp>
      <p:sp>
        <p:nvSpPr>
          <p:cNvPr id="30" name="Text 28"/>
          <p:cNvSpPr txBox="1"/>
          <p:nvPr/>
        </p:nvSpPr>
        <p:spPr>
          <a:xfrm>
            <a:off x="6556248" y="4425696"/>
            <a:ext cx="4562856" cy="256032"/>
          </a:xfrm>
          <a:prstGeom prst="rect">
            <a:avLst/>
          </a:prstGeom>
          <a:noFill/>
          <a:ln/>
        </p:spPr>
        <p:txBody>
          <a:bodyPr wrap="square" lIns="0" tIns="0" rIns="0" bIns="0" rtlCol="0" anchor="t"/>
          <a:lstStyle/>
          <a:p>
            <a:pPr indent="0" marL="0">
              <a:buNone/>
            </a:pPr>
            <a:r>
              <a:rPr lang="en-US" sz="1100" spc="150" kern="0" dirty="0">
                <a:solidFill>
                  <a:schemeClr val="accent2"/>
                </a:solidFill>
                <a:latin typeface="Consolas" pitchFamily="34" charset="0"/>
                <a:ea typeface="Consolas" pitchFamily="34" charset="-122"/>
                <a:cs typeface="Consolas" pitchFamily="34" charset="-120"/>
              </a:rPr>
              <a:t>THEOREM 2  ·  BRACKETING INVARIANCE</a:t>
            </a:r>
            <a:endParaRPr lang="en-US" sz="1100" dirty="0"/>
          </a:p>
        </p:txBody>
      </p:sp>
      <p:sp>
        <p:nvSpPr>
          <p:cNvPr id="31" name="Text 29"/>
          <p:cNvSpPr txBox="1"/>
          <p:nvPr/>
        </p:nvSpPr>
        <p:spPr>
          <a:xfrm>
            <a:off x="6556248" y="4681728"/>
            <a:ext cx="4562856" cy="566928"/>
          </a:xfrm>
          <a:prstGeom prst="rect">
            <a:avLst/>
          </a:prstGeom>
          <a:noFill/>
          <a:ln/>
        </p:spPr>
        <p:txBody>
          <a:bodyPr wrap="square" lIns="0" tIns="0" rIns="0" bIns="0" rtlCol="0" anchor="t"/>
          <a:lstStyle/>
          <a:p>
            <a:pPr indent="0" marL="0">
              <a:buNone/>
            </a:pPr>
            <a:r>
              <a:rPr lang="en-US" sz="1350" dirty="0">
                <a:solidFill>
                  <a:schemeClr val="bg1"/>
                </a:solidFill>
                <a:latin typeface="Segoe UI" pitchFamily="34" charset="0"/>
                <a:ea typeface="Segoe UI" pitchFamily="34" charset="-122"/>
                <a:cs typeface="Segoe UI" pitchFamily="34" charset="-120"/>
              </a:rPr>
              <a:t>All bracketings share one worst-case error bound, so bounded reordering needs only a range check.</a:t>
            </a:r>
            <a:endParaRPr lang="en-US" sz="1350" dirty="0"/>
          </a:p>
        </p:txBody>
      </p:sp>
      <p:sp>
        <p:nvSpPr>
          <p:cNvPr id="32" name="!!k1"/>
          <p:cNvSpPr/>
          <p:nvPr/>
        </p:nvSpPr>
        <p:spPr>
          <a:xfrm>
            <a:off x="6556248" y="5440680"/>
            <a:ext cx="1298448" cy="347472"/>
          </a:xfrm>
          <a:prstGeom prst="roundRect">
            <a:avLst>
              <a:gd name="adj" fmla="val 50000"/>
            </a:avLst>
          </a:prstGeom>
          <a:solidFill>
            <a:srgbClr val="0F1D16"/>
          </a:solidFill>
          <a:ln w="12700">
            <a:solidFill>
              <a:schemeClr val="accent1"/>
            </a:solidFill>
            <a:prstDash val="solid"/>
          </a:ln>
        </p:spPr>
      </p:sp>
      <p:sp>
        <p:nvSpPr>
          <p:cNvPr id="33" name="!!kl1"/>
          <p:cNvSpPr txBox="1"/>
          <p:nvPr/>
        </p:nvSpPr>
        <p:spPr>
          <a:xfrm>
            <a:off x="6556248" y="5440680"/>
            <a:ext cx="1298448" cy="347472"/>
          </a:xfrm>
          <a:prstGeom prst="rect">
            <a:avLst/>
          </a:prstGeom>
          <a:noFill/>
          <a:ln/>
        </p:spPr>
        <p:txBody>
          <a:bodyPr wrap="square" lIns="0" tIns="0" rIns="0" bIns="0" rtlCol="0" anchor="ctr"/>
          <a:lstStyle/>
          <a:p>
            <a:pPr algn="ctr" indent="0" marL="0">
              <a:buNone/>
            </a:pPr>
            <a:r>
              <a:rPr lang="en-US" sz="1100" b="1" dirty="0">
                <a:solidFill>
                  <a:schemeClr val="accent1"/>
                </a:solidFill>
                <a:latin typeface="Consolas" pitchFamily="34" charset="0"/>
                <a:ea typeface="Consolas" pitchFamily="34" charset="-122"/>
                <a:cs typeface="Consolas" pitchFamily="34" charset="-120"/>
              </a:rPr>
              <a:t>bit-identical</a:t>
            </a:r>
            <a:endParaRPr lang="en-US" sz="1100" dirty="0"/>
          </a:p>
        </p:txBody>
      </p:sp>
      <p:sp>
        <p:nvSpPr>
          <p:cNvPr id="34" name="Text 32"/>
          <p:cNvSpPr txBox="1"/>
          <p:nvPr/>
        </p:nvSpPr>
        <p:spPr>
          <a:xfrm>
            <a:off x="7872984" y="5440680"/>
            <a:ext cx="228600" cy="347472"/>
          </a:xfrm>
          <a:prstGeom prst="rect">
            <a:avLst/>
          </a:prstGeom>
          <a:noFill/>
          <a:ln/>
        </p:spPr>
        <p:txBody>
          <a:bodyPr wrap="square" lIns="0" tIns="0" rIns="0" bIns="0" rtlCol="0" anchor="ctr"/>
          <a:lstStyle/>
          <a:p>
            <a:pPr algn="ctr" indent="0" marL="0">
              <a:buNone/>
            </a:pPr>
            <a:r>
              <a:rPr lang="en-US" sz="1400" dirty="0">
                <a:solidFill>
                  <a:schemeClr val="accent4"/>
                </a:solidFill>
                <a:latin typeface="Consolas" pitchFamily="34" charset="0"/>
                <a:ea typeface="Consolas" pitchFamily="34" charset="-122"/>
                <a:cs typeface="Consolas" pitchFamily="34" charset="-120"/>
              </a:rPr>
              <a:t>&lt;</a:t>
            </a:r>
            <a:endParaRPr lang="en-US" sz="1400" dirty="0"/>
          </a:p>
        </p:txBody>
      </p:sp>
      <p:sp>
        <p:nvSpPr>
          <p:cNvPr id="35" name="!!k2"/>
          <p:cNvSpPr/>
          <p:nvPr/>
        </p:nvSpPr>
        <p:spPr>
          <a:xfrm>
            <a:off x="8138160" y="5440680"/>
            <a:ext cx="1627632" cy="347472"/>
          </a:xfrm>
          <a:prstGeom prst="roundRect">
            <a:avLst>
              <a:gd name="adj" fmla="val 50000"/>
            </a:avLst>
          </a:prstGeom>
          <a:solidFill>
            <a:srgbClr val="211A0E"/>
          </a:solidFill>
          <a:ln w="12700">
            <a:solidFill>
              <a:schemeClr val="accent2"/>
            </a:solidFill>
            <a:prstDash val="solid"/>
          </a:ln>
        </p:spPr>
      </p:sp>
      <p:sp>
        <p:nvSpPr>
          <p:cNvPr id="36" name="!!kl2"/>
          <p:cNvSpPr txBox="1"/>
          <p:nvPr/>
        </p:nvSpPr>
        <p:spPr>
          <a:xfrm>
            <a:off x="8138160" y="5440680"/>
            <a:ext cx="1627632" cy="347472"/>
          </a:xfrm>
          <a:prstGeom prst="rect">
            <a:avLst/>
          </a:prstGeom>
          <a:noFill/>
          <a:ln/>
        </p:spPr>
        <p:txBody>
          <a:bodyPr wrap="square" lIns="0" tIns="0" rIns="0" bIns="0" rtlCol="0" anchor="ctr"/>
          <a:lstStyle/>
          <a:p>
            <a:pPr algn="ctr" indent="0" marL="0">
              <a:buNone/>
            </a:pPr>
            <a:r>
              <a:rPr lang="en-US" sz="1100" b="1" dirty="0">
                <a:solidFill>
                  <a:schemeClr val="accent2"/>
                </a:solidFill>
                <a:latin typeface="Consolas" pitchFamily="34" charset="0"/>
                <a:ea typeface="Consolas" pitchFamily="34" charset="-122"/>
                <a:cs typeface="Consolas" pitchFamily="34" charset="-120"/>
              </a:rPr>
              <a:t>bound-preserving</a:t>
            </a:r>
            <a:endParaRPr lang="en-US" sz="1100" dirty="0"/>
          </a:p>
        </p:txBody>
      </p:sp>
      <p:sp>
        <p:nvSpPr>
          <p:cNvPr id="37" name="Text 35"/>
          <p:cNvSpPr txBox="1"/>
          <p:nvPr/>
        </p:nvSpPr>
        <p:spPr>
          <a:xfrm>
            <a:off x="9784080" y="5440680"/>
            <a:ext cx="228600" cy="347472"/>
          </a:xfrm>
          <a:prstGeom prst="rect">
            <a:avLst/>
          </a:prstGeom>
          <a:noFill/>
          <a:ln/>
        </p:spPr>
        <p:txBody>
          <a:bodyPr wrap="square" lIns="0" tIns="0" rIns="0" bIns="0" rtlCol="0" anchor="ctr"/>
          <a:lstStyle/>
          <a:p>
            <a:pPr algn="ctr" indent="0" marL="0">
              <a:buNone/>
            </a:pPr>
            <a:r>
              <a:rPr lang="en-US" sz="1400" dirty="0">
                <a:solidFill>
                  <a:schemeClr val="accent4"/>
                </a:solidFill>
                <a:latin typeface="Consolas" pitchFamily="34" charset="0"/>
                <a:ea typeface="Consolas" pitchFamily="34" charset="-122"/>
                <a:cs typeface="Consolas" pitchFamily="34" charset="-120"/>
              </a:rPr>
              <a:t>&lt;</a:t>
            </a:r>
            <a:endParaRPr lang="en-US" sz="1400" dirty="0"/>
          </a:p>
        </p:txBody>
      </p:sp>
      <p:sp>
        <p:nvSpPr>
          <p:cNvPr id="38" name="!!k3"/>
          <p:cNvSpPr/>
          <p:nvPr/>
        </p:nvSpPr>
        <p:spPr>
          <a:xfrm>
            <a:off x="10049256" y="5440680"/>
            <a:ext cx="914400" cy="347472"/>
          </a:xfrm>
          <a:prstGeom prst="roundRect">
            <a:avLst>
              <a:gd name="adj" fmla="val 50000"/>
            </a:avLst>
          </a:prstGeom>
          <a:solidFill>
            <a:srgbClr val="211212"/>
          </a:solidFill>
          <a:ln w="12700">
            <a:solidFill>
              <a:schemeClr val="accent3"/>
            </a:solidFill>
            <a:prstDash val="solid"/>
          </a:ln>
        </p:spPr>
      </p:sp>
      <p:sp>
        <p:nvSpPr>
          <p:cNvPr id="39" name="!!kl3"/>
          <p:cNvSpPr txBox="1"/>
          <p:nvPr/>
        </p:nvSpPr>
        <p:spPr>
          <a:xfrm>
            <a:off x="10049256" y="5440680"/>
            <a:ext cx="914400" cy="347472"/>
          </a:xfrm>
          <a:prstGeom prst="rect">
            <a:avLst/>
          </a:prstGeom>
          <a:noFill/>
          <a:ln/>
        </p:spPr>
        <p:txBody>
          <a:bodyPr wrap="square" lIns="0" tIns="0" rIns="0" bIns="0" rtlCol="0" anchor="ctr"/>
          <a:lstStyle/>
          <a:p>
            <a:pPr algn="ctr" indent="0" marL="0">
              <a:buNone/>
            </a:pPr>
            <a:r>
              <a:rPr lang="en-US" sz="1100" b="1" dirty="0">
                <a:solidFill>
                  <a:schemeClr val="accent3"/>
                </a:solidFill>
                <a:latin typeface="Consolas" pitchFamily="34" charset="0"/>
                <a:ea typeface="Consolas" pitchFamily="34" charset="-122"/>
                <a:cs typeface="Consolas" pitchFamily="34" charset="-120"/>
              </a:rPr>
              <a:t>relaxed</a:t>
            </a:r>
            <a:endParaRPr lang="en-US" sz="1100" dirty="0"/>
          </a:p>
        </p:txBody>
      </p:sp>
      <p:sp>
        <p:nvSpPr>
          <p:cNvPr id="41" name="!!p04">
            <a:extLst>
              <a:ext uri="{C183D7F6-B498-43B3-948B-1728B52AA6E4}">
                <adec:decorative xmlns:adec="http://schemas.microsoft.com/office/drawing/2017/decorative" val="1"/>
              </a:ext>
            </a:extLst>
          </p:cNvPr>
          <p:cNvSpPr txBox="1"/>
          <p:nvPr/>
        </p:nvSpPr>
        <p:spPr>
          <a:xfrm>
            <a:off x="2880360" y="6108192"/>
            <a:ext cx="506222" cy="236474"/>
          </a:xfrm>
          <a:prstGeom prst="rect">
            <a:avLst/>
          </a:prstGeom>
          <a:noFill/>
          <a:ln/>
        </p:spPr>
        <p:txBody>
          <a:bodyPr wrap="none" lIns="0" tIns="0" rIns="0" bIns="0" rtlCol="0" anchor="ctr"/>
          <a:lstStyle/>
          <a:p>
            <a:pPr indent="0" marL="0">
              <a:buNone/>
            </a:pPr>
            <a:r>
              <a:rPr lang="en-US" sz="1100" dirty="0">
                <a:solidFill>
                  <a:srgbClr val="34433B"/>
                </a:solidFill>
                <a:latin typeface="Consolas" pitchFamily="34" charset="0"/>
                <a:ea typeface="Consolas" pitchFamily="34" charset="-122"/>
                <a:cs typeface="Consolas" pitchFamily="34" charset="-120"/>
              </a:rPr>
              <a:t>fl(x)</a:t>
            </a:r>
            <a:endParaRPr lang="en-US" sz="1100" dirty="0"/>
          </a:p>
        </p:txBody>
      </p:sp>
      <p:sp>
        <p:nvSpPr>
          <p:cNvPr id="42" name="!!p05">
            <a:extLst>
              <a:ext uri="{C183D7F6-B498-43B3-948B-1728B52AA6E4}">
                <adec:decorative xmlns:adec="http://schemas.microsoft.com/office/drawing/2017/decorative" val="1"/>
              </a:ext>
            </a:extLst>
          </p:cNvPr>
          <p:cNvSpPr txBox="1"/>
          <p:nvPr/>
        </p:nvSpPr>
        <p:spPr>
          <a:xfrm>
            <a:off x="5897880" y="6108192"/>
            <a:ext cx="766064" cy="236474"/>
          </a:xfrm>
          <a:prstGeom prst="rect">
            <a:avLst/>
          </a:prstGeom>
          <a:noFill/>
          <a:ln/>
        </p:spPr>
        <p:txBody>
          <a:bodyPr wrap="none" lIns="0" tIns="0" rIns="0" bIns="0" rtlCol="0" anchor="ctr"/>
          <a:lstStyle/>
          <a:p>
            <a:pPr indent="0" marL="0">
              <a:buNone/>
            </a:pPr>
            <a:r>
              <a:rPr lang="en-US" sz="1100" dirty="0">
                <a:solidFill>
                  <a:srgbClr val="3A403D"/>
                </a:solidFill>
                <a:latin typeface="Consolas" pitchFamily="34" charset="0"/>
                <a:ea typeface="Consolas" pitchFamily="34" charset="-122"/>
                <a:cs typeface="Consolas" pitchFamily="34" charset="-120"/>
              </a:rPr>
              <a:t>-0 != +0</a:t>
            </a:r>
            <a:endParaRPr lang="en-US" sz="1100" dirty="0"/>
          </a:p>
        </p:txBody>
      </p:sp>
      <p:sp>
        <p:nvSpPr>
          <p:cNvPr id="43" name="!!p06">
            <a:extLst>
              <a:ext uri="{C183D7F6-B498-43B3-948B-1728B52AA6E4}">
                <adec:decorative xmlns:adec="http://schemas.microsoft.com/office/drawing/2017/decorative" val="1"/>
              </a:ext>
            </a:extLst>
          </p:cNvPr>
          <p:cNvSpPr txBox="1"/>
          <p:nvPr/>
        </p:nvSpPr>
        <p:spPr>
          <a:xfrm>
            <a:off x="12557455" y="6309360"/>
            <a:ext cx="1199134" cy="236474"/>
          </a:xfrm>
          <a:prstGeom prst="rect">
            <a:avLst/>
          </a:prstGeom>
          <a:noFill/>
          <a:ln/>
        </p:spPr>
        <p:txBody>
          <a:bodyPr wrap="none" lIns="0" tIns="0" rIns="0" bIns="0" rtlCol="0" anchor="ctr"/>
          <a:lstStyle/>
          <a:p>
            <a:pPr indent="0" marL="0">
              <a:buNone/>
            </a:pPr>
            <a:r>
              <a:rPr lang="en-US" sz="1100" dirty="0">
                <a:solidFill>
                  <a:srgbClr val="34433B"/>
                </a:solidFill>
                <a:latin typeface="Consolas" pitchFamily="34" charset="0"/>
                <a:ea typeface="Consolas" pitchFamily="34" charset="-122"/>
                <a:cs typeface="Consolas" pitchFamily="34" charset="-120"/>
              </a:rPr>
              <a:t>inf * 0 = NaN</a:t>
            </a:r>
            <a:endParaRPr lang="en-US" sz="1100" dirty="0"/>
          </a:p>
        </p:txBody>
      </p:sp>
      <p:sp>
        <p:nvSpPr>
          <p:cNvPr id="44" name="!!p07">
            <a:extLst>
              <a:ext uri="{C183D7F6-B498-43B3-948B-1728B52AA6E4}">
                <adec:decorative xmlns:adec="http://schemas.microsoft.com/office/drawing/2017/decorative" val="1"/>
              </a:ext>
            </a:extLst>
          </p:cNvPr>
          <p:cNvSpPr txBox="1"/>
          <p:nvPr/>
        </p:nvSpPr>
        <p:spPr>
          <a:xfrm>
            <a:off x="-1564894" y="6309360"/>
            <a:ext cx="1199134" cy="236474"/>
          </a:xfrm>
          <a:prstGeom prst="rect">
            <a:avLst/>
          </a:prstGeom>
          <a:noFill/>
          <a:ln/>
        </p:spPr>
        <p:txBody>
          <a:bodyPr wrap="none" lIns="0" tIns="0" rIns="0" bIns="0" rtlCol="0" anchor="ctr"/>
          <a:lstStyle/>
          <a:p>
            <a:pPr indent="0" marL="0">
              <a:buNone/>
            </a:pPr>
            <a:r>
              <a:rPr lang="en-US" sz="1100" dirty="0">
                <a:solidFill>
                  <a:srgbClr val="3A4A42"/>
                </a:solidFill>
                <a:latin typeface="Consolas" pitchFamily="34" charset="0"/>
                <a:ea typeface="Consolas" pitchFamily="34" charset="-122"/>
                <a:cs typeface="Consolas" pitchFamily="34" charset="-120"/>
              </a:rPr>
              <a:t>{{1,0},{0,1}}</a:t>
            </a:r>
            <a:endParaRPr lang="en-US" sz="1100" dirty="0"/>
          </a:p>
        </p:txBody>
      </p:sp>
      <p:sp>
        <p:nvSpPr>
          <p:cNvPr id="45" name="!!p08">
            <a:extLst>
              <a:ext uri="{C183D7F6-B498-43B3-948B-1728B52AA6E4}">
                <adec:decorative xmlns:adec="http://schemas.microsoft.com/office/drawing/2017/decorative" val="1"/>
              </a:ext>
            </a:extLst>
          </p:cNvPr>
          <p:cNvSpPr txBox="1"/>
          <p:nvPr/>
        </p:nvSpPr>
        <p:spPr>
          <a:xfrm>
            <a:off x="4251960" y="6473952"/>
            <a:ext cx="679450" cy="236474"/>
          </a:xfrm>
          <a:prstGeom prst="rect">
            <a:avLst/>
          </a:prstGeom>
          <a:noFill/>
          <a:ln/>
        </p:spPr>
        <p:txBody>
          <a:bodyPr wrap="none" lIns="0" tIns="0" rIns="0" bIns="0" rtlCol="0" anchor="ctr"/>
          <a:lstStyle/>
          <a:p>
            <a:pPr indent="0" marL="0">
              <a:buNone/>
            </a:pPr>
            <a:r>
              <a:rPr lang="en-US" sz="1100" dirty="0">
                <a:solidFill>
                  <a:srgbClr val="3A403D"/>
                </a:solidFill>
                <a:latin typeface="Consolas" pitchFamily="34" charset="0"/>
                <a:ea typeface="Consolas" pitchFamily="34" charset="-122"/>
                <a:cs typeface="Consolas" pitchFamily="34" charset="-120"/>
              </a:rPr>
              <a:t>0x1p+53</a:t>
            </a:r>
            <a:endParaRPr lang="en-US" sz="1100" dirty="0"/>
          </a:p>
        </p:txBody>
      </p:sp>
      <p:sp>
        <p:nvSpPr>
          <p:cNvPr id="46" name="!!p09">
            <a:extLst>
              <a:ext uri="{C183D7F6-B498-43B3-948B-1728B52AA6E4}">
                <adec:decorative xmlns:adec="http://schemas.microsoft.com/office/drawing/2017/decorative" val="1"/>
              </a:ext>
            </a:extLst>
          </p:cNvPr>
          <p:cNvSpPr txBox="1"/>
          <p:nvPr/>
        </p:nvSpPr>
        <p:spPr>
          <a:xfrm>
            <a:off x="-1391666" y="2020114"/>
            <a:ext cx="1025906" cy="236474"/>
          </a:xfrm>
          <a:prstGeom prst="rect">
            <a:avLst/>
          </a:prstGeom>
          <a:noFill/>
          <a:ln/>
        </p:spPr>
        <p:txBody>
          <a:bodyPr wrap="none" lIns="0" tIns="0" rIns="0" bIns="0" rtlCol="0" anchor="ctr"/>
          <a:lstStyle/>
          <a:p>
            <a:pPr indent="0" marL="0">
              <a:buNone/>
            </a:pPr>
            <a:r>
              <a:rPr lang="en-US" sz="1100" dirty="0">
                <a:solidFill>
                  <a:srgbClr val="34433B"/>
                </a:solidFill>
                <a:latin typeface="Consolas" pitchFamily="34" charset="0"/>
                <a:ea typeface="Consolas" pitchFamily="34" charset="-122"/>
                <a:cs typeface="Consolas" pitchFamily="34" charset="-120"/>
              </a:rPr>
              <a:t>input(int8)</a:t>
            </a:r>
            <a:endParaRPr lang="en-US" sz="1100" dirty="0"/>
          </a:p>
        </p:txBody>
      </p:sp>
      <p:sp>
        <p:nvSpPr>
          <p:cNvPr id="47" name="!!p10">
            <a:extLst>
              <a:ext uri="{C183D7F6-B498-43B3-948B-1728B52AA6E4}">
                <adec:decorative xmlns:adec="http://schemas.microsoft.com/office/drawing/2017/decorative" val="1"/>
              </a:ext>
            </a:extLst>
          </p:cNvPr>
          <p:cNvSpPr txBox="1"/>
          <p:nvPr/>
        </p:nvSpPr>
        <p:spPr>
          <a:xfrm>
            <a:off x="-1045210" y="5728327"/>
            <a:ext cx="679450" cy="236474"/>
          </a:xfrm>
          <a:prstGeom prst="rect">
            <a:avLst/>
          </a:prstGeom>
          <a:noFill/>
          <a:ln/>
        </p:spPr>
        <p:txBody>
          <a:bodyPr wrap="none" lIns="0" tIns="0" rIns="0" bIns="0" rtlCol="0" anchor="ctr"/>
          <a:lstStyle/>
          <a:p>
            <a:pPr indent="0" marL="0">
              <a:buNone/>
            </a:pPr>
            <a:r>
              <a:rPr lang="en-US" sz="1100" dirty="0">
                <a:solidFill>
                  <a:srgbClr val="3A4A42"/>
                </a:solidFill>
                <a:latin typeface="Consolas" pitchFamily="34" charset="0"/>
                <a:ea typeface="Consolas" pitchFamily="34" charset="-122"/>
                <a:cs typeface="Consolas" pitchFamily="34" charset="-120"/>
              </a:rPr>
              <a:t>(a+b)+c</a:t>
            </a:r>
            <a:endParaRPr lang="en-US" sz="1100" dirty="0"/>
          </a:p>
        </p:txBody>
      </p:sp>
      <p:sp>
        <p:nvSpPr>
          <p:cNvPr id="48" name="!!p11">
            <a:extLst>
              <a:ext uri="{C183D7F6-B498-43B3-948B-1728B52AA6E4}">
                <adec:decorative xmlns:adec="http://schemas.microsoft.com/office/drawing/2017/decorative" val="1"/>
              </a:ext>
            </a:extLst>
          </p:cNvPr>
          <p:cNvSpPr txBox="1"/>
          <p:nvPr/>
        </p:nvSpPr>
        <p:spPr>
          <a:xfrm>
            <a:off x="-1478280" y="1645920"/>
            <a:ext cx="1112520" cy="236474"/>
          </a:xfrm>
          <a:prstGeom prst="rect">
            <a:avLst/>
          </a:prstGeom>
          <a:noFill/>
          <a:ln/>
        </p:spPr>
        <p:txBody>
          <a:bodyPr wrap="none" lIns="0" tIns="0" rIns="0" bIns="0" rtlCol="0" anchor="ctr"/>
          <a:lstStyle/>
          <a:p>
            <a:pPr indent="0" marL="0">
              <a:buNone/>
            </a:pPr>
            <a:r>
              <a:rPr lang="en-US" sz="1100" dirty="0">
                <a:solidFill>
                  <a:srgbClr val="3A403D"/>
                </a:solidFill>
                <a:latin typeface="Consolas" pitchFamily="34" charset="0"/>
                <a:ea typeface="Consolas" pitchFamily="34" charset="-122"/>
                <a:cs typeface="Consolas" pitchFamily="34" charset="-120"/>
              </a:rPr>
              <a:t>transpose(A)</a:t>
            </a:r>
            <a:endParaRPr lang="en-US" sz="1100" dirty="0"/>
          </a:p>
        </p:txBody>
      </p:sp>
      <p:sp>
        <p:nvSpPr>
          <p:cNvPr id="49" name="!!p12">
            <a:extLst>
              <a:ext uri="{C183D7F6-B498-43B3-948B-1728B52AA6E4}">
                <adec:decorative xmlns:adec="http://schemas.microsoft.com/office/drawing/2017/decorative" val="1"/>
              </a:ext>
            </a:extLst>
          </p:cNvPr>
          <p:cNvSpPr txBox="1"/>
          <p:nvPr/>
        </p:nvSpPr>
        <p:spPr>
          <a:xfrm>
            <a:off x="-1218438" y="5449824"/>
            <a:ext cx="852678" cy="236474"/>
          </a:xfrm>
          <a:prstGeom prst="rect">
            <a:avLst/>
          </a:prstGeom>
          <a:noFill/>
          <a:ln/>
        </p:spPr>
        <p:txBody>
          <a:bodyPr wrap="none" lIns="0" tIns="0" rIns="0" bIns="0" rtlCol="0" anchor="ctr"/>
          <a:lstStyle/>
          <a:p>
            <a:pPr indent="0" marL="0">
              <a:buNone/>
            </a:pPr>
            <a:r>
              <a:rPr lang="en-US" sz="1100" dirty="0">
                <a:solidFill>
                  <a:srgbClr val="34433B"/>
                </a:solidFill>
                <a:latin typeface="Consolas" pitchFamily="34" charset="0"/>
                <a:ea typeface="Consolas" pitchFamily="34" charset="-122"/>
                <a:cs typeface="Consolas" pitchFamily="34" charset="-120"/>
              </a:rPr>
              <a:t>print(R);</a:t>
            </a:r>
            <a:endParaRPr lang="en-US" sz="1100" dirty="0"/>
          </a:p>
        </p:txBody>
      </p:sp>
      <p:sp>
        <p:nvSpPr>
          <p:cNvPr id="50" name="!!p01">
            <a:extLst>
              <a:ext uri="{C183D7F6-B498-43B3-948B-1728B52AA6E4}">
                <adec:decorative xmlns:adec="http://schemas.microsoft.com/office/drawing/2017/decorative" val="1"/>
              </a:ext>
            </a:extLst>
          </p:cNvPr>
          <p:cNvSpPr txBox="1"/>
          <p:nvPr/>
        </p:nvSpPr>
        <p:spPr>
          <a:xfrm>
            <a:off x="-1478280" y="6108192"/>
            <a:ext cx="1112520" cy="236474"/>
          </a:xfrm>
          <a:prstGeom prst="rect">
            <a:avLst/>
          </a:prstGeom>
          <a:noFill/>
          <a:ln/>
        </p:spPr>
        <p:txBody>
          <a:bodyPr wrap="none" lIns="0" tIns="0" rIns="0" bIns="0" rtlCol="0" anchor="ctr"/>
          <a:lstStyle/>
          <a:p>
            <a:pPr indent="0" marL="0">
              <a:buNone/>
            </a:pPr>
            <a:r>
              <a:rPr lang="en-US" sz="1100" dirty="0">
                <a:solidFill>
                  <a:srgbClr val="3A4A42"/>
                </a:solidFill>
                <a:latin typeface="Consolas" pitchFamily="34" charset="0"/>
                <a:ea typeface="Consolas" pitchFamily="34" charset="-122"/>
                <a:cs typeface="Consolas" pitchFamily="34" charset="-120"/>
              </a:rPr>
              <a:t>Matrix&lt;40x2&gt;</a:t>
            </a:r>
            <a:endParaRPr lang="en-US" sz="1100" dirty="0"/>
          </a:p>
        </p:txBody>
      </p:sp>
      <p:sp>
        <p:nvSpPr>
          <p:cNvPr id="51" name="!!p02">
            <a:extLst>
              <a:ext uri="{C183D7F6-B498-43B3-948B-1728B52AA6E4}">
                <adec:decorative xmlns:adec="http://schemas.microsoft.com/office/drawing/2017/decorative" val="1"/>
              </a:ext>
            </a:extLst>
          </p:cNvPr>
          <p:cNvSpPr txBox="1"/>
          <p:nvPr/>
        </p:nvSpPr>
        <p:spPr>
          <a:xfrm>
            <a:off x="-1391666" y="841248"/>
            <a:ext cx="1025906" cy="236474"/>
          </a:xfrm>
          <a:prstGeom prst="rect">
            <a:avLst/>
          </a:prstGeom>
          <a:noFill/>
          <a:ln/>
        </p:spPr>
        <p:txBody>
          <a:bodyPr wrap="none" lIns="0" tIns="0" rIns="0" bIns="0" rtlCol="0" anchor="ctr"/>
          <a:lstStyle/>
          <a:p>
            <a:pPr indent="0" marL="0">
              <a:buNone/>
            </a:pPr>
            <a:r>
              <a:rPr lang="en-US" sz="1100" dirty="0">
                <a:solidFill>
                  <a:srgbClr val="34433B"/>
                </a:solidFill>
                <a:latin typeface="Consolas" pitchFamily="34" charset="0"/>
                <a:ea typeface="Consolas" pitchFamily="34" charset="-122"/>
                <a:cs typeface="Consolas" pitchFamily="34" charset="-120"/>
              </a:rPr>
              <a:t>A * (B * C)</a:t>
            </a:r>
            <a:endParaRPr lang="en-US" sz="1100" dirty="0"/>
          </a:p>
        </p:txBody>
      </p:sp>
      <p:sp>
        <p:nvSpPr>
          <p:cNvPr id="52" name="!!p03">
            <a:extLst>
              <a:ext uri="{C183D7F6-B498-43B3-948B-1728B52AA6E4}">
                <adec:decorative xmlns:adec="http://schemas.microsoft.com/office/drawing/2017/decorative" val="1"/>
              </a:ext>
            </a:extLst>
          </p:cNvPr>
          <p:cNvSpPr txBox="1"/>
          <p:nvPr/>
        </p:nvSpPr>
        <p:spPr>
          <a:xfrm>
            <a:off x="-816864" y="841248"/>
            <a:ext cx="451104" cy="252984"/>
          </a:xfrm>
          <a:prstGeom prst="rect">
            <a:avLst/>
          </a:prstGeom>
          <a:noFill/>
          <a:ln/>
        </p:spPr>
        <p:txBody>
          <a:bodyPr wrap="none" lIns="0" tIns="0" rIns="0" bIns="0" rtlCol="0" anchor="ctr"/>
          <a:lstStyle/>
          <a:p>
            <a:pPr indent="0" marL="0">
              <a:buNone/>
            </a:pPr>
            <a:r>
              <a:rPr lang="en-US" sz="1200" dirty="0">
                <a:solidFill>
                  <a:srgbClr val="3A4A42"/>
                </a:solidFill>
                <a:latin typeface="Consolas" pitchFamily="34" charset="0"/>
                <a:ea typeface="Consolas" pitchFamily="34" charset="-122"/>
                <a:cs typeface="Consolas" pitchFamily="34" charset="-120"/>
              </a:rPr>
              <a:t>2^53</a:t>
            </a:r>
            <a:endParaRPr lang="en-US" sz="12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5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685800" y="347472"/>
            <a:ext cx="87782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Consolas" pitchFamily="34" charset="0"/>
                <a:ea typeface="Consolas" pitchFamily="34" charset="-122"/>
                <a:cs typeface="Consolas" pitchFamily="34" charset="-120"/>
              </a:rPr>
              <a:t>04 // SINCE THE LAST REVIEW</a:t>
            </a:r>
            <a:endParaRPr lang="en-US" sz="1200" dirty="0"/>
          </a:p>
        </p:txBody>
      </p:sp>
      <p:sp>
        <p:nvSpPr>
          <p:cNvPr id="3" name="Text 0"/>
          <p:cNvSpPr/>
          <p:nvPr>
            <p:ph idx="100" type="title" hasCustomPrompt="1"/>
          </p:nvPr>
        </p:nvSpPr>
        <p:spPr>
          <a:xfrm>
            <a:off x="685800" y="676656"/>
            <a:ext cx="9326880" cy="658368"/>
          </a:xfrm>
          <a:prstGeom prst="rect">
            <a:avLst/>
          </a:prstGeom>
          <a:noFill/>
          <a:ln/>
        </p:spPr>
        <p:txBody>
          <a:bodyPr wrap="square" lIns="0" tIns="0" rIns="0" bIns="0" rtlCol="0" anchor="t"/>
          <a:lstStyle/>
          <a:p>
            <a:pPr algn="l" indent="0" marL="0">
              <a:buNone/>
            </a:pPr>
            <a:r>
              <a:rPr lang="en-US" sz="3000" dirty="0">
                <a:solidFill>
                  <a:schemeClr val="bg1"/>
                </a:solidFill>
                <a:latin typeface="Segoe UI Semibold" pitchFamily="34" charset="0"/>
                <a:ea typeface="Segoe UI Semibold" pitchFamily="34" charset="-122"/>
                <a:cs typeface="Segoe UI Semibold" pitchFamily="34" charset="-120"/>
              </a:rPr>
              <a:t>The optimizer now proves what it keeps</a:t>
            </a:r>
            <a:endParaRPr lang="en-US" sz="3000" dirty="0"/>
          </a:p>
        </p:txBody>
      </p:sp>
      <p:sp>
        <p:nvSpPr>
          <p:cNvPr id="4" name="!!vL"/>
          <p:cNvSpPr/>
          <p:nvPr/>
        </p:nvSpPr>
        <p:spPr>
          <a:xfrm>
            <a:off x="10241280" y="356616"/>
            <a:ext cx="54864" cy="256032"/>
          </a:xfrm>
          <a:custGeom>
            <a:avLst/>
            <a:gdLst/>
            <a:ahLst/>
            <a:cxnLst/>
            <a:rect l="l" t="t" r="r" b="b"/>
            <a:pathLst>
              <a:path w="54864" h="256032">
                <a:moveTo>
                  <a:pt x="54864" y="0"/>
                </a:moveTo>
                <a:lnTo>
                  <a:pt x="0" y="0"/>
                </a:lnTo>
                <a:lnTo>
                  <a:pt x="0" y="256032"/>
                </a:lnTo>
                <a:lnTo>
                  <a:pt x="54864" y="256032"/>
                </a:lnTo>
              </a:path>
            </a:pathLst>
          </a:custGeom>
          <a:noFill/>
          <a:ln w="12700">
            <a:solidFill>
              <a:srgbClr val="4A514D"/>
            </a:solidFill>
            <a:prstDash val="solid"/>
          </a:ln>
        </p:spPr>
      </p:sp>
      <p:sp>
        <p:nvSpPr>
          <p:cNvPr id="5" name="!!vR"/>
          <p:cNvSpPr/>
          <p:nvPr/>
        </p:nvSpPr>
        <p:spPr>
          <a:xfrm>
            <a:off x="11448288" y="356616"/>
            <a:ext cx="54864" cy="256032"/>
          </a:xfrm>
          <a:custGeom>
            <a:avLst/>
            <a:gdLst/>
            <a:ahLst/>
            <a:cxnLst/>
            <a:rect l="l" t="t" r="r" b="b"/>
            <a:pathLst>
              <a:path w="54864" h="256032">
                <a:moveTo>
                  <a:pt x="0" y="0"/>
                </a:moveTo>
                <a:lnTo>
                  <a:pt x="54864" y="0"/>
                </a:lnTo>
                <a:lnTo>
                  <a:pt x="54864" y="256032"/>
                </a:lnTo>
                <a:lnTo>
                  <a:pt x="0" y="256032"/>
                </a:lnTo>
              </a:path>
            </a:pathLst>
          </a:custGeom>
          <a:noFill/>
          <a:ln w="12700">
            <a:solidFill>
              <a:srgbClr val="4A514D"/>
            </a:solidFill>
            <a:prstDash val="solid"/>
          </a:ln>
        </p:spPr>
      </p:sp>
      <p:sp>
        <p:nvSpPr>
          <p:cNvPr id="6" name="!!e1"/>
          <p:cNvSpPr txBox="1"/>
          <p:nvPr/>
        </p:nvSpPr>
        <p:spPr>
          <a:xfrm>
            <a:off x="10341864" y="347472"/>
            <a:ext cx="146304" cy="274320"/>
          </a:xfrm>
          <a:prstGeom prst="rect">
            <a:avLst/>
          </a:prstGeom>
          <a:noFill/>
          <a:ln/>
        </p:spPr>
        <p:txBody>
          <a:bodyPr wrap="square" lIns="0" tIns="0" rIns="0" bIns="0" rtlCol="0" anchor="ctr"/>
          <a:lstStyle/>
          <a:p>
            <a:pPr algn="ctr" indent="0" marL="0">
              <a:buNone/>
            </a:pPr>
            <a:r>
              <a:rPr lang="en-US" sz="1200" dirty="0">
                <a:solidFill>
                  <a:srgbClr val="4A514D"/>
                </a:solidFill>
                <a:latin typeface="Consolas" pitchFamily="34" charset="0"/>
                <a:ea typeface="Consolas" pitchFamily="34" charset="-122"/>
                <a:cs typeface="Consolas" pitchFamily="34" charset="-120"/>
              </a:rPr>
              <a:t>0</a:t>
            </a:r>
            <a:endParaRPr lang="en-US" sz="1200" dirty="0"/>
          </a:p>
        </p:txBody>
      </p:sp>
      <p:sp>
        <p:nvSpPr>
          <p:cNvPr id="7" name="!!e2"/>
          <p:cNvSpPr txBox="1"/>
          <p:nvPr/>
        </p:nvSpPr>
        <p:spPr>
          <a:xfrm>
            <a:off x="10492740" y="347472"/>
            <a:ext cx="146304" cy="274320"/>
          </a:xfrm>
          <a:prstGeom prst="rect">
            <a:avLst/>
          </a:prstGeom>
          <a:noFill/>
          <a:ln/>
        </p:spPr>
        <p:txBody>
          <a:bodyPr wrap="square" lIns="0" tIns="0" rIns="0" bIns="0" rtlCol="0" anchor="ctr"/>
          <a:lstStyle/>
          <a:p>
            <a:pPr algn="ctr" indent="0" marL="0">
              <a:buNone/>
            </a:pPr>
            <a:r>
              <a:rPr lang="en-US" sz="1200" dirty="0">
                <a:solidFill>
                  <a:srgbClr val="4A514D"/>
                </a:solidFill>
                <a:latin typeface="Consolas" pitchFamily="34" charset="0"/>
                <a:ea typeface="Consolas" pitchFamily="34" charset="-122"/>
                <a:cs typeface="Consolas" pitchFamily="34" charset="-120"/>
              </a:rPr>
              <a:t>0</a:t>
            </a:r>
            <a:endParaRPr lang="en-US" sz="1200" dirty="0"/>
          </a:p>
        </p:txBody>
      </p:sp>
      <p:sp>
        <p:nvSpPr>
          <p:cNvPr id="8" name="!!e3"/>
          <p:cNvSpPr txBox="1"/>
          <p:nvPr/>
        </p:nvSpPr>
        <p:spPr>
          <a:xfrm>
            <a:off x="10643616" y="347472"/>
            <a:ext cx="146304" cy="274320"/>
          </a:xfrm>
          <a:prstGeom prst="rect">
            <a:avLst/>
          </a:prstGeom>
          <a:noFill/>
          <a:ln/>
        </p:spPr>
        <p:txBody>
          <a:bodyPr wrap="square" lIns="0" tIns="0" rIns="0" bIns="0" rtlCol="0" anchor="ctr"/>
          <a:lstStyle/>
          <a:p>
            <a:pPr algn="ctr" indent="0" marL="0">
              <a:buNone/>
            </a:pPr>
            <a:r>
              <a:rPr lang="en-US" sz="1200" dirty="0">
                <a:solidFill>
                  <a:srgbClr val="4A514D"/>
                </a:solidFill>
                <a:latin typeface="Consolas" pitchFamily="34" charset="0"/>
                <a:ea typeface="Consolas" pitchFamily="34" charset="-122"/>
                <a:cs typeface="Consolas" pitchFamily="34" charset="-120"/>
              </a:rPr>
              <a:t>0</a:t>
            </a:r>
            <a:endParaRPr lang="en-US" sz="1200" dirty="0"/>
          </a:p>
        </p:txBody>
      </p:sp>
      <p:sp>
        <p:nvSpPr>
          <p:cNvPr id="9" name="!!e4"/>
          <p:cNvSpPr txBox="1"/>
          <p:nvPr/>
        </p:nvSpPr>
        <p:spPr>
          <a:xfrm>
            <a:off x="10794492" y="347472"/>
            <a:ext cx="146304" cy="274320"/>
          </a:xfrm>
          <a:prstGeom prst="rect">
            <a:avLst/>
          </a:prstGeom>
          <a:noFill/>
          <a:ln/>
        </p:spPr>
        <p:txBody>
          <a:bodyPr wrap="square" lIns="0" tIns="0" rIns="0" bIns="0" rtlCol="0" anchor="ctr"/>
          <a:lstStyle/>
          <a:p>
            <a:pPr algn="ctr" indent="0" marL="0">
              <a:buNone/>
            </a:pPr>
            <a:r>
              <a:rPr lang="en-US" sz="1200" dirty="0">
                <a:solidFill>
                  <a:srgbClr val="4A514D"/>
                </a:solidFill>
                <a:latin typeface="Consolas" pitchFamily="34" charset="0"/>
                <a:ea typeface="Consolas" pitchFamily="34" charset="-122"/>
                <a:cs typeface="Consolas" pitchFamily="34" charset="-120"/>
              </a:rPr>
              <a:t>0</a:t>
            </a:r>
            <a:endParaRPr lang="en-US" sz="1200" dirty="0"/>
          </a:p>
        </p:txBody>
      </p:sp>
      <p:sp>
        <p:nvSpPr>
          <p:cNvPr id="10" name="!!e5"/>
          <p:cNvSpPr txBox="1"/>
          <p:nvPr/>
        </p:nvSpPr>
        <p:spPr>
          <a:xfrm>
            <a:off x="10945368" y="347472"/>
            <a:ext cx="146304" cy="274320"/>
          </a:xfrm>
          <a:prstGeom prst="rect">
            <a:avLst/>
          </a:prstGeom>
          <a:noFill/>
          <a:ln/>
        </p:spPr>
        <p:txBody>
          <a:bodyPr wrap="square" lIns="0" tIns="0" rIns="0" bIns="0" rtlCol="0" anchor="ctr"/>
          <a:lstStyle/>
          <a:p>
            <a:pPr algn="ctr" indent="0" marL="0">
              <a:buNone/>
            </a:pPr>
            <a:r>
              <a:rPr lang="en-US" sz="1200" b="1" dirty="0">
                <a:solidFill>
                  <a:schemeClr val="accent1"/>
                </a:solidFill>
                <a:latin typeface="Consolas" pitchFamily="34" charset="0"/>
                <a:ea typeface="Consolas" pitchFamily="34" charset="-122"/>
                <a:cs typeface="Consolas" pitchFamily="34" charset="-120"/>
              </a:rPr>
              <a:t>1</a:t>
            </a:r>
            <a:endParaRPr lang="en-US" sz="1200" dirty="0"/>
          </a:p>
        </p:txBody>
      </p:sp>
      <p:sp>
        <p:nvSpPr>
          <p:cNvPr id="11" name="!!e6"/>
          <p:cNvSpPr txBox="1"/>
          <p:nvPr/>
        </p:nvSpPr>
        <p:spPr>
          <a:xfrm>
            <a:off x="11096244" y="347472"/>
            <a:ext cx="146304" cy="274320"/>
          </a:xfrm>
          <a:prstGeom prst="rect">
            <a:avLst/>
          </a:prstGeom>
          <a:noFill/>
          <a:ln/>
        </p:spPr>
        <p:txBody>
          <a:bodyPr wrap="square" lIns="0" tIns="0" rIns="0" bIns="0" rtlCol="0" anchor="ctr"/>
          <a:lstStyle/>
          <a:p>
            <a:pPr algn="ctr" indent="0" marL="0">
              <a:buNone/>
            </a:pPr>
            <a:r>
              <a:rPr lang="en-US" sz="1200" dirty="0">
                <a:solidFill>
                  <a:srgbClr val="4A514D"/>
                </a:solidFill>
                <a:latin typeface="Consolas" pitchFamily="34" charset="0"/>
                <a:ea typeface="Consolas" pitchFamily="34" charset="-122"/>
                <a:cs typeface="Consolas" pitchFamily="34" charset="-120"/>
              </a:rPr>
              <a:t>0</a:t>
            </a:r>
            <a:endParaRPr lang="en-US" sz="1200" dirty="0"/>
          </a:p>
        </p:txBody>
      </p:sp>
      <p:sp>
        <p:nvSpPr>
          <p:cNvPr id="12" name="!!e7"/>
          <p:cNvSpPr txBox="1"/>
          <p:nvPr/>
        </p:nvSpPr>
        <p:spPr>
          <a:xfrm>
            <a:off x="11247120" y="347472"/>
            <a:ext cx="146304" cy="274320"/>
          </a:xfrm>
          <a:prstGeom prst="rect">
            <a:avLst/>
          </a:prstGeom>
          <a:noFill/>
          <a:ln/>
        </p:spPr>
        <p:txBody>
          <a:bodyPr wrap="square" lIns="0" tIns="0" rIns="0" bIns="0" rtlCol="0" anchor="ctr"/>
          <a:lstStyle/>
          <a:p>
            <a:pPr algn="ctr" indent="0" marL="0">
              <a:buNone/>
            </a:pPr>
            <a:r>
              <a:rPr lang="en-US" sz="1200" dirty="0">
                <a:solidFill>
                  <a:srgbClr val="4A514D"/>
                </a:solidFill>
                <a:latin typeface="Consolas" pitchFamily="34" charset="0"/>
                <a:ea typeface="Consolas" pitchFamily="34" charset="-122"/>
                <a:cs typeface="Consolas" pitchFamily="34" charset="-120"/>
              </a:rPr>
              <a:t>0</a:t>
            </a:r>
            <a:endParaRPr lang="en-US" sz="1200" dirty="0"/>
          </a:p>
        </p:txBody>
      </p:sp>
      <p:sp>
        <p:nvSpPr>
          <p:cNvPr id="13" name="!!logo"/>
          <p:cNvSpPr txBox="1"/>
          <p:nvPr/>
        </p:nvSpPr>
        <p:spPr>
          <a:xfrm>
            <a:off x="685800" y="6382512"/>
            <a:ext cx="2011680" cy="274320"/>
          </a:xfrm>
          <a:prstGeom prst="rect">
            <a:avLst/>
          </a:prstGeom>
          <a:noFill/>
          <a:ln/>
        </p:spPr>
        <p:txBody>
          <a:bodyPr wrap="square" lIns="0" tIns="0" rIns="0" bIns="0" rtlCol="0" anchor="ctr"/>
          <a:lstStyle/>
          <a:p>
            <a:pPr indent="0" marL="0">
              <a:buNone/>
            </a:pPr>
            <a:r>
              <a:rPr lang="en-US" sz="1300" dirty="0">
                <a:solidFill>
                  <a:schemeClr val="bg1"/>
                </a:solidFill>
                <a:latin typeface="Segoe UI Black" pitchFamily="34" charset="0"/>
                <a:ea typeface="Segoe UI Black" pitchFamily="34" charset="-122"/>
                <a:cs typeface="Segoe UI Black" pitchFamily="34" charset="-120"/>
              </a:rPr>
              <a:t>Matrix</a:t>
            </a:r>
            <a:pPr indent="0" marL="0">
              <a:buNone/>
            </a:pPr>
            <a:r>
              <a:rPr lang="en-US" sz="1300" dirty="0">
                <a:solidFill>
                  <a:schemeClr val="accent1"/>
                </a:solidFill>
                <a:latin typeface="Segoe UI Black" pitchFamily="34" charset="0"/>
                <a:ea typeface="Segoe UI Black" pitchFamily="34" charset="-122"/>
                <a:cs typeface="Segoe UI Black" pitchFamily="34" charset="-120"/>
              </a:rPr>
              <a:t>Lang</a:t>
            </a:r>
            <a:endParaRPr lang="en-US" sz="1300" dirty="0"/>
          </a:p>
        </p:txBody>
      </p:sp>
      <p:sp>
        <p:nvSpPr>
          <p:cNvPr id="14" name="!!repo"/>
          <p:cNvSpPr txBox="1"/>
          <p:nvPr/>
        </p:nvSpPr>
        <p:spPr>
          <a:xfrm>
            <a:off x="7662672" y="6382512"/>
            <a:ext cx="3840480" cy="274320"/>
          </a:xfrm>
          <a:prstGeom prst="rect">
            <a:avLst/>
          </a:prstGeom>
          <a:noFill/>
          <a:ln/>
        </p:spPr>
        <p:txBody>
          <a:bodyPr wrap="square" lIns="0" tIns="0" rIns="0" bIns="0" rtlCol="0" anchor="ctr"/>
          <a:lstStyle/>
          <a:p>
            <a:pPr algn="r" indent="0" marL="0">
              <a:buNone/>
            </a:pPr>
            <a:r>
              <a:rPr lang="en-US" sz="1100" u="sng" dirty="0">
                <a:solidFill>
                  <a:schemeClr val="accent1"/>
                </a:solidFill>
                <a:latin typeface="Consolas" pitchFamily="34" charset="0"/>
                <a:ea typeface="Consolas" pitchFamily="34" charset="-122"/>
                <a:cs typeface="Consolas" pitchFamily="34" charset="-120"/>
                <a:hlinkClick r:id="rId1" invalidUrl="" action="" tgtFrame="" tooltip="Open the MatrixLang repository" history="1" highlightClick="0" endSnd="0">
                  <a:extLst>
                    <a:ext uri="{A12FA001-AC4F-418D-AE19-62706E023703}">
                      <ahyp:hlinkClr xmlns:ahyp="http://schemas.microsoft.com/office/drawing/2018/hyperlinkcolor" val="tx"/>
                    </a:ext>
                  </a:extLst>
                </a:hlinkClick>
              </a:rPr>
              <a:t>github.com/aswanth-07/matrixlang</a:t>
            </a:r>
            <a:endParaRPr lang="en-US" sz="1100" dirty="0"/>
          </a:p>
        </p:txBody>
      </p:sp>
      <p:sp>
        <p:nvSpPr>
          <p:cNvPr id="15" name="!!cell1"/>
          <p:cNvSpPr/>
          <p:nvPr/>
        </p:nvSpPr>
        <p:spPr>
          <a:xfrm>
            <a:off x="685800" y="1572768"/>
            <a:ext cx="2560320" cy="1316736"/>
          </a:xfrm>
          <a:prstGeom prst="roundRect">
            <a:avLst>
              <a:gd name="adj" fmla="val 4167"/>
            </a:avLst>
          </a:prstGeom>
          <a:solidFill>
            <a:srgbClr val="0A0C0B"/>
          </a:solidFill>
          <a:ln w="9525">
            <a:solidFill>
              <a:srgbClr val="1F2523"/>
            </a:solidFill>
          </a:ln>
        </p:spPr>
        <p:txBody>
          <a:bodyPr wrap="square" lIns="152400" tIns="76200" rIns="101600" bIns="76200" rtlCol="0" anchor="t"/>
          <a:lstStyle/>
          <a:p>
            <a:pPr algn="l" indent="0" marL="0">
              <a:buNone/>
            </a:pPr>
            <a:r>
              <a:rPr lang="en-US" sz="3400" dirty="0">
                <a:solidFill>
                  <a:schemeClr val="bg1"/>
                </a:solidFill>
                <a:latin typeface="Segoe UI Black" pitchFamily="34" charset="0"/>
                <a:ea typeface="Segoe UI Black" pitchFamily="34" charset="-122"/>
                <a:cs typeface="Segoe UI Black" pitchFamily="34" charset="-120"/>
              </a:rPr>
              <a:t>7,700</a:t>
            </a:r>
            <a:endParaRPr lang="en-US" sz="1200" dirty="0"/>
          </a:p>
          <a:p>
            <a:pPr algn="l" indent="0" marL="0">
              <a:buNone/>
            </a:pPr>
            <a:r>
              <a:rPr lang="en-US" sz="1250" dirty="0">
                <a:solidFill>
                  <a:schemeClr val="bg2"/>
                </a:solidFill>
                <a:latin typeface="Segoe UI" pitchFamily="34" charset="0"/>
                <a:ea typeface="Segoe UI" pitchFamily="34" charset="-122"/>
                <a:cs typeface="Segoe UI" pitchFamily="34" charset="-120"/>
              </a:rPr>
              <a:t>lines of C11, Flex and Bison</a:t>
            </a:r>
            <a:endParaRPr lang="en-US" sz="1200" dirty="0"/>
          </a:p>
          <a:p>
            <a:pPr algn="l" indent="0" marL="0">
              <a:spcBef>
                <a:spcPts val="300"/>
              </a:spcBef>
              <a:buNone/>
            </a:pPr>
            <a:r>
              <a:rPr lang="en-US" sz="1100" dirty="0">
                <a:solidFill>
                  <a:schemeClr val="accent4"/>
                </a:solidFill>
                <a:latin typeface="Consolas" pitchFamily="34" charset="0"/>
                <a:ea typeface="Consolas" pitchFamily="34" charset="-122"/>
                <a:cs typeface="Consolas" pitchFamily="34" charset="-120"/>
              </a:rPr>
              <a:t>was 4,779</a:t>
            </a:r>
            <a:endParaRPr lang="en-US" sz="1200" dirty="0"/>
          </a:p>
        </p:txBody>
      </p:sp>
      <p:sp>
        <p:nvSpPr>
          <p:cNvPr id="16" name="!!cell2"/>
          <p:cNvSpPr/>
          <p:nvPr/>
        </p:nvSpPr>
        <p:spPr>
          <a:xfrm>
            <a:off x="3438144" y="1572768"/>
            <a:ext cx="2560320" cy="1316736"/>
          </a:xfrm>
          <a:prstGeom prst="roundRect">
            <a:avLst>
              <a:gd name="adj" fmla="val 4167"/>
            </a:avLst>
          </a:prstGeom>
          <a:solidFill>
            <a:srgbClr val="0A0C0B"/>
          </a:solidFill>
          <a:ln w="9525">
            <a:solidFill>
              <a:srgbClr val="1F2523"/>
            </a:solidFill>
          </a:ln>
        </p:spPr>
        <p:txBody>
          <a:bodyPr wrap="square" lIns="152400" tIns="76200" rIns="101600" bIns="76200" rtlCol="0" anchor="t"/>
          <a:lstStyle/>
          <a:p>
            <a:pPr algn="l" indent="0" marL="0">
              <a:buNone/>
            </a:pPr>
            <a:r>
              <a:rPr lang="en-US" sz="3400" dirty="0">
                <a:solidFill>
                  <a:schemeClr val="bg1"/>
                </a:solidFill>
                <a:latin typeface="Segoe UI Black" pitchFamily="34" charset="0"/>
                <a:ea typeface="Segoe UI Black" pitchFamily="34" charset="-122"/>
                <a:cs typeface="Segoe UI Black" pitchFamily="34" charset="-120"/>
              </a:rPr>
              <a:t>3</a:t>
            </a:r>
            <a:endParaRPr lang="en-US" sz="1200" dirty="0"/>
          </a:p>
          <a:p>
            <a:pPr algn="l" indent="0" marL="0">
              <a:buNone/>
            </a:pPr>
            <a:r>
              <a:rPr lang="en-US" sz="1250" dirty="0">
                <a:solidFill>
                  <a:schemeClr val="bg2"/>
                </a:solidFill>
                <a:latin typeface="Segoe UI" pitchFamily="34" charset="0"/>
                <a:ea typeface="Segoe UI" pitchFamily="34" charset="-122"/>
                <a:cs typeface="Segoe UI" pitchFamily="34" charset="-120"/>
              </a:rPr>
              <a:t>numerical contracts, proved per rewrite</a:t>
            </a:r>
            <a:endParaRPr lang="en-US" sz="1200" dirty="0"/>
          </a:p>
          <a:p>
            <a:pPr algn="l" indent="0" marL="0">
              <a:spcBef>
                <a:spcPts val="300"/>
              </a:spcBef>
              <a:buNone/>
            </a:pPr>
            <a:r>
              <a:rPr lang="en-US" sz="1100" dirty="0">
                <a:solidFill>
                  <a:schemeClr val="accent4"/>
                </a:solidFill>
                <a:latin typeface="Consolas" pitchFamily="34" charset="0"/>
                <a:ea typeface="Consolas" pitchFamily="34" charset="-122"/>
                <a:cs typeface="Consolas" pitchFamily="34" charset="-120"/>
              </a:rPr>
              <a:t>was one global switch</a:t>
            </a:r>
            <a:endParaRPr lang="en-US" sz="1200" dirty="0"/>
          </a:p>
        </p:txBody>
      </p:sp>
      <p:sp>
        <p:nvSpPr>
          <p:cNvPr id="17" name="!!cell3"/>
          <p:cNvSpPr/>
          <p:nvPr/>
        </p:nvSpPr>
        <p:spPr>
          <a:xfrm>
            <a:off x="6190488" y="1572768"/>
            <a:ext cx="2560320" cy="1316736"/>
          </a:xfrm>
          <a:prstGeom prst="roundRect">
            <a:avLst>
              <a:gd name="adj" fmla="val 4167"/>
            </a:avLst>
          </a:prstGeom>
          <a:solidFill>
            <a:srgbClr val="0A0C0B"/>
          </a:solidFill>
          <a:ln w="9525">
            <a:solidFill>
              <a:srgbClr val="1F2523"/>
            </a:solidFill>
          </a:ln>
        </p:spPr>
        <p:txBody>
          <a:bodyPr wrap="square" lIns="152400" tIns="76200" rIns="101600" bIns="76200" rtlCol="0" anchor="t"/>
          <a:lstStyle/>
          <a:p>
            <a:pPr algn="l" indent="0" marL="0">
              <a:buNone/>
            </a:pPr>
            <a:r>
              <a:rPr lang="en-US" sz="3400" dirty="0">
                <a:solidFill>
                  <a:schemeClr val="bg1"/>
                </a:solidFill>
                <a:latin typeface="Segoe UI Black" pitchFamily="34" charset="0"/>
                <a:ea typeface="Segoe UI Black" pitchFamily="34" charset="-122"/>
                <a:cs typeface="Segoe UI Black" pitchFamily="34" charset="-120"/>
              </a:rPr>
              <a:t>2</a:t>
            </a:r>
            <a:endParaRPr lang="en-US" sz="1200" dirty="0"/>
          </a:p>
          <a:p>
            <a:pPr algn="l" indent="0" marL="0">
              <a:buNone/>
            </a:pPr>
            <a:r>
              <a:rPr lang="en-US" sz="1250" dirty="0">
                <a:solidFill>
                  <a:schemeClr val="bg2"/>
                </a:solidFill>
                <a:latin typeface="Segoe UI" pitchFamily="34" charset="0"/>
                <a:ea typeface="Segoe UI" pitchFamily="34" charset="-122"/>
                <a:cs typeface="Segoe UI" pitchFamily="34" charset="-120"/>
              </a:rPr>
              <a:t>theorems behind the optimizer</a:t>
            </a:r>
            <a:endParaRPr lang="en-US" sz="1200" dirty="0"/>
          </a:p>
          <a:p>
            <a:pPr algn="l" indent="0" marL="0">
              <a:spcBef>
                <a:spcPts val="300"/>
              </a:spcBef>
              <a:buNone/>
            </a:pPr>
            <a:r>
              <a:rPr lang="en-US" sz="1100" dirty="0">
                <a:solidFill>
                  <a:schemeClr val="accent4"/>
                </a:solidFill>
                <a:latin typeface="Consolas" pitchFamily="34" charset="0"/>
                <a:ea typeface="Consolas" pitchFamily="34" charset="-122"/>
                <a:cs typeface="Consolas" pitchFamily="34" charset="-120"/>
              </a:rPr>
              <a:t>was none</a:t>
            </a:r>
            <a:endParaRPr lang="en-US" sz="1200" dirty="0"/>
          </a:p>
        </p:txBody>
      </p:sp>
      <p:sp>
        <p:nvSpPr>
          <p:cNvPr id="18" name="!!cell4"/>
          <p:cNvSpPr/>
          <p:nvPr/>
        </p:nvSpPr>
        <p:spPr>
          <a:xfrm>
            <a:off x="8942832" y="1572768"/>
            <a:ext cx="2560320" cy="1316736"/>
          </a:xfrm>
          <a:prstGeom prst="roundRect">
            <a:avLst>
              <a:gd name="adj" fmla="val 4167"/>
            </a:avLst>
          </a:prstGeom>
          <a:solidFill>
            <a:srgbClr val="0A0C0B"/>
          </a:solidFill>
          <a:ln w="9525">
            <a:solidFill>
              <a:srgbClr val="1F2523"/>
            </a:solidFill>
          </a:ln>
        </p:spPr>
        <p:txBody>
          <a:bodyPr wrap="square" lIns="152400" tIns="76200" rIns="101600" bIns="76200" rtlCol="0" anchor="t"/>
          <a:lstStyle/>
          <a:p>
            <a:pPr algn="l" indent="0" marL="0">
              <a:buNone/>
            </a:pPr>
            <a:r>
              <a:rPr lang="en-US" sz="3400" dirty="0">
                <a:solidFill>
                  <a:schemeClr val="bg1"/>
                </a:solidFill>
                <a:latin typeface="Segoe UI Black" pitchFamily="34" charset="0"/>
                <a:ea typeface="Segoe UI Black" pitchFamily="34" charset="-122"/>
                <a:cs typeface="Segoe UI Black" pitchFamily="34" charset="-120"/>
              </a:rPr>
              <a:t>234</a:t>
            </a:r>
            <a:endParaRPr lang="en-US" sz="1200" dirty="0"/>
          </a:p>
          <a:p>
            <a:pPr algn="l" indent="0" marL="0">
              <a:buNone/>
            </a:pPr>
            <a:r>
              <a:rPr lang="en-US" sz="1250" dirty="0">
                <a:solidFill>
                  <a:schemeClr val="bg2"/>
                </a:solidFill>
                <a:latin typeface="Segoe UI" pitchFamily="34" charset="0"/>
                <a:ea typeface="Segoe UI" pitchFamily="34" charset="-122"/>
                <a:cs typeface="Segoe UI" pitchFamily="34" charset="-120"/>
              </a:rPr>
              <a:t>acceptance checks, plus four verifiers</a:t>
            </a:r>
            <a:endParaRPr lang="en-US" sz="1200" dirty="0"/>
          </a:p>
          <a:p>
            <a:pPr algn="l" indent="0" marL="0">
              <a:spcBef>
                <a:spcPts val="300"/>
              </a:spcBef>
              <a:buNone/>
            </a:pPr>
            <a:r>
              <a:rPr lang="en-US" sz="1100" dirty="0">
                <a:solidFill>
                  <a:schemeClr val="accent4"/>
                </a:solidFill>
                <a:latin typeface="Consolas" pitchFamily="34" charset="0"/>
                <a:ea typeface="Consolas" pitchFamily="34" charset="-122"/>
                <a:cs typeface="Consolas" pitchFamily="34" charset="-120"/>
              </a:rPr>
              <a:t>was 157</a:t>
            </a:r>
            <a:endParaRPr lang="en-US" sz="1200" dirty="0"/>
          </a:p>
        </p:txBody>
      </p:sp>
      <p:sp>
        <p:nvSpPr>
          <p:cNvPr id="19" name="!!k1"/>
          <p:cNvSpPr/>
          <p:nvPr/>
        </p:nvSpPr>
        <p:spPr>
          <a:xfrm>
            <a:off x="4151376" y="1810512"/>
            <a:ext cx="146304" cy="146304"/>
          </a:xfrm>
          <a:prstGeom prst="roundRect">
            <a:avLst>
              <a:gd name="adj" fmla="val 50000"/>
            </a:avLst>
          </a:prstGeom>
          <a:solidFill>
            <a:schemeClr val="accent1"/>
          </a:solidFill>
          <a:ln/>
        </p:spPr>
      </p:sp>
      <p:sp>
        <p:nvSpPr>
          <p:cNvPr id="20" name="!!k2"/>
          <p:cNvSpPr/>
          <p:nvPr/>
        </p:nvSpPr>
        <p:spPr>
          <a:xfrm>
            <a:off x="4379976" y="1810512"/>
            <a:ext cx="146304" cy="146304"/>
          </a:xfrm>
          <a:prstGeom prst="roundRect">
            <a:avLst>
              <a:gd name="adj" fmla="val 50000"/>
            </a:avLst>
          </a:prstGeom>
          <a:solidFill>
            <a:schemeClr val="accent2"/>
          </a:solidFill>
          <a:ln/>
        </p:spPr>
      </p:sp>
      <p:sp>
        <p:nvSpPr>
          <p:cNvPr id="21" name="!!k3"/>
          <p:cNvSpPr/>
          <p:nvPr/>
        </p:nvSpPr>
        <p:spPr>
          <a:xfrm>
            <a:off x="4608576" y="1810512"/>
            <a:ext cx="146304" cy="146304"/>
          </a:xfrm>
          <a:prstGeom prst="roundRect">
            <a:avLst>
              <a:gd name="adj" fmla="val 50000"/>
            </a:avLst>
          </a:prstGeom>
          <a:solidFill>
            <a:schemeClr val="accent3"/>
          </a:solidFill>
          <a:ln/>
        </p:spPr>
      </p:sp>
      <p:sp>
        <p:nvSpPr>
          <p:cNvPr id="22" name="Text 20"/>
          <p:cNvSpPr txBox="1"/>
          <p:nvPr/>
        </p:nvSpPr>
        <p:spPr>
          <a:xfrm>
            <a:off x="2971800" y="3090672"/>
            <a:ext cx="3474720" cy="256032"/>
          </a:xfrm>
          <a:prstGeom prst="rect">
            <a:avLst/>
          </a:prstGeom>
          <a:noFill/>
          <a:ln/>
        </p:spPr>
        <p:txBody>
          <a:bodyPr wrap="square" lIns="0" tIns="0" rIns="0" bIns="0" rtlCol="0" anchor="t"/>
          <a:lstStyle/>
          <a:p>
            <a:pPr indent="0" marL="0">
              <a:buNone/>
            </a:pPr>
            <a:r>
              <a:rPr lang="en-US" sz="1100" spc="150" kern="0" dirty="0">
                <a:solidFill>
                  <a:schemeClr val="accent4"/>
                </a:solidFill>
                <a:latin typeface="Consolas" pitchFamily="34" charset="0"/>
                <a:ea typeface="Consolas" pitchFamily="34" charset="-122"/>
                <a:cs typeface="Consolas" pitchFamily="34" charset="-120"/>
              </a:rPr>
              <a:t>AT THE LAST REVIEW</a:t>
            </a:r>
            <a:endParaRPr lang="en-US" sz="1100" dirty="0"/>
          </a:p>
        </p:txBody>
      </p:sp>
      <p:sp>
        <p:nvSpPr>
          <p:cNvPr id="23" name="Text 21"/>
          <p:cNvSpPr txBox="1"/>
          <p:nvPr/>
        </p:nvSpPr>
        <p:spPr>
          <a:xfrm>
            <a:off x="6967728" y="3090672"/>
            <a:ext cx="1828800" cy="256032"/>
          </a:xfrm>
          <a:prstGeom prst="rect">
            <a:avLst/>
          </a:prstGeom>
          <a:noFill/>
          <a:ln/>
        </p:spPr>
        <p:txBody>
          <a:bodyPr wrap="square" lIns="0" tIns="0" rIns="0" bIns="0" rtlCol="0" anchor="t"/>
          <a:lstStyle/>
          <a:p>
            <a:pPr indent="0" marL="0">
              <a:buNone/>
            </a:pPr>
            <a:r>
              <a:rPr lang="en-US" sz="1100" spc="150" kern="0" dirty="0">
                <a:solidFill>
                  <a:schemeClr val="accent1"/>
                </a:solidFill>
                <a:latin typeface="Consolas" pitchFamily="34" charset="0"/>
                <a:ea typeface="Consolas" pitchFamily="34" charset="-122"/>
                <a:cs typeface="Consolas" pitchFamily="34" charset="-120"/>
              </a:rPr>
              <a:t>NOW</a:t>
            </a:r>
            <a:endParaRPr lang="en-US" sz="1100" dirty="0"/>
          </a:p>
        </p:txBody>
      </p:sp>
      <p:sp>
        <p:nvSpPr>
          <p:cNvPr id="24" name="!!brL"/>
          <p:cNvSpPr/>
          <p:nvPr/>
        </p:nvSpPr>
        <p:spPr>
          <a:xfrm>
            <a:off x="6601968" y="3035808"/>
            <a:ext cx="271577" cy="3017520"/>
          </a:xfrm>
          <a:custGeom>
            <a:avLst/>
            <a:gdLst/>
            <a:ahLst/>
            <a:cxnLst/>
            <a:rect l="l" t="t" r="r" b="b"/>
            <a:pathLst>
              <a:path w="271577" h="3017520">
                <a:moveTo>
                  <a:pt x="271577" y="0"/>
                </a:moveTo>
                <a:lnTo>
                  <a:pt x="0" y="0"/>
                </a:lnTo>
                <a:lnTo>
                  <a:pt x="0" y="3017520"/>
                </a:lnTo>
                <a:lnTo>
                  <a:pt x="271577" y="3017520"/>
                </a:lnTo>
              </a:path>
            </a:pathLst>
          </a:custGeom>
          <a:noFill/>
          <a:ln w="22225">
            <a:solidFill>
              <a:schemeClr val="accent5"/>
            </a:solidFill>
            <a:prstDash val="solid"/>
          </a:ln>
        </p:spPr>
      </p:sp>
      <p:sp>
        <p:nvSpPr>
          <p:cNvPr id="25" name="!!brR"/>
          <p:cNvSpPr/>
          <p:nvPr/>
        </p:nvSpPr>
        <p:spPr>
          <a:xfrm>
            <a:off x="11231575" y="3035808"/>
            <a:ext cx="271577" cy="3017520"/>
          </a:xfrm>
          <a:custGeom>
            <a:avLst/>
            <a:gdLst/>
            <a:ahLst/>
            <a:cxnLst/>
            <a:rect l="l" t="t" r="r" b="b"/>
            <a:pathLst>
              <a:path w="271577" h="3017520">
                <a:moveTo>
                  <a:pt x="0" y="0"/>
                </a:moveTo>
                <a:lnTo>
                  <a:pt x="271577" y="0"/>
                </a:lnTo>
                <a:lnTo>
                  <a:pt x="271577" y="3017520"/>
                </a:lnTo>
                <a:lnTo>
                  <a:pt x="0" y="3017520"/>
                </a:lnTo>
              </a:path>
            </a:pathLst>
          </a:custGeom>
          <a:noFill/>
          <a:ln w="22225">
            <a:solidFill>
              <a:schemeClr val="accent5"/>
            </a:solidFill>
            <a:prstDash val="solid"/>
          </a:ln>
        </p:spPr>
      </p:sp>
      <p:sp>
        <p:nvSpPr>
          <p:cNvPr id="26" name="Text 24"/>
          <p:cNvSpPr txBox="1"/>
          <p:nvPr/>
        </p:nvSpPr>
        <p:spPr>
          <a:xfrm>
            <a:off x="685800" y="3438144"/>
            <a:ext cx="2148840" cy="438912"/>
          </a:xfrm>
          <a:prstGeom prst="rect">
            <a:avLst/>
          </a:prstGeom>
          <a:noFill/>
          <a:ln/>
        </p:spPr>
        <p:txBody>
          <a:bodyPr wrap="square" lIns="0" tIns="0" rIns="0" bIns="0" rtlCol="0" anchor="ctr"/>
          <a:lstStyle/>
          <a:p>
            <a:pPr indent="0" marL="0">
              <a:buNone/>
            </a:pPr>
            <a:r>
              <a:rPr lang="en-US" sz="1300" dirty="0">
                <a:solidFill>
                  <a:schemeClr val="bg1"/>
                </a:solidFill>
                <a:latin typeface="Segoe UI Semibold" pitchFamily="34" charset="0"/>
                <a:ea typeface="Segoe UI Semibold" pitchFamily="34" charset="-122"/>
                <a:cs typeface="Segoe UI Semibold" pitchFamily="34" charset="-120"/>
              </a:rPr>
              <a:t>Floating-point rewrites</a:t>
            </a:r>
            <a:endParaRPr lang="en-US" sz="1300" dirty="0"/>
          </a:p>
        </p:txBody>
      </p:sp>
      <p:sp>
        <p:nvSpPr>
          <p:cNvPr id="27" name="Text 25"/>
          <p:cNvSpPr txBox="1"/>
          <p:nvPr/>
        </p:nvSpPr>
        <p:spPr>
          <a:xfrm>
            <a:off x="2971800" y="3438144"/>
            <a:ext cx="3429000" cy="438912"/>
          </a:xfrm>
          <a:prstGeom prst="rect">
            <a:avLst/>
          </a:prstGeom>
          <a:noFill/>
          <a:ln/>
        </p:spPr>
        <p:txBody>
          <a:bodyPr wrap="square" lIns="0" tIns="0" rIns="0" bIns="0" rtlCol="0" anchor="ctr"/>
          <a:lstStyle/>
          <a:p>
            <a:pPr indent="0" marL="0">
              <a:buNone/>
            </a:pPr>
            <a:r>
              <a:rPr lang="en-US" sz="1300" dirty="0">
                <a:solidFill>
                  <a:schemeClr val="accent4"/>
                </a:solidFill>
                <a:latin typeface="Segoe UI" pitchFamily="34" charset="0"/>
                <a:ea typeface="Segoe UI" pitchFamily="34" charset="-122"/>
                <a:cs typeface="Segoe UI" pitchFamily="34" charset="-120"/>
              </a:rPr>
              <a:t>reorder with no guarantee, or never</a:t>
            </a:r>
            <a:endParaRPr lang="en-US" sz="1300" dirty="0"/>
          </a:p>
        </p:txBody>
      </p:sp>
      <p:sp>
        <p:nvSpPr>
          <p:cNvPr id="28" name="!!cell5"/>
          <p:cNvSpPr/>
          <p:nvPr/>
        </p:nvSpPr>
        <p:spPr>
          <a:xfrm>
            <a:off x="6949440" y="3438144"/>
            <a:ext cx="4187952" cy="438912"/>
          </a:xfrm>
          <a:prstGeom prst="roundRect">
            <a:avLst>
              <a:gd name="adj" fmla="val 10417"/>
            </a:avLst>
          </a:prstGeom>
          <a:solidFill>
            <a:srgbClr val="0D1110"/>
          </a:solidFill>
          <a:ln/>
        </p:spPr>
        <p:txBody>
          <a:bodyPr wrap="square" lIns="101600" tIns="25400" rIns="76200" bIns="25400" rtlCol="0" anchor="ctr"/>
          <a:lstStyle/>
          <a:p>
            <a:pPr algn="l" indent="0" marL="0">
              <a:buNone/>
            </a:pPr>
            <a:r>
              <a:rPr lang="en-US" sz="1300" dirty="0">
                <a:solidFill>
                  <a:schemeClr val="bg1"/>
                </a:solidFill>
                <a:latin typeface="Segoe UI" pitchFamily="34" charset="0"/>
                <a:ea typeface="Segoe UI" pitchFamily="34" charset="-122"/>
                <a:cs typeface="Segoe UI" pitchFamily="34" charset="-120"/>
              </a:rPr>
              <a:t>three contracts; every rewrite proves its level</a:t>
            </a:r>
            <a:endParaRPr lang="en-US" sz="1200" dirty="0"/>
          </a:p>
        </p:txBody>
      </p:sp>
      <p:sp>
        <p:nvSpPr>
          <p:cNvPr id="29" name="Text 27"/>
          <p:cNvSpPr txBox="1"/>
          <p:nvPr/>
        </p:nvSpPr>
        <p:spPr>
          <a:xfrm>
            <a:off x="685800" y="3950208"/>
            <a:ext cx="2148840" cy="438912"/>
          </a:xfrm>
          <a:prstGeom prst="rect">
            <a:avLst/>
          </a:prstGeom>
          <a:noFill/>
          <a:ln/>
        </p:spPr>
        <p:txBody>
          <a:bodyPr wrap="square" lIns="0" tIns="0" rIns="0" bIns="0" rtlCol="0" anchor="ctr"/>
          <a:lstStyle/>
          <a:p>
            <a:pPr indent="0" marL="0">
              <a:buNone/>
            </a:pPr>
            <a:r>
              <a:rPr lang="en-US" sz="1300" dirty="0">
                <a:solidFill>
                  <a:schemeClr val="bg1"/>
                </a:solidFill>
                <a:latin typeface="Segoe UI Semibold" pitchFamily="34" charset="0"/>
                <a:ea typeface="Segoe UI Semibold" pitchFamily="34" charset="-122"/>
                <a:cs typeface="Segoe UI Semibold" pitchFamily="34" charset="-120"/>
              </a:rPr>
              <a:t>Program values</a:t>
            </a:r>
            <a:endParaRPr lang="en-US" sz="1300" dirty="0"/>
          </a:p>
        </p:txBody>
      </p:sp>
      <p:sp>
        <p:nvSpPr>
          <p:cNvPr id="30" name="Text 28"/>
          <p:cNvSpPr txBox="1"/>
          <p:nvPr/>
        </p:nvSpPr>
        <p:spPr>
          <a:xfrm>
            <a:off x="2971800" y="3950208"/>
            <a:ext cx="3429000" cy="438912"/>
          </a:xfrm>
          <a:prstGeom prst="rect">
            <a:avLst/>
          </a:prstGeom>
          <a:noFill/>
          <a:ln/>
        </p:spPr>
        <p:txBody>
          <a:bodyPr wrap="square" lIns="0" tIns="0" rIns="0" bIns="0" rtlCol="0" anchor="ctr"/>
          <a:lstStyle/>
          <a:p>
            <a:pPr indent="0" marL="0">
              <a:buNone/>
            </a:pPr>
            <a:r>
              <a:rPr lang="en-US" sz="1300" dirty="0">
                <a:solidFill>
                  <a:schemeClr val="accent4"/>
                </a:solidFill>
                <a:latin typeface="Segoe UI" pitchFamily="34" charset="0"/>
                <a:ea typeface="Segoe UI" pitchFamily="34" charset="-122"/>
                <a:cs typeface="Segoe UI" pitchFamily="34" charset="-120"/>
              </a:rPr>
              <a:t>literals only, no run-time inputs</a:t>
            </a:r>
            <a:endParaRPr lang="en-US" sz="1300" dirty="0"/>
          </a:p>
        </p:txBody>
      </p:sp>
      <p:sp>
        <p:nvSpPr>
          <p:cNvPr id="31" name="!!cell6"/>
          <p:cNvSpPr/>
          <p:nvPr/>
        </p:nvSpPr>
        <p:spPr>
          <a:xfrm>
            <a:off x="6949440" y="3950208"/>
            <a:ext cx="4187952" cy="438912"/>
          </a:xfrm>
          <a:prstGeom prst="roundRect">
            <a:avLst>
              <a:gd name="adj" fmla="val 10417"/>
            </a:avLst>
          </a:prstGeom>
          <a:solidFill>
            <a:srgbClr val="0D1110"/>
          </a:solidFill>
          <a:ln/>
        </p:spPr>
        <p:txBody>
          <a:bodyPr wrap="square" lIns="101600" tIns="25400" rIns="76200" bIns="25400" rtlCol="0" anchor="ctr"/>
          <a:lstStyle/>
          <a:p>
            <a:pPr algn="l" indent="0" marL="0">
              <a:buNone/>
            </a:pPr>
            <a:r>
              <a:rPr lang="en-US" sz="1300" dirty="0">
                <a:solidFill>
                  <a:schemeClr val="bg1"/>
                </a:solidFill>
                <a:latin typeface="Segoe UI" pitchFamily="34" charset="0"/>
                <a:ea typeface="Segoe UI" pitchFamily="34" charset="-122"/>
                <a:cs typeface="Segoe UI" pitchFamily="34" charset="-120"/>
              </a:rPr>
              <a:t>10 declared input domains, checked at load</a:t>
            </a:r>
            <a:endParaRPr lang="en-US" sz="1200" dirty="0"/>
          </a:p>
        </p:txBody>
      </p:sp>
      <p:sp>
        <p:nvSpPr>
          <p:cNvPr id="32" name="Text 30"/>
          <p:cNvSpPr txBox="1"/>
          <p:nvPr/>
        </p:nvSpPr>
        <p:spPr>
          <a:xfrm>
            <a:off x="685800" y="4462272"/>
            <a:ext cx="2148840" cy="438912"/>
          </a:xfrm>
          <a:prstGeom prst="rect">
            <a:avLst/>
          </a:prstGeom>
          <a:noFill/>
          <a:ln/>
        </p:spPr>
        <p:txBody>
          <a:bodyPr wrap="square" lIns="0" tIns="0" rIns="0" bIns="0" rtlCol="0" anchor="ctr"/>
          <a:lstStyle/>
          <a:p>
            <a:pPr indent="0" marL="0">
              <a:buNone/>
            </a:pPr>
            <a:r>
              <a:rPr lang="en-US" sz="1300" dirty="0">
                <a:solidFill>
                  <a:schemeClr val="bg1"/>
                </a:solidFill>
                <a:latin typeface="Segoe UI Semibold" pitchFamily="34" charset="0"/>
                <a:ea typeface="Segoe UI Semibold" pitchFamily="34" charset="-122"/>
                <a:cs typeface="Segoe UI Semibold" pitchFamily="34" charset="-120"/>
              </a:rPr>
              <a:t>Code generation</a:t>
            </a:r>
            <a:endParaRPr lang="en-US" sz="1300" dirty="0"/>
          </a:p>
        </p:txBody>
      </p:sp>
      <p:sp>
        <p:nvSpPr>
          <p:cNvPr id="33" name="Text 31"/>
          <p:cNvSpPr txBox="1"/>
          <p:nvPr/>
        </p:nvSpPr>
        <p:spPr>
          <a:xfrm>
            <a:off x="2971800" y="4462272"/>
            <a:ext cx="3429000" cy="438912"/>
          </a:xfrm>
          <a:prstGeom prst="rect">
            <a:avLst/>
          </a:prstGeom>
          <a:noFill/>
          <a:ln/>
        </p:spPr>
        <p:txBody>
          <a:bodyPr wrap="square" lIns="0" tIns="0" rIns="0" bIns="0" rtlCol="0" anchor="ctr"/>
          <a:lstStyle/>
          <a:p>
            <a:pPr indent="0" marL="0">
              <a:buNone/>
            </a:pPr>
            <a:r>
              <a:rPr lang="en-US" sz="1300" dirty="0">
                <a:solidFill>
                  <a:schemeClr val="accent4"/>
                </a:solidFill>
                <a:latin typeface="Segoe UI" pitchFamily="34" charset="0"/>
                <a:ea typeface="Segoe UI" pitchFamily="34" charset="-122"/>
                <a:cs typeface="Segoe UI" pitchFamily="34" charset="-120"/>
              </a:rPr>
              <a:t>stack VM</a:t>
            </a:r>
            <a:endParaRPr lang="en-US" sz="1300" dirty="0"/>
          </a:p>
        </p:txBody>
      </p:sp>
      <p:sp>
        <p:nvSpPr>
          <p:cNvPr id="34" name="!!cell7"/>
          <p:cNvSpPr/>
          <p:nvPr/>
        </p:nvSpPr>
        <p:spPr>
          <a:xfrm>
            <a:off x="6949440" y="4462272"/>
            <a:ext cx="4187952" cy="438912"/>
          </a:xfrm>
          <a:prstGeom prst="roundRect">
            <a:avLst>
              <a:gd name="adj" fmla="val 10417"/>
            </a:avLst>
          </a:prstGeom>
          <a:solidFill>
            <a:srgbClr val="0D1110"/>
          </a:solidFill>
          <a:ln/>
        </p:spPr>
        <p:txBody>
          <a:bodyPr wrap="square" lIns="101600" tIns="25400" rIns="76200" bIns="25400" rtlCol="0" anchor="ctr"/>
          <a:lstStyle/>
          <a:p>
            <a:pPr algn="l" indent="0" marL="0">
              <a:buNone/>
            </a:pPr>
            <a:r>
              <a:rPr lang="en-US" sz="1300" dirty="0">
                <a:solidFill>
                  <a:schemeClr val="bg1"/>
                </a:solidFill>
                <a:latin typeface="Segoe UI" pitchFamily="34" charset="0"/>
                <a:ea typeface="Segoe UI" pitchFamily="34" charset="-122"/>
                <a:cs typeface="Segoe UI" pitchFamily="34" charset="-120"/>
              </a:rPr>
              <a:t>stack VM, and C11 with OpenMP reduction clauses</a:t>
            </a:r>
            <a:endParaRPr lang="en-US" sz="1200" dirty="0"/>
          </a:p>
        </p:txBody>
      </p:sp>
      <p:sp>
        <p:nvSpPr>
          <p:cNvPr id="35" name="Text 33"/>
          <p:cNvSpPr txBox="1"/>
          <p:nvPr/>
        </p:nvSpPr>
        <p:spPr>
          <a:xfrm>
            <a:off x="685800" y="4974336"/>
            <a:ext cx="2148840" cy="438912"/>
          </a:xfrm>
          <a:prstGeom prst="rect">
            <a:avLst/>
          </a:prstGeom>
          <a:noFill/>
          <a:ln/>
        </p:spPr>
        <p:txBody>
          <a:bodyPr wrap="square" lIns="0" tIns="0" rIns="0" bIns="0" rtlCol="0" anchor="ctr"/>
          <a:lstStyle/>
          <a:p>
            <a:pPr indent="0" marL="0">
              <a:buNone/>
            </a:pPr>
            <a:r>
              <a:rPr lang="en-US" sz="1300" dirty="0">
                <a:solidFill>
                  <a:schemeClr val="bg1"/>
                </a:solidFill>
                <a:latin typeface="Segoe UI Semibold" pitchFamily="34" charset="0"/>
                <a:ea typeface="Segoe UI Semibold" pitchFamily="34" charset="-122"/>
                <a:cs typeface="Segoe UI Semibold" pitchFamily="34" charset="-120"/>
              </a:rPr>
              <a:t>Evidence</a:t>
            </a:r>
            <a:endParaRPr lang="en-US" sz="1300" dirty="0"/>
          </a:p>
        </p:txBody>
      </p:sp>
      <p:sp>
        <p:nvSpPr>
          <p:cNvPr id="36" name="Text 34"/>
          <p:cNvSpPr txBox="1"/>
          <p:nvPr/>
        </p:nvSpPr>
        <p:spPr>
          <a:xfrm>
            <a:off x="2971800" y="4974336"/>
            <a:ext cx="3429000" cy="438912"/>
          </a:xfrm>
          <a:prstGeom prst="rect">
            <a:avLst/>
          </a:prstGeom>
          <a:noFill/>
          <a:ln/>
        </p:spPr>
        <p:txBody>
          <a:bodyPr wrap="square" lIns="0" tIns="0" rIns="0" bIns="0" rtlCol="0" anchor="ctr"/>
          <a:lstStyle/>
          <a:p>
            <a:pPr indent="0" marL="0">
              <a:buNone/>
            </a:pPr>
            <a:r>
              <a:rPr lang="en-US" sz="1300" dirty="0">
                <a:solidFill>
                  <a:schemeClr val="accent4"/>
                </a:solidFill>
                <a:latin typeface="Segoe UI" pitchFamily="34" charset="0"/>
                <a:ea typeface="Segoe UI" pitchFamily="34" charset="-122"/>
                <a:cs typeface="Segoe UI" pitchFamily="34" charset="-120"/>
              </a:rPr>
              <a:t>modeled operation counts</a:t>
            </a:r>
            <a:endParaRPr lang="en-US" sz="1300" dirty="0"/>
          </a:p>
        </p:txBody>
      </p:sp>
      <p:sp>
        <p:nvSpPr>
          <p:cNvPr id="37" name="!!cell8"/>
          <p:cNvSpPr/>
          <p:nvPr/>
        </p:nvSpPr>
        <p:spPr>
          <a:xfrm>
            <a:off x="6949440" y="4974336"/>
            <a:ext cx="4187952" cy="438912"/>
          </a:xfrm>
          <a:prstGeom prst="roundRect">
            <a:avLst>
              <a:gd name="adj" fmla="val 10417"/>
            </a:avLst>
          </a:prstGeom>
          <a:solidFill>
            <a:srgbClr val="0D1110"/>
          </a:solidFill>
          <a:ln/>
        </p:spPr>
        <p:txBody>
          <a:bodyPr wrap="square" lIns="101600" tIns="25400" rIns="76200" bIns="25400" rtlCol="0" anchor="ctr"/>
          <a:lstStyle/>
          <a:p>
            <a:pPr algn="l" indent="0" marL="0">
              <a:buNone/>
            </a:pPr>
            <a:r>
              <a:rPr lang="en-US" sz="1300" dirty="0">
                <a:solidFill>
                  <a:schemeClr val="bg1"/>
                </a:solidFill>
                <a:latin typeface="Segoe UI" pitchFamily="34" charset="0"/>
                <a:ea typeface="Segoe UI" pitchFamily="34" charset="-122"/>
                <a:cs typeface="Segoe UI" pitchFamily="34" charset="-120"/>
              </a:rPr>
              <a:t>6 research questions, GCC runtimes, 57,600 runs</a:t>
            </a:r>
            <a:endParaRPr lang="en-US" sz="1200" dirty="0"/>
          </a:p>
        </p:txBody>
      </p:sp>
      <p:sp>
        <p:nvSpPr>
          <p:cNvPr id="38" name="Text 36"/>
          <p:cNvSpPr txBox="1"/>
          <p:nvPr/>
        </p:nvSpPr>
        <p:spPr>
          <a:xfrm>
            <a:off x="685800" y="5486400"/>
            <a:ext cx="2148840" cy="438912"/>
          </a:xfrm>
          <a:prstGeom prst="rect">
            <a:avLst/>
          </a:prstGeom>
          <a:noFill/>
          <a:ln/>
        </p:spPr>
        <p:txBody>
          <a:bodyPr wrap="square" lIns="0" tIns="0" rIns="0" bIns="0" rtlCol="0" anchor="ctr"/>
          <a:lstStyle/>
          <a:p>
            <a:pPr indent="0" marL="0">
              <a:buNone/>
            </a:pPr>
            <a:r>
              <a:rPr lang="en-US" sz="1300" dirty="0">
                <a:solidFill>
                  <a:schemeClr val="bg1"/>
                </a:solidFill>
                <a:latin typeface="Segoe UI Semibold" pitchFamily="34" charset="0"/>
                <a:ea typeface="Segoe UI Semibold" pitchFamily="34" charset="-122"/>
                <a:cs typeface="Segoe UI Semibold" pitchFamily="34" charset="-120"/>
              </a:rPr>
              <a:t>Paper</a:t>
            </a:r>
            <a:endParaRPr lang="en-US" sz="1300" dirty="0"/>
          </a:p>
        </p:txBody>
      </p:sp>
      <p:sp>
        <p:nvSpPr>
          <p:cNvPr id="39" name="Text 37"/>
          <p:cNvSpPr txBox="1"/>
          <p:nvPr/>
        </p:nvSpPr>
        <p:spPr>
          <a:xfrm>
            <a:off x="2971800" y="5486400"/>
            <a:ext cx="3429000" cy="438912"/>
          </a:xfrm>
          <a:prstGeom prst="rect">
            <a:avLst/>
          </a:prstGeom>
          <a:noFill/>
          <a:ln/>
        </p:spPr>
        <p:txBody>
          <a:bodyPr wrap="square" lIns="0" tIns="0" rIns="0" bIns="0" rtlCol="0" anchor="ctr"/>
          <a:lstStyle/>
          <a:p>
            <a:pPr indent="0" marL="0">
              <a:buNone/>
            </a:pPr>
            <a:r>
              <a:rPr lang="en-US" sz="1300" dirty="0">
                <a:solidFill>
                  <a:schemeClr val="accent4"/>
                </a:solidFill>
                <a:latin typeface="Segoe UI" pitchFamily="34" charset="0"/>
                <a:ea typeface="Segoe UI" pitchFamily="34" charset="-122"/>
                <a:cs typeface="Segoe UI" pitchFamily="34" charset="-120"/>
              </a:rPr>
              <a:t>9-page teaching-compiler study</a:t>
            </a:r>
            <a:endParaRPr lang="en-US" sz="1300" dirty="0"/>
          </a:p>
        </p:txBody>
      </p:sp>
      <p:sp>
        <p:nvSpPr>
          <p:cNvPr id="40" name="!!cell9"/>
          <p:cNvSpPr/>
          <p:nvPr/>
        </p:nvSpPr>
        <p:spPr>
          <a:xfrm>
            <a:off x="6949440" y="5486400"/>
            <a:ext cx="4187952" cy="438912"/>
          </a:xfrm>
          <a:prstGeom prst="roundRect">
            <a:avLst>
              <a:gd name="adj" fmla="val 10417"/>
            </a:avLst>
          </a:prstGeom>
          <a:solidFill>
            <a:srgbClr val="0D1110"/>
          </a:solidFill>
          <a:ln/>
        </p:spPr>
        <p:txBody>
          <a:bodyPr wrap="square" lIns="101600" tIns="25400" rIns="76200" bIns="25400" rtlCol="0" anchor="ctr"/>
          <a:lstStyle/>
          <a:p>
            <a:pPr algn="l" indent="0" marL="0">
              <a:buNone/>
            </a:pPr>
            <a:r>
              <a:rPr lang="en-US" sz="1300" dirty="0">
                <a:solidFill>
                  <a:schemeClr val="bg1"/>
                </a:solidFill>
                <a:latin typeface="Segoe UI" pitchFamily="34" charset="0"/>
                <a:ea typeface="Segoe UI" pitchFamily="34" charset="-122"/>
                <a:cs typeface="Segoe UI" pitchFamily="34" charset="-120"/>
              </a:rPr>
              <a:t>10-page research paper with two theorems</a:t>
            </a:r>
            <a:endParaRPr lang="en-US" sz="1200" dirty="0"/>
          </a:p>
        </p:txBody>
      </p:sp>
      <p:sp>
        <p:nvSpPr>
          <p:cNvPr id="42" name="!!p09">
            <a:extLst>
              <a:ext uri="{C183D7F6-B498-43B3-948B-1728B52AA6E4}">
                <adec:decorative xmlns:adec="http://schemas.microsoft.com/office/drawing/2017/decorative" val="1"/>
              </a:ext>
            </a:extLst>
          </p:cNvPr>
          <p:cNvSpPr txBox="1"/>
          <p:nvPr/>
        </p:nvSpPr>
        <p:spPr>
          <a:xfrm>
            <a:off x="4343400" y="6108192"/>
            <a:ext cx="1025906" cy="236474"/>
          </a:xfrm>
          <a:prstGeom prst="rect">
            <a:avLst/>
          </a:prstGeom>
          <a:noFill/>
          <a:ln/>
        </p:spPr>
        <p:txBody>
          <a:bodyPr wrap="none" lIns="0" tIns="0" rIns="0" bIns="0" rtlCol="0" anchor="ctr"/>
          <a:lstStyle/>
          <a:p>
            <a:pPr indent="0" marL="0">
              <a:buNone/>
            </a:pPr>
            <a:r>
              <a:rPr lang="en-US" sz="1100" dirty="0">
                <a:solidFill>
                  <a:srgbClr val="34433B"/>
                </a:solidFill>
                <a:latin typeface="Consolas" pitchFamily="34" charset="0"/>
                <a:ea typeface="Consolas" pitchFamily="34" charset="-122"/>
                <a:cs typeface="Consolas" pitchFamily="34" charset="-120"/>
              </a:rPr>
              <a:t>input(int8)</a:t>
            </a:r>
            <a:endParaRPr lang="en-US" sz="1100" dirty="0"/>
          </a:p>
        </p:txBody>
      </p:sp>
      <p:sp>
        <p:nvSpPr>
          <p:cNvPr id="43" name="!!p10">
            <a:extLst>
              <a:ext uri="{C183D7F6-B498-43B3-948B-1728B52AA6E4}">
                <adec:decorative xmlns:adec="http://schemas.microsoft.com/office/drawing/2017/decorative" val="1"/>
              </a:ext>
            </a:extLst>
          </p:cNvPr>
          <p:cNvSpPr txBox="1"/>
          <p:nvPr/>
        </p:nvSpPr>
        <p:spPr>
          <a:xfrm>
            <a:off x="6629400" y="6400800"/>
            <a:ext cx="679450" cy="236474"/>
          </a:xfrm>
          <a:prstGeom prst="rect">
            <a:avLst/>
          </a:prstGeom>
          <a:noFill/>
          <a:ln/>
        </p:spPr>
        <p:txBody>
          <a:bodyPr wrap="none" lIns="0" tIns="0" rIns="0" bIns="0" rtlCol="0" anchor="ctr"/>
          <a:lstStyle/>
          <a:p>
            <a:pPr indent="0" marL="0">
              <a:buNone/>
            </a:pPr>
            <a:r>
              <a:rPr lang="en-US" sz="1100" dirty="0">
                <a:solidFill>
                  <a:srgbClr val="3A4A42"/>
                </a:solidFill>
                <a:latin typeface="Consolas" pitchFamily="34" charset="0"/>
                <a:ea typeface="Consolas" pitchFamily="34" charset="-122"/>
                <a:cs typeface="Consolas" pitchFamily="34" charset="-120"/>
              </a:rPr>
              <a:t>(a+b)+c</a:t>
            </a:r>
            <a:endParaRPr lang="en-US" sz="1100" dirty="0"/>
          </a:p>
        </p:txBody>
      </p:sp>
      <p:sp>
        <p:nvSpPr>
          <p:cNvPr id="44" name="!!p11">
            <a:extLst>
              <a:ext uri="{C183D7F6-B498-43B3-948B-1728B52AA6E4}">
                <adec:decorative xmlns:adec="http://schemas.microsoft.com/office/drawing/2017/decorative" val="1"/>
              </a:ext>
            </a:extLst>
          </p:cNvPr>
          <p:cNvSpPr txBox="1"/>
          <p:nvPr/>
        </p:nvSpPr>
        <p:spPr>
          <a:xfrm>
            <a:off x="-1478280" y="1645920"/>
            <a:ext cx="1112520" cy="236474"/>
          </a:xfrm>
          <a:prstGeom prst="rect">
            <a:avLst/>
          </a:prstGeom>
          <a:noFill/>
          <a:ln/>
        </p:spPr>
        <p:txBody>
          <a:bodyPr wrap="none" lIns="0" tIns="0" rIns="0" bIns="0" rtlCol="0" anchor="ctr"/>
          <a:lstStyle/>
          <a:p>
            <a:pPr indent="0" marL="0">
              <a:buNone/>
            </a:pPr>
            <a:r>
              <a:rPr lang="en-US" sz="1100" dirty="0">
                <a:solidFill>
                  <a:srgbClr val="3A403D"/>
                </a:solidFill>
                <a:latin typeface="Consolas" pitchFamily="34" charset="0"/>
                <a:ea typeface="Consolas" pitchFamily="34" charset="-122"/>
                <a:cs typeface="Consolas" pitchFamily="34" charset="-120"/>
              </a:rPr>
              <a:t>transpose(A)</a:t>
            </a:r>
            <a:endParaRPr lang="en-US" sz="1100" dirty="0"/>
          </a:p>
        </p:txBody>
      </p:sp>
      <p:sp>
        <p:nvSpPr>
          <p:cNvPr id="45" name="!!p12">
            <a:extLst>
              <a:ext uri="{C183D7F6-B498-43B3-948B-1728B52AA6E4}">
                <adec:decorative xmlns:adec="http://schemas.microsoft.com/office/drawing/2017/decorative" val="1"/>
              </a:ext>
            </a:extLst>
          </p:cNvPr>
          <p:cNvSpPr txBox="1"/>
          <p:nvPr/>
        </p:nvSpPr>
        <p:spPr>
          <a:xfrm>
            <a:off x="-1218438" y="5449824"/>
            <a:ext cx="852678" cy="236474"/>
          </a:xfrm>
          <a:prstGeom prst="rect">
            <a:avLst/>
          </a:prstGeom>
          <a:noFill/>
          <a:ln/>
        </p:spPr>
        <p:txBody>
          <a:bodyPr wrap="none" lIns="0" tIns="0" rIns="0" bIns="0" rtlCol="0" anchor="ctr"/>
          <a:lstStyle/>
          <a:p>
            <a:pPr indent="0" marL="0">
              <a:buNone/>
            </a:pPr>
            <a:r>
              <a:rPr lang="en-US" sz="1100" dirty="0">
                <a:solidFill>
                  <a:srgbClr val="34433B"/>
                </a:solidFill>
                <a:latin typeface="Consolas" pitchFamily="34" charset="0"/>
                <a:ea typeface="Consolas" pitchFamily="34" charset="-122"/>
                <a:cs typeface="Consolas" pitchFamily="34" charset="-120"/>
              </a:rPr>
              <a:t>print(R);</a:t>
            </a:r>
            <a:endParaRPr lang="en-US" sz="1100" dirty="0"/>
          </a:p>
        </p:txBody>
      </p:sp>
      <p:sp>
        <p:nvSpPr>
          <p:cNvPr id="46" name="!!p01">
            <a:extLst>
              <a:ext uri="{C183D7F6-B498-43B3-948B-1728B52AA6E4}">
                <adec:decorative xmlns:adec="http://schemas.microsoft.com/office/drawing/2017/decorative" val="1"/>
              </a:ext>
            </a:extLst>
          </p:cNvPr>
          <p:cNvSpPr txBox="1"/>
          <p:nvPr/>
        </p:nvSpPr>
        <p:spPr>
          <a:xfrm>
            <a:off x="-1478280" y="6108192"/>
            <a:ext cx="1112520" cy="236474"/>
          </a:xfrm>
          <a:prstGeom prst="rect">
            <a:avLst/>
          </a:prstGeom>
          <a:noFill/>
          <a:ln/>
        </p:spPr>
        <p:txBody>
          <a:bodyPr wrap="none" lIns="0" tIns="0" rIns="0" bIns="0" rtlCol="0" anchor="ctr"/>
          <a:lstStyle/>
          <a:p>
            <a:pPr indent="0" marL="0">
              <a:buNone/>
            </a:pPr>
            <a:r>
              <a:rPr lang="en-US" sz="1100" dirty="0">
                <a:solidFill>
                  <a:srgbClr val="3A4A42"/>
                </a:solidFill>
                <a:latin typeface="Consolas" pitchFamily="34" charset="0"/>
                <a:ea typeface="Consolas" pitchFamily="34" charset="-122"/>
                <a:cs typeface="Consolas" pitchFamily="34" charset="-120"/>
              </a:rPr>
              <a:t>Matrix&lt;40x2&gt;</a:t>
            </a:r>
            <a:endParaRPr lang="en-US" sz="1100" dirty="0"/>
          </a:p>
        </p:txBody>
      </p:sp>
      <p:sp>
        <p:nvSpPr>
          <p:cNvPr id="47" name="!!p02">
            <a:extLst>
              <a:ext uri="{C183D7F6-B498-43B3-948B-1728B52AA6E4}">
                <adec:decorative xmlns:adec="http://schemas.microsoft.com/office/drawing/2017/decorative" val="1"/>
              </a:ext>
            </a:extLst>
          </p:cNvPr>
          <p:cNvSpPr txBox="1"/>
          <p:nvPr/>
        </p:nvSpPr>
        <p:spPr>
          <a:xfrm>
            <a:off x="-1391666" y="841248"/>
            <a:ext cx="1025906" cy="236474"/>
          </a:xfrm>
          <a:prstGeom prst="rect">
            <a:avLst/>
          </a:prstGeom>
          <a:noFill/>
          <a:ln/>
        </p:spPr>
        <p:txBody>
          <a:bodyPr wrap="none" lIns="0" tIns="0" rIns="0" bIns="0" rtlCol="0" anchor="ctr"/>
          <a:lstStyle/>
          <a:p>
            <a:pPr indent="0" marL="0">
              <a:buNone/>
            </a:pPr>
            <a:r>
              <a:rPr lang="en-US" sz="1100" dirty="0">
                <a:solidFill>
                  <a:srgbClr val="34433B"/>
                </a:solidFill>
                <a:latin typeface="Consolas" pitchFamily="34" charset="0"/>
                <a:ea typeface="Consolas" pitchFamily="34" charset="-122"/>
                <a:cs typeface="Consolas" pitchFamily="34" charset="-120"/>
              </a:rPr>
              <a:t>A * (B * C)</a:t>
            </a:r>
            <a:endParaRPr lang="en-US" sz="1100" dirty="0"/>
          </a:p>
        </p:txBody>
      </p:sp>
      <p:sp>
        <p:nvSpPr>
          <p:cNvPr id="48" name="!!p03">
            <a:extLst>
              <a:ext uri="{C183D7F6-B498-43B3-948B-1728B52AA6E4}">
                <adec:decorative xmlns:adec="http://schemas.microsoft.com/office/drawing/2017/decorative" val="1"/>
              </a:ext>
            </a:extLst>
          </p:cNvPr>
          <p:cNvSpPr txBox="1"/>
          <p:nvPr/>
        </p:nvSpPr>
        <p:spPr>
          <a:xfrm>
            <a:off x="-816864" y="841248"/>
            <a:ext cx="451104" cy="252984"/>
          </a:xfrm>
          <a:prstGeom prst="rect">
            <a:avLst/>
          </a:prstGeom>
          <a:noFill/>
          <a:ln/>
        </p:spPr>
        <p:txBody>
          <a:bodyPr wrap="none" lIns="0" tIns="0" rIns="0" bIns="0" rtlCol="0" anchor="ctr"/>
          <a:lstStyle/>
          <a:p>
            <a:pPr indent="0" marL="0">
              <a:buNone/>
            </a:pPr>
            <a:r>
              <a:rPr lang="en-US" sz="1200" dirty="0">
                <a:solidFill>
                  <a:srgbClr val="3A4A42"/>
                </a:solidFill>
                <a:latin typeface="Consolas" pitchFamily="34" charset="0"/>
                <a:ea typeface="Consolas" pitchFamily="34" charset="-122"/>
                <a:cs typeface="Consolas" pitchFamily="34" charset="-120"/>
              </a:rPr>
              <a:t>2^53</a:t>
            </a:r>
            <a:endParaRPr lang="en-US" sz="1200" dirty="0"/>
          </a:p>
        </p:txBody>
      </p:sp>
      <p:sp>
        <p:nvSpPr>
          <p:cNvPr id="49" name="!!p04">
            <a:extLst>
              <a:ext uri="{C183D7F6-B498-43B3-948B-1728B52AA6E4}">
                <adec:decorative xmlns:adec="http://schemas.microsoft.com/office/drawing/2017/decorative" val="1"/>
              </a:ext>
            </a:extLst>
          </p:cNvPr>
          <p:cNvSpPr txBox="1"/>
          <p:nvPr/>
        </p:nvSpPr>
        <p:spPr>
          <a:xfrm>
            <a:off x="2971800" y="6473952"/>
            <a:ext cx="506222" cy="236474"/>
          </a:xfrm>
          <a:prstGeom prst="rect">
            <a:avLst/>
          </a:prstGeom>
          <a:noFill/>
          <a:ln/>
        </p:spPr>
        <p:txBody>
          <a:bodyPr wrap="none" lIns="0" tIns="0" rIns="0" bIns="0" rtlCol="0" anchor="ctr"/>
          <a:lstStyle/>
          <a:p>
            <a:pPr indent="0" marL="0">
              <a:buNone/>
            </a:pPr>
            <a:r>
              <a:rPr lang="en-US" sz="1100" dirty="0">
                <a:solidFill>
                  <a:srgbClr val="34433B"/>
                </a:solidFill>
                <a:latin typeface="Consolas" pitchFamily="34" charset="0"/>
                <a:ea typeface="Consolas" pitchFamily="34" charset="-122"/>
                <a:cs typeface="Consolas" pitchFamily="34" charset="-120"/>
              </a:rPr>
              <a:t>fl(x)</a:t>
            </a:r>
            <a:endParaRPr lang="en-US" sz="1100" dirty="0"/>
          </a:p>
        </p:txBody>
      </p:sp>
      <p:sp>
        <p:nvSpPr>
          <p:cNvPr id="50" name="!!p05">
            <a:extLst>
              <a:ext uri="{C183D7F6-B498-43B3-948B-1728B52AA6E4}">
                <adec:decorative xmlns:adec="http://schemas.microsoft.com/office/drawing/2017/decorative" val="1"/>
              </a:ext>
            </a:extLst>
          </p:cNvPr>
          <p:cNvSpPr txBox="1"/>
          <p:nvPr/>
        </p:nvSpPr>
        <p:spPr>
          <a:xfrm>
            <a:off x="12557455" y="6108192"/>
            <a:ext cx="766064" cy="236474"/>
          </a:xfrm>
          <a:prstGeom prst="rect">
            <a:avLst/>
          </a:prstGeom>
          <a:noFill/>
          <a:ln/>
        </p:spPr>
        <p:txBody>
          <a:bodyPr wrap="none" lIns="0" tIns="0" rIns="0" bIns="0" rtlCol="0" anchor="ctr"/>
          <a:lstStyle/>
          <a:p>
            <a:pPr indent="0" marL="0">
              <a:buNone/>
            </a:pPr>
            <a:r>
              <a:rPr lang="en-US" sz="1100" dirty="0">
                <a:solidFill>
                  <a:srgbClr val="3A403D"/>
                </a:solidFill>
                <a:latin typeface="Consolas" pitchFamily="34" charset="0"/>
                <a:ea typeface="Consolas" pitchFamily="34" charset="-122"/>
                <a:cs typeface="Consolas" pitchFamily="34" charset="-120"/>
              </a:rPr>
              <a:t>-0 != +0</a:t>
            </a:r>
            <a:endParaRPr lang="en-US" sz="1100" dirty="0"/>
          </a:p>
        </p:txBody>
      </p:sp>
      <p:sp>
        <p:nvSpPr>
          <p:cNvPr id="51" name="!!p06">
            <a:extLst>
              <a:ext uri="{C183D7F6-B498-43B3-948B-1728B52AA6E4}">
                <adec:decorative xmlns:adec="http://schemas.microsoft.com/office/drawing/2017/decorative" val="1"/>
              </a:ext>
            </a:extLst>
          </p:cNvPr>
          <p:cNvSpPr txBox="1"/>
          <p:nvPr/>
        </p:nvSpPr>
        <p:spPr>
          <a:xfrm>
            <a:off x="12557455" y="6309360"/>
            <a:ext cx="1199134" cy="236474"/>
          </a:xfrm>
          <a:prstGeom prst="rect">
            <a:avLst/>
          </a:prstGeom>
          <a:noFill/>
          <a:ln/>
        </p:spPr>
        <p:txBody>
          <a:bodyPr wrap="none" lIns="0" tIns="0" rIns="0" bIns="0" rtlCol="0" anchor="ctr"/>
          <a:lstStyle/>
          <a:p>
            <a:pPr indent="0" marL="0">
              <a:buNone/>
            </a:pPr>
            <a:r>
              <a:rPr lang="en-US" sz="1100" dirty="0">
                <a:solidFill>
                  <a:srgbClr val="34433B"/>
                </a:solidFill>
                <a:latin typeface="Consolas" pitchFamily="34" charset="0"/>
                <a:ea typeface="Consolas" pitchFamily="34" charset="-122"/>
                <a:cs typeface="Consolas" pitchFamily="34" charset="-120"/>
              </a:rPr>
              <a:t>inf * 0 = NaN</a:t>
            </a:r>
            <a:endParaRPr lang="en-US" sz="1100" dirty="0"/>
          </a:p>
        </p:txBody>
      </p:sp>
      <p:sp>
        <p:nvSpPr>
          <p:cNvPr id="52" name="!!p07">
            <a:extLst>
              <a:ext uri="{C183D7F6-B498-43B3-948B-1728B52AA6E4}">
                <adec:decorative xmlns:adec="http://schemas.microsoft.com/office/drawing/2017/decorative" val="1"/>
              </a:ext>
            </a:extLst>
          </p:cNvPr>
          <p:cNvSpPr txBox="1"/>
          <p:nvPr/>
        </p:nvSpPr>
        <p:spPr>
          <a:xfrm>
            <a:off x="-1564894" y="6309360"/>
            <a:ext cx="1199134" cy="236474"/>
          </a:xfrm>
          <a:prstGeom prst="rect">
            <a:avLst/>
          </a:prstGeom>
          <a:noFill/>
          <a:ln/>
        </p:spPr>
        <p:txBody>
          <a:bodyPr wrap="none" lIns="0" tIns="0" rIns="0" bIns="0" rtlCol="0" anchor="ctr"/>
          <a:lstStyle/>
          <a:p>
            <a:pPr indent="0" marL="0">
              <a:buNone/>
            </a:pPr>
            <a:r>
              <a:rPr lang="en-US" sz="1100" dirty="0">
                <a:solidFill>
                  <a:srgbClr val="3A4A42"/>
                </a:solidFill>
                <a:latin typeface="Consolas" pitchFamily="34" charset="0"/>
                <a:ea typeface="Consolas" pitchFamily="34" charset="-122"/>
                <a:cs typeface="Consolas" pitchFamily="34" charset="-120"/>
              </a:rPr>
              <a:t>{{1,0},{0,1}}</a:t>
            </a:r>
            <a:endParaRPr lang="en-US" sz="1100" dirty="0"/>
          </a:p>
        </p:txBody>
      </p:sp>
      <p:sp>
        <p:nvSpPr>
          <p:cNvPr id="53" name="!!p08">
            <a:extLst>
              <a:ext uri="{C183D7F6-B498-43B3-948B-1728B52AA6E4}">
                <adec:decorative xmlns:adec="http://schemas.microsoft.com/office/drawing/2017/decorative" val="1"/>
              </a:ext>
            </a:extLst>
          </p:cNvPr>
          <p:cNvSpPr txBox="1"/>
          <p:nvPr/>
        </p:nvSpPr>
        <p:spPr>
          <a:xfrm>
            <a:off x="-1045210" y="6309360"/>
            <a:ext cx="679450" cy="236474"/>
          </a:xfrm>
          <a:prstGeom prst="rect">
            <a:avLst/>
          </a:prstGeom>
          <a:noFill/>
          <a:ln/>
        </p:spPr>
        <p:txBody>
          <a:bodyPr wrap="none" lIns="0" tIns="0" rIns="0" bIns="0" rtlCol="0" anchor="ctr"/>
          <a:lstStyle/>
          <a:p>
            <a:pPr indent="0" marL="0">
              <a:buNone/>
            </a:pPr>
            <a:r>
              <a:rPr lang="en-US" sz="1100" dirty="0">
                <a:solidFill>
                  <a:srgbClr val="3A403D"/>
                </a:solidFill>
                <a:latin typeface="Consolas" pitchFamily="34" charset="0"/>
                <a:ea typeface="Consolas" pitchFamily="34" charset="-122"/>
                <a:cs typeface="Consolas" pitchFamily="34" charset="-120"/>
              </a:rPr>
              <a:t>0x1p+53</a:t>
            </a:r>
            <a:endParaRPr lang="en-US" sz="11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5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icker"/>
          <p:cNvSpPr txBox="1"/>
          <p:nvPr/>
        </p:nvSpPr>
        <p:spPr>
          <a:xfrm>
            <a:off x="685800" y="347472"/>
            <a:ext cx="87782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Consolas" pitchFamily="34" charset="0"/>
                <a:ea typeface="Consolas" pitchFamily="34" charset="-122"/>
                <a:cs typeface="Consolas" pitchFamily="34" charset="-120"/>
              </a:rPr>
              <a:t>05 // THE EVIDENCE</a:t>
            </a:r>
            <a:endParaRPr lang="en-US" sz="1200" dirty="0"/>
          </a:p>
        </p:txBody>
      </p:sp>
      <p:sp>
        <p:nvSpPr>
          <p:cNvPr id="3" name="Text 0"/>
          <p:cNvSpPr/>
          <p:nvPr>
            <p:ph idx="100" type="title" hasCustomPrompt="1"/>
          </p:nvPr>
        </p:nvSpPr>
        <p:spPr>
          <a:xfrm>
            <a:off x="685800" y="676656"/>
            <a:ext cx="9326880" cy="658368"/>
          </a:xfrm>
          <a:prstGeom prst="rect">
            <a:avLst/>
          </a:prstGeom>
          <a:noFill/>
          <a:ln/>
        </p:spPr>
        <p:txBody>
          <a:bodyPr wrap="square" lIns="0" tIns="0" rIns="0" bIns="0" rtlCol="0" anchor="t"/>
          <a:lstStyle/>
          <a:p>
            <a:pPr algn="l" indent="0" marL="0">
              <a:buNone/>
            </a:pPr>
            <a:r>
              <a:rPr lang="en-US" sz="3000" dirty="0">
                <a:solidFill>
                  <a:schemeClr val="bg1"/>
                </a:solidFill>
                <a:latin typeface="Segoe UI Semibold" pitchFamily="34" charset="0"/>
                <a:ea typeface="Segoe UI Semibold" pitchFamily="34" charset="-122"/>
                <a:cs typeface="Segoe UI Semibold" pitchFamily="34" charset="-120"/>
              </a:rPr>
              <a:t>Faster than ‑ffast‑math, and with a guarantee</a:t>
            </a:r>
            <a:endParaRPr lang="en-US" sz="3000" dirty="0"/>
          </a:p>
        </p:txBody>
      </p:sp>
      <p:sp>
        <p:nvSpPr>
          <p:cNvPr id="4" name="!!vL"/>
          <p:cNvSpPr/>
          <p:nvPr/>
        </p:nvSpPr>
        <p:spPr>
          <a:xfrm>
            <a:off x="10241280" y="356616"/>
            <a:ext cx="54864" cy="256032"/>
          </a:xfrm>
          <a:custGeom>
            <a:avLst/>
            <a:gdLst/>
            <a:ahLst/>
            <a:cxnLst/>
            <a:rect l="l" t="t" r="r" b="b"/>
            <a:pathLst>
              <a:path w="54864" h="256032">
                <a:moveTo>
                  <a:pt x="54864" y="0"/>
                </a:moveTo>
                <a:lnTo>
                  <a:pt x="0" y="0"/>
                </a:lnTo>
                <a:lnTo>
                  <a:pt x="0" y="256032"/>
                </a:lnTo>
                <a:lnTo>
                  <a:pt x="54864" y="256032"/>
                </a:lnTo>
              </a:path>
            </a:pathLst>
          </a:custGeom>
          <a:noFill/>
          <a:ln w="12700">
            <a:solidFill>
              <a:srgbClr val="4A514D"/>
            </a:solidFill>
            <a:prstDash val="solid"/>
          </a:ln>
        </p:spPr>
      </p:sp>
      <p:sp>
        <p:nvSpPr>
          <p:cNvPr id="5" name="!!vR"/>
          <p:cNvSpPr/>
          <p:nvPr/>
        </p:nvSpPr>
        <p:spPr>
          <a:xfrm>
            <a:off x="11448288" y="356616"/>
            <a:ext cx="54864" cy="256032"/>
          </a:xfrm>
          <a:custGeom>
            <a:avLst/>
            <a:gdLst/>
            <a:ahLst/>
            <a:cxnLst/>
            <a:rect l="l" t="t" r="r" b="b"/>
            <a:pathLst>
              <a:path w="54864" h="256032">
                <a:moveTo>
                  <a:pt x="0" y="0"/>
                </a:moveTo>
                <a:lnTo>
                  <a:pt x="54864" y="0"/>
                </a:lnTo>
                <a:lnTo>
                  <a:pt x="54864" y="256032"/>
                </a:lnTo>
                <a:lnTo>
                  <a:pt x="0" y="256032"/>
                </a:lnTo>
              </a:path>
            </a:pathLst>
          </a:custGeom>
          <a:noFill/>
          <a:ln w="12700">
            <a:solidFill>
              <a:srgbClr val="4A514D"/>
            </a:solidFill>
            <a:prstDash val="solid"/>
          </a:ln>
        </p:spPr>
      </p:sp>
      <p:sp>
        <p:nvSpPr>
          <p:cNvPr id="6" name="!!e1"/>
          <p:cNvSpPr txBox="1"/>
          <p:nvPr/>
        </p:nvSpPr>
        <p:spPr>
          <a:xfrm>
            <a:off x="10341864" y="347472"/>
            <a:ext cx="146304" cy="274320"/>
          </a:xfrm>
          <a:prstGeom prst="rect">
            <a:avLst/>
          </a:prstGeom>
          <a:noFill/>
          <a:ln/>
        </p:spPr>
        <p:txBody>
          <a:bodyPr wrap="square" lIns="0" tIns="0" rIns="0" bIns="0" rtlCol="0" anchor="ctr"/>
          <a:lstStyle/>
          <a:p>
            <a:pPr algn="ctr" indent="0" marL="0">
              <a:buNone/>
            </a:pPr>
            <a:r>
              <a:rPr lang="en-US" sz="1200" dirty="0">
                <a:solidFill>
                  <a:srgbClr val="4A514D"/>
                </a:solidFill>
                <a:latin typeface="Consolas" pitchFamily="34" charset="0"/>
                <a:ea typeface="Consolas" pitchFamily="34" charset="-122"/>
                <a:cs typeface="Consolas" pitchFamily="34" charset="-120"/>
              </a:rPr>
              <a:t>0</a:t>
            </a:r>
            <a:endParaRPr lang="en-US" sz="1200" dirty="0"/>
          </a:p>
        </p:txBody>
      </p:sp>
      <p:sp>
        <p:nvSpPr>
          <p:cNvPr id="7" name="!!e2"/>
          <p:cNvSpPr txBox="1"/>
          <p:nvPr/>
        </p:nvSpPr>
        <p:spPr>
          <a:xfrm>
            <a:off x="10492740" y="347472"/>
            <a:ext cx="146304" cy="274320"/>
          </a:xfrm>
          <a:prstGeom prst="rect">
            <a:avLst/>
          </a:prstGeom>
          <a:noFill/>
          <a:ln/>
        </p:spPr>
        <p:txBody>
          <a:bodyPr wrap="square" lIns="0" tIns="0" rIns="0" bIns="0" rtlCol="0" anchor="ctr"/>
          <a:lstStyle/>
          <a:p>
            <a:pPr algn="ctr" indent="0" marL="0">
              <a:buNone/>
            </a:pPr>
            <a:r>
              <a:rPr lang="en-US" sz="1200" dirty="0">
                <a:solidFill>
                  <a:srgbClr val="4A514D"/>
                </a:solidFill>
                <a:latin typeface="Consolas" pitchFamily="34" charset="0"/>
                <a:ea typeface="Consolas" pitchFamily="34" charset="-122"/>
                <a:cs typeface="Consolas" pitchFamily="34" charset="-120"/>
              </a:rPr>
              <a:t>0</a:t>
            </a:r>
            <a:endParaRPr lang="en-US" sz="1200" dirty="0"/>
          </a:p>
        </p:txBody>
      </p:sp>
      <p:sp>
        <p:nvSpPr>
          <p:cNvPr id="8" name="!!e3"/>
          <p:cNvSpPr txBox="1"/>
          <p:nvPr/>
        </p:nvSpPr>
        <p:spPr>
          <a:xfrm>
            <a:off x="10643616" y="347472"/>
            <a:ext cx="146304" cy="274320"/>
          </a:xfrm>
          <a:prstGeom prst="rect">
            <a:avLst/>
          </a:prstGeom>
          <a:noFill/>
          <a:ln/>
        </p:spPr>
        <p:txBody>
          <a:bodyPr wrap="square" lIns="0" tIns="0" rIns="0" bIns="0" rtlCol="0" anchor="ctr"/>
          <a:lstStyle/>
          <a:p>
            <a:pPr algn="ctr" indent="0" marL="0">
              <a:buNone/>
            </a:pPr>
            <a:r>
              <a:rPr lang="en-US" sz="1200" dirty="0">
                <a:solidFill>
                  <a:srgbClr val="4A514D"/>
                </a:solidFill>
                <a:latin typeface="Consolas" pitchFamily="34" charset="0"/>
                <a:ea typeface="Consolas" pitchFamily="34" charset="-122"/>
                <a:cs typeface="Consolas" pitchFamily="34" charset="-120"/>
              </a:rPr>
              <a:t>0</a:t>
            </a:r>
            <a:endParaRPr lang="en-US" sz="1200" dirty="0"/>
          </a:p>
        </p:txBody>
      </p:sp>
      <p:sp>
        <p:nvSpPr>
          <p:cNvPr id="9" name="!!e4"/>
          <p:cNvSpPr txBox="1"/>
          <p:nvPr/>
        </p:nvSpPr>
        <p:spPr>
          <a:xfrm>
            <a:off x="10794492" y="347472"/>
            <a:ext cx="146304" cy="274320"/>
          </a:xfrm>
          <a:prstGeom prst="rect">
            <a:avLst/>
          </a:prstGeom>
          <a:noFill/>
          <a:ln/>
        </p:spPr>
        <p:txBody>
          <a:bodyPr wrap="square" lIns="0" tIns="0" rIns="0" bIns="0" rtlCol="0" anchor="ctr"/>
          <a:lstStyle/>
          <a:p>
            <a:pPr algn="ctr" indent="0" marL="0">
              <a:buNone/>
            </a:pPr>
            <a:r>
              <a:rPr lang="en-US" sz="1200" dirty="0">
                <a:solidFill>
                  <a:srgbClr val="4A514D"/>
                </a:solidFill>
                <a:latin typeface="Consolas" pitchFamily="34" charset="0"/>
                <a:ea typeface="Consolas" pitchFamily="34" charset="-122"/>
                <a:cs typeface="Consolas" pitchFamily="34" charset="-120"/>
              </a:rPr>
              <a:t>0</a:t>
            </a:r>
            <a:endParaRPr lang="en-US" sz="1200" dirty="0"/>
          </a:p>
        </p:txBody>
      </p:sp>
      <p:sp>
        <p:nvSpPr>
          <p:cNvPr id="10" name="!!e5"/>
          <p:cNvSpPr txBox="1"/>
          <p:nvPr/>
        </p:nvSpPr>
        <p:spPr>
          <a:xfrm>
            <a:off x="10945368" y="347472"/>
            <a:ext cx="146304" cy="274320"/>
          </a:xfrm>
          <a:prstGeom prst="rect">
            <a:avLst/>
          </a:prstGeom>
          <a:noFill/>
          <a:ln/>
        </p:spPr>
        <p:txBody>
          <a:bodyPr wrap="square" lIns="0" tIns="0" rIns="0" bIns="0" rtlCol="0" anchor="ctr"/>
          <a:lstStyle/>
          <a:p>
            <a:pPr algn="ctr" indent="0" marL="0">
              <a:buNone/>
            </a:pPr>
            <a:r>
              <a:rPr lang="en-US" sz="1200" dirty="0">
                <a:solidFill>
                  <a:srgbClr val="4A514D"/>
                </a:solidFill>
                <a:latin typeface="Consolas" pitchFamily="34" charset="0"/>
                <a:ea typeface="Consolas" pitchFamily="34" charset="-122"/>
                <a:cs typeface="Consolas" pitchFamily="34" charset="-120"/>
              </a:rPr>
              <a:t>0</a:t>
            </a:r>
            <a:endParaRPr lang="en-US" sz="1200" dirty="0"/>
          </a:p>
        </p:txBody>
      </p:sp>
      <p:sp>
        <p:nvSpPr>
          <p:cNvPr id="11" name="!!e6"/>
          <p:cNvSpPr txBox="1"/>
          <p:nvPr/>
        </p:nvSpPr>
        <p:spPr>
          <a:xfrm>
            <a:off x="11096244" y="347472"/>
            <a:ext cx="146304" cy="274320"/>
          </a:xfrm>
          <a:prstGeom prst="rect">
            <a:avLst/>
          </a:prstGeom>
          <a:noFill/>
          <a:ln/>
        </p:spPr>
        <p:txBody>
          <a:bodyPr wrap="square" lIns="0" tIns="0" rIns="0" bIns="0" rtlCol="0" anchor="ctr"/>
          <a:lstStyle/>
          <a:p>
            <a:pPr algn="ctr" indent="0" marL="0">
              <a:buNone/>
            </a:pPr>
            <a:r>
              <a:rPr lang="en-US" sz="1200" b="1" dirty="0">
                <a:solidFill>
                  <a:schemeClr val="accent1"/>
                </a:solidFill>
                <a:latin typeface="Consolas" pitchFamily="34" charset="0"/>
                <a:ea typeface="Consolas" pitchFamily="34" charset="-122"/>
                <a:cs typeface="Consolas" pitchFamily="34" charset="-120"/>
              </a:rPr>
              <a:t>1</a:t>
            </a:r>
            <a:endParaRPr lang="en-US" sz="1200" dirty="0"/>
          </a:p>
        </p:txBody>
      </p:sp>
      <p:sp>
        <p:nvSpPr>
          <p:cNvPr id="12" name="!!e7"/>
          <p:cNvSpPr txBox="1"/>
          <p:nvPr/>
        </p:nvSpPr>
        <p:spPr>
          <a:xfrm>
            <a:off x="11247120" y="347472"/>
            <a:ext cx="146304" cy="274320"/>
          </a:xfrm>
          <a:prstGeom prst="rect">
            <a:avLst/>
          </a:prstGeom>
          <a:noFill/>
          <a:ln/>
        </p:spPr>
        <p:txBody>
          <a:bodyPr wrap="square" lIns="0" tIns="0" rIns="0" bIns="0" rtlCol="0" anchor="ctr"/>
          <a:lstStyle/>
          <a:p>
            <a:pPr algn="ctr" indent="0" marL="0">
              <a:buNone/>
            </a:pPr>
            <a:r>
              <a:rPr lang="en-US" sz="1200" dirty="0">
                <a:solidFill>
                  <a:srgbClr val="4A514D"/>
                </a:solidFill>
                <a:latin typeface="Consolas" pitchFamily="34" charset="0"/>
                <a:ea typeface="Consolas" pitchFamily="34" charset="-122"/>
                <a:cs typeface="Consolas" pitchFamily="34" charset="-120"/>
              </a:rPr>
              <a:t>0</a:t>
            </a:r>
            <a:endParaRPr lang="en-US" sz="1200" dirty="0"/>
          </a:p>
        </p:txBody>
      </p:sp>
      <p:sp>
        <p:nvSpPr>
          <p:cNvPr id="13" name="!!logo"/>
          <p:cNvSpPr txBox="1"/>
          <p:nvPr/>
        </p:nvSpPr>
        <p:spPr>
          <a:xfrm>
            <a:off x="685800" y="6382512"/>
            <a:ext cx="2011680" cy="274320"/>
          </a:xfrm>
          <a:prstGeom prst="rect">
            <a:avLst/>
          </a:prstGeom>
          <a:noFill/>
          <a:ln/>
        </p:spPr>
        <p:txBody>
          <a:bodyPr wrap="square" lIns="0" tIns="0" rIns="0" bIns="0" rtlCol="0" anchor="ctr"/>
          <a:lstStyle/>
          <a:p>
            <a:pPr indent="0" marL="0">
              <a:buNone/>
            </a:pPr>
            <a:r>
              <a:rPr lang="en-US" sz="1300" dirty="0">
                <a:solidFill>
                  <a:schemeClr val="bg1"/>
                </a:solidFill>
                <a:latin typeface="Segoe UI Black" pitchFamily="34" charset="0"/>
                <a:ea typeface="Segoe UI Black" pitchFamily="34" charset="-122"/>
                <a:cs typeface="Segoe UI Black" pitchFamily="34" charset="-120"/>
              </a:rPr>
              <a:t>Matrix</a:t>
            </a:r>
            <a:pPr indent="0" marL="0">
              <a:buNone/>
            </a:pPr>
            <a:r>
              <a:rPr lang="en-US" sz="1300" dirty="0">
                <a:solidFill>
                  <a:schemeClr val="accent1"/>
                </a:solidFill>
                <a:latin typeface="Segoe UI Black" pitchFamily="34" charset="0"/>
                <a:ea typeface="Segoe UI Black" pitchFamily="34" charset="-122"/>
                <a:cs typeface="Segoe UI Black" pitchFamily="34" charset="-120"/>
              </a:rPr>
              <a:t>Lang</a:t>
            </a:r>
            <a:endParaRPr lang="en-US" sz="1300" dirty="0"/>
          </a:p>
        </p:txBody>
      </p:sp>
      <p:sp>
        <p:nvSpPr>
          <p:cNvPr id="14" name="!!repo"/>
          <p:cNvSpPr txBox="1"/>
          <p:nvPr/>
        </p:nvSpPr>
        <p:spPr>
          <a:xfrm>
            <a:off x="7662672" y="6382512"/>
            <a:ext cx="3840480" cy="274320"/>
          </a:xfrm>
          <a:prstGeom prst="rect">
            <a:avLst/>
          </a:prstGeom>
          <a:noFill/>
          <a:ln/>
        </p:spPr>
        <p:txBody>
          <a:bodyPr wrap="square" lIns="0" tIns="0" rIns="0" bIns="0" rtlCol="0" anchor="ctr"/>
          <a:lstStyle/>
          <a:p>
            <a:pPr algn="r" indent="0" marL="0">
              <a:buNone/>
            </a:pPr>
            <a:r>
              <a:rPr lang="en-US" sz="1100" u="sng" dirty="0">
                <a:solidFill>
                  <a:schemeClr val="accent1"/>
                </a:solidFill>
                <a:latin typeface="Consolas" pitchFamily="34" charset="0"/>
                <a:ea typeface="Consolas" pitchFamily="34" charset="-122"/>
                <a:cs typeface="Consolas" pitchFamily="34" charset="-120"/>
                <a:hlinkClick r:id="rId1" invalidUrl="" action="" tgtFrame="" tooltip="Open the MatrixLang repository" history="1" highlightClick="0" endSnd="0">
                  <a:extLst>
                    <a:ext uri="{A12FA001-AC4F-418D-AE19-62706E023703}">
                      <ahyp:hlinkClr xmlns:ahyp="http://schemas.microsoft.com/office/drawing/2018/hyperlinkcolor" val="tx"/>
                    </a:ext>
                  </a:extLst>
                </a:hlinkClick>
              </a:rPr>
              <a:t>github.com/aswanth-07/matrixlang</a:t>
            </a:r>
            <a:endParaRPr lang="en-US" sz="1100" dirty="0"/>
          </a:p>
        </p:txBody>
      </p:sp>
      <p:sp>
        <p:nvSpPr>
          <p:cNvPr id="15" name="!!k3"/>
          <p:cNvSpPr/>
          <p:nvPr/>
        </p:nvSpPr>
        <p:spPr>
          <a:xfrm>
            <a:off x="713232" y="1559052"/>
            <a:ext cx="146304" cy="146304"/>
          </a:xfrm>
          <a:prstGeom prst="roundRect">
            <a:avLst>
              <a:gd name="adj" fmla="val 50000"/>
            </a:avLst>
          </a:prstGeom>
          <a:solidFill>
            <a:schemeClr val="accent3"/>
          </a:solidFill>
          <a:ln/>
        </p:spPr>
      </p:sp>
      <p:sp>
        <p:nvSpPr>
          <p:cNvPr id="16" name="!!kl3"/>
          <p:cNvSpPr txBox="1"/>
          <p:nvPr/>
        </p:nvSpPr>
        <p:spPr>
          <a:xfrm>
            <a:off x="932688" y="1481328"/>
            <a:ext cx="1828800" cy="301752"/>
          </a:xfrm>
          <a:prstGeom prst="rect">
            <a:avLst/>
          </a:prstGeom>
          <a:noFill/>
          <a:ln/>
        </p:spPr>
        <p:txBody>
          <a:bodyPr wrap="square" lIns="0" tIns="0" rIns="0" bIns="0" rtlCol="0" anchor="ctr"/>
          <a:lstStyle/>
          <a:p>
            <a:pPr indent="0" marL="0">
              <a:buNone/>
            </a:pPr>
            <a:r>
              <a:rPr lang="en-US" sz="1150" dirty="0">
                <a:solidFill>
                  <a:schemeClr val="bg2"/>
                </a:solidFill>
                <a:latin typeface="Consolas" pitchFamily="34" charset="0"/>
                <a:ea typeface="Consolas" pitchFamily="34" charset="-122"/>
                <a:cs typeface="Consolas" pitchFamily="34" charset="-120"/>
              </a:rPr>
              <a:t>‑ffast‑math (GCC)</a:t>
            </a:r>
            <a:endParaRPr lang="en-US" sz="1150" dirty="0"/>
          </a:p>
        </p:txBody>
      </p:sp>
      <p:sp>
        <p:nvSpPr>
          <p:cNvPr id="17" name="Shape 15"/>
          <p:cNvSpPr/>
          <p:nvPr/>
        </p:nvSpPr>
        <p:spPr>
          <a:xfrm>
            <a:off x="2724912" y="1559052"/>
            <a:ext cx="146304" cy="146304"/>
          </a:xfrm>
          <a:prstGeom prst="roundRect">
            <a:avLst>
              <a:gd name="adj" fmla="val 50000"/>
            </a:avLst>
          </a:prstGeom>
          <a:solidFill>
            <a:srgbClr val="6B716D"/>
          </a:solidFill>
          <a:ln/>
        </p:spPr>
      </p:sp>
      <p:sp>
        <p:nvSpPr>
          <p:cNvPr id="18" name="Text 16"/>
          <p:cNvSpPr txBox="1"/>
          <p:nvPr/>
        </p:nvSpPr>
        <p:spPr>
          <a:xfrm>
            <a:off x="2944368" y="1481328"/>
            <a:ext cx="2240280" cy="301752"/>
          </a:xfrm>
          <a:prstGeom prst="rect">
            <a:avLst/>
          </a:prstGeom>
          <a:noFill/>
          <a:ln/>
        </p:spPr>
        <p:txBody>
          <a:bodyPr wrap="square" lIns="0" tIns="0" rIns="0" bIns="0" rtlCol="0" anchor="ctr"/>
          <a:lstStyle/>
          <a:p>
            <a:pPr indent="0" marL="0">
              <a:buNone/>
            </a:pPr>
            <a:r>
              <a:rPr lang="en-US" sz="1150" dirty="0">
                <a:solidFill>
                  <a:schemeClr val="bg2"/>
                </a:solidFill>
                <a:latin typeface="Consolas" pitchFamily="34" charset="0"/>
                <a:ea typeface="Consolas" pitchFamily="34" charset="-122"/>
                <a:cs typeface="Consolas" pitchFamily="34" charset="-120"/>
              </a:rPr>
              <a:t>no proofs (last review)</a:t>
            </a:r>
            <a:endParaRPr lang="en-US" sz="1150" dirty="0"/>
          </a:p>
        </p:txBody>
      </p:sp>
      <p:sp>
        <p:nvSpPr>
          <p:cNvPr id="19" name="!!k1"/>
          <p:cNvSpPr/>
          <p:nvPr/>
        </p:nvSpPr>
        <p:spPr>
          <a:xfrm>
            <a:off x="5166360" y="1559052"/>
            <a:ext cx="146304" cy="146304"/>
          </a:xfrm>
          <a:prstGeom prst="roundRect">
            <a:avLst>
              <a:gd name="adj" fmla="val 50000"/>
            </a:avLst>
          </a:prstGeom>
          <a:solidFill>
            <a:schemeClr val="accent1"/>
          </a:solidFill>
          <a:ln/>
        </p:spPr>
      </p:sp>
      <p:sp>
        <p:nvSpPr>
          <p:cNvPr id="20" name="!!kl1"/>
          <p:cNvSpPr txBox="1"/>
          <p:nvPr/>
        </p:nvSpPr>
        <p:spPr>
          <a:xfrm>
            <a:off x="5385816" y="1481328"/>
            <a:ext cx="1600200" cy="301752"/>
          </a:xfrm>
          <a:prstGeom prst="rect">
            <a:avLst/>
          </a:prstGeom>
          <a:noFill/>
          <a:ln/>
        </p:spPr>
        <p:txBody>
          <a:bodyPr wrap="square" lIns="0" tIns="0" rIns="0" bIns="0" rtlCol="0" anchor="ctr"/>
          <a:lstStyle/>
          <a:p>
            <a:pPr indent="0" marL="0">
              <a:buNone/>
            </a:pPr>
            <a:r>
              <a:rPr lang="en-US" sz="1150" dirty="0">
                <a:solidFill>
                  <a:schemeClr val="bg2"/>
                </a:solidFill>
                <a:latin typeface="Consolas" pitchFamily="34" charset="0"/>
                <a:ea typeface="Consolas" pitchFamily="34" charset="-122"/>
                <a:cs typeface="Consolas" pitchFamily="34" charset="-120"/>
              </a:rPr>
              <a:t>strict + proofs</a:t>
            </a:r>
            <a:endParaRPr lang="en-US" sz="1150" dirty="0"/>
          </a:p>
        </p:txBody>
      </p:sp>
      <p:sp>
        <p:nvSpPr>
          <p:cNvPr id="21" name="!!k2"/>
          <p:cNvSpPr/>
          <p:nvPr/>
        </p:nvSpPr>
        <p:spPr>
          <a:xfrm>
            <a:off x="6967728" y="1559052"/>
            <a:ext cx="146304" cy="146304"/>
          </a:xfrm>
          <a:prstGeom prst="roundRect">
            <a:avLst>
              <a:gd name="adj" fmla="val 50000"/>
            </a:avLst>
          </a:prstGeom>
          <a:solidFill>
            <a:schemeClr val="accent2"/>
          </a:solidFill>
          <a:ln/>
        </p:spPr>
      </p:sp>
      <p:sp>
        <p:nvSpPr>
          <p:cNvPr id="22" name="!!kl2"/>
          <p:cNvSpPr txBox="1"/>
          <p:nvPr/>
        </p:nvSpPr>
        <p:spPr>
          <a:xfrm>
            <a:off x="7187184" y="1481328"/>
            <a:ext cx="1737360" cy="301752"/>
          </a:xfrm>
          <a:prstGeom prst="rect">
            <a:avLst/>
          </a:prstGeom>
          <a:noFill/>
          <a:ln/>
        </p:spPr>
        <p:txBody>
          <a:bodyPr wrap="square" lIns="0" tIns="0" rIns="0" bIns="0" rtlCol="0" anchor="ctr"/>
          <a:lstStyle/>
          <a:p>
            <a:pPr indent="0" marL="0">
              <a:buNone/>
            </a:pPr>
            <a:r>
              <a:rPr lang="en-US" sz="1150" dirty="0">
                <a:solidFill>
                  <a:schemeClr val="bg2"/>
                </a:solidFill>
                <a:latin typeface="Consolas" pitchFamily="34" charset="0"/>
                <a:ea typeface="Consolas" pitchFamily="34" charset="-122"/>
                <a:cs typeface="Consolas" pitchFamily="34" charset="-120"/>
              </a:rPr>
              <a:t>bounded + proofs</a:t>
            </a:r>
            <a:endParaRPr lang="en-US" sz="1150" dirty="0"/>
          </a:p>
        </p:txBody>
      </p:sp>
      <p:sp>
        <p:nvSpPr>
          <p:cNvPr id="23" name="Text 21"/>
          <p:cNvSpPr txBox="1"/>
          <p:nvPr/>
        </p:nvSpPr>
        <p:spPr>
          <a:xfrm>
            <a:off x="9052560" y="1481328"/>
            <a:ext cx="2450592" cy="301752"/>
          </a:xfrm>
          <a:prstGeom prst="rect">
            <a:avLst/>
          </a:prstGeom>
          <a:noFill/>
          <a:ln/>
        </p:spPr>
        <p:txBody>
          <a:bodyPr wrap="square" lIns="0" tIns="0" rIns="0" bIns="0" rtlCol="0" anchor="ctr"/>
          <a:lstStyle/>
          <a:p>
            <a:pPr algn="r" indent="0" marL="0">
              <a:buNone/>
            </a:pPr>
            <a:r>
              <a:rPr lang="en-US" sz="1050" dirty="0">
                <a:solidFill>
                  <a:schemeClr val="accent4"/>
                </a:solidFill>
                <a:latin typeface="Consolas" pitchFamily="34" charset="0"/>
                <a:ea typeface="Consolas" pitchFamily="34" charset="-122"/>
                <a:cs typeface="Consolas" pitchFamily="34" charset="-120"/>
              </a:rPr>
              <a:t>data: results/contracts</a:t>
            </a:r>
            <a:endParaRPr lang="en-US" sz="1050" dirty="0"/>
          </a:p>
        </p:txBody>
      </p:sp>
      <p:sp>
        <p:nvSpPr>
          <p:cNvPr id="24" name="!!brL"/>
          <p:cNvSpPr/>
          <p:nvPr/>
        </p:nvSpPr>
        <p:spPr>
          <a:xfrm>
            <a:off x="685800" y="1892808"/>
            <a:ext cx="274320" cy="3383280"/>
          </a:xfrm>
          <a:custGeom>
            <a:avLst/>
            <a:gdLst/>
            <a:ahLst/>
            <a:cxnLst/>
            <a:rect l="l" t="t" r="r" b="b"/>
            <a:pathLst>
              <a:path w="274320" h="3383280">
                <a:moveTo>
                  <a:pt x="274320" y="0"/>
                </a:moveTo>
                <a:lnTo>
                  <a:pt x="0" y="0"/>
                </a:lnTo>
                <a:lnTo>
                  <a:pt x="0" y="3383280"/>
                </a:lnTo>
                <a:lnTo>
                  <a:pt x="274320" y="3383280"/>
                </a:lnTo>
              </a:path>
            </a:pathLst>
          </a:custGeom>
          <a:noFill/>
          <a:ln w="22225">
            <a:solidFill>
              <a:schemeClr val="accent5"/>
            </a:solidFill>
            <a:prstDash val="solid"/>
          </a:ln>
        </p:spPr>
      </p:sp>
      <p:sp>
        <p:nvSpPr>
          <p:cNvPr id="25" name="!!brR"/>
          <p:cNvSpPr/>
          <p:nvPr/>
        </p:nvSpPr>
        <p:spPr>
          <a:xfrm>
            <a:off x="11228832" y="1892808"/>
            <a:ext cx="274320" cy="3383280"/>
          </a:xfrm>
          <a:custGeom>
            <a:avLst/>
            <a:gdLst/>
            <a:ahLst/>
            <a:cxnLst/>
            <a:rect l="l" t="t" r="r" b="b"/>
            <a:pathLst>
              <a:path w="274320" h="3383280">
                <a:moveTo>
                  <a:pt x="0" y="0"/>
                </a:moveTo>
                <a:lnTo>
                  <a:pt x="274320" y="0"/>
                </a:lnTo>
                <a:lnTo>
                  <a:pt x="274320" y="3383280"/>
                </a:lnTo>
                <a:lnTo>
                  <a:pt x="0" y="3383280"/>
                </a:lnTo>
              </a:path>
            </a:pathLst>
          </a:custGeom>
          <a:noFill/>
          <a:ln w="22225">
            <a:solidFill>
              <a:schemeClr val="accent5"/>
            </a:solidFill>
            <a:prstDash val="solid"/>
          </a:ln>
        </p:spPr>
      </p:sp>
      <p:sp>
        <p:nvSpPr>
          <p:cNvPr id="26" name="!!cell1"/>
          <p:cNvSpPr/>
          <p:nvPr/>
        </p:nvSpPr>
        <p:spPr>
          <a:xfrm>
            <a:off x="1005840" y="1984248"/>
            <a:ext cx="6053328" cy="3200400"/>
          </a:xfrm>
          <a:prstGeom prst="roundRect">
            <a:avLst>
              <a:gd name="adj" fmla="val 2286"/>
            </a:avLst>
          </a:prstGeom>
          <a:solidFill>
            <a:srgbClr val="0A0C0B"/>
          </a:solidFill>
          <a:ln w="9525">
            <a:solidFill>
              <a:srgbClr val="1F2523"/>
            </a:solidFill>
          </a:ln>
        </p:spPr>
        <p:txBody>
          <a:bodyPr wrap="square" lIns="76200" tIns="76200" rIns="76200" bIns="63500" rtlCol="0" anchor="t"/>
          <a:lstStyle/>
          <a:p>
            <a:pPr algn="l" indent="0" marL="0">
              <a:buNone/>
            </a:pPr>
            <a:endParaRPr lang="en-US" sz="1200" dirty="0"/>
          </a:p>
        </p:txBody>
      </p:sp>
      <p:sp>
        <p:nvSpPr>
          <p:cNvPr id="27" name="Text 25"/>
          <p:cNvSpPr txBox="1"/>
          <p:nvPr/>
        </p:nvSpPr>
        <p:spPr>
          <a:xfrm>
            <a:off x="1207008" y="2084832"/>
            <a:ext cx="5669280" cy="237744"/>
          </a:xfrm>
          <a:prstGeom prst="rect">
            <a:avLst/>
          </a:prstGeom>
          <a:noFill/>
          <a:ln/>
        </p:spPr>
        <p:txBody>
          <a:bodyPr wrap="square" lIns="0" tIns="0" rIns="0" bIns="0" rtlCol="0" anchor="t"/>
          <a:lstStyle/>
          <a:p>
            <a:pPr indent="0" marL="0">
              <a:buNone/>
            </a:pPr>
            <a:r>
              <a:rPr lang="en-US" sz="1050" spc="150" kern="0" dirty="0">
                <a:solidFill>
                  <a:schemeClr val="accent1"/>
                </a:solidFill>
                <a:latin typeface="Consolas" pitchFamily="34" charset="0"/>
                <a:ea typeface="Consolas" pitchFamily="34" charset="-122"/>
                <a:cs typeface="Consolas" pitchFamily="34" charset="-120"/>
              </a:rPr>
              <a:t>SPEEDUP OVER THE PROGRAM AS WRITTEN</a:t>
            </a:r>
            <a:endParaRPr lang="en-US" sz="1050" dirty="0"/>
          </a:p>
        </p:txBody>
      </p:sp>
      <p:sp>
        <p:nvSpPr>
          <p:cNvPr id="28" name="Text 26"/>
          <p:cNvSpPr txBox="1"/>
          <p:nvPr/>
        </p:nvSpPr>
        <p:spPr>
          <a:xfrm>
            <a:off x="1207008" y="2322576"/>
            <a:ext cx="5669280" cy="237744"/>
          </a:xfrm>
          <a:prstGeom prst="rect">
            <a:avLst/>
          </a:prstGeom>
          <a:noFill/>
          <a:ln/>
        </p:spPr>
        <p:txBody>
          <a:bodyPr wrap="square" lIns="0" tIns="0" rIns="0" bIns="0" rtlCol="0" anchor="t"/>
          <a:lstStyle/>
          <a:p>
            <a:pPr indent="0" marL="0">
              <a:buNone/>
            </a:pPr>
            <a:r>
              <a:rPr lang="en-US" sz="1100" dirty="0">
                <a:solidFill>
                  <a:schemeClr val="accent4"/>
                </a:solidFill>
                <a:latin typeface="Segoe UI" pitchFamily="34" charset="0"/>
                <a:ea typeface="Segoe UI" pitchFamily="34" charset="-122"/>
                <a:cs typeface="Segoe UI" pitchFamily="34" charset="-120"/>
              </a:rPr>
              <a:t>four kernels, GCC 15.2 -O3, median of 50 runs</a:t>
            </a:r>
            <a:endParaRPr lang="en-US" sz="1100" dirty="0"/>
          </a:p>
        </p:txBody>
      </p:sp>
      <p:graphicFrame>
        <p:nvGraphicFramePr>
          <p:cNvPr id="29" name="chart-speedup" descr="Speedup over the program as written. walks: -ffast-math 1.12x, strict 278x, bounded 288x. layers: 0.99x, 4.98x, 5.44x. lowrank: 1.01x, 1.00x, 469x. diffusion: 1.13x, 1.06x, 277x."/>
          <p:cNvGraphicFramePr/>
          <p:nvPr/>
        </p:nvGraphicFramePr>
        <p:xfrm>
          <a:off x="1097280" y="2615184"/>
          <a:ext cx="5870448" cy="2505456"/>
        </p:xfrm>
        <a:graphic xmlns:a="http://schemas.openxmlformats.org/drawingml/2006/main">
          <a:graphicData uri="http://schemas.openxmlformats.org/drawingml/2006/chart">
            <c:chart xmlns:c="http://schemas.openxmlformats.org/drawingml/2006/chart" r:id="rId2"/>
          </a:graphicData>
        </a:graphic>
      </p:graphicFrame>
      <p:sp>
        <p:nvSpPr>
          <p:cNvPr id="30" name="!!cell2"/>
          <p:cNvSpPr/>
          <p:nvPr/>
        </p:nvSpPr>
        <p:spPr>
          <a:xfrm>
            <a:off x="7187184" y="1984248"/>
            <a:ext cx="3986784" cy="3200400"/>
          </a:xfrm>
          <a:prstGeom prst="roundRect">
            <a:avLst>
              <a:gd name="adj" fmla="val 2286"/>
            </a:avLst>
          </a:prstGeom>
          <a:solidFill>
            <a:srgbClr val="0A0C0B"/>
          </a:solidFill>
          <a:ln w="9525">
            <a:solidFill>
              <a:srgbClr val="1F2523"/>
            </a:solidFill>
          </a:ln>
        </p:spPr>
        <p:txBody>
          <a:bodyPr wrap="square" lIns="76200" tIns="76200" rIns="76200" bIns="63500" rtlCol="0" anchor="t"/>
          <a:lstStyle/>
          <a:p>
            <a:pPr algn="l" indent="0" marL="0">
              <a:buNone/>
            </a:pPr>
            <a:endParaRPr lang="en-US" sz="1200" dirty="0"/>
          </a:p>
        </p:txBody>
      </p:sp>
      <p:sp>
        <p:nvSpPr>
          <p:cNvPr id="31" name="Text 28"/>
          <p:cNvSpPr txBox="1"/>
          <p:nvPr/>
        </p:nvSpPr>
        <p:spPr>
          <a:xfrm>
            <a:off x="7370064" y="2084832"/>
            <a:ext cx="3657600" cy="237744"/>
          </a:xfrm>
          <a:prstGeom prst="rect">
            <a:avLst/>
          </a:prstGeom>
          <a:noFill/>
          <a:ln/>
        </p:spPr>
        <p:txBody>
          <a:bodyPr wrap="square" lIns="0" tIns="0" rIns="0" bIns="0" rtlCol="0" anchor="t"/>
          <a:lstStyle/>
          <a:p>
            <a:pPr indent="0" marL="0">
              <a:buNone/>
            </a:pPr>
            <a:r>
              <a:rPr lang="en-US" sz="1050" spc="150" kern="0" dirty="0">
                <a:solidFill>
                  <a:schemeClr val="accent1"/>
                </a:solidFill>
                <a:latin typeface="Consolas" pitchFamily="34" charset="0"/>
                <a:ea typeface="Consolas" pitchFamily="34" charset="-122"/>
                <a:cs typeface="Consolas" pitchFamily="34" charset="-120"/>
              </a:rPr>
              <a:t>ARITHMETIC REMOVED</a:t>
            </a:r>
            <a:endParaRPr lang="en-US" sz="1050" dirty="0"/>
          </a:p>
        </p:txBody>
      </p:sp>
      <p:sp>
        <p:nvSpPr>
          <p:cNvPr id="32" name="Text 29"/>
          <p:cNvSpPr txBox="1"/>
          <p:nvPr/>
        </p:nvSpPr>
        <p:spPr>
          <a:xfrm>
            <a:off x="7370064" y="2322576"/>
            <a:ext cx="3657600" cy="237744"/>
          </a:xfrm>
          <a:prstGeom prst="rect">
            <a:avLst/>
          </a:prstGeom>
          <a:noFill/>
          <a:ln/>
        </p:spPr>
        <p:txBody>
          <a:bodyPr wrap="square" lIns="0" tIns="0" rIns="0" bIns="0" rtlCol="0" anchor="t"/>
          <a:lstStyle/>
          <a:p>
            <a:pPr indent="0" marL="0">
              <a:buNone/>
            </a:pPr>
            <a:r>
              <a:rPr lang="en-US" sz="1100" dirty="0">
                <a:solidFill>
                  <a:schemeClr val="accent4"/>
                </a:solidFill>
                <a:latin typeface="Segoe UI" pitchFamily="34" charset="0"/>
                <a:ea typeface="Segoe UI" pitchFamily="34" charset="-122"/>
                <a:cs typeface="Segoe UI" pitchFamily="34" charset="-120"/>
              </a:rPr>
              <a:t>15,000 generated programs, by input domain</a:t>
            </a:r>
            <a:endParaRPr lang="en-US" sz="1100" dirty="0"/>
          </a:p>
        </p:txBody>
      </p:sp>
      <p:graphicFrame>
        <p:nvGraphicFramePr>
          <p:cNvPr id="33" name="chart-recovery" descr="Modeled arithmetic removed. int8: no proofs 0.5%, strict 16.5%, bounded 19.6%. int16: 0.3%, 7.8%, 22.3%. real(1): 1.4%, 7.5%, 25.1%."/>
          <p:cNvGraphicFramePr/>
          <p:nvPr/>
        </p:nvGraphicFramePr>
        <p:xfrm>
          <a:off x="7278624" y="2615184"/>
          <a:ext cx="3803904" cy="2505456"/>
        </p:xfrm>
        <a:graphic xmlns:a="http://schemas.openxmlformats.org/drawingml/2006/main">
          <a:graphicData uri="http://schemas.openxmlformats.org/drawingml/2006/chart">
            <c:chart xmlns:c="http://schemas.openxmlformats.org/drawingml/2006/chart" r:id="rId3"/>
          </a:graphicData>
        </a:graphic>
      </p:graphicFrame>
      <p:sp>
        <p:nvSpPr>
          <p:cNvPr id="34" name="!!cell3"/>
          <p:cNvSpPr/>
          <p:nvPr/>
        </p:nvSpPr>
        <p:spPr>
          <a:xfrm>
            <a:off x="685800" y="5422392"/>
            <a:ext cx="2587752" cy="658368"/>
          </a:xfrm>
          <a:prstGeom prst="roundRect">
            <a:avLst>
              <a:gd name="adj" fmla="val 8333"/>
            </a:avLst>
          </a:prstGeom>
          <a:solidFill>
            <a:srgbClr val="070908"/>
          </a:solidFill>
          <a:ln w="9525">
            <a:solidFill>
              <a:srgbClr val="1F2523"/>
            </a:solidFill>
          </a:ln>
        </p:spPr>
        <p:txBody>
          <a:bodyPr wrap="square" lIns="127000" tIns="38100" rIns="76200" bIns="38100" rtlCol="0" anchor="ctr"/>
          <a:lstStyle/>
          <a:p>
            <a:pPr algn="l" indent="0" marL="0">
              <a:buNone/>
            </a:pPr>
            <a:r>
              <a:rPr lang="en-US" sz="1500" dirty="0">
                <a:solidFill>
                  <a:schemeClr val="accent1"/>
                </a:solidFill>
                <a:latin typeface="Segoe UI Semibold" pitchFamily="34" charset="0"/>
                <a:ea typeface="Segoe UI Semibold" pitchFamily="34" charset="-122"/>
                <a:cs typeface="Segoe UI Semibold" pitchFamily="34" charset="-120"/>
              </a:rPr>
              <a:t>0 of 57,600</a:t>
            </a:r>
            <a:endParaRPr lang="en-US" sz="1200" dirty="0"/>
          </a:p>
          <a:p>
            <a:pPr algn="l" indent="0" marL="0">
              <a:buNone/>
            </a:pPr>
            <a:r>
              <a:rPr lang="en-US" sz="1100" dirty="0">
                <a:solidFill>
                  <a:schemeClr val="accent4"/>
                </a:solidFill>
                <a:latin typeface="Segoe UI" pitchFamily="34" charset="0"/>
                <a:ea typeface="Segoe UI" pitchFamily="34" charset="-122"/>
                <a:cs typeface="Segoe UI" pitchFamily="34" charset="-120"/>
              </a:rPr>
              <a:t>outputs certified bit-identical that changed</a:t>
            </a:r>
            <a:endParaRPr lang="en-US" sz="1200" dirty="0"/>
          </a:p>
        </p:txBody>
      </p:sp>
      <p:sp>
        <p:nvSpPr>
          <p:cNvPr id="35" name="!!cell4"/>
          <p:cNvSpPr/>
          <p:nvPr/>
        </p:nvSpPr>
        <p:spPr>
          <a:xfrm>
            <a:off x="3429000" y="5422392"/>
            <a:ext cx="2587752" cy="658368"/>
          </a:xfrm>
          <a:prstGeom prst="roundRect">
            <a:avLst>
              <a:gd name="adj" fmla="val 8333"/>
            </a:avLst>
          </a:prstGeom>
          <a:solidFill>
            <a:srgbClr val="070908"/>
          </a:solidFill>
          <a:ln w="9525">
            <a:solidFill>
              <a:srgbClr val="1F2523"/>
            </a:solidFill>
          </a:ln>
        </p:spPr>
        <p:txBody>
          <a:bodyPr wrap="square" lIns="127000" tIns="38100" rIns="76200" bIns="38100" rtlCol="0" anchor="ctr"/>
          <a:lstStyle/>
          <a:p>
            <a:pPr algn="l" indent="0" marL="0">
              <a:buNone/>
            </a:pPr>
            <a:r>
              <a:rPr lang="en-US" sz="1500" dirty="0">
                <a:solidFill>
                  <a:schemeClr val="accent1"/>
                </a:solidFill>
                <a:latin typeface="Segoe UI Semibold" pitchFamily="34" charset="0"/>
                <a:ea typeface="Segoe UI Semibold" pitchFamily="34" charset="-122"/>
                <a:cs typeface="Segoe UI Semibold" pitchFamily="34" charset="-120"/>
              </a:rPr>
              <a:t>m* + 1</a:t>
            </a:r>
            <a:endParaRPr lang="en-US" sz="1200" dirty="0"/>
          </a:p>
          <a:p>
            <a:pPr algn="l" indent="0" marL="0">
              <a:buNone/>
            </a:pPr>
            <a:r>
              <a:rPr lang="en-US" sz="1100" dirty="0">
                <a:solidFill>
                  <a:schemeClr val="accent4"/>
                </a:solidFill>
                <a:latin typeface="Segoe UI" pitchFamily="34" charset="0"/>
                <a:ea typeface="Segoe UI" pitchFamily="34" charset="-122"/>
                <a:cs typeface="Segoe UI" pitchFamily="34" charset="-120"/>
              </a:rPr>
              <a:t>first breaking input on 3 of 4 chain families</a:t>
            </a:r>
            <a:endParaRPr lang="en-US" sz="1200" dirty="0"/>
          </a:p>
        </p:txBody>
      </p:sp>
      <p:sp>
        <p:nvSpPr>
          <p:cNvPr id="36" name="!!cell5"/>
          <p:cNvSpPr/>
          <p:nvPr/>
        </p:nvSpPr>
        <p:spPr>
          <a:xfrm>
            <a:off x="6172200" y="5422392"/>
            <a:ext cx="2587752" cy="658368"/>
          </a:xfrm>
          <a:prstGeom prst="roundRect">
            <a:avLst>
              <a:gd name="adj" fmla="val 8333"/>
            </a:avLst>
          </a:prstGeom>
          <a:solidFill>
            <a:srgbClr val="070908"/>
          </a:solidFill>
          <a:ln w="9525">
            <a:solidFill>
              <a:srgbClr val="1F2523"/>
            </a:solidFill>
          </a:ln>
        </p:spPr>
        <p:txBody>
          <a:bodyPr wrap="square" lIns="127000" tIns="38100" rIns="76200" bIns="38100" rtlCol="0" anchor="ctr"/>
          <a:lstStyle/>
          <a:p>
            <a:pPr algn="l" indent="0" marL="0">
              <a:buNone/>
            </a:pPr>
            <a:r>
              <a:rPr lang="en-US" sz="1500" dirty="0">
                <a:solidFill>
                  <a:schemeClr val="bg1"/>
                </a:solidFill>
                <a:latin typeface="Segoe UI Semibold" pitchFamily="34" charset="0"/>
                <a:ea typeface="Segoe UI Semibold" pitchFamily="34" charset="-122"/>
                <a:cs typeface="Segoe UI Semibold" pitchFamily="34" charset="-120"/>
              </a:rPr>
              <a:t>24 vs 0</a:t>
            </a:r>
            <a:endParaRPr lang="en-US" sz="1200" dirty="0"/>
          </a:p>
          <a:p>
            <a:pPr algn="l" indent="0" marL="0">
              <a:buNone/>
            </a:pPr>
            <a:r>
              <a:rPr lang="en-US" sz="1100" dirty="0">
                <a:solidFill>
                  <a:schemeClr val="accent4"/>
                </a:solidFill>
                <a:latin typeface="Segoe UI" pitchFamily="34" charset="0"/>
                <a:ea typeface="Segoe UI" pitchFamily="34" charset="-122"/>
                <a:cs typeface="Segoe UI" pitchFamily="34" charset="-120"/>
              </a:rPr>
              <a:t>proof-built vs random tests that kill the 54-bit mutant</a:t>
            </a:r>
            <a:endParaRPr lang="en-US" sz="1200" dirty="0"/>
          </a:p>
        </p:txBody>
      </p:sp>
      <p:sp>
        <p:nvSpPr>
          <p:cNvPr id="37" name="!!cell6"/>
          <p:cNvSpPr/>
          <p:nvPr/>
        </p:nvSpPr>
        <p:spPr>
          <a:xfrm>
            <a:off x="8915400" y="5422392"/>
            <a:ext cx="2587752" cy="658368"/>
          </a:xfrm>
          <a:prstGeom prst="roundRect">
            <a:avLst>
              <a:gd name="adj" fmla="val 8333"/>
            </a:avLst>
          </a:prstGeom>
          <a:solidFill>
            <a:srgbClr val="070908"/>
          </a:solidFill>
          <a:ln w="9525">
            <a:solidFill>
              <a:srgbClr val="1F2523"/>
            </a:solidFill>
          </a:ln>
        </p:spPr>
        <p:txBody>
          <a:bodyPr wrap="square" lIns="127000" tIns="38100" rIns="76200" bIns="38100" rtlCol="0" anchor="ctr"/>
          <a:lstStyle/>
          <a:p>
            <a:pPr algn="l" indent="0" marL="0">
              <a:buNone/>
            </a:pPr>
            <a:r>
              <a:rPr lang="en-US" sz="1500" dirty="0">
                <a:solidFill>
                  <a:schemeClr val="bg1"/>
                </a:solidFill>
                <a:latin typeface="Segoe UI Semibold" pitchFamily="34" charset="0"/>
                <a:ea typeface="Segoe UI Semibold" pitchFamily="34" charset="-122"/>
                <a:cs typeface="Segoe UI Semibold" pitchFamily="34" charset="-120"/>
              </a:rPr>
              <a:t>p = 4.6×10⁻¹¹</a:t>
            </a:r>
            <a:endParaRPr lang="en-US" sz="1200" dirty="0"/>
          </a:p>
          <a:p>
            <a:pPr algn="l" indent="0" marL="0">
              <a:buNone/>
            </a:pPr>
            <a:r>
              <a:rPr lang="en-US" sz="1100" dirty="0">
                <a:solidFill>
                  <a:schemeClr val="accent4"/>
                </a:solidFill>
                <a:latin typeface="Segoe UI" pitchFamily="34" charset="0"/>
                <a:ea typeface="Segoe UI" pitchFamily="34" charset="-122"/>
                <a:cs typeface="Segoe UI" pitchFamily="34" charset="-120"/>
              </a:rPr>
              <a:t>the cheaper bracketing is also more accurate</a:t>
            </a:r>
            <a:endParaRPr lang="en-US" sz="1200" dirty="0"/>
          </a:p>
        </p:txBody>
      </p:sp>
      <p:sp>
        <p:nvSpPr>
          <p:cNvPr id="39" name="!!p02">
            <a:extLst>
              <a:ext uri="{C183D7F6-B498-43B3-948B-1728B52AA6E4}">
                <adec:decorative xmlns:adec="http://schemas.microsoft.com/office/drawing/2017/decorative" val="1"/>
              </a:ext>
            </a:extLst>
          </p:cNvPr>
          <p:cNvSpPr txBox="1"/>
          <p:nvPr/>
        </p:nvSpPr>
        <p:spPr>
          <a:xfrm>
            <a:off x="5349240" y="6327648"/>
            <a:ext cx="1025906" cy="236474"/>
          </a:xfrm>
          <a:prstGeom prst="rect">
            <a:avLst/>
          </a:prstGeom>
          <a:noFill/>
          <a:ln/>
        </p:spPr>
        <p:txBody>
          <a:bodyPr wrap="none" lIns="0" tIns="0" rIns="0" bIns="0" rtlCol="0" anchor="ctr"/>
          <a:lstStyle/>
          <a:p>
            <a:pPr indent="0" marL="0">
              <a:buNone/>
            </a:pPr>
            <a:r>
              <a:rPr lang="en-US" sz="1100" dirty="0">
                <a:solidFill>
                  <a:srgbClr val="34433B"/>
                </a:solidFill>
                <a:latin typeface="Consolas" pitchFamily="34" charset="0"/>
                <a:ea typeface="Consolas" pitchFamily="34" charset="-122"/>
                <a:cs typeface="Consolas" pitchFamily="34" charset="-120"/>
              </a:rPr>
              <a:t>A * (B * C)</a:t>
            </a:r>
            <a:endParaRPr lang="en-US" sz="1100" dirty="0"/>
          </a:p>
        </p:txBody>
      </p:sp>
      <p:sp>
        <p:nvSpPr>
          <p:cNvPr id="40" name="!!p03">
            <a:extLst>
              <a:ext uri="{C183D7F6-B498-43B3-948B-1728B52AA6E4}">
                <adec:decorative xmlns:adec="http://schemas.microsoft.com/office/drawing/2017/decorative" val="1"/>
              </a:ext>
            </a:extLst>
          </p:cNvPr>
          <p:cNvSpPr txBox="1"/>
          <p:nvPr/>
        </p:nvSpPr>
        <p:spPr>
          <a:xfrm>
            <a:off x="3246120" y="6327648"/>
            <a:ext cx="451104" cy="252984"/>
          </a:xfrm>
          <a:prstGeom prst="rect">
            <a:avLst/>
          </a:prstGeom>
          <a:noFill/>
          <a:ln/>
        </p:spPr>
        <p:txBody>
          <a:bodyPr wrap="none" lIns="0" tIns="0" rIns="0" bIns="0" rtlCol="0" anchor="ctr"/>
          <a:lstStyle/>
          <a:p>
            <a:pPr indent="0" marL="0">
              <a:buNone/>
            </a:pPr>
            <a:r>
              <a:rPr lang="en-US" sz="1200" dirty="0">
                <a:solidFill>
                  <a:srgbClr val="3A4A42"/>
                </a:solidFill>
                <a:latin typeface="Consolas" pitchFamily="34" charset="0"/>
                <a:ea typeface="Consolas" pitchFamily="34" charset="-122"/>
                <a:cs typeface="Consolas" pitchFamily="34" charset="-120"/>
              </a:rPr>
              <a:t>2^53</a:t>
            </a:r>
            <a:endParaRPr lang="en-US" sz="1200" dirty="0"/>
          </a:p>
        </p:txBody>
      </p:sp>
      <p:sp>
        <p:nvSpPr>
          <p:cNvPr id="41" name="!!p04">
            <a:extLst>
              <a:ext uri="{C183D7F6-B498-43B3-948B-1728B52AA6E4}">
                <adec:decorative xmlns:adec="http://schemas.microsoft.com/office/drawing/2017/decorative" val="1"/>
              </a:ext>
            </a:extLst>
          </p:cNvPr>
          <p:cNvSpPr txBox="1"/>
          <p:nvPr/>
        </p:nvSpPr>
        <p:spPr>
          <a:xfrm>
            <a:off x="-871982" y="6309360"/>
            <a:ext cx="506222" cy="236474"/>
          </a:xfrm>
          <a:prstGeom prst="rect">
            <a:avLst/>
          </a:prstGeom>
          <a:noFill/>
          <a:ln/>
        </p:spPr>
        <p:txBody>
          <a:bodyPr wrap="none" lIns="0" tIns="0" rIns="0" bIns="0" rtlCol="0" anchor="ctr"/>
          <a:lstStyle/>
          <a:p>
            <a:pPr indent="0" marL="0">
              <a:buNone/>
            </a:pPr>
            <a:r>
              <a:rPr lang="en-US" sz="1100" dirty="0">
                <a:solidFill>
                  <a:srgbClr val="34433B"/>
                </a:solidFill>
                <a:latin typeface="Consolas" pitchFamily="34" charset="0"/>
                <a:ea typeface="Consolas" pitchFamily="34" charset="-122"/>
                <a:cs typeface="Consolas" pitchFamily="34" charset="-120"/>
              </a:rPr>
              <a:t>fl(x)</a:t>
            </a:r>
            <a:endParaRPr lang="en-US" sz="1100" dirty="0"/>
          </a:p>
        </p:txBody>
      </p:sp>
      <p:sp>
        <p:nvSpPr>
          <p:cNvPr id="42" name="!!p05">
            <a:extLst>
              <a:ext uri="{C183D7F6-B498-43B3-948B-1728B52AA6E4}">
                <adec:decorative xmlns:adec="http://schemas.microsoft.com/office/drawing/2017/decorative" val="1"/>
              </a:ext>
            </a:extLst>
          </p:cNvPr>
          <p:cNvSpPr txBox="1"/>
          <p:nvPr/>
        </p:nvSpPr>
        <p:spPr>
          <a:xfrm>
            <a:off x="12557455" y="6108192"/>
            <a:ext cx="766064" cy="236474"/>
          </a:xfrm>
          <a:prstGeom prst="rect">
            <a:avLst/>
          </a:prstGeom>
          <a:noFill/>
          <a:ln/>
        </p:spPr>
        <p:txBody>
          <a:bodyPr wrap="none" lIns="0" tIns="0" rIns="0" bIns="0" rtlCol="0" anchor="ctr"/>
          <a:lstStyle/>
          <a:p>
            <a:pPr indent="0" marL="0">
              <a:buNone/>
            </a:pPr>
            <a:r>
              <a:rPr lang="en-US" sz="1100" dirty="0">
                <a:solidFill>
                  <a:srgbClr val="3A403D"/>
                </a:solidFill>
                <a:latin typeface="Consolas" pitchFamily="34" charset="0"/>
                <a:ea typeface="Consolas" pitchFamily="34" charset="-122"/>
                <a:cs typeface="Consolas" pitchFamily="34" charset="-120"/>
              </a:rPr>
              <a:t>-0 != +0</a:t>
            </a:r>
            <a:endParaRPr lang="en-US" sz="1100" dirty="0"/>
          </a:p>
        </p:txBody>
      </p:sp>
      <p:sp>
        <p:nvSpPr>
          <p:cNvPr id="43" name="!!p06">
            <a:extLst>
              <a:ext uri="{C183D7F6-B498-43B3-948B-1728B52AA6E4}">
                <adec:decorative xmlns:adec="http://schemas.microsoft.com/office/drawing/2017/decorative" val="1"/>
              </a:ext>
            </a:extLst>
          </p:cNvPr>
          <p:cNvSpPr txBox="1"/>
          <p:nvPr/>
        </p:nvSpPr>
        <p:spPr>
          <a:xfrm>
            <a:off x="12557455" y="6309360"/>
            <a:ext cx="1199134" cy="236474"/>
          </a:xfrm>
          <a:prstGeom prst="rect">
            <a:avLst/>
          </a:prstGeom>
          <a:noFill/>
          <a:ln/>
        </p:spPr>
        <p:txBody>
          <a:bodyPr wrap="none" lIns="0" tIns="0" rIns="0" bIns="0" rtlCol="0" anchor="ctr"/>
          <a:lstStyle/>
          <a:p>
            <a:pPr indent="0" marL="0">
              <a:buNone/>
            </a:pPr>
            <a:r>
              <a:rPr lang="en-US" sz="1100" dirty="0">
                <a:solidFill>
                  <a:srgbClr val="34433B"/>
                </a:solidFill>
                <a:latin typeface="Consolas" pitchFamily="34" charset="0"/>
                <a:ea typeface="Consolas" pitchFamily="34" charset="-122"/>
                <a:cs typeface="Consolas" pitchFamily="34" charset="-120"/>
              </a:rPr>
              <a:t>inf * 0 = NaN</a:t>
            </a:r>
            <a:endParaRPr lang="en-US" sz="1100" dirty="0"/>
          </a:p>
        </p:txBody>
      </p:sp>
      <p:sp>
        <p:nvSpPr>
          <p:cNvPr id="44" name="!!p07">
            <a:extLst>
              <a:ext uri="{C183D7F6-B498-43B3-948B-1728B52AA6E4}">
                <adec:decorative xmlns:adec="http://schemas.microsoft.com/office/drawing/2017/decorative" val="1"/>
              </a:ext>
            </a:extLst>
          </p:cNvPr>
          <p:cNvSpPr txBox="1"/>
          <p:nvPr/>
        </p:nvSpPr>
        <p:spPr>
          <a:xfrm>
            <a:off x="-1564894" y="6309360"/>
            <a:ext cx="1199134" cy="236474"/>
          </a:xfrm>
          <a:prstGeom prst="rect">
            <a:avLst/>
          </a:prstGeom>
          <a:noFill/>
          <a:ln/>
        </p:spPr>
        <p:txBody>
          <a:bodyPr wrap="none" lIns="0" tIns="0" rIns="0" bIns="0" rtlCol="0" anchor="ctr"/>
          <a:lstStyle/>
          <a:p>
            <a:pPr indent="0" marL="0">
              <a:buNone/>
            </a:pPr>
            <a:r>
              <a:rPr lang="en-US" sz="1100" dirty="0">
                <a:solidFill>
                  <a:srgbClr val="3A4A42"/>
                </a:solidFill>
                <a:latin typeface="Consolas" pitchFamily="34" charset="0"/>
                <a:ea typeface="Consolas" pitchFamily="34" charset="-122"/>
                <a:cs typeface="Consolas" pitchFamily="34" charset="-120"/>
              </a:rPr>
              <a:t>{{1,0},{0,1}}</a:t>
            </a:r>
            <a:endParaRPr lang="en-US" sz="1100" dirty="0"/>
          </a:p>
        </p:txBody>
      </p:sp>
      <p:sp>
        <p:nvSpPr>
          <p:cNvPr id="45" name="!!p08">
            <a:extLst>
              <a:ext uri="{C183D7F6-B498-43B3-948B-1728B52AA6E4}">
                <adec:decorative xmlns:adec="http://schemas.microsoft.com/office/drawing/2017/decorative" val="1"/>
              </a:ext>
            </a:extLst>
          </p:cNvPr>
          <p:cNvSpPr txBox="1"/>
          <p:nvPr/>
        </p:nvSpPr>
        <p:spPr>
          <a:xfrm>
            <a:off x="-1045210" y="6309360"/>
            <a:ext cx="679450" cy="236474"/>
          </a:xfrm>
          <a:prstGeom prst="rect">
            <a:avLst/>
          </a:prstGeom>
          <a:noFill/>
          <a:ln/>
        </p:spPr>
        <p:txBody>
          <a:bodyPr wrap="none" lIns="0" tIns="0" rIns="0" bIns="0" rtlCol="0" anchor="ctr"/>
          <a:lstStyle/>
          <a:p>
            <a:pPr indent="0" marL="0">
              <a:buNone/>
            </a:pPr>
            <a:r>
              <a:rPr lang="en-US" sz="1100" dirty="0">
                <a:solidFill>
                  <a:srgbClr val="3A403D"/>
                </a:solidFill>
                <a:latin typeface="Consolas" pitchFamily="34" charset="0"/>
                <a:ea typeface="Consolas" pitchFamily="34" charset="-122"/>
                <a:cs typeface="Consolas" pitchFamily="34" charset="-120"/>
              </a:rPr>
              <a:t>0x1p+53</a:t>
            </a:r>
            <a:endParaRPr lang="en-US" sz="1100" dirty="0"/>
          </a:p>
        </p:txBody>
      </p:sp>
      <p:sp>
        <p:nvSpPr>
          <p:cNvPr id="46" name="!!p09">
            <a:extLst>
              <a:ext uri="{C183D7F6-B498-43B3-948B-1728B52AA6E4}">
                <adec:decorative xmlns:adec="http://schemas.microsoft.com/office/drawing/2017/decorative" val="1"/>
              </a:ext>
            </a:extLst>
          </p:cNvPr>
          <p:cNvSpPr txBox="1"/>
          <p:nvPr/>
        </p:nvSpPr>
        <p:spPr>
          <a:xfrm>
            <a:off x="-1391666" y="6108192"/>
            <a:ext cx="1025906" cy="236474"/>
          </a:xfrm>
          <a:prstGeom prst="rect">
            <a:avLst/>
          </a:prstGeom>
          <a:noFill/>
          <a:ln/>
        </p:spPr>
        <p:txBody>
          <a:bodyPr wrap="none" lIns="0" tIns="0" rIns="0" bIns="0" rtlCol="0" anchor="ctr"/>
          <a:lstStyle/>
          <a:p>
            <a:pPr indent="0" marL="0">
              <a:buNone/>
            </a:pPr>
            <a:r>
              <a:rPr lang="en-US" sz="1100" dirty="0">
                <a:solidFill>
                  <a:srgbClr val="34433B"/>
                </a:solidFill>
                <a:latin typeface="Consolas" pitchFamily="34" charset="0"/>
                <a:ea typeface="Consolas" pitchFamily="34" charset="-122"/>
                <a:cs typeface="Consolas" pitchFamily="34" charset="-120"/>
              </a:rPr>
              <a:t>input(int8)</a:t>
            </a:r>
            <a:endParaRPr lang="en-US" sz="1100" dirty="0"/>
          </a:p>
        </p:txBody>
      </p:sp>
      <p:sp>
        <p:nvSpPr>
          <p:cNvPr id="47" name="!!p10">
            <a:extLst>
              <a:ext uri="{C183D7F6-B498-43B3-948B-1728B52AA6E4}">
                <adec:decorative xmlns:adec="http://schemas.microsoft.com/office/drawing/2017/decorative" val="1"/>
              </a:ext>
            </a:extLst>
          </p:cNvPr>
          <p:cNvSpPr txBox="1"/>
          <p:nvPr/>
        </p:nvSpPr>
        <p:spPr>
          <a:xfrm>
            <a:off x="12557455" y="6309360"/>
            <a:ext cx="679450" cy="236474"/>
          </a:xfrm>
          <a:prstGeom prst="rect">
            <a:avLst/>
          </a:prstGeom>
          <a:noFill/>
          <a:ln/>
        </p:spPr>
        <p:txBody>
          <a:bodyPr wrap="none" lIns="0" tIns="0" rIns="0" bIns="0" rtlCol="0" anchor="ctr"/>
          <a:lstStyle/>
          <a:p>
            <a:pPr indent="0" marL="0">
              <a:buNone/>
            </a:pPr>
            <a:r>
              <a:rPr lang="en-US" sz="1100" dirty="0">
                <a:solidFill>
                  <a:srgbClr val="3A4A42"/>
                </a:solidFill>
                <a:latin typeface="Consolas" pitchFamily="34" charset="0"/>
                <a:ea typeface="Consolas" pitchFamily="34" charset="-122"/>
                <a:cs typeface="Consolas" pitchFamily="34" charset="-120"/>
              </a:rPr>
              <a:t>(a+b)+c</a:t>
            </a:r>
            <a:endParaRPr lang="en-US" sz="1100" dirty="0"/>
          </a:p>
        </p:txBody>
      </p:sp>
      <p:sp>
        <p:nvSpPr>
          <p:cNvPr id="48" name="!!p11">
            <a:extLst>
              <a:ext uri="{C183D7F6-B498-43B3-948B-1728B52AA6E4}">
                <adec:decorative xmlns:adec="http://schemas.microsoft.com/office/drawing/2017/decorative" val="1"/>
              </a:ext>
            </a:extLst>
          </p:cNvPr>
          <p:cNvSpPr txBox="1"/>
          <p:nvPr/>
        </p:nvSpPr>
        <p:spPr>
          <a:xfrm>
            <a:off x="-1478280" y="1645920"/>
            <a:ext cx="1112520" cy="236474"/>
          </a:xfrm>
          <a:prstGeom prst="rect">
            <a:avLst/>
          </a:prstGeom>
          <a:noFill/>
          <a:ln/>
        </p:spPr>
        <p:txBody>
          <a:bodyPr wrap="none" lIns="0" tIns="0" rIns="0" bIns="0" rtlCol="0" anchor="ctr"/>
          <a:lstStyle/>
          <a:p>
            <a:pPr indent="0" marL="0">
              <a:buNone/>
            </a:pPr>
            <a:r>
              <a:rPr lang="en-US" sz="1100" dirty="0">
                <a:solidFill>
                  <a:srgbClr val="3A403D"/>
                </a:solidFill>
                <a:latin typeface="Consolas" pitchFamily="34" charset="0"/>
                <a:ea typeface="Consolas" pitchFamily="34" charset="-122"/>
                <a:cs typeface="Consolas" pitchFamily="34" charset="-120"/>
              </a:rPr>
              <a:t>transpose(A)</a:t>
            </a:r>
            <a:endParaRPr lang="en-US" sz="1100" dirty="0"/>
          </a:p>
        </p:txBody>
      </p:sp>
      <p:sp>
        <p:nvSpPr>
          <p:cNvPr id="49" name="!!p12">
            <a:extLst>
              <a:ext uri="{C183D7F6-B498-43B3-948B-1728B52AA6E4}">
                <adec:decorative xmlns:adec="http://schemas.microsoft.com/office/drawing/2017/decorative" val="1"/>
              </a:ext>
            </a:extLst>
          </p:cNvPr>
          <p:cNvSpPr txBox="1"/>
          <p:nvPr/>
        </p:nvSpPr>
        <p:spPr>
          <a:xfrm>
            <a:off x="-1218438" y="5449824"/>
            <a:ext cx="852678" cy="236474"/>
          </a:xfrm>
          <a:prstGeom prst="rect">
            <a:avLst/>
          </a:prstGeom>
          <a:noFill/>
          <a:ln/>
        </p:spPr>
        <p:txBody>
          <a:bodyPr wrap="none" lIns="0" tIns="0" rIns="0" bIns="0" rtlCol="0" anchor="ctr"/>
          <a:lstStyle/>
          <a:p>
            <a:pPr indent="0" marL="0">
              <a:buNone/>
            </a:pPr>
            <a:r>
              <a:rPr lang="en-US" sz="1100" dirty="0">
                <a:solidFill>
                  <a:srgbClr val="34433B"/>
                </a:solidFill>
                <a:latin typeface="Consolas" pitchFamily="34" charset="0"/>
                <a:ea typeface="Consolas" pitchFamily="34" charset="-122"/>
                <a:cs typeface="Consolas" pitchFamily="34" charset="-120"/>
              </a:rPr>
              <a:t>print(R);</a:t>
            </a:r>
            <a:endParaRPr lang="en-US" sz="1100" dirty="0"/>
          </a:p>
        </p:txBody>
      </p:sp>
      <p:sp>
        <p:nvSpPr>
          <p:cNvPr id="50" name="!!p01">
            <a:extLst>
              <a:ext uri="{C183D7F6-B498-43B3-948B-1728B52AA6E4}">
                <adec:decorative xmlns:adec="http://schemas.microsoft.com/office/drawing/2017/decorative" val="1"/>
              </a:ext>
            </a:extLst>
          </p:cNvPr>
          <p:cNvSpPr txBox="1"/>
          <p:nvPr/>
        </p:nvSpPr>
        <p:spPr>
          <a:xfrm>
            <a:off x="-1478280" y="6108192"/>
            <a:ext cx="1112520" cy="236474"/>
          </a:xfrm>
          <a:prstGeom prst="rect">
            <a:avLst/>
          </a:prstGeom>
          <a:noFill/>
          <a:ln/>
        </p:spPr>
        <p:txBody>
          <a:bodyPr wrap="none" lIns="0" tIns="0" rIns="0" bIns="0" rtlCol="0" anchor="ctr"/>
          <a:lstStyle/>
          <a:p>
            <a:pPr indent="0" marL="0">
              <a:buNone/>
            </a:pPr>
            <a:r>
              <a:rPr lang="en-US" sz="1100" dirty="0">
                <a:solidFill>
                  <a:srgbClr val="3A4A42"/>
                </a:solidFill>
                <a:latin typeface="Consolas" pitchFamily="34" charset="0"/>
                <a:ea typeface="Consolas" pitchFamily="34" charset="-122"/>
                <a:cs typeface="Consolas" pitchFamily="34" charset="-120"/>
              </a:rPr>
              <a:t>Matrix&lt;40x2&gt;</a:t>
            </a:r>
            <a:endParaRPr lang="en-US" sz="11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5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icker"/>
          <p:cNvSpPr txBox="1"/>
          <p:nvPr/>
        </p:nvSpPr>
        <p:spPr>
          <a:xfrm>
            <a:off x="685800" y="347472"/>
            <a:ext cx="8778240" cy="274320"/>
          </a:xfrm>
          <a:prstGeom prst="rect">
            <a:avLst/>
          </a:prstGeom>
          <a:noFill/>
          <a:ln/>
        </p:spPr>
        <p:txBody>
          <a:bodyPr wrap="square" lIns="0" tIns="0" rIns="0" bIns="0" rtlCol="0" anchor="ctr"/>
          <a:lstStyle/>
          <a:p>
            <a:pPr indent="0" marL="0">
              <a:buNone/>
            </a:pPr>
            <a:r>
              <a:rPr lang="en-US" sz="1200" spc="150" kern="0" dirty="0">
                <a:solidFill>
                  <a:schemeClr val="accent1"/>
                </a:solidFill>
                <a:latin typeface="Consolas" pitchFamily="34" charset="0"/>
                <a:ea typeface="Consolas" pitchFamily="34" charset="-122"/>
                <a:cs typeface="Consolas" pitchFamily="34" charset="-120"/>
              </a:rPr>
              <a:t>$ matrixc --certificate implementation_review.ml</a:t>
            </a:r>
            <a:endParaRPr lang="en-US" sz="1200" dirty="0"/>
          </a:p>
        </p:txBody>
      </p:sp>
      <p:sp>
        <p:nvSpPr>
          <p:cNvPr id="3" name="!!vL"/>
          <p:cNvSpPr/>
          <p:nvPr/>
        </p:nvSpPr>
        <p:spPr>
          <a:xfrm>
            <a:off x="10241280" y="356616"/>
            <a:ext cx="54864" cy="256032"/>
          </a:xfrm>
          <a:custGeom>
            <a:avLst/>
            <a:gdLst/>
            <a:ahLst/>
            <a:cxnLst/>
            <a:rect l="l" t="t" r="r" b="b"/>
            <a:pathLst>
              <a:path w="54864" h="256032">
                <a:moveTo>
                  <a:pt x="54864" y="0"/>
                </a:moveTo>
                <a:lnTo>
                  <a:pt x="0" y="0"/>
                </a:lnTo>
                <a:lnTo>
                  <a:pt x="0" y="256032"/>
                </a:lnTo>
                <a:lnTo>
                  <a:pt x="54864" y="256032"/>
                </a:lnTo>
              </a:path>
            </a:pathLst>
          </a:custGeom>
          <a:noFill/>
          <a:ln w="12700">
            <a:solidFill>
              <a:srgbClr val="4A514D"/>
            </a:solidFill>
            <a:prstDash val="solid"/>
          </a:ln>
        </p:spPr>
      </p:sp>
      <p:sp>
        <p:nvSpPr>
          <p:cNvPr id="4" name="!!vR"/>
          <p:cNvSpPr/>
          <p:nvPr/>
        </p:nvSpPr>
        <p:spPr>
          <a:xfrm>
            <a:off x="11448288" y="356616"/>
            <a:ext cx="54864" cy="256032"/>
          </a:xfrm>
          <a:custGeom>
            <a:avLst/>
            <a:gdLst/>
            <a:ahLst/>
            <a:cxnLst/>
            <a:rect l="l" t="t" r="r" b="b"/>
            <a:pathLst>
              <a:path w="54864" h="256032">
                <a:moveTo>
                  <a:pt x="0" y="0"/>
                </a:moveTo>
                <a:lnTo>
                  <a:pt x="54864" y="0"/>
                </a:lnTo>
                <a:lnTo>
                  <a:pt x="54864" y="256032"/>
                </a:lnTo>
                <a:lnTo>
                  <a:pt x="0" y="256032"/>
                </a:lnTo>
              </a:path>
            </a:pathLst>
          </a:custGeom>
          <a:noFill/>
          <a:ln w="12700">
            <a:solidFill>
              <a:srgbClr val="4A514D"/>
            </a:solidFill>
            <a:prstDash val="solid"/>
          </a:ln>
        </p:spPr>
      </p:sp>
      <p:sp>
        <p:nvSpPr>
          <p:cNvPr id="5" name="!!e1"/>
          <p:cNvSpPr txBox="1"/>
          <p:nvPr/>
        </p:nvSpPr>
        <p:spPr>
          <a:xfrm>
            <a:off x="10341864" y="347472"/>
            <a:ext cx="146304" cy="274320"/>
          </a:xfrm>
          <a:prstGeom prst="rect">
            <a:avLst/>
          </a:prstGeom>
          <a:noFill/>
          <a:ln/>
        </p:spPr>
        <p:txBody>
          <a:bodyPr wrap="square" lIns="0" tIns="0" rIns="0" bIns="0" rtlCol="0" anchor="ctr"/>
          <a:lstStyle/>
          <a:p>
            <a:pPr algn="ctr" indent="0" marL="0">
              <a:buNone/>
            </a:pPr>
            <a:r>
              <a:rPr lang="en-US" sz="1200" dirty="0">
                <a:solidFill>
                  <a:srgbClr val="4A514D"/>
                </a:solidFill>
                <a:latin typeface="Consolas" pitchFamily="34" charset="0"/>
                <a:ea typeface="Consolas" pitchFamily="34" charset="-122"/>
                <a:cs typeface="Consolas" pitchFamily="34" charset="-120"/>
              </a:rPr>
              <a:t>0</a:t>
            </a:r>
            <a:endParaRPr lang="en-US" sz="1200" dirty="0"/>
          </a:p>
        </p:txBody>
      </p:sp>
      <p:sp>
        <p:nvSpPr>
          <p:cNvPr id="6" name="!!e2"/>
          <p:cNvSpPr txBox="1"/>
          <p:nvPr/>
        </p:nvSpPr>
        <p:spPr>
          <a:xfrm>
            <a:off x="10492740" y="347472"/>
            <a:ext cx="146304" cy="274320"/>
          </a:xfrm>
          <a:prstGeom prst="rect">
            <a:avLst/>
          </a:prstGeom>
          <a:noFill/>
          <a:ln/>
        </p:spPr>
        <p:txBody>
          <a:bodyPr wrap="square" lIns="0" tIns="0" rIns="0" bIns="0" rtlCol="0" anchor="ctr"/>
          <a:lstStyle/>
          <a:p>
            <a:pPr algn="ctr" indent="0" marL="0">
              <a:buNone/>
            </a:pPr>
            <a:r>
              <a:rPr lang="en-US" sz="1200" dirty="0">
                <a:solidFill>
                  <a:srgbClr val="4A514D"/>
                </a:solidFill>
                <a:latin typeface="Consolas" pitchFamily="34" charset="0"/>
                <a:ea typeface="Consolas" pitchFamily="34" charset="-122"/>
                <a:cs typeface="Consolas" pitchFamily="34" charset="-120"/>
              </a:rPr>
              <a:t>0</a:t>
            </a:r>
            <a:endParaRPr lang="en-US" sz="1200" dirty="0"/>
          </a:p>
        </p:txBody>
      </p:sp>
      <p:sp>
        <p:nvSpPr>
          <p:cNvPr id="7" name="!!e3"/>
          <p:cNvSpPr txBox="1"/>
          <p:nvPr/>
        </p:nvSpPr>
        <p:spPr>
          <a:xfrm>
            <a:off x="10643616" y="347472"/>
            <a:ext cx="146304" cy="274320"/>
          </a:xfrm>
          <a:prstGeom prst="rect">
            <a:avLst/>
          </a:prstGeom>
          <a:noFill/>
          <a:ln/>
        </p:spPr>
        <p:txBody>
          <a:bodyPr wrap="square" lIns="0" tIns="0" rIns="0" bIns="0" rtlCol="0" anchor="ctr"/>
          <a:lstStyle/>
          <a:p>
            <a:pPr algn="ctr" indent="0" marL="0">
              <a:buNone/>
            </a:pPr>
            <a:r>
              <a:rPr lang="en-US" sz="1200" dirty="0">
                <a:solidFill>
                  <a:srgbClr val="4A514D"/>
                </a:solidFill>
                <a:latin typeface="Consolas" pitchFamily="34" charset="0"/>
                <a:ea typeface="Consolas" pitchFamily="34" charset="-122"/>
                <a:cs typeface="Consolas" pitchFamily="34" charset="-120"/>
              </a:rPr>
              <a:t>0</a:t>
            </a:r>
            <a:endParaRPr lang="en-US" sz="1200" dirty="0"/>
          </a:p>
        </p:txBody>
      </p:sp>
      <p:sp>
        <p:nvSpPr>
          <p:cNvPr id="8" name="!!e4"/>
          <p:cNvSpPr txBox="1"/>
          <p:nvPr/>
        </p:nvSpPr>
        <p:spPr>
          <a:xfrm>
            <a:off x="10794492" y="347472"/>
            <a:ext cx="146304" cy="274320"/>
          </a:xfrm>
          <a:prstGeom prst="rect">
            <a:avLst/>
          </a:prstGeom>
          <a:noFill/>
          <a:ln/>
        </p:spPr>
        <p:txBody>
          <a:bodyPr wrap="square" lIns="0" tIns="0" rIns="0" bIns="0" rtlCol="0" anchor="ctr"/>
          <a:lstStyle/>
          <a:p>
            <a:pPr algn="ctr" indent="0" marL="0">
              <a:buNone/>
            </a:pPr>
            <a:r>
              <a:rPr lang="en-US" sz="1200" dirty="0">
                <a:solidFill>
                  <a:srgbClr val="4A514D"/>
                </a:solidFill>
                <a:latin typeface="Consolas" pitchFamily="34" charset="0"/>
                <a:ea typeface="Consolas" pitchFamily="34" charset="-122"/>
                <a:cs typeface="Consolas" pitchFamily="34" charset="-120"/>
              </a:rPr>
              <a:t>0</a:t>
            </a:r>
            <a:endParaRPr lang="en-US" sz="1200" dirty="0"/>
          </a:p>
        </p:txBody>
      </p:sp>
      <p:sp>
        <p:nvSpPr>
          <p:cNvPr id="9" name="!!e5"/>
          <p:cNvSpPr txBox="1"/>
          <p:nvPr/>
        </p:nvSpPr>
        <p:spPr>
          <a:xfrm>
            <a:off x="10945368" y="347472"/>
            <a:ext cx="146304" cy="274320"/>
          </a:xfrm>
          <a:prstGeom prst="rect">
            <a:avLst/>
          </a:prstGeom>
          <a:noFill/>
          <a:ln/>
        </p:spPr>
        <p:txBody>
          <a:bodyPr wrap="square" lIns="0" tIns="0" rIns="0" bIns="0" rtlCol="0" anchor="ctr"/>
          <a:lstStyle/>
          <a:p>
            <a:pPr algn="ctr" indent="0" marL="0">
              <a:buNone/>
            </a:pPr>
            <a:r>
              <a:rPr lang="en-US" sz="1200" dirty="0">
                <a:solidFill>
                  <a:srgbClr val="4A514D"/>
                </a:solidFill>
                <a:latin typeface="Consolas" pitchFamily="34" charset="0"/>
                <a:ea typeface="Consolas" pitchFamily="34" charset="-122"/>
                <a:cs typeface="Consolas" pitchFamily="34" charset="-120"/>
              </a:rPr>
              <a:t>0</a:t>
            </a:r>
            <a:endParaRPr lang="en-US" sz="1200" dirty="0"/>
          </a:p>
        </p:txBody>
      </p:sp>
      <p:sp>
        <p:nvSpPr>
          <p:cNvPr id="10" name="!!e6"/>
          <p:cNvSpPr txBox="1"/>
          <p:nvPr/>
        </p:nvSpPr>
        <p:spPr>
          <a:xfrm>
            <a:off x="11096244" y="347472"/>
            <a:ext cx="146304" cy="274320"/>
          </a:xfrm>
          <a:prstGeom prst="rect">
            <a:avLst/>
          </a:prstGeom>
          <a:noFill/>
          <a:ln/>
        </p:spPr>
        <p:txBody>
          <a:bodyPr wrap="square" lIns="0" tIns="0" rIns="0" bIns="0" rtlCol="0" anchor="ctr"/>
          <a:lstStyle/>
          <a:p>
            <a:pPr algn="ctr" indent="0" marL="0">
              <a:buNone/>
            </a:pPr>
            <a:r>
              <a:rPr lang="en-US" sz="1200" dirty="0">
                <a:solidFill>
                  <a:srgbClr val="4A514D"/>
                </a:solidFill>
                <a:latin typeface="Consolas" pitchFamily="34" charset="0"/>
                <a:ea typeface="Consolas" pitchFamily="34" charset="-122"/>
                <a:cs typeface="Consolas" pitchFamily="34" charset="-120"/>
              </a:rPr>
              <a:t>0</a:t>
            </a:r>
            <a:endParaRPr lang="en-US" sz="1200" dirty="0"/>
          </a:p>
        </p:txBody>
      </p:sp>
      <p:sp>
        <p:nvSpPr>
          <p:cNvPr id="11" name="!!e7"/>
          <p:cNvSpPr txBox="1"/>
          <p:nvPr/>
        </p:nvSpPr>
        <p:spPr>
          <a:xfrm>
            <a:off x="11247120" y="347472"/>
            <a:ext cx="146304" cy="274320"/>
          </a:xfrm>
          <a:prstGeom prst="rect">
            <a:avLst/>
          </a:prstGeom>
          <a:noFill/>
          <a:ln/>
        </p:spPr>
        <p:txBody>
          <a:bodyPr wrap="square" lIns="0" tIns="0" rIns="0" bIns="0" rtlCol="0" anchor="ctr"/>
          <a:lstStyle/>
          <a:p>
            <a:pPr algn="ctr" indent="0" marL="0">
              <a:buNone/>
            </a:pPr>
            <a:r>
              <a:rPr lang="en-US" sz="1200" b="1" dirty="0">
                <a:solidFill>
                  <a:schemeClr val="accent1"/>
                </a:solidFill>
                <a:latin typeface="Consolas" pitchFamily="34" charset="0"/>
                <a:ea typeface="Consolas" pitchFamily="34" charset="-122"/>
                <a:cs typeface="Consolas" pitchFamily="34" charset="-120"/>
              </a:rPr>
              <a:t>1</a:t>
            </a:r>
            <a:endParaRPr lang="en-US" sz="1200" dirty="0"/>
          </a:p>
        </p:txBody>
      </p:sp>
      <p:sp>
        <p:nvSpPr>
          <p:cNvPr id="12" name="!!cell1"/>
          <p:cNvSpPr/>
          <p:nvPr/>
        </p:nvSpPr>
        <p:spPr>
          <a:xfrm>
            <a:off x="685800" y="4114800"/>
            <a:ext cx="7498080" cy="1783080"/>
          </a:xfrm>
          <a:prstGeom prst="roundRect">
            <a:avLst>
              <a:gd name="adj" fmla="val 4103"/>
            </a:avLst>
          </a:prstGeom>
          <a:solidFill>
            <a:srgbClr val="0A0C0B"/>
          </a:solidFill>
          <a:ln w="9525">
            <a:solidFill>
              <a:srgbClr val="1F2523"/>
            </a:solidFill>
          </a:ln>
        </p:spPr>
        <p:txBody>
          <a:bodyPr wrap="square" lIns="76200" tIns="76200" rIns="76200" bIns="63500" rtlCol="0" anchor="t"/>
          <a:lstStyle/>
          <a:p>
            <a:pPr algn="l" indent="0" marL="0">
              <a:buNone/>
            </a:pPr>
            <a:endParaRPr lang="en-US" sz="1200" dirty="0"/>
          </a:p>
        </p:txBody>
      </p:sp>
      <p:sp>
        <p:nvSpPr>
          <p:cNvPr id="13" name="!!cell2"/>
          <p:cNvSpPr/>
          <p:nvPr/>
        </p:nvSpPr>
        <p:spPr>
          <a:xfrm>
            <a:off x="8641080" y="1078992"/>
            <a:ext cx="2862072" cy="3310128"/>
          </a:xfrm>
          <a:prstGeom prst="roundRect">
            <a:avLst>
              <a:gd name="adj" fmla="val 2556"/>
            </a:avLst>
          </a:prstGeom>
          <a:solidFill>
            <a:srgbClr val="0A0C0B"/>
          </a:solidFill>
          <a:ln w="9525">
            <a:solidFill>
              <a:srgbClr val="1F2523"/>
            </a:solidFill>
          </a:ln>
        </p:spPr>
        <p:txBody>
          <a:bodyPr wrap="square" lIns="76200" tIns="76200" rIns="76200" bIns="63500" rtlCol="0" anchor="t"/>
          <a:lstStyle/>
          <a:p>
            <a:pPr algn="l" indent="0" marL="0">
              <a:buNone/>
            </a:pPr>
            <a:endParaRPr lang="en-US" sz="1200" dirty="0"/>
          </a:p>
        </p:txBody>
      </p:sp>
      <p:sp>
        <p:nvSpPr>
          <p:cNvPr id="14" name="Text 0"/>
          <p:cNvSpPr/>
          <p:nvPr>
            <p:ph idx="100" type="title" hasCustomPrompt="1"/>
          </p:nvPr>
        </p:nvSpPr>
        <p:spPr>
          <a:xfrm>
            <a:off x="1097280" y="1243584"/>
            <a:ext cx="6858000" cy="1371600"/>
          </a:xfrm>
          <a:prstGeom prst="rect">
            <a:avLst/>
          </a:prstGeom>
          <a:noFill/>
          <a:ln/>
        </p:spPr>
        <p:txBody>
          <a:bodyPr wrap="square" lIns="0" tIns="0" rIns="0" bIns="0" rtlCol="0" anchor="ctr"/>
          <a:lstStyle/>
          <a:p>
            <a:pPr algn="l" indent="0" marL="0">
              <a:buNone/>
            </a:pPr>
            <a:r>
              <a:rPr lang="en-US" sz="9600" dirty="0">
                <a:solidFill>
                  <a:schemeClr val="bg1"/>
                </a:solidFill>
                <a:latin typeface="Segoe UI Black" pitchFamily="34" charset="0"/>
                <a:ea typeface="Segoe UI Black" pitchFamily="34" charset="-122"/>
                <a:cs typeface="Segoe UI Black" pitchFamily="34" charset="-120"/>
              </a:rPr>
              <a:t>Thank you</a:t>
            </a:r>
            <a:endParaRPr lang="en-US" sz="9600" dirty="0"/>
          </a:p>
        </p:txBody>
      </p:sp>
      <p:sp>
        <p:nvSpPr>
          <p:cNvPr id="15" name="!!brL"/>
          <p:cNvSpPr/>
          <p:nvPr/>
        </p:nvSpPr>
        <p:spPr>
          <a:xfrm>
            <a:off x="685800" y="1188720"/>
            <a:ext cx="246888" cy="2743200"/>
          </a:xfrm>
          <a:custGeom>
            <a:avLst/>
            <a:gdLst/>
            <a:ahLst/>
            <a:cxnLst/>
            <a:rect l="l" t="t" r="r" b="b"/>
            <a:pathLst>
              <a:path w="246888" h="2743200">
                <a:moveTo>
                  <a:pt x="246888" y="0"/>
                </a:moveTo>
                <a:lnTo>
                  <a:pt x="0" y="0"/>
                </a:lnTo>
                <a:lnTo>
                  <a:pt x="0" y="2743200"/>
                </a:lnTo>
                <a:lnTo>
                  <a:pt x="246888" y="2743200"/>
                </a:lnTo>
              </a:path>
            </a:pathLst>
          </a:custGeom>
          <a:noFill/>
          <a:ln w="22225">
            <a:solidFill>
              <a:schemeClr val="accent5"/>
            </a:solidFill>
            <a:prstDash val="solid"/>
          </a:ln>
        </p:spPr>
      </p:sp>
      <p:sp>
        <p:nvSpPr>
          <p:cNvPr id="16" name="!!brR"/>
          <p:cNvSpPr/>
          <p:nvPr/>
        </p:nvSpPr>
        <p:spPr>
          <a:xfrm>
            <a:off x="7936992" y="1188720"/>
            <a:ext cx="246888" cy="2743200"/>
          </a:xfrm>
          <a:custGeom>
            <a:avLst/>
            <a:gdLst/>
            <a:ahLst/>
            <a:cxnLst/>
            <a:rect l="l" t="t" r="r" b="b"/>
            <a:pathLst>
              <a:path w="246888" h="2743200">
                <a:moveTo>
                  <a:pt x="0" y="0"/>
                </a:moveTo>
                <a:lnTo>
                  <a:pt x="246888" y="0"/>
                </a:lnTo>
                <a:lnTo>
                  <a:pt x="246888" y="2743200"/>
                </a:lnTo>
                <a:lnTo>
                  <a:pt x="0" y="2743200"/>
                </a:lnTo>
              </a:path>
            </a:pathLst>
          </a:custGeom>
          <a:noFill/>
          <a:ln w="22225">
            <a:solidFill>
              <a:schemeClr val="accent5"/>
            </a:solidFill>
            <a:prstDash val="solid"/>
          </a:ln>
        </p:spPr>
      </p:sp>
      <p:sp>
        <p:nvSpPr>
          <p:cNvPr id="17" name="!!k1"/>
          <p:cNvSpPr/>
          <p:nvPr/>
        </p:nvSpPr>
        <p:spPr>
          <a:xfrm>
            <a:off x="1133856" y="2793492"/>
            <a:ext cx="137160" cy="137160"/>
          </a:xfrm>
          <a:prstGeom prst="roundRect">
            <a:avLst>
              <a:gd name="adj" fmla="val 50000"/>
            </a:avLst>
          </a:prstGeom>
          <a:solidFill>
            <a:schemeClr val="accent1"/>
          </a:solidFill>
          <a:ln/>
        </p:spPr>
      </p:sp>
      <p:sp>
        <p:nvSpPr>
          <p:cNvPr id="18" name="!!kl1"/>
          <p:cNvSpPr txBox="1"/>
          <p:nvPr/>
        </p:nvSpPr>
        <p:spPr>
          <a:xfrm>
            <a:off x="1389888" y="2706624"/>
            <a:ext cx="1965960" cy="310896"/>
          </a:xfrm>
          <a:prstGeom prst="rect">
            <a:avLst/>
          </a:prstGeom>
          <a:noFill/>
          <a:ln/>
        </p:spPr>
        <p:txBody>
          <a:bodyPr wrap="square" lIns="0" tIns="0" rIns="0" bIns="0" rtlCol="0" anchor="ctr"/>
          <a:lstStyle/>
          <a:p>
            <a:pPr indent="0" marL="0">
              <a:buNone/>
            </a:pPr>
            <a:r>
              <a:rPr lang="en-US" sz="1400" b="1" dirty="0">
                <a:solidFill>
                  <a:schemeClr val="accent1"/>
                </a:solidFill>
                <a:latin typeface="Consolas" pitchFamily="34" charset="0"/>
                <a:ea typeface="Consolas" pitchFamily="34" charset="-122"/>
                <a:cs typeface="Consolas" pitchFamily="34" charset="-120"/>
              </a:rPr>
              <a:t>bit-identical</a:t>
            </a:r>
            <a:endParaRPr lang="en-US" sz="1400" dirty="0"/>
          </a:p>
        </p:txBody>
      </p:sp>
      <p:sp>
        <p:nvSpPr>
          <p:cNvPr id="19" name="Text 17"/>
          <p:cNvSpPr txBox="1"/>
          <p:nvPr/>
        </p:nvSpPr>
        <p:spPr>
          <a:xfrm>
            <a:off x="3429000" y="2706624"/>
            <a:ext cx="3291840" cy="310896"/>
          </a:xfrm>
          <a:prstGeom prst="rect">
            <a:avLst/>
          </a:prstGeom>
          <a:noFill/>
          <a:ln/>
        </p:spPr>
        <p:txBody>
          <a:bodyPr wrap="square" lIns="0" tIns="0" rIns="0" bIns="0" rtlCol="0" anchor="ctr"/>
          <a:lstStyle/>
          <a:p>
            <a:pPr indent="0" marL="0">
              <a:buNone/>
            </a:pPr>
            <a:r>
              <a:rPr lang="en-US" sz="1400" dirty="0">
                <a:solidFill>
                  <a:schemeClr val="bg1"/>
                </a:solidFill>
                <a:latin typeface="Consolas" pitchFamily="34" charset="0"/>
                <a:ea typeface="Consolas" pitchFamily="34" charset="-122"/>
                <a:cs typeface="Consolas" pitchFamily="34" charset="-120"/>
              </a:rPr>
              <a:t>print(thank_you)</a:t>
            </a:r>
            <a:endParaRPr lang="en-US" sz="1400" dirty="0"/>
          </a:p>
        </p:txBody>
      </p:sp>
      <p:sp>
        <p:nvSpPr>
          <p:cNvPr id="20" name="!!k2"/>
          <p:cNvSpPr/>
          <p:nvPr/>
        </p:nvSpPr>
        <p:spPr>
          <a:xfrm>
            <a:off x="1133856" y="3140964"/>
            <a:ext cx="137160" cy="137160"/>
          </a:xfrm>
          <a:prstGeom prst="roundRect">
            <a:avLst>
              <a:gd name="adj" fmla="val 50000"/>
            </a:avLst>
          </a:prstGeom>
          <a:solidFill>
            <a:schemeClr val="accent2"/>
          </a:solidFill>
          <a:ln/>
        </p:spPr>
      </p:sp>
      <p:sp>
        <p:nvSpPr>
          <p:cNvPr id="21" name="!!kl2"/>
          <p:cNvSpPr txBox="1"/>
          <p:nvPr/>
        </p:nvSpPr>
        <p:spPr>
          <a:xfrm>
            <a:off x="1389888" y="3054096"/>
            <a:ext cx="1965960" cy="310896"/>
          </a:xfrm>
          <a:prstGeom prst="rect">
            <a:avLst/>
          </a:prstGeom>
          <a:noFill/>
          <a:ln/>
        </p:spPr>
        <p:txBody>
          <a:bodyPr wrap="square" lIns="0" tIns="0" rIns="0" bIns="0" rtlCol="0" anchor="ctr"/>
          <a:lstStyle/>
          <a:p>
            <a:pPr indent="0" marL="0">
              <a:buNone/>
            </a:pPr>
            <a:r>
              <a:rPr lang="en-US" sz="1400" b="1" dirty="0">
                <a:solidFill>
                  <a:schemeClr val="accent2"/>
                </a:solidFill>
                <a:latin typeface="Consolas" pitchFamily="34" charset="0"/>
                <a:ea typeface="Consolas" pitchFamily="34" charset="-122"/>
                <a:cs typeface="Consolas" pitchFamily="34" charset="-120"/>
              </a:rPr>
              <a:t>bound-preserving</a:t>
            </a:r>
            <a:endParaRPr lang="en-US" sz="1400" dirty="0"/>
          </a:p>
        </p:txBody>
      </p:sp>
      <p:sp>
        <p:nvSpPr>
          <p:cNvPr id="22" name="Text 20"/>
          <p:cNvSpPr txBox="1"/>
          <p:nvPr/>
        </p:nvSpPr>
        <p:spPr>
          <a:xfrm>
            <a:off x="3429000" y="3054096"/>
            <a:ext cx="3291840" cy="310896"/>
          </a:xfrm>
          <a:prstGeom prst="rect">
            <a:avLst/>
          </a:prstGeom>
          <a:noFill/>
          <a:ln/>
        </p:spPr>
        <p:txBody>
          <a:bodyPr wrap="square" lIns="0" tIns="0" rIns="0" bIns="0" rtlCol="0" anchor="ctr"/>
          <a:lstStyle/>
          <a:p>
            <a:pPr indent="0" marL="0">
              <a:buNone/>
            </a:pPr>
            <a:r>
              <a:rPr lang="en-US" sz="1400" dirty="0">
                <a:solidFill>
                  <a:schemeClr val="bg1"/>
                </a:solidFill>
                <a:latin typeface="Consolas" pitchFamily="34" charset="0"/>
                <a:ea typeface="Consolas" pitchFamily="34" charset="-122"/>
                <a:cs typeface="Consolas" pitchFamily="34" charset="-120"/>
              </a:rPr>
              <a:t>print(questions)</a:t>
            </a:r>
            <a:endParaRPr lang="en-US" sz="1400" dirty="0"/>
          </a:p>
        </p:txBody>
      </p:sp>
      <p:sp>
        <p:nvSpPr>
          <p:cNvPr id="23" name="!!k3"/>
          <p:cNvSpPr/>
          <p:nvPr/>
        </p:nvSpPr>
        <p:spPr>
          <a:xfrm>
            <a:off x="1133856" y="3488436"/>
            <a:ext cx="137160" cy="137160"/>
          </a:xfrm>
          <a:prstGeom prst="roundRect">
            <a:avLst>
              <a:gd name="adj" fmla="val 50000"/>
            </a:avLst>
          </a:prstGeom>
          <a:solidFill>
            <a:schemeClr val="accent3"/>
          </a:solidFill>
          <a:ln/>
        </p:spPr>
      </p:sp>
      <p:sp>
        <p:nvSpPr>
          <p:cNvPr id="24" name="!!kl3"/>
          <p:cNvSpPr txBox="1"/>
          <p:nvPr/>
        </p:nvSpPr>
        <p:spPr>
          <a:xfrm>
            <a:off x="1389888" y="3401568"/>
            <a:ext cx="1965960" cy="310896"/>
          </a:xfrm>
          <a:prstGeom prst="rect">
            <a:avLst/>
          </a:prstGeom>
          <a:noFill/>
          <a:ln/>
        </p:spPr>
        <p:txBody>
          <a:bodyPr wrap="square" lIns="0" tIns="0" rIns="0" bIns="0" rtlCol="0" anchor="ctr"/>
          <a:lstStyle/>
          <a:p>
            <a:pPr indent="0" marL="0">
              <a:buNone/>
            </a:pPr>
            <a:r>
              <a:rPr lang="en-US" sz="1400" b="1" dirty="0">
                <a:solidFill>
                  <a:schemeClr val="accent3"/>
                </a:solidFill>
                <a:latin typeface="Consolas" pitchFamily="34" charset="0"/>
                <a:ea typeface="Consolas" pitchFamily="34" charset="-122"/>
                <a:cs typeface="Consolas" pitchFamily="34" charset="-120"/>
              </a:rPr>
              <a:t>relaxed</a:t>
            </a:r>
            <a:endParaRPr lang="en-US" sz="1400" dirty="0"/>
          </a:p>
        </p:txBody>
      </p:sp>
      <p:sp>
        <p:nvSpPr>
          <p:cNvPr id="25" name="Text 23"/>
          <p:cNvSpPr txBox="1"/>
          <p:nvPr/>
        </p:nvSpPr>
        <p:spPr>
          <a:xfrm>
            <a:off x="3429000" y="3401568"/>
            <a:ext cx="3291840" cy="310896"/>
          </a:xfrm>
          <a:prstGeom prst="rect">
            <a:avLst/>
          </a:prstGeom>
          <a:noFill/>
          <a:ln/>
        </p:spPr>
        <p:txBody>
          <a:bodyPr wrap="square" lIns="0" tIns="0" rIns="0" bIns="0" rtlCol="0" anchor="ctr"/>
          <a:lstStyle/>
          <a:p>
            <a:pPr indent="0" marL="0">
              <a:buNone/>
            </a:pPr>
            <a:r>
              <a:rPr lang="en-US" sz="1400" dirty="0">
                <a:solidFill>
                  <a:schemeClr val="bg1"/>
                </a:solidFill>
                <a:latin typeface="Consolas" pitchFamily="34" charset="0"/>
                <a:ea typeface="Consolas" pitchFamily="34" charset="-122"/>
                <a:cs typeface="Consolas" pitchFamily="34" charset="-120"/>
              </a:rPr>
              <a:t>print(feedback)</a:t>
            </a:r>
            <a:endParaRPr lang="en-US" sz="1400" dirty="0"/>
          </a:p>
        </p:txBody>
      </p:sp>
      <p:sp>
        <p:nvSpPr>
          <p:cNvPr id="26" name="Text 24"/>
          <p:cNvSpPr txBox="1"/>
          <p:nvPr/>
        </p:nvSpPr>
        <p:spPr>
          <a:xfrm>
            <a:off x="896112" y="4206240"/>
            <a:ext cx="2743200" cy="237744"/>
          </a:xfrm>
          <a:prstGeom prst="rect">
            <a:avLst/>
          </a:prstGeom>
          <a:noFill/>
          <a:ln/>
        </p:spPr>
        <p:txBody>
          <a:bodyPr wrap="square" lIns="0" tIns="0" rIns="0" bIns="0" rtlCol="0" anchor="t"/>
          <a:lstStyle/>
          <a:p>
            <a:pPr indent="0" marL="0">
              <a:buNone/>
            </a:pPr>
            <a:r>
              <a:rPr lang="en-US" sz="1100" spc="150" kern="0" dirty="0">
                <a:solidFill>
                  <a:schemeClr val="accent1"/>
                </a:solidFill>
                <a:latin typeface="Consolas" pitchFamily="34" charset="0"/>
                <a:ea typeface="Consolas" pitchFamily="34" charset="-122"/>
                <a:cs typeface="Consolas" pitchFamily="34" charset="-120"/>
              </a:rPr>
              <a:t>THE PAPER</a:t>
            </a:r>
            <a:endParaRPr lang="en-US" sz="1100" dirty="0"/>
          </a:p>
        </p:txBody>
      </p:sp>
      <p:pic>
        <p:nvPicPr>
          <p:cNvPr id="27" name="Image 0" descr="page 5 of the paper: the recovery figure">
            <a:hlinkClick r:id="rId6" tooltip="Open the paper (PDF)"/>
          </p:cNvPr>
          <p:cNvPicPr>
            <a:picLocks noChangeAspect="1"/>
          </p:cNvPicPr>
          <p:nvPr/>
        </p:nvPicPr>
        <p:blipFill>
          <a:blip r:embed="rId1"/>
          <a:stretch>
            <a:fillRect/>
          </a:stretch>
        </p:blipFill>
        <p:spPr>
          <a:xfrm rot="420000">
            <a:off x="2212848" y="4507992"/>
            <a:ext cx="1005840" cy="1301675"/>
          </a:xfrm>
          <a:prstGeom prst="rect">
            <a:avLst/>
          </a:prstGeom>
        </p:spPr>
      </p:pic>
      <p:pic>
        <p:nvPicPr>
          <p:cNvPr id="28" name="Image 1" descr="page 3 of the paper: the theorems">
            <a:hlinkClick r:id="rId6" tooltip="Open the paper (PDF)"/>
          </p:cNvPr>
          <p:cNvPicPr>
            <a:picLocks noChangeAspect="1"/>
          </p:cNvPicPr>
          <p:nvPr/>
        </p:nvPicPr>
        <p:blipFill>
          <a:blip r:embed="rId3"/>
          <a:stretch>
            <a:fillRect/>
          </a:stretch>
        </p:blipFill>
        <p:spPr>
          <a:xfrm rot="120000">
            <a:off x="1554480" y="4489704"/>
            <a:ext cx="1005840" cy="1301675"/>
          </a:xfrm>
          <a:prstGeom prst="rect">
            <a:avLst/>
          </a:prstGeom>
        </p:spPr>
      </p:pic>
      <p:pic>
        <p:nvPicPr>
          <p:cNvPr id="29" name="Image 2" descr="page 1 of the paper: title and abstract">
            <a:hlinkClick r:id="rId6" tooltip="Open the paper (PDF)"/>
          </p:cNvPr>
          <p:cNvPicPr>
            <a:picLocks noChangeAspect="1"/>
          </p:cNvPicPr>
          <p:nvPr/>
        </p:nvPicPr>
        <p:blipFill>
          <a:blip r:embed="rId5"/>
          <a:stretch>
            <a:fillRect/>
          </a:stretch>
        </p:blipFill>
        <p:spPr>
          <a:xfrm rot="-180000">
            <a:off x="896112" y="4471416"/>
            <a:ext cx="1005840" cy="1301675"/>
          </a:xfrm>
          <a:prstGeom prst="rect">
            <a:avLst/>
          </a:prstGeom>
        </p:spPr>
      </p:pic>
      <p:sp>
        <p:nvSpPr>
          <p:cNvPr id="30" name="Text 25"/>
          <p:cNvSpPr txBox="1"/>
          <p:nvPr/>
        </p:nvSpPr>
        <p:spPr>
          <a:xfrm>
            <a:off x="3566160" y="4315968"/>
            <a:ext cx="4480560" cy="365760"/>
          </a:xfrm>
          <a:prstGeom prst="rect">
            <a:avLst/>
          </a:prstGeom>
          <a:noFill/>
          <a:ln/>
        </p:spPr>
        <p:txBody>
          <a:bodyPr wrap="square" lIns="0" tIns="0" rIns="0" bIns="0" rtlCol="0" anchor="t"/>
          <a:lstStyle/>
          <a:p>
            <a:pPr indent="0" marL="0">
              <a:buNone/>
            </a:pPr>
            <a:r>
              <a:rPr lang="en-US" sz="2000" u="sng" dirty="0">
                <a:solidFill>
                  <a:schemeClr val="bg1"/>
                </a:solidFill>
                <a:latin typeface="Segoe UI Semibold" pitchFamily="34" charset="0"/>
                <a:ea typeface="Segoe UI Semibold" pitchFamily="34" charset="-122"/>
                <a:cs typeface="Segoe UI Semibold" pitchFamily="34" charset="-120"/>
                <a:hlinkClick r:id="rId6" invalidUrl="" action="" tgtFrame="" tooltip="Open the paper (PDF)" history="1" highlightClick="0" endSnd="0">
                  <a:extLst>
                    <a:ext uri="{A12FA001-AC4F-418D-AE19-62706E023703}">
                      <ahyp:hlinkClr xmlns:ahyp="http://schemas.microsoft.com/office/drawing/2018/hyperlinkcolor" val="tx"/>
                    </a:ext>
                  </a:extLst>
                </a:hlinkClick>
              </a:rPr>
              <a:t>Exact, Bounded, or Relaxed</a:t>
            </a:r>
            <a:endParaRPr lang="en-US" sz="2000" dirty="0"/>
          </a:p>
        </p:txBody>
      </p:sp>
      <p:sp>
        <p:nvSpPr>
          <p:cNvPr id="31" name="Text 26"/>
          <p:cNvSpPr txBox="1"/>
          <p:nvPr/>
        </p:nvSpPr>
        <p:spPr>
          <a:xfrm>
            <a:off x="3566160" y="4700016"/>
            <a:ext cx="4480560" cy="457200"/>
          </a:xfrm>
          <a:prstGeom prst="rect">
            <a:avLst/>
          </a:prstGeom>
          <a:noFill/>
          <a:ln/>
        </p:spPr>
        <p:txBody>
          <a:bodyPr wrap="square" lIns="0" tIns="0" rIns="0" bIns="0" rtlCol="0" anchor="t"/>
          <a:lstStyle/>
          <a:p>
            <a:pPr indent="0" marL="0">
              <a:buNone/>
            </a:pPr>
            <a:r>
              <a:rPr lang="en-US" sz="1300" dirty="0">
                <a:solidFill>
                  <a:schemeClr val="bg2"/>
                </a:solidFill>
                <a:latin typeface="Segoe UI" pitchFamily="34" charset="0"/>
                <a:ea typeface="Segoe UI" pitchFamily="34" charset="-122"/>
                <a:cs typeface="Segoe UI" pitchFamily="34" charset="-120"/>
              </a:rPr>
              <a:t>Proving Which Floating-Point Guarantee</a:t>
            </a:r>
            <a:endParaRPr lang="en-US" sz="1300" dirty="0"/>
          </a:p>
          <a:p>
            <a:pPr indent="0" marL="0">
              <a:buNone/>
            </a:pPr>
            <a:r>
              <a:rPr lang="en-US" sz="1300" dirty="0">
                <a:solidFill>
                  <a:schemeClr val="bg2"/>
                </a:solidFill>
                <a:latin typeface="Segoe UI" pitchFamily="34" charset="0"/>
                <a:ea typeface="Segoe UI" pitchFamily="34" charset="-122"/>
                <a:cs typeface="Segoe UI" pitchFamily="34" charset="-120"/>
              </a:rPr>
              <a:t>a Compiler Rewrite Keeps</a:t>
            </a:r>
            <a:endParaRPr lang="en-US" sz="1300" dirty="0"/>
          </a:p>
        </p:txBody>
      </p:sp>
      <p:sp>
        <p:nvSpPr>
          <p:cNvPr id="32" name="Text 27"/>
          <p:cNvSpPr txBox="1"/>
          <p:nvPr/>
        </p:nvSpPr>
        <p:spPr>
          <a:xfrm>
            <a:off x="3566160" y="5202936"/>
            <a:ext cx="4480560" cy="237744"/>
          </a:xfrm>
          <a:prstGeom prst="rect">
            <a:avLst/>
          </a:prstGeom>
          <a:noFill/>
          <a:ln/>
        </p:spPr>
        <p:txBody>
          <a:bodyPr wrap="square" lIns="0" tIns="0" rIns="0" bIns="0" rtlCol="0" anchor="t"/>
          <a:lstStyle/>
          <a:p>
            <a:pPr indent="0" marL="0">
              <a:buNone/>
            </a:pPr>
            <a:r>
              <a:rPr lang="en-US" sz="1200" dirty="0">
                <a:solidFill>
                  <a:schemeClr val="accent4"/>
                </a:solidFill>
                <a:latin typeface="Segoe UI" pitchFamily="34" charset="0"/>
                <a:ea typeface="Segoe UI" pitchFamily="34" charset="-122"/>
                <a:cs typeface="Segoe UI" pitchFamily="34" charset="-120"/>
              </a:rPr>
              <a:t>A Aswanth Raj  ·  Dr. Ranjithkumar S</a:t>
            </a:r>
            <a:endParaRPr lang="en-US" sz="1200" dirty="0"/>
          </a:p>
        </p:txBody>
      </p:sp>
      <p:sp>
        <p:nvSpPr>
          <p:cNvPr id="33" name="Text 28"/>
          <p:cNvSpPr txBox="1"/>
          <p:nvPr/>
        </p:nvSpPr>
        <p:spPr>
          <a:xfrm>
            <a:off x="3566160" y="5468112"/>
            <a:ext cx="4480560" cy="237744"/>
          </a:xfrm>
          <a:prstGeom prst="rect">
            <a:avLst/>
          </a:prstGeom>
          <a:noFill/>
          <a:ln/>
        </p:spPr>
        <p:txBody>
          <a:bodyPr wrap="square" lIns="0" tIns="0" rIns="0" bIns="0" rtlCol="0" anchor="t"/>
          <a:lstStyle/>
          <a:p>
            <a:pPr indent="0" marL="0">
              <a:buNone/>
            </a:pPr>
            <a:r>
              <a:rPr lang="en-US" sz="1050" dirty="0">
                <a:solidFill>
                  <a:schemeClr val="accent1"/>
                </a:solidFill>
                <a:latin typeface="Consolas" pitchFamily="34" charset="0"/>
                <a:ea typeface="Consolas" pitchFamily="34" charset="-122"/>
                <a:cs typeface="Consolas" pitchFamily="34" charset="-120"/>
              </a:rPr>
              <a:t>ACM SIGPLAN format  ·  10 pages  ·  target CC 2027</a:t>
            </a:r>
            <a:endParaRPr lang="en-US" sz="1050" dirty="0"/>
          </a:p>
        </p:txBody>
      </p:sp>
      <p:sp>
        <p:nvSpPr>
          <p:cNvPr id="34" name="qr-tile"/>
          <p:cNvSpPr/>
          <p:nvPr/>
        </p:nvSpPr>
        <p:spPr>
          <a:xfrm>
            <a:off x="8947404" y="1207008"/>
            <a:ext cx="2249424" cy="2249424"/>
          </a:xfrm>
          <a:prstGeom prst="roundRect">
            <a:avLst>
              <a:gd name="adj" fmla="val 4878"/>
            </a:avLst>
          </a:prstGeom>
          <a:solidFill>
            <a:srgbClr val="FFFFFF"/>
          </a:solidFill>
          <a:ln/>
        </p:spPr>
      </p:sp>
      <p:pic>
        <p:nvPicPr>
          <p:cNvPr id="35" name="Image 3" descr="QR code linking to https://github.com/aswanth-07/matrixlang">
            <a:hlinkClick r:id="rId8" tooltip="Open the MatrixLang repository"/>
          </p:cNvPr>
          <p:cNvPicPr>
            <a:picLocks noChangeAspect="1"/>
          </p:cNvPicPr>
          <p:nvPr/>
        </p:nvPicPr>
        <p:blipFill>
          <a:blip r:embed="rId7"/>
          <a:stretch>
            <a:fillRect/>
          </a:stretch>
        </p:blipFill>
        <p:spPr>
          <a:xfrm>
            <a:off x="9020556" y="1280160"/>
            <a:ext cx="2103120" cy="2103120"/>
          </a:xfrm>
          <a:prstGeom prst="rect">
            <a:avLst/>
          </a:prstGeom>
        </p:spPr>
      </p:pic>
      <p:sp>
        <p:nvSpPr>
          <p:cNvPr id="36" name="!!repo"/>
          <p:cNvSpPr txBox="1"/>
          <p:nvPr/>
        </p:nvSpPr>
        <p:spPr>
          <a:xfrm>
            <a:off x="8641080" y="3611880"/>
            <a:ext cx="2862072" cy="292608"/>
          </a:xfrm>
          <a:prstGeom prst="rect">
            <a:avLst/>
          </a:prstGeom>
          <a:noFill/>
          <a:ln/>
        </p:spPr>
        <p:txBody>
          <a:bodyPr wrap="square" lIns="0" tIns="0" rIns="0" bIns="0" rtlCol="0" anchor="ctr"/>
          <a:lstStyle/>
          <a:p>
            <a:pPr algn="ctr" indent="0" marL="0">
              <a:buNone/>
            </a:pPr>
            <a:r>
              <a:rPr lang="en-US" sz="1100" u="sng" dirty="0">
                <a:solidFill>
                  <a:schemeClr val="accent1"/>
                </a:solidFill>
                <a:latin typeface="Consolas" pitchFamily="34" charset="0"/>
                <a:ea typeface="Consolas" pitchFamily="34" charset="-122"/>
                <a:cs typeface="Consolas" pitchFamily="34" charset="-120"/>
                <a:hlinkClick r:id="rId9" invalidUrl="" action="" tgtFrame="" tooltip="Open the MatrixLang repository" history="1" highlightClick="0" endSnd="0">
                  <a:extLst>
                    <a:ext uri="{A12FA001-AC4F-418D-AE19-62706E023703}">
                      <ahyp:hlinkClr xmlns:ahyp="http://schemas.microsoft.com/office/drawing/2018/hyperlinkcolor" val="tx"/>
                    </a:ext>
                  </a:extLst>
                </a:hlinkClick>
              </a:rPr>
              <a:t>github.com/aswanth-07/matrixlang</a:t>
            </a:r>
            <a:endParaRPr lang="en-US" sz="1100" dirty="0"/>
          </a:p>
        </p:txBody>
      </p:sp>
      <p:sp>
        <p:nvSpPr>
          <p:cNvPr id="37" name="Text 31"/>
          <p:cNvSpPr txBox="1"/>
          <p:nvPr/>
        </p:nvSpPr>
        <p:spPr>
          <a:xfrm>
            <a:off x="8641080" y="3904488"/>
            <a:ext cx="2862072" cy="274320"/>
          </a:xfrm>
          <a:prstGeom prst="rect">
            <a:avLst/>
          </a:prstGeom>
          <a:noFill/>
          <a:ln/>
        </p:spPr>
        <p:txBody>
          <a:bodyPr wrap="square" lIns="0" tIns="0" rIns="0" bIns="0" rtlCol="0" anchor="t"/>
          <a:lstStyle/>
          <a:p>
            <a:pPr algn="ctr" indent="0" marL="0">
              <a:buNone/>
            </a:pPr>
            <a:r>
              <a:rPr lang="en-US" sz="1100" dirty="0">
                <a:solidFill>
                  <a:schemeClr val="accent4"/>
                </a:solidFill>
                <a:latin typeface="Segoe UI" pitchFamily="34" charset="0"/>
                <a:ea typeface="Segoe UI" pitchFamily="34" charset="-122"/>
                <a:cs typeface="Segoe UI" pitchFamily="34" charset="-120"/>
              </a:rPr>
              <a:t>code  ·  paper  ·  raw data  ·  workspace</a:t>
            </a:r>
            <a:endParaRPr lang="en-US" sz="1100" dirty="0"/>
          </a:p>
        </p:txBody>
      </p:sp>
      <p:sp>
        <p:nvSpPr>
          <p:cNvPr id="38" name="!!cell3"/>
          <p:cNvSpPr/>
          <p:nvPr/>
        </p:nvSpPr>
        <p:spPr>
          <a:xfrm>
            <a:off x="685800" y="6108192"/>
            <a:ext cx="96012" cy="96012"/>
          </a:xfrm>
          <a:prstGeom prst="roundRect">
            <a:avLst>
              <a:gd name="adj" fmla="val 14286"/>
            </a:avLst>
          </a:prstGeom>
          <a:solidFill>
            <a:srgbClr val="52B788"/>
          </a:solidFill>
          <a:ln/>
        </p:spPr>
        <p:txBody>
          <a:bodyPr wrap="square" lIns="0" tIns="0" rIns="0" bIns="0" rtlCol="0" anchor="t"/>
          <a:lstStyle/>
          <a:p>
            <a:pPr algn="l" indent="0" marL="0">
              <a:buNone/>
            </a:pPr>
            <a:endParaRPr lang="en-US" sz="1200" dirty="0"/>
          </a:p>
        </p:txBody>
      </p:sp>
      <p:sp>
        <p:nvSpPr>
          <p:cNvPr id="39" name="!!cell4"/>
          <p:cNvSpPr/>
          <p:nvPr/>
        </p:nvSpPr>
        <p:spPr>
          <a:xfrm>
            <a:off x="809244" y="6108192"/>
            <a:ext cx="96012" cy="96012"/>
          </a:xfrm>
          <a:prstGeom prst="roundRect">
            <a:avLst>
              <a:gd name="adj" fmla="val 14286"/>
            </a:avLst>
          </a:prstGeom>
          <a:solidFill>
            <a:srgbClr val="52B788"/>
          </a:solidFill>
          <a:ln/>
        </p:spPr>
        <p:txBody>
          <a:bodyPr wrap="square" lIns="0" tIns="0" rIns="0" bIns="0" rtlCol="0" anchor="t"/>
          <a:lstStyle/>
          <a:p>
            <a:pPr algn="l" indent="0" marL="0">
              <a:buNone/>
            </a:pPr>
            <a:endParaRPr lang="en-US" sz="1200" dirty="0"/>
          </a:p>
        </p:txBody>
      </p:sp>
      <p:sp>
        <p:nvSpPr>
          <p:cNvPr id="40" name="!!cell5"/>
          <p:cNvSpPr/>
          <p:nvPr/>
        </p:nvSpPr>
        <p:spPr>
          <a:xfrm>
            <a:off x="932688" y="6108192"/>
            <a:ext cx="96012" cy="96012"/>
          </a:xfrm>
          <a:prstGeom prst="roundRect">
            <a:avLst>
              <a:gd name="adj" fmla="val 14286"/>
            </a:avLst>
          </a:prstGeom>
          <a:solidFill>
            <a:srgbClr val="52B788"/>
          </a:solidFill>
          <a:ln/>
        </p:spPr>
        <p:txBody>
          <a:bodyPr wrap="square" lIns="0" tIns="0" rIns="0" bIns="0" rtlCol="0" anchor="t"/>
          <a:lstStyle/>
          <a:p>
            <a:pPr algn="l" indent="0" marL="0">
              <a:buNone/>
            </a:pPr>
            <a:endParaRPr lang="en-US" sz="1200" dirty="0"/>
          </a:p>
        </p:txBody>
      </p:sp>
      <p:sp>
        <p:nvSpPr>
          <p:cNvPr id="41" name="!!cell6"/>
          <p:cNvSpPr/>
          <p:nvPr/>
        </p:nvSpPr>
        <p:spPr>
          <a:xfrm>
            <a:off x="685800" y="6231636"/>
            <a:ext cx="96012" cy="96012"/>
          </a:xfrm>
          <a:prstGeom prst="roundRect">
            <a:avLst>
              <a:gd name="adj" fmla="val 14286"/>
            </a:avLst>
          </a:prstGeom>
          <a:solidFill>
            <a:srgbClr val="4A514D"/>
          </a:solidFill>
          <a:ln/>
        </p:spPr>
        <p:txBody>
          <a:bodyPr wrap="square" lIns="0" tIns="0" rIns="0" bIns="0" rtlCol="0" anchor="t"/>
          <a:lstStyle/>
          <a:p>
            <a:pPr algn="l" indent="0" marL="0">
              <a:buNone/>
            </a:pPr>
            <a:endParaRPr lang="en-US" sz="1200" dirty="0"/>
          </a:p>
        </p:txBody>
      </p:sp>
      <p:sp>
        <p:nvSpPr>
          <p:cNvPr id="42" name="!!cell7"/>
          <p:cNvSpPr/>
          <p:nvPr/>
        </p:nvSpPr>
        <p:spPr>
          <a:xfrm>
            <a:off x="809244" y="6231636"/>
            <a:ext cx="96012" cy="96012"/>
          </a:xfrm>
          <a:prstGeom prst="roundRect">
            <a:avLst>
              <a:gd name="adj" fmla="val 14286"/>
            </a:avLst>
          </a:prstGeom>
          <a:solidFill>
            <a:srgbClr val="52B788"/>
          </a:solidFill>
          <a:ln/>
        </p:spPr>
        <p:txBody>
          <a:bodyPr wrap="square" lIns="0" tIns="0" rIns="0" bIns="0" rtlCol="0" anchor="t"/>
          <a:lstStyle/>
          <a:p>
            <a:pPr algn="l" indent="0" marL="0">
              <a:buNone/>
            </a:pPr>
            <a:endParaRPr lang="en-US" sz="1200" dirty="0"/>
          </a:p>
        </p:txBody>
      </p:sp>
      <p:sp>
        <p:nvSpPr>
          <p:cNvPr id="43" name="!!cell8"/>
          <p:cNvSpPr/>
          <p:nvPr/>
        </p:nvSpPr>
        <p:spPr>
          <a:xfrm>
            <a:off x="932688" y="6231636"/>
            <a:ext cx="96012" cy="96012"/>
          </a:xfrm>
          <a:prstGeom prst="roundRect">
            <a:avLst>
              <a:gd name="adj" fmla="val 14286"/>
            </a:avLst>
          </a:prstGeom>
          <a:solidFill>
            <a:srgbClr val="52B788"/>
          </a:solidFill>
          <a:ln/>
        </p:spPr>
        <p:txBody>
          <a:bodyPr wrap="square" lIns="0" tIns="0" rIns="0" bIns="0" rtlCol="0" anchor="t"/>
          <a:lstStyle/>
          <a:p>
            <a:pPr algn="l" indent="0" marL="0">
              <a:buNone/>
            </a:pPr>
            <a:endParaRPr lang="en-US" sz="1200" dirty="0"/>
          </a:p>
        </p:txBody>
      </p:sp>
      <p:sp>
        <p:nvSpPr>
          <p:cNvPr id="44" name="!!cell9"/>
          <p:cNvSpPr/>
          <p:nvPr/>
        </p:nvSpPr>
        <p:spPr>
          <a:xfrm>
            <a:off x="685800" y="6355080"/>
            <a:ext cx="96012" cy="96012"/>
          </a:xfrm>
          <a:prstGeom prst="roundRect">
            <a:avLst>
              <a:gd name="adj" fmla="val 14286"/>
            </a:avLst>
          </a:prstGeom>
          <a:solidFill>
            <a:srgbClr val="4A514D"/>
          </a:solidFill>
          <a:ln/>
        </p:spPr>
        <p:txBody>
          <a:bodyPr wrap="square" lIns="0" tIns="0" rIns="0" bIns="0" rtlCol="0" anchor="t"/>
          <a:lstStyle/>
          <a:p>
            <a:pPr algn="l" indent="0" marL="0">
              <a:buNone/>
            </a:pPr>
            <a:endParaRPr lang="en-US" sz="1200" dirty="0"/>
          </a:p>
        </p:txBody>
      </p:sp>
      <p:sp>
        <p:nvSpPr>
          <p:cNvPr id="45" name="Shape 39"/>
          <p:cNvSpPr/>
          <p:nvPr/>
        </p:nvSpPr>
        <p:spPr>
          <a:xfrm>
            <a:off x="809244" y="6355080"/>
            <a:ext cx="96012" cy="96012"/>
          </a:xfrm>
          <a:prstGeom prst="roundRect">
            <a:avLst>
              <a:gd name="adj" fmla="val 14286"/>
            </a:avLst>
          </a:prstGeom>
          <a:solidFill>
            <a:srgbClr val="4A514D"/>
          </a:solidFill>
          <a:ln/>
        </p:spPr>
      </p:sp>
      <p:sp>
        <p:nvSpPr>
          <p:cNvPr id="46" name="Shape 40"/>
          <p:cNvSpPr/>
          <p:nvPr/>
        </p:nvSpPr>
        <p:spPr>
          <a:xfrm>
            <a:off x="932688" y="6355080"/>
            <a:ext cx="96012" cy="96012"/>
          </a:xfrm>
          <a:prstGeom prst="roundRect">
            <a:avLst>
              <a:gd name="adj" fmla="val 14286"/>
            </a:avLst>
          </a:prstGeom>
          <a:solidFill>
            <a:srgbClr val="52B788"/>
          </a:solidFill>
          <a:ln/>
        </p:spPr>
      </p:sp>
      <p:sp>
        <p:nvSpPr>
          <p:cNvPr id="47" name="!!logo"/>
          <p:cNvSpPr txBox="1"/>
          <p:nvPr/>
        </p:nvSpPr>
        <p:spPr>
          <a:xfrm>
            <a:off x="1133856" y="6053328"/>
            <a:ext cx="2377440" cy="438912"/>
          </a:xfrm>
          <a:prstGeom prst="rect">
            <a:avLst/>
          </a:prstGeom>
          <a:noFill/>
          <a:ln/>
        </p:spPr>
        <p:txBody>
          <a:bodyPr wrap="square" lIns="0" tIns="0" rIns="0" bIns="0" rtlCol="0" anchor="ctr"/>
          <a:lstStyle/>
          <a:p>
            <a:pPr indent="0" marL="0">
              <a:buNone/>
            </a:pPr>
            <a:r>
              <a:rPr lang="en-US" sz="2200" dirty="0">
                <a:solidFill>
                  <a:schemeClr val="bg1"/>
                </a:solidFill>
                <a:latin typeface="Segoe UI Black" pitchFamily="34" charset="0"/>
                <a:ea typeface="Segoe UI Black" pitchFamily="34" charset="-122"/>
                <a:cs typeface="Segoe UI Black" pitchFamily="34" charset="-120"/>
              </a:rPr>
              <a:t>Matrix</a:t>
            </a:r>
            <a:pPr indent="0" marL="0">
              <a:buNone/>
            </a:pPr>
            <a:r>
              <a:rPr lang="en-US" sz="2200" dirty="0">
                <a:solidFill>
                  <a:schemeClr val="accent1"/>
                </a:solidFill>
                <a:latin typeface="Segoe UI Black" pitchFamily="34" charset="0"/>
                <a:ea typeface="Segoe UI Black" pitchFamily="34" charset="-122"/>
                <a:cs typeface="Segoe UI Black" pitchFamily="34" charset="-120"/>
              </a:rPr>
              <a:t>Lang</a:t>
            </a:r>
            <a:endParaRPr lang="en-US" sz="2200" dirty="0"/>
          </a:p>
        </p:txBody>
      </p:sp>
      <p:sp>
        <p:nvSpPr>
          <p:cNvPr id="48" name="Text 42"/>
          <p:cNvSpPr txBox="1"/>
          <p:nvPr/>
        </p:nvSpPr>
        <p:spPr>
          <a:xfrm>
            <a:off x="3657600" y="6126480"/>
            <a:ext cx="7845552" cy="310896"/>
          </a:xfrm>
          <a:prstGeom prst="rect">
            <a:avLst/>
          </a:prstGeom>
          <a:noFill/>
          <a:ln/>
        </p:spPr>
        <p:txBody>
          <a:bodyPr wrap="square" lIns="0" tIns="0" rIns="0" bIns="0" rtlCol="0" anchor="ctr"/>
          <a:lstStyle/>
          <a:p>
            <a:pPr algn="r" indent="0" marL="0">
              <a:buNone/>
            </a:pPr>
            <a:r>
              <a:rPr lang="en-US" sz="1200" dirty="0">
                <a:solidFill>
                  <a:schemeClr val="bg1"/>
                </a:solidFill>
                <a:latin typeface="Segoe UI" pitchFamily="34" charset="0"/>
                <a:ea typeface="Segoe UI" pitchFamily="34" charset="-122"/>
                <a:cs typeface="Segoe UI" pitchFamily="34" charset="-120"/>
              </a:rPr>
              <a:t>A Aswanth Raj</a:t>
            </a:r>
            <a:pPr algn="r" indent="0" marL="0">
              <a:buNone/>
            </a:pPr>
            <a:r>
              <a:rPr lang="en-US" sz="1200" dirty="0">
                <a:solidFill>
                  <a:schemeClr val="accent4"/>
                </a:solidFill>
                <a:latin typeface="Segoe UI" pitchFamily="34" charset="0"/>
                <a:ea typeface="Segoe UI" pitchFamily="34" charset="-122"/>
                <a:cs typeface="Segoe UI" pitchFamily="34" charset="-120"/>
              </a:rPr>
              <a:t>  ·  24BAI0044        </a:t>
            </a:r>
            <a:pPr algn="r" indent="0" marL="0">
              <a:buNone/>
            </a:pPr>
            <a:r>
              <a:rPr lang="en-US" sz="1200" dirty="0">
                <a:solidFill>
                  <a:schemeClr val="accent5"/>
                </a:solidFill>
                <a:latin typeface="Segoe UI" pitchFamily="34" charset="0"/>
                <a:ea typeface="Segoe UI" pitchFamily="34" charset="-122"/>
                <a:cs typeface="Segoe UI" pitchFamily="34" charset="-120"/>
              </a:rPr>
              <a:t>Supervisor  </a:t>
            </a:r>
            <a:pPr algn="r" indent="0" marL="0">
              <a:buNone/>
            </a:pPr>
            <a:r>
              <a:rPr lang="en-US" sz="1200" dirty="0">
                <a:solidFill>
                  <a:schemeClr val="bg1"/>
                </a:solidFill>
                <a:latin typeface="Segoe UI" pitchFamily="34" charset="0"/>
                <a:ea typeface="Segoe UI" pitchFamily="34" charset="-122"/>
                <a:cs typeface="Segoe UI" pitchFamily="34" charset="-120"/>
              </a:rPr>
              <a:t>Dr. Ranjithkumar S</a:t>
            </a:r>
            <a:pPr algn="r" indent="0" marL="0">
              <a:buNone/>
            </a:pPr>
            <a:r>
              <a:rPr lang="en-US" sz="1200" dirty="0">
                <a:solidFill>
                  <a:schemeClr val="accent4"/>
                </a:solidFill>
                <a:latin typeface="Segoe UI" pitchFamily="34" charset="0"/>
                <a:ea typeface="Segoe UI" pitchFamily="34" charset="-122"/>
                <a:cs typeface="Segoe UI" pitchFamily="34" charset="-120"/>
              </a:rPr>
              <a:t>        BCSE307P  ·  Compiler Design Lab</a:t>
            </a:r>
            <a:endParaRPr lang="en-US" sz="1200" dirty="0"/>
          </a:p>
        </p:txBody>
      </p:sp>
      <p:sp>
        <p:nvSpPr>
          <p:cNvPr id="50" name="!!p07">
            <a:extLst>
              <a:ext uri="{C183D7F6-B498-43B3-948B-1728B52AA6E4}">
                <adec:decorative xmlns:adec="http://schemas.microsoft.com/office/drawing/2017/decorative" val="1"/>
              </a:ext>
            </a:extLst>
          </p:cNvPr>
          <p:cNvSpPr txBox="1"/>
          <p:nvPr/>
        </p:nvSpPr>
        <p:spPr>
          <a:xfrm>
            <a:off x="9921240" y="4572000"/>
            <a:ext cx="1199134" cy="236474"/>
          </a:xfrm>
          <a:prstGeom prst="rect">
            <a:avLst/>
          </a:prstGeom>
          <a:noFill/>
          <a:ln/>
        </p:spPr>
        <p:txBody>
          <a:bodyPr wrap="none" lIns="0" tIns="0" rIns="0" bIns="0" rtlCol="0" anchor="ctr"/>
          <a:lstStyle/>
          <a:p>
            <a:pPr indent="0" marL="0">
              <a:buNone/>
            </a:pPr>
            <a:r>
              <a:rPr lang="en-US" sz="1100" dirty="0">
                <a:solidFill>
                  <a:srgbClr val="3A4A42"/>
                </a:solidFill>
                <a:latin typeface="Consolas" pitchFamily="34" charset="0"/>
                <a:ea typeface="Consolas" pitchFamily="34" charset="-122"/>
                <a:cs typeface="Consolas" pitchFamily="34" charset="-120"/>
              </a:rPr>
              <a:t>{{1,0},{0,1}}</a:t>
            </a:r>
            <a:endParaRPr lang="en-US" sz="1100" dirty="0"/>
          </a:p>
        </p:txBody>
      </p:sp>
      <p:sp>
        <p:nvSpPr>
          <p:cNvPr id="51" name="!!p08">
            <a:extLst>
              <a:ext uri="{C183D7F6-B498-43B3-948B-1728B52AA6E4}">
                <adec:decorative xmlns:adec="http://schemas.microsoft.com/office/drawing/2017/decorative" val="1"/>
              </a:ext>
            </a:extLst>
          </p:cNvPr>
          <p:cNvSpPr txBox="1"/>
          <p:nvPr/>
        </p:nvSpPr>
        <p:spPr>
          <a:xfrm>
            <a:off x="9098280" y="5669280"/>
            <a:ext cx="679450" cy="236474"/>
          </a:xfrm>
          <a:prstGeom prst="rect">
            <a:avLst/>
          </a:prstGeom>
          <a:noFill/>
          <a:ln/>
        </p:spPr>
        <p:txBody>
          <a:bodyPr wrap="none" lIns="0" tIns="0" rIns="0" bIns="0" rtlCol="0" anchor="ctr"/>
          <a:lstStyle/>
          <a:p>
            <a:pPr indent="0" marL="0">
              <a:buNone/>
            </a:pPr>
            <a:r>
              <a:rPr lang="en-US" sz="1100" dirty="0">
                <a:solidFill>
                  <a:srgbClr val="3A403D"/>
                </a:solidFill>
                <a:latin typeface="Consolas" pitchFamily="34" charset="0"/>
                <a:ea typeface="Consolas" pitchFamily="34" charset="-122"/>
                <a:cs typeface="Consolas" pitchFamily="34" charset="-120"/>
              </a:rPr>
              <a:t>0x1p+53</a:t>
            </a:r>
            <a:endParaRPr lang="en-US" sz="1100" dirty="0"/>
          </a:p>
        </p:txBody>
      </p:sp>
      <p:sp>
        <p:nvSpPr>
          <p:cNvPr id="52" name="!!p09">
            <a:extLst>
              <a:ext uri="{C183D7F6-B498-43B3-948B-1728B52AA6E4}">
                <adec:decorative xmlns:adec="http://schemas.microsoft.com/office/drawing/2017/decorative" val="1"/>
              </a:ext>
            </a:extLst>
          </p:cNvPr>
          <p:cNvSpPr txBox="1"/>
          <p:nvPr/>
        </p:nvSpPr>
        <p:spPr>
          <a:xfrm>
            <a:off x="10652760" y="5669280"/>
            <a:ext cx="1025906" cy="236474"/>
          </a:xfrm>
          <a:prstGeom prst="rect">
            <a:avLst/>
          </a:prstGeom>
          <a:noFill/>
          <a:ln/>
        </p:spPr>
        <p:txBody>
          <a:bodyPr wrap="none" lIns="0" tIns="0" rIns="0" bIns="0" rtlCol="0" anchor="ctr"/>
          <a:lstStyle/>
          <a:p>
            <a:pPr indent="0" marL="0">
              <a:buNone/>
            </a:pPr>
            <a:r>
              <a:rPr lang="en-US" sz="1100" dirty="0">
                <a:solidFill>
                  <a:srgbClr val="34433B"/>
                </a:solidFill>
                <a:latin typeface="Consolas" pitchFamily="34" charset="0"/>
                <a:ea typeface="Consolas" pitchFamily="34" charset="-122"/>
                <a:cs typeface="Consolas" pitchFamily="34" charset="-120"/>
              </a:rPr>
              <a:t>input(int8)</a:t>
            </a:r>
            <a:endParaRPr lang="en-US" sz="1100" dirty="0"/>
          </a:p>
        </p:txBody>
      </p:sp>
      <p:sp>
        <p:nvSpPr>
          <p:cNvPr id="53" name="!!p10">
            <a:extLst>
              <a:ext uri="{C183D7F6-B498-43B3-948B-1728B52AA6E4}">
                <adec:decorative xmlns:adec="http://schemas.microsoft.com/office/drawing/2017/decorative" val="1"/>
              </a:ext>
            </a:extLst>
          </p:cNvPr>
          <p:cNvSpPr txBox="1"/>
          <p:nvPr/>
        </p:nvSpPr>
        <p:spPr>
          <a:xfrm>
            <a:off x="12557455" y="6309360"/>
            <a:ext cx="679450" cy="236474"/>
          </a:xfrm>
          <a:prstGeom prst="rect">
            <a:avLst/>
          </a:prstGeom>
          <a:noFill/>
          <a:ln/>
        </p:spPr>
        <p:txBody>
          <a:bodyPr wrap="none" lIns="0" tIns="0" rIns="0" bIns="0" rtlCol="0" anchor="ctr"/>
          <a:lstStyle/>
          <a:p>
            <a:pPr indent="0" marL="0">
              <a:buNone/>
            </a:pPr>
            <a:r>
              <a:rPr lang="en-US" sz="1100" dirty="0">
                <a:solidFill>
                  <a:srgbClr val="3A4A42"/>
                </a:solidFill>
                <a:latin typeface="Consolas" pitchFamily="34" charset="0"/>
                <a:ea typeface="Consolas" pitchFamily="34" charset="-122"/>
                <a:cs typeface="Consolas" pitchFamily="34" charset="-120"/>
              </a:rPr>
              <a:t>(a+b)+c</a:t>
            </a:r>
            <a:endParaRPr lang="en-US" sz="1100" dirty="0"/>
          </a:p>
        </p:txBody>
      </p:sp>
      <p:sp>
        <p:nvSpPr>
          <p:cNvPr id="54" name="!!p11">
            <a:extLst>
              <a:ext uri="{C183D7F6-B498-43B3-948B-1728B52AA6E4}">
                <adec:decorative xmlns:adec="http://schemas.microsoft.com/office/drawing/2017/decorative" val="1"/>
              </a:ext>
            </a:extLst>
          </p:cNvPr>
          <p:cNvSpPr txBox="1"/>
          <p:nvPr/>
        </p:nvSpPr>
        <p:spPr>
          <a:xfrm>
            <a:off x="-1478280" y="1645920"/>
            <a:ext cx="1112520" cy="236474"/>
          </a:xfrm>
          <a:prstGeom prst="rect">
            <a:avLst/>
          </a:prstGeom>
          <a:noFill/>
          <a:ln/>
        </p:spPr>
        <p:txBody>
          <a:bodyPr wrap="none" lIns="0" tIns="0" rIns="0" bIns="0" rtlCol="0" anchor="ctr"/>
          <a:lstStyle/>
          <a:p>
            <a:pPr indent="0" marL="0">
              <a:buNone/>
            </a:pPr>
            <a:r>
              <a:rPr lang="en-US" sz="1100" dirty="0">
                <a:solidFill>
                  <a:srgbClr val="3A403D"/>
                </a:solidFill>
                <a:latin typeface="Consolas" pitchFamily="34" charset="0"/>
                <a:ea typeface="Consolas" pitchFamily="34" charset="-122"/>
                <a:cs typeface="Consolas" pitchFamily="34" charset="-120"/>
              </a:rPr>
              <a:t>transpose(A)</a:t>
            </a:r>
            <a:endParaRPr lang="en-US" sz="1100" dirty="0"/>
          </a:p>
        </p:txBody>
      </p:sp>
      <p:sp>
        <p:nvSpPr>
          <p:cNvPr id="55" name="!!p12">
            <a:extLst>
              <a:ext uri="{C183D7F6-B498-43B3-948B-1728B52AA6E4}">
                <adec:decorative xmlns:adec="http://schemas.microsoft.com/office/drawing/2017/decorative" val="1"/>
              </a:ext>
            </a:extLst>
          </p:cNvPr>
          <p:cNvSpPr txBox="1"/>
          <p:nvPr/>
        </p:nvSpPr>
        <p:spPr>
          <a:xfrm>
            <a:off x="-1218438" y="5449824"/>
            <a:ext cx="852678" cy="236474"/>
          </a:xfrm>
          <a:prstGeom prst="rect">
            <a:avLst/>
          </a:prstGeom>
          <a:noFill/>
          <a:ln/>
        </p:spPr>
        <p:txBody>
          <a:bodyPr wrap="none" lIns="0" tIns="0" rIns="0" bIns="0" rtlCol="0" anchor="ctr"/>
          <a:lstStyle/>
          <a:p>
            <a:pPr indent="0" marL="0">
              <a:buNone/>
            </a:pPr>
            <a:r>
              <a:rPr lang="en-US" sz="1100" dirty="0">
                <a:solidFill>
                  <a:srgbClr val="34433B"/>
                </a:solidFill>
                <a:latin typeface="Consolas" pitchFamily="34" charset="0"/>
                <a:ea typeface="Consolas" pitchFamily="34" charset="-122"/>
                <a:cs typeface="Consolas" pitchFamily="34" charset="-120"/>
              </a:rPr>
              <a:t>print(R);</a:t>
            </a:r>
            <a:endParaRPr lang="en-US" sz="1100" dirty="0"/>
          </a:p>
        </p:txBody>
      </p:sp>
      <p:sp>
        <p:nvSpPr>
          <p:cNvPr id="56" name="!!p01">
            <a:extLst>
              <a:ext uri="{C183D7F6-B498-43B3-948B-1728B52AA6E4}">
                <adec:decorative xmlns:adec="http://schemas.microsoft.com/office/drawing/2017/decorative" val="1"/>
              </a:ext>
            </a:extLst>
          </p:cNvPr>
          <p:cNvSpPr txBox="1"/>
          <p:nvPr/>
        </p:nvSpPr>
        <p:spPr>
          <a:xfrm>
            <a:off x="-1478280" y="6108192"/>
            <a:ext cx="1112520" cy="236474"/>
          </a:xfrm>
          <a:prstGeom prst="rect">
            <a:avLst/>
          </a:prstGeom>
          <a:noFill/>
          <a:ln/>
        </p:spPr>
        <p:txBody>
          <a:bodyPr wrap="none" lIns="0" tIns="0" rIns="0" bIns="0" rtlCol="0" anchor="ctr"/>
          <a:lstStyle/>
          <a:p>
            <a:pPr indent="0" marL="0">
              <a:buNone/>
            </a:pPr>
            <a:r>
              <a:rPr lang="en-US" sz="1100" dirty="0">
                <a:solidFill>
                  <a:srgbClr val="3A4A42"/>
                </a:solidFill>
                <a:latin typeface="Consolas" pitchFamily="34" charset="0"/>
                <a:ea typeface="Consolas" pitchFamily="34" charset="-122"/>
                <a:cs typeface="Consolas" pitchFamily="34" charset="-120"/>
              </a:rPr>
              <a:t>Matrix&lt;40x2&gt;</a:t>
            </a:r>
            <a:endParaRPr lang="en-US" sz="1100" dirty="0"/>
          </a:p>
        </p:txBody>
      </p:sp>
      <p:sp>
        <p:nvSpPr>
          <p:cNvPr id="57" name="!!p02">
            <a:extLst>
              <a:ext uri="{C183D7F6-B498-43B3-948B-1728B52AA6E4}">
                <adec:decorative xmlns:adec="http://schemas.microsoft.com/office/drawing/2017/decorative" val="1"/>
              </a:ext>
            </a:extLst>
          </p:cNvPr>
          <p:cNvSpPr txBox="1"/>
          <p:nvPr/>
        </p:nvSpPr>
        <p:spPr>
          <a:xfrm>
            <a:off x="-1391666" y="6309360"/>
            <a:ext cx="1025906" cy="236474"/>
          </a:xfrm>
          <a:prstGeom prst="rect">
            <a:avLst/>
          </a:prstGeom>
          <a:noFill/>
          <a:ln/>
        </p:spPr>
        <p:txBody>
          <a:bodyPr wrap="none" lIns="0" tIns="0" rIns="0" bIns="0" rtlCol="0" anchor="ctr"/>
          <a:lstStyle/>
          <a:p>
            <a:pPr indent="0" marL="0">
              <a:buNone/>
            </a:pPr>
            <a:r>
              <a:rPr lang="en-US" sz="1100" dirty="0">
                <a:solidFill>
                  <a:srgbClr val="34433B"/>
                </a:solidFill>
                <a:latin typeface="Consolas" pitchFamily="34" charset="0"/>
                <a:ea typeface="Consolas" pitchFamily="34" charset="-122"/>
                <a:cs typeface="Consolas" pitchFamily="34" charset="-120"/>
              </a:rPr>
              <a:t>A * (B * C)</a:t>
            </a:r>
            <a:endParaRPr lang="en-US" sz="1100" dirty="0"/>
          </a:p>
        </p:txBody>
      </p:sp>
      <p:sp>
        <p:nvSpPr>
          <p:cNvPr id="58" name="!!p03">
            <a:extLst>
              <a:ext uri="{C183D7F6-B498-43B3-948B-1728B52AA6E4}">
                <adec:decorative xmlns:adec="http://schemas.microsoft.com/office/drawing/2017/decorative" val="1"/>
              </a:ext>
            </a:extLst>
          </p:cNvPr>
          <p:cNvSpPr txBox="1"/>
          <p:nvPr/>
        </p:nvSpPr>
        <p:spPr>
          <a:xfrm>
            <a:off x="8458200" y="4572000"/>
            <a:ext cx="451104" cy="252984"/>
          </a:xfrm>
          <a:prstGeom prst="rect">
            <a:avLst/>
          </a:prstGeom>
          <a:noFill/>
          <a:ln/>
        </p:spPr>
        <p:txBody>
          <a:bodyPr wrap="none" lIns="0" tIns="0" rIns="0" bIns="0" rtlCol="0" anchor="ctr"/>
          <a:lstStyle/>
          <a:p>
            <a:pPr indent="0" marL="0">
              <a:buNone/>
            </a:pPr>
            <a:r>
              <a:rPr lang="en-US" sz="1200" dirty="0">
                <a:solidFill>
                  <a:srgbClr val="3A4A42"/>
                </a:solidFill>
                <a:latin typeface="Consolas" pitchFamily="34" charset="0"/>
                <a:ea typeface="Consolas" pitchFamily="34" charset="-122"/>
                <a:cs typeface="Consolas" pitchFamily="34" charset="-120"/>
              </a:rPr>
              <a:t>2^53</a:t>
            </a:r>
            <a:endParaRPr lang="en-US" sz="1200" dirty="0"/>
          </a:p>
        </p:txBody>
      </p:sp>
      <p:sp>
        <p:nvSpPr>
          <p:cNvPr id="59" name="!!p04">
            <a:extLst>
              <a:ext uri="{C183D7F6-B498-43B3-948B-1728B52AA6E4}">
                <adec:decorative xmlns:adec="http://schemas.microsoft.com/office/drawing/2017/decorative" val="1"/>
              </a:ext>
            </a:extLst>
          </p:cNvPr>
          <p:cNvSpPr txBox="1"/>
          <p:nvPr/>
        </p:nvSpPr>
        <p:spPr>
          <a:xfrm>
            <a:off x="-871982" y="6309360"/>
            <a:ext cx="506222" cy="236474"/>
          </a:xfrm>
          <a:prstGeom prst="rect">
            <a:avLst/>
          </a:prstGeom>
          <a:noFill/>
          <a:ln/>
        </p:spPr>
        <p:txBody>
          <a:bodyPr wrap="none" lIns="0" tIns="0" rIns="0" bIns="0" rtlCol="0" anchor="ctr"/>
          <a:lstStyle/>
          <a:p>
            <a:pPr indent="0" marL="0">
              <a:buNone/>
            </a:pPr>
            <a:r>
              <a:rPr lang="en-US" sz="1100" dirty="0">
                <a:solidFill>
                  <a:srgbClr val="34433B"/>
                </a:solidFill>
                <a:latin typeface="Consolas" pitchFamily="34" charset="0"/>
                <a:ea typeface="Consolas" pitchFamily="34" charset="-122"/>
                <a:cs typeface="Consolas" pitchFamily="34" charset="-120"/>
              </a:rPr>
              <a:t>fl(x)</a:t>
            </a:r>
            <a:endParaRPr lang="en-US" sz="1100" dirty="0"/>
          </a:p>
        </p:txBody>
      </p:sp>
      <p:sp>
        <p:nvSpPr>
          <p:cNvPr id="60" name="!!p05">
            <a:extLst>
              <a:ext uri="{C183D7F6-B498-43B3-948B-1728B52AA6E4}">
                <adec:decorative xmlns:adec="http://schemas.microsoft.com/office/drawing/2017/decorative" val="1"/>
              </a:ext>
            </a:extLst>
          </p:cNvPr>
          <p:cNvSpPr txBox="1"/>
          <p:nvPr/>
        </p:nvSpPr>
        <p:spPr>
          <a:xfrm>
            <a:off x="12557455" y="6108192"/>
            <a:ext cx="766064" cy="236474"/>
          </a:xfrm>
          <a:prstGeom prst="rect">
            <a:avLst/>
          </a:prstGeom>
          <a:noFill/>
          <a:ln/>
        </p:spPr>
        <p:txBody>
          <a:bodyPr wrap="none" lIns="0" tIns="0" rIns="0" bIns="0" rtlCol="0" anchor="ctr"/>
          <a:lstStyle/>
          <a:p>
            <a:pPr indent="0" marL="0">
              <a:buNone/>
            </a:pPr>
            <a:r>
              <a:rPr lang="en-US" sz="1100" dirty="0">
                <a:solidFill>
                  <a:srgbClr val="3A403D"/>
                </a:solidFill>
                <a:latin typeface="Consolas" pitchFamily="34" charset="0"/>
                <a:ea typeface="Consolas" pitchFamily="34" charset="-122"/>
                <a:cs typeface="Consolas" pitchFamily="34" charset="-120"/>
              </a:rPr>
              <a:t>-0 != +0</a:t>
            </a:r>
            <a:endParaRPr lang="en-US" sz="1100" dirty="0"/>
          </a:p>
        </p:txBody>
      </p:sp>
      <p:sp>
        <p:nvSpPr>
          <p:cNvPr id="61" name="!!p06">
            <a:extLst>
              <a:ext uri="{C183D7F6-B498-43B3-948B-1728B52AA6E4}">
                <adec:decorative xmlns:adec="http://schemas.microsoft.com/office/drawing/2017/decorative" val="1"/>
              </a:ext>
            </a:extLst>
          </p:cNvPr>
          <p:cNvSpPr txBox="1"/>
          <p:nvPr/>
        </p:nvSpPr>
        <p:spPr>
          <a:xfrm>
            <a:off x="12557455" y="6309360"/>
            <a:ext cx="1199134" cy="236474"/>
          </a:xfrm>
          <a:prstGeom prst="rect">
            <a:avLst/>
          </a:prstGeom>
          <a:noFill/>
          <a:ln/>
        </p:spPr>
        <p:txBody>
          <a:bodyPr wrap="none" lIns="0" tIns="0" rIns="0" bIns="0" rtlCol="0" anchor="ctr"/>
          <a:lstStyle/>
          <a:p>
            <a:pPr indent="0" marL="0">
              <a:buNone/>
            </a:pPr>
            <a:r>
              <a:rPr lang="en-US" sz="1100" dirty="0">
                <a:solidFill>
                  <a:srgbClr val="34433B"/>
                </a:solidFill>
                <a:latin typeface="Consolas" pitchFamily="34" charset="0"/>
                <a:ea typeface="Consolas" pitchFamily="34" charset="-122"/>
                <a:cs typeface="Consolas" pitchFamily="34" charset="-120"/>
              </a:rPr>
              <a:t>inf * 0 = NaN</a:t>
            </a:r>
            <a:endParaRPr lang="en-US" sz="1100" dirty="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800">
        <p159:morph option="byObject"/>
      </p:transition>
    </mc:Choice>
    <mc:Fallback>
      <p:transition spd="slow">
        <p:fade/>
      </p:transition>
    </mc:Fallback>
  </mc:AlternateContent>
</p:sld>
</file>

<file path=ppt/theme/theme1.xml><?xml version="1.0" encoding="utf-8"?>
<a:theme xmlns:a="http://schemas.openxmlformats.org/drawingml/2006/main" name="MatrixLang Noir">
  <a:themeElements>
    <a:clrScheme name="MatrixLang Noir">
      <a:dk1>
        <a:srgbClr val="000000"/>
      </a:dk1>
      <a:lt1>
        <a:srgbClr val="F2F4F3"/>
      </a:lt1>
      <a:dk2>
        <a:srgbClr val="16291F"/>
      </a:dk2>
      <a:lt2>
        <a:srgbClr val="D5DAD7"/>
      </a:lt2>
      <a:accent1>
        <a:srgbClr val="52B788"/>
      </a:accent1>
      <a:accent2>
        <a:srgbClr val="D9A54C"/>
      </a:accent2>
      <a:accent3>
        <a:srgbClr val="D96C6C"/>
      </a:accent3>
      <a:accent4>
        <a:srgbClr val="8E9590"/>
      </a:accent4>
      <a:accent5>
        <a:srgbClr val="3E8F68"/>
      </a:accent5>
      <a:accent6>
        <a:srgbClr val="16291F"/>
      </a:accent6>
      <a:hlink>
        <a:srgbClr val="52B788"/>
      </a:hlink>
      <a:folHlink>
        <a:srgbClr val="3E8F68"/>
      </a:folHlink>
    </a:clrScheme>
    <a:fontScheme name="MatrixLang Noir">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School of Computer Science and Engineering, VIT Vellore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MatrixLang: implementation review</dc:title>
  <dc:subject>A dimension-aware compiler that proves which floating-point guarantee each optimization keeps</dc:subject>
  <dc:creator>A Aswanth Raj</dc:creator>
  <cp:lastModifiedBy>A Aswanth Raj</cp:lastModifiedBy>
  <cp:revision>1</cp:revision>
  <dcterms:created xsi:type="dcterms:W3CDTF">2026-10-08T07:22:12Z</dcterms:created>
  <dcterms:modified xsi:type="dcterms:W3CDTF">2026-10-08T07:22:12Z</dcterms:modified>
</cp:coreProperties>
</file>