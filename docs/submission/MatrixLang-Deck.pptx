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2"/>
          <p:cNvSpPr txBox="1"/>
          <p:nvPr/>
        </p:nvSpPr>
        <p:spPr>
          <a:xfrm>
            <a:off x="558800" y="381000"/>
            <a:ext cx="812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70" cap="all">
                <a:solidFill>
                  <a:srgbClr val="0E7C6B"/>
                </a:solidFill>
                <a:latin typeface="Segoe UI"/>
                <a:cs typeface="Segoe UI"/>
              </a:rPr>
              <a:t>Compiler Design Laboratory   ·   Individual Project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558800" y="609600"/>
            <a:ext cx="711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200"/>
              </a:lnSpc>
              <a:buNone/>
            </a:pPr>
            <a:r>
              <a:rPr lang="en-US" sz="4600" dirty="0" b="1">
                <a:solidFill>
                  <a:srgbClr val="14261F"/>
                </a:solidFill>
                <a:latin typeface="Georgia"/>
                <a:cs typeface="Georgia"/>
              </a:rPr>
              <a:t>MatrixLang</a:t>
            </a:r>
          </a:p>
        </p:txBody>
      </p:sp>
      <p:sp>
        <p:nvSpPr>
          <p:cNvPr id="4" name="shape4"/>
          <p:cNvSpPr txBox="1"/>
          <p:nvPr/>
        </p:nvSpPr>
        <p:spPr>
          <a:xfrm>
            <a:off x="558800" y="1422400"/>
            <a:ext cx="660400" cy="4445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" name="text5"/>
          <p:cNvSpPr txBox="1"/>
          <p:nvPr/>
        </p:nvSpPr>
        <p:spPr>
          <a:xfrm>
            <a:off x="558800" y="15748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00"/>
              </a:lnSpc>
              <a:buNone/>
            </a:pPr>
            <a:r>
              <a:rPr lang="en-US" sz="1450" dirty="0">
                <a:solidFill>
                  <a:srgbClr val="14261F"/>
                </a:solidFill>
                <a:latin typeface="Georgia"/>
                <a:cs typeface="Georgia"/>
              </a:rPr>
              <a:t>A Dimension-Aware Optimizing Compiler for a Matrix Language</a:t>
            </a:r>
          </a:p>
        </p:txBody>
      </p:sp>
      <p:sp>
        <p:nvSpPr>
          <p:cNvPr id="6" name="text6"/>
          <p:cNvSpPr txBox="1"/>
          <p:nvPr/>
        </p:nvSpPr>
        <p:spPr>
          <a:xfrm>
            <a:off x="558800" y="1930400"/>
            <a:ext cx="685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7C8B85"/>
                </a:solidFill>
                <a:latin typeface="Segoe UI"/>
                <a:cs typeface="Segoe UI"/>
              </a:rPr>
              <a:t>Matrix dimensions are part of the type system, so shape errors become compile-time errors and matrix algebra becomes an optimization.</a:t>
            </a:r>
          </a:p>
        </p:txBody>
      </p:sp>
      <p:sp>
        <p:nvSpPr>
          <p:cNvPr id="7" name="panel7"/>
          <p:cNvSpPr txBox="1"/>
          <p:nvPr/>
        </p:nvSpPr>
        <p:spPr>
          <a:xfrm>
            <a:off x="8128000" y="584200"/>
            <a:ext cx="3505200" cy="1168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8331200" y="7366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10" cap="all">
                <a:solidFill>
                  <a:srgbClr val="0E7C6B"/>
                </a:solidFill>
                <a:latin typeface="Segoe UI"/>
                <a:cs typeface="Segoe UI"/>
              </a:rPr>
              <a:t>Presented by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8331200" y="965200"/>
            <a:ext cx="3098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500" dirty="0" b="1">
                <a:solidFill>
                  <a:srgbClr val="14261F"/>
                </a:solidFill>
                <a:latin typeface="Georgia"/>
                <a:cs typeface="Georgia"/>
              </a:rPr>
              <a:t>A Aswanth Raj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8331200" y="1270000"/>
            <a:ext cx="3098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C8B85"/>
                </a:solidFill>
                <a:latin typeface="Segoe UI"/>
                <a:cs typeface="Segoe UI"/>
              </a:rPr>
              <a:t>Written in C with Flex and Bison. No third-party libraries.</a:t>
            </a:r>
          </a:p>
        </p:txBody>
      </p:sp>
      <p:sp>
        <p:nvSpPr>
          <p:cNvPr id="11" name="panel11"/>
          <p:cNvSpPr txBox="1"/>
          <p:nvPr/>
        </p:nvSpPr>
        <p:spPr>
          <a:xfrm>
            <a:off x="558800" y="2540000"/>
            <a:ext cx="5029200" cy="309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text12"/>
          <p:cNvSpPr txBox="1"/>
          <p:nvPr/>
        </p:nvSpPr>
        <p:spPr>
          <a:xfrm>
            <a:off x="723900" y="2641600"/>
            <a:ext cx="469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9E2B3F"/>
                </a:solidFill>
                <a:latin typeface="Segoe UI"/>
                <a:cs typeface="Segoe UI"/>
              </a:rPr>
              <a:t>Today   ·   the error arrives at runtime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736600" y="2895600"/>
            <a:ext cx="46736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0"/>
              </a:lnSpc>
              <a:spcAft>
                <a:spcPts val="500"/>
              </a:spcAft>
              <a:buNone/>
            </a:pP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C / Java   </a:t>
            </a:r>
            <a:r>
              <a:rPr lang="en-US" sz="880" dirty="0">
                <a:solidFill>
                  <a:srgbClr val="3F4F49"/>
                </a:solidFill>
                <a:latin typeface="Segoe UI"/>
                <a:cs typeface="Segoe UI"/>
              </a:rPr>
              <a:t>matrix compatibility is not a rule of the language, so whatever check exists is one the program wrote.</a:t>
            </a:r>
          </a:p>
          <a:p>
            <a:pPr algn="l">
              <a:lnSpc>
                <a:spcPts val="1220"/>
              </a:lnSpc>
              <a:spcAft>
                <a:spcPts val="500"/>
              </a:spcAft>
              <a:buNone/>
            </a:pP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NumPy   </a:t>
            </a:r>
            <a:r>
              <a:rPr lang="en-US" sz="880" dirty="0">
                <a:solidFill>
                  <a:srgbClr val="3F4F49"/>
                </a:solidFill>
                <a:latin typeface="Segoe UI"/>
                <a:cs typeface="Segoe UI"/>
              </a:rPr>
              <a:t>the check exists, but it runs when the operation runs.</a:t>
            </a:r>
          </a:p>
        </p:txBody>
      </p:sp>
      <p:sp>
        <p:nvSpPr>
          <p:cNvPr id="14" name="panel14"/>
          <p:cNvSpPr txBox="1"/>
          <p:nvPr/>
        </p:nvSpPr>
        <p:spPr>
          <a:xfrm>
            <a:off x="736600" y="3937000"/>
            <a:ext cx="4673600" cy="10922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736600" y="3937000"/>
            <a:ext cx="4673600" cy="1092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7E968D"/>
                </a:solidFill>
                <a:latin typeface="Consolas"/>
                <a:cs typeface="Consolas"/>
              </a:rPr>
              <a:t>&gt;&gt;&gt; A.shape, B.shape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((2, 3), (5, 4))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7E968D"/>
                </a:solidFill>
                <a:latin typeface="Consolas"/>
                <a:cs typeface="Consolas"/>
              </a:rPr>
              <a:t>&gt;&gt;&gt; A @ B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F09AA8"/>
                </a:solidFill>
                <a:latin typeface="Consolas"/>
                <a:cs typeface="Consolas"/>
              </a:rPr>
              <a:t>ValueError: matmul: Input operand 1 has a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F09AA8"/>
                </a:solidFill>
                <a:latin typeface="Consolas"/>
                <a:cs typeface="Consolas"/>
              </a:rPr>
              <a:t>mismatch in its core dimension 0 ...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F09AA8"/>
                </a:solidFill>
                <a:latin typeface="Consolas"/>
                <a:cs typeface="Consolas"/>
              </a:rPr>
              <a:t>(size 5 is different from 3)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736600" y="5130800"/>
            <a:ext cx="4673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60" dirty="0" b="1">
                <a:solidFill>
                  <a:srgbClr val="9E2B3F"/>
                </a:solidFill>
                <a:latin typeface="Segoe UI"/>
                <a:cs typeface="Segoe UI"/>
              </a:rPr>
              <a:t>Found only when that line executes.  </a:t>
            </a:r>
            <a:r>
              <a:rPr lang="en-US" sz="860" dirty="0">
                <a:solidFill>
                  <a:srgbClr val="3F4F49"/>
                </a:solidFill>
                <a:latin typeface="Segoe UI"/>
                <a:cs typeface="Segoe UI"/>
              </a:rPr>
              <a:t>Possibly after an expensive setup; possibly never, if the shapes happen to line up.</a:t>
            </a:r>
          </a:p>
        </p:txBody>
      </p:sp>
      <p:sp>
        <p:nvSpPr>
          <p:cNvPr id="17" name="arrow17"/>
          <p:cNvSpPr txBox="1"/>
          <p:nvPr/>
        </p:nvSpPr>
        <p:spPr>
          <a:xfrm>
            <a:off x="5740400" y="3810000"/>
            <a:ext cx="711200" cy="508000"/>
          </a:xfrm>
          <a:prstGeom prst="rightArrow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panel18"/>
          <p:cNvSpPr txBox="1"/>
          <p:nvPr/>
        </p:nvSpPr>
        <p:spPr>
          <a:xfrm>
            <a:off x="6604000" y="2540000"/>
            <a:ext cx="5029200" cy="309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769100" y="2641600"/>
            <a:ext cx="469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MatrixLang   ·   it arrives at compile time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6781800" y="2895600"/>
            <a:ext cx="46736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20"/>
              </a:lnSpc>
              <a:spcAft>
                <a:spcPts val="500"/>
              </a:spcAft>
              <a:buNone/>
            </a:pP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A type carries its shape.   </a:t>
            </a:r>
            <a:r>
              <a:rPr lang="en-US" sz="880" dirty="0">
                <a:solidFill>
                  <a:srgbClr val="3F4F49"/>
                </a:solidFill>
                <a:latin typeface="Segoe UI"/>
                <a:cs typeface="Segoe UI"/>
              </a:rPr>
              <a:t>A is Matrix&lt;2x3&gt; and B is Matrix&lt;5x4&gt;. Those are different types.</a:t>
            </a:r>
          </a:p>
          <a:p>
            <a:pPr algn="l">
              <a:lnSpc>
                <a:spcPts val="1220"/>
              </a:lnSpc>
              <a:spcAft>
                <a:spcPts val="500"/>
              </a:spcAft>
              <a:buNone/>
            </a:pP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The shape is a fact about the text.   </a:t>
            </a:r>
            <a:r>
              <a:rPr lang="en-US" sz="880" dirty="0">
                <a:solidFill>
                  <a:srgbClr val="3F4F49"/>
                </a:solidFill>
                <a:latin typeface="Segoe UI"/>
                <a:cs typeface="Segoe UI"/>
              </a:rPr>
              <a:t>That A * B is impossible follows from the program, not from its input, so it can be settled before anything runs.</a:t>
            </a:r>
          </a:p>
        </p:txBody>
      </p:sp>
      <p:sp>
        <p:nvSpPr>
          <p:cNvPr id="21" name="panel21"/>
          <p:cNvSpPr txBox="1"/>
          <p:nvPr/>
        </p:nvSpPr>
        <p:spPr>
          <a:xfrm>
            <a:off x="6781800" y="3937000"/>
            <a:ext cx="4673600" cy="10922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6781800" y="3937000"/>
            <a:ext cx="4673600" cy="1092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F09AA8"/>
                </a:solidFill>
                <a:latin typeface="Consolas"/>
                <a:cs typeface="Consolas"/>
              </a:rPr>
              <a:t>9:7: error [semantic] cannot multiply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F09AA8"/>
                </a:solidFill>
                <a:latin typeface="Consolas"/>
                <a:cs typeface="Consolas"/>
              </a:rPr>
              <a:t>     Matrix&lt;2x3&gt; by Matrix&lt;5x4&gt;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left   : A -&gt; Matrix&lt;2x3&gt;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right  : B -&gt; Matrix&lt;5x4&gt;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5FD3BC"/>
                </a:solidFill>
                <a:latin typeface="Consolas"/>
                <a:cs typeface="Consolas"/>
              </a:rPr>
              <a:t>   rule   : columns(left) must equal rows(right)</a:t>
            </a:r>
          </a:p>
          <a:p>
            <a:pPr algn="l">
              <a:lnSpc>
                <a:spcPts val="1040"/>
              </a:lnSpc>
              <a:buNone/>
            </a:pPr>
            <a:r>
              <a:rPr lang="en-US" sz="800" dirty="0">
                <a:solidFill>
                  <a:srgbClr val="5FD3BC"/>
                </a:solidFill>
                <a:latin typeface="Consolas"/>
                <a:cs typeface="Consolas"/>
              </a:rPr>
              <a:t>   found  : 3 != 5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6781800" y="5130800"/>
            <a:ext cx="4673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60" dirty="0" b="1">
                <a:solidFill>
                  <a:srgbClr val="0E7C6B"/>
                </a:solidFill>
                <a:latin typeface="Segoe UI"/>
                <a:cs typeface="Segoe UI"/>
              </a:rPr>
              <a:t>No target code is generated.  </a:t>
            </a:r>
            <a:r>
              <a:rPr lang="en-US" sz="860" dirty="0">
                <a:solidFill>
                  <a:srgbClr val="3F4F49"/>
                </a:solidFill>
                <a:latin typeface="Segoe UI"/>
                <a:cs typeface="Segoe UI"/>
              </a:rPr>
              <a:t>Emitting it would mean emitting a multiplication the machine cannot perform. Exit status 1.</a:t>
            </a:r>
          </a:p>
        </p:txBody>
      </p:sp>
      <p:sp>
        <p:nvSpPr>
          <p:cNvPr id="24" name="text24"/>
          <p:cNvSpPr txBox="1"/>
          <p:nvPr/>
        </p:nvSpPr>
        <p:spPr>
          <a:xfrm>
            <a:off x="558800" y="5791200"/>
            <a:ext cx="11074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7C8B85"/>
                </a:solidFill>
                <a:latin typeface="Segoe UI"/>
                <a:cs typeface="Segoe UI"/>
              </a:rPr>
              <a:t>Build and demonstrate:   </a:t>
            </a:r>
            <a:r>
              <a:rPr lang="en-US" sz="840" dirty="0" b="1">
                <a:solidFill>
                  <a:srgbClr val="14261F"/>
                </a:solidFill>
                <a:latin typeface="Consolas"/>
                <a:cs typeface="Consolas"/>
              </a:rPr>
              <a:t>make   ·   make test   ·   make demo1  demo2  demo3</a:t>
            </a:r>
          </a:p>
        </p:txBody>
      </p:sp>
      <p:sp>
        <p:nvSpPr>
          <p:cNvPr id="25" name="panel25"/>
          <p:cNvSpPr txBox="1"/>
          <p:nvPr/>
        </p:nvSpPr>
        <p:spPr>
          <a:xfrm>
            <a:off x="558800" y="6197600"/>
            <a:ext cx="11074400" cy="406400"/>
          </a:xfrm>
          <a:prstGeom prst="roundRect">
            <a:avLst>
              <a:gd name="adj" fmla="val 2000"/>
            </a:avLst>
          </a:prstGeom>
          <a:solidFill>
            <a:srgbClr val="E4F3F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shape26"/>
          <p:cNvSpPr txBox="1"/>
          <p:nvPr/>
        </p:nvSpPr>
        <p:spPr>
          <a:xfrm>
            <a:off x="558800" y="6197600"/>
            <a:ext cx="44450" cy="4064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7" name="text27"/>
          <p:cNvSpPr txBox="1"/>
          <p:nvPr/>
        </p:nvSpPr>
        <p:spPr>
          <a:xfrm>
            <a:off x="774700" y="6197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 b="1" spc="130" cap="all">
                <a:solidFill>
                  <a:srgbClr val="0E7C6B"/>
                </a:solidFill>
                <a:latin typeface="Segoe UI"/>
                <a:cs typeface="Segoe UI"/>
              </a:rPr>
              <a:t>Key takeaway     </a:t>
            </a:r>
            <a:r>
              <a:rPr lang="en-US" sz="1050" dirty="0">
                <a:solidFill>
                  <a:srgbClr val="14261F"/>
                </a:solidFill>
                <a:latin typeface="Segoe UI"/>
                <a:cs typeface="Segoe UI"/>
              </a:rPr>
              <a:t>MatrixLang moves the matrix shape check from run time to compile time, and then reuses the same information to optimize.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2"/>
          <p:cNvSpPr txBox="1"/>
          <p:nvPr/>
        </p:nvSpPr>
        <p:spPr>
          <a:xfrm>
            <a:off x="558800" y="279400"/>
            <a:ext cx="812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70" cap="all">
                <a:solidFill>
                  <a:srgbClr val="0E7C6B"/>
                </a:solidFill>
                <a:latin typeface="Segoe UI"/>
                <a:cs typeface="Segoe UI"/>
              </a:rPr>
              <a:t>02   ·   The Language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10617200" y="279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800" dirty="0" b="1" spc="100">
                <a:solidFill>
                  <a:srgbClr val="7C8B85"/>
                </a:solidFill>
                <a:latin typeface="Segoe UI"/>
                <a:cs typeface="Segoe UI"/>
              </a:rPr>
              <a:t>2 / 8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558800" y="482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14261F"/>
                </a:solidFill>
                <a:latin typeface="Georgia"/>
                <a:cs typeface="Georgia"/>
              </a:rPr>
              <a:t>What MatrixLang Understands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558800" y="9271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7C8B85"/>
                </a:solidFill>
                <a:latin typeface="Segoe UI"/>
                <a:cs typeface="Segoe UI"/>
              </a:rPr>
              <a:t>Two kinds of value, and a type that carries the shape rather than just the name.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558800" y="1257300"/>
            <a:ext cx="11074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panel7"/>
          <p:cNvSpPr txBox="1"/>
          <p:nvPr/>
        </p:nvSpPr>
        <p:spPr>
          <a:xfrm>
            <a:off x="558800" y="1473200"/>
            <a:ext cx="3810000" cy="1930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23900" y="157480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The type lattice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736600" y="1828800"/>
            <a:ext cx="1193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14261F"/>
                </a:solidFill>
                <a:latin typeface="Consolas"/>
                <a:cs typeface="Consolas"/>
              </a:rPr>
              <a:t>Scalar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1930400" y="1828800"/>
            <a:ext cx="2260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3F4F49"/>
                </a:solidFill>
                <a:latin typeface="Segoe UI"/>
                <a:cs typeface="Segoe UI"/>
              </a:rPr>
              <a:t>one double-precision number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736600" y="2209800"/>
            <a:ext cx="1193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14261F"/>
                </a:solidFill>
                <a:latin typeface="Consolas"/>
                <a:cs typeface="Consolas"/>
              </a:rPr>
              <a:t>Matrix&lt;r,c&gt;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1930400" y="2209800"/>
            <a:ext cx="2260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>
                <a:solidFill>
                  <a:srgbClr val="3F4F49"/>
                </a:solidFill>
                <a:latin typeface="Segoe UI"/>
                <a:cs typeface="Segoe UI"/>
              </a:rPr>
              <a:t>r rows, c columns, both fixed at compile time</a:t>
            </a:r>
          </a:p>
        </p:txBody>
      </p:sp>
      <p:sp>
        <p:nvSpPr>
          <p:cNvPr id="13" name="panel13"/>
          <p:cNvSpPr txBox="1"/>
          <p:nvPr/>
        </p:nvSpPr>
        <p:spPr>
          <a:xfrm>
            <a:off x="736600" y="2692400"/>
            <a:ext cx="3454400" cy="533400"/>
          </a:xfrm>
          <a:prstGeom prst="roundRect">
            <a:avLst>
              <a:gd name="adj" fmla="val 2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736600" y="2692400"/>
            <a:ext cx="3454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B4690E"/>
                </a:solidFill>
                <a:latin typeface="Consolas"/>
                <a:cs typeface="Consolas"/>
              </a:rPr>
              <a:t>Matrix&lt;2x3&gt;</a:t>
            </a:r>
            <a:r>
              <a:rPr lang="en-US" sz="940" dirty="0" b="1">
                <a:solidFill>
                  <a:srgbClr val="B4690E"/>
                </a:solidFill>
                <a:latin typeface="Segoe UI"/>
                <a:cs typeface="Segoe UI"/>
              </a:rPr>
              <a:t>  ≠  </a:t>
            </a:r>
            <a:r>
              <a:rPr lang="en-US" sz="940" dirty="0" b="1">
                <a:solidFill>
                  <a:srgbClr val="B4690E"/>
                </a:solidFill>
                <a:latin typeface="Consolas"/>
                <a:cs typeface="Consolas"/>
              </a:rPr>
              <a:t>Matrix&lt;3x2&gt;</a:t>
            </a:r>
          </a:p>
          <a:p>
            <a:pPr algn="ctr">
              <a:lnSpc>
                <a:spcPts val="1100"/>
              </a:lnSpc>
              <a:buNone/>
            </a:pPr>
            <a:r>
              <a:rPr lang="en-US" sz="819" dirty="0" i="1">
                <a:solidFill>
                  <a:srgbClr val="3F4F49"/>
                </a:solidFill>
                <a:latin typeface="Segoe UI"/>
                <a:cs typeface="Segoe UI"/>
              </a:rPr>
              <a:t>Different types, not one type with different contents.</a:t>
            </a:r>
          </a:p>
        </p:txBody>
      </p:sp>
      <p:sp>
        <p:nvSpPr>
          <p:cNvPr id="15" name="panel15"/>
          <p:cNvSpPr txBox="1"/>
          <p:nvPr/>
        </p:nvSpPr>
        <p:spPr>
          <a:xfrm>
            <a:off x="558800" y="3530600"/>
            <a:ext cx="3810000" cy="254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6" name="text16"/>
          <p:cNvSpPr txBox="1"/>
          <p:nvPr/>
        </p:nvSpPr>
        <p:spPr>
          <a:xfrm>
            <a:off x="723900" y="363220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Scope of the language</a:t>
            </a:r>
          </a:p>
        </p:txBody>
      </p:sp>
      <p:sp>
        <p:nvSpPr>
          <p:cNvPr id="17" name="panel17"/>
          <p:cNvSpPr txBox="1"/>
          <p:nvPr/>
        </p:nvSpPr>
        <p:spPr>
          <a:xfrm>
            <a:off x="736600" y="3886200"/>
            <a:ext cx="965200" cy="190500"/>
          </a:xfrm>
          <a:prstGeom prst="roundRect">
            <a:avLst>
              <a:gd name="adj" fmla="val 14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text18"/>
          <p:cNvSpPr txBox="1"/>
          <p:nvPr/>
        </p:nvSpPr>
        <p:spPr>
          <a:xfrm>
            <a:off x="736600" y="3886200"/>
            <a:ext cx="965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780" dirty="0" b="1" spc="90" cap="all">
                <a:solidFill>
                  <a:srgbClr val="FFFFFF"/>
                </a:solidFill>
                <a:latin typeface="Segoe UI"/>
                <a:cs typeface="Segoe UI"/>
              </a:rPr>
              <a:t>working now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736600" y="4140200"/>
            <a:ext cx="3454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spcAft>
                <a:spcPts val="250"/>
              </a:spcAft>
              <a:buNone/>
            </a:pPr>
            <a:r>
              <a:rPr lang="en-US" sz="850" dirty="0" b="1">
                <a:solidFill>
                  <a:srgbClr val="0E7C6B"/>
                </a:solidFill>
                <a:latin typeface="Segoe UI"/>
                <a:cs typeface="Segoe UI"/>
              </a:rPr>
              <a:t>●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declaration, assignment, print</a:t>
            </a:r>
          </a:p>
          <a:p>
            <a:pPr algn="l">
              <a:lnSpc>
                <a:spcPts val="1140"/>
              </a:lnSpc>
              <a:spcAft>
                <a:spcPts val="250"/>
              </a:spcAft>
              <a:buNone/>
            </a:pPr>
            <a:r>
              <a:rPr lang="en-US" sz="850" dirty="0" b="1">
                <a:solidFill>
                  <a:srgbClr val="0E7C6B"/>
                </a:solidFill>
                <a:latin typeface="Segoe UI"/>
                <a:cs typeface="Segoe UI"/>
              </a:rPr>
              <a:t>●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+   -   *   unary -   transpose()</a:t>
            </a:r>
          </a:p>
          <a:p>
            <a:pPr algn="l">
              <a:lnSpc>
                <a:spcPts val="1140"/>
              </a:lnSpc>
              <a:spcAft>
                <a:spcPts val="250"/>
              </a:spcAft>
              <a:buNone/>
            </a:pPr>
            <a:r>
              <a:rPr lang="en-US" sz="850" dirty="0" b="1">
                <a:solidFill>
                  <a:srgbClr val="0E7C6B"/>
                </a:solidFill>
                <a:latin typeface="Segoe UI"/>
                <a:cs typeface="Segoe UI"/>
              </a:rPr>
              <a:t>●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matrix literals, identity(), zeros(), ones()</a:t>
            </a:r>
          </a:p>
          <a:p>
            <a:pPr algn="l">
              <a:lnSpc>
                <a:spcPts val="1140"/>
              </a:lnSpc>
              <a:spcAft>
                <a:spcPts val="250"/>
              </a:spcAft>
              <a:buNone/>
            </a:pPr>
            <a:r>
              <a:rPr lang="en-US" sz="850" dirty="0" b="1">
                <a:solidFill>
                  <a:srgbClr val="0E7C6B"/>
                </a:solidFill>
                <a:latin typeface="Segoe UI"/>
                <a:cs typeface="Segoe UI"/>
              </a:rPr>
              <a:t>●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scalar-matrix scaling</a:t>
            </a:r>
          </a:p>
        </p:txBody>
      </p:sp>
      <p:sp>
        <p:nvSpPr>
          <p:cNvPr id="20" name="panel20"/>
          <p:cNvSpPr txBox="1"/>
          <p:nvPr/>
        </p:nvSpPr>
        <p:spPr>
          <a:xfrm>
            <a:off x="736600" y="4953000"/>
            <a:ext cx="711200" cy="190500"/>
          </a:xfrm>
          <a:prstGeom prst="roundRect">
            <a:avLst>
              <a:gd name="adj" fmla="val 14000"/>
            </a:avLst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text21"/>
          <p:cNvSpPr txBox="1"/>
          <p:nvPr/>
        </p:nvSpPr>
        <p:spPr>
          <a:xfrm>
            <a:off x="736600" y="4953000"/>
            <a:ext cx="711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780" dirty="0" b="1" spc="90" cap="all">
                <a:solidFill>
                  <a:srgbClr val="FFFFFF"/>
                </a:solidFill>
                <a:latin typeface="Segoe UI"/>
                <a:cs typeface="Segoe UI"/>
              </a:rPr>
              <a:t>planned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736600" y="5207000"/>
            <a:ext cx="3454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spcAft>
                <a:spcPts val="250"/>
              </a:spcAft>
              <a:buNone/>
            </a:pPr>
            <a:r>
              <a:rPr lang="en-US" sz="850" dirty="0" b="1">
                <a:solidFill>
                  <a:srgbClr val="7C8B85"/>
                </a:solidFill>
                <a:latin typeface="Segoe UI"/>
                <a:cs typeface="Segoe UI"/>
              </a:rPr>
              <a:t>●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if / while, then functions</a:t>
            </a:r>
          </a:p>
          <a:p>
            <a:pPr algn="l">
              <a:lnSpc>
                <a:spcPts val="1140"/>
              </a:lnSpc>
              <a:spcAft>
                <a:spcPts val="250"/>
              </a:spcAft>
              <a:buNone/>
            </a:pPr>
            <a:r>
              <a:rPr lang="en-US" sz="850" dirty="0" b="1">
                <a:solidFill>
                  <a:srgbClr val="7C8B85"/>
                </a:solidFill>
                <a:latin typeface="Segoe UI"/>
                <a:cs typeface="Segoe UI"/>
              </a:rPr>
              <a:t>●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matrix chain ordering</a:t>
            </a:r>
          </a:p>
        </p:txBody>
      </p:sp>
      <p:sp>
        <p:nvSpPr>
          <p:cNvPr id="23" name="panel23"/>
          <p:cNvSpPr txBox="1"/>
          <p:nvPr/>
        </p:nvSpPr>
        <p:spPr>
          <a:xfrm>
            <a:off x="4572000" y="1473200"/>
            <a:ext cx="3632200" cy="279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4737100" y="15748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Declaring values</a:t>
            </a:r>
          </a:p>
        </p:txBody>
      </p:sp>
      <p:sp>
        <p:nvSpPr>
          <p:cNvPr id="25" name="panel25"/>
          <p:cNvSpPr txBox="1"/>
          <p:nvPr/>
        </p:nvSpPr>
        <p:spPr>
          <a:xfrm>
            <a:off x="4749800" y="1854200"/>
            <a:ext cx="3276600" cy="22860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4749800" y="1854200"/>
            <a:ext cx="3276600" cy="2286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matrix A[2,3];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5FD3BC"/>
                </a:solidFill>
                <a:latin typeface="Consolas"/>
                <a:cs typeface="Consolas"/>
              </a:rPr>
              <a:t>    → A : Matrix&lt;2x3&gt;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matrix B = {{1,2},{3,4}};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5FD3BC"/>
                </a:solidFill>
                <a:latin typeface="Consolas"/>
                <a:cs typeface="Consolas"/>
              </a:rPr>
              <a:t>    → B : Matrix&lt;2x2&gt;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matrix C = A * B;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5FD3BC"/>
                </a:solidFill>
                <a:latin typeface="Consolas"/>
                <a:cs typeface="Consolas"/>
              </a:rPr>
              <a:t>    → C : Matrix&lt;2x2&gt;   inferred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matrix I = identity(3);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5FD3BC"/>
                </a:solidFill>
                <a:latin typeface="Consolas"/>
                <a:cs typeface="Consolas"/>
              </a:rPr>
              <a:t>    → I : Matrix&lt;3x3&gt;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scalar k = 2.5;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19" dirty="0">
                <a:solidFill>
                  <a:srgbClr val="5FD3BC"/>
                </a:solidFill>
                <a:latin typeface="Consolas"/>
                <a:cs typeface="Consolas"/>
              </a:rPr>
              <a:t>    → k : Scalar</a:t>
            </a:r>
          </a:p>
        </p:txBody>
      </p:sp>
      <p:sp>
        <p:nvSpPr>
          <p:cNvPr id="27" name="panel27"/>
          <p:cNvSpPr txBox="1"/>
          <p:nvPr/>
        </p:nvSpPr>
        <p:spPr>
          <a:xfrm>
            <a:off x="4572000" y="4394200"/>
            <a:ext cx="3632200" cy="1676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8" name="text28"/>
          <p:cNvSpPr txBox="1"/>
          <p:nvPr/>
        </p:nvSpPr>
        <p:spPr>
          <a:xfrm>
            <a:off x="4737100" y="44958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Dimensions are compile-time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4749800" y="4749800"/>
            <a:ext cx="3276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20"/>
              </a:lnSpc>
              <a:spcAft>
                <a:spcPts val="500"/>
              </a:spcAft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●  </a:t>
            </a:r>
            <a:r>
              <a:rPr lang="en-US" sz="840" dirty="0">
                <a:solidFill>
                  <a:srgbClr val="3F4F49"/>
                </a:solidFill>
                <a:latin typeface="Segoe UI"/>
                <a:cs typeface="Segoe UI"/>
              </a:rPr>
              <a:t>A dimension must be a positive whole constant. zeros(2+1,4) folds; zeros(n,4) is an error.</a:t>
            </a:r>
          </a:p>
          <a:p>
            <a:pPr algn="l">
              <a:lnSpc>
                <a:spcPts val="1120"/>
              </a:lnSpc>
              <a:spcAft>
                <a:spcPts val="500"/>
              </a:spcAft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●  </a:t>
            </a:r>
            <a:r>
              <a:rPr lang="en-US" sz="840" dirty="0">
                <a:solidFill>
                  <a:srgbClr val="3F4F49"/>
                </a:solidFill>
                <a:latin typeface="Segoe UI"/>
                <a:cs typeface="Segoe UI"/>
              </a:rPr>
              <a:t>A matrix literal must be rectangular.</a:t>
            </a:r>
          </a:p>
          <a:p>
            <a:pPr algn="l">
              <a:lnSpc>
                <a:spcPts val="1120"/>
              </a:lnSpc>
              <a:spcAft>
                <a:spcPts val="500"/>
              </a:spcAft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●  </a:t>
            </a:r>
            <a:r>
              <a:rPr lang="en-US" sz="840" dirty="0">
                <a:solidFill>
                  <a:srgbClr val="3F4F49"/>
                </a:solidFill>
                <a:latin typeface="Segoe UI"/>
                <a:cs typeface="Segoe UI"/>
              </a:rPr>
              <a:t>Assignment has value semantics: no aliasing, no element mutation.</a:t>
            </a:r>
          </a:p>
        </p:txBody>
      </p:sp>
      <p:sp>
        <p:nvSpPr>
          <p:cNvPr id="30" name="panel30"/>
          <p:cNvSpPr txBox="1"/>
          <p:nvPr/>
        </p:nvSpPr>
        <p:spPr>
          <a:xfrm>
            <a:off x="8382000" y="1473200"/>
            <a:ext cx="3251200" cy="279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text31"/>
          <p:cNvSpPr txBox="1"/>
          <p:nvPr/>
        </p:nvSpPr>
        <p:spPr>
          <a:xfrm>
            <a:off x="8547100" y="1574800"/>
            <a:ext cx="292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The shape rules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8534400" y="1854200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 b="1">
                <a:solidFill>
                  <a:srgbClr val="14261F"/>
                </a:solidFill>
                <a:latin typeface="Consolas"/>
                <a:cs typeface="Consolas"/>
              </a:rPr>
              <a:t>A + B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9753600" y="1854200"/>
            <a:ext cx="1727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3F4F49"/>
                </a:solidFill>
                <a:latin typeface="Segoe UI"/>
                <a:cs typeface="Segoe UI"/>
              </a:rPr>
              <a:t>identical shapes</a:t>
            </a:r>
          </a:p>
        </p:txBody>
      </p:sp>
      <p:sp>
        <p:nvSpPr>
          <p:cNvPr id="34" name="text34"/>
          <p:cNvSpPr txBox="1"/>
          <p:nvPr/>
        </p:nvSpPr>
        <p:spPr>
          <a:xfrm>
            <a:off x="8534400" y="2120900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 b="1">
                <a:solidFill>
                  <a:srgbClr val="14261F"/>
                </a:solidFill>
                <a:latin typeface="Consolas"/>
                <a:cs typeface="Consolas"/>
              </a:rPr>
              <a:t>A - B</a:t>
            </a:r>
          </a:p>
        </p:txBody>
      </p:sp>
      <p:sp>
        <p:nvSpPr>
          <p:cNvPr id="35" name="text35"/>
          <p:cNvSpPr txBox="1"/>
          <p:nvPr/>
        </p:nvSpPr>
        <p:spPr>
          <a:xfrm>
            <a:off x="9753600" y="2120900"/>
            <a:ext cx="1727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3F4F49"/>
                </a:solidFill>
                <a:latin typeface="Segoe UI"/>
                <a:cs typeface="Segoe UI"/>
              </a:rPr>
              <a:t>identical shapes</a:t>
            </a:r>
          </a:p>
        </p:txBody>
      </p:sp>
      <p:sp>
        <p:nvSpPr>
          <p:cNvPr id="36" name="text36"/>
          <p:cNvSpPr txBox="1"/>
          <p:nvPr/>
        </p:nvSpPr>
        <p:spPr>
          <a:xfrm>
            <a:off x="8534400" y="2387600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 b="1">
                <a:solidFill>
                  <a:srgbClr val="14261F"/>
                </a:solidFill>
                <a:latin typeface="Consolas"/>
                <a:cs typeface="Consolas"/>
              </a:rPr>
              <a:t>A * B</a:t>
            </a:r>
          </a:p>
        </p:txBody>
      </p:sp>
      <p:sp>
        <p:nvSpPr>
          <p:cNvPr id="37" name="text37"/>
          <p:cNvSpPr txBox="1"/>
          <p:nvPr/>
        </p:nvSpPr>
        <p:spPr>
          <a:xfrm>
            <a:off x="9753600" y="2387600"/>
            <a:ext cx="1727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3F4F49"/>
                </a:solidFill>
                <a:latin typeface="Segoe UI"/>
                <a:cs typeface="Segoe UI"/>
              </a:rPr>
              <a:t>cols(A) = rows(B)</a:t>
            </a:r>
          </a:p>
        </p:txBody>
      </p:sp>
      <p:sp>
        <p:nvSpPr>
          <p:cNvPr id="38" name="text38"/>
          <p:cNvSpPr txBox="1"/>
          <p:nvPr/>
        </p:nvSpPr>
        <p:spPr>
          <a:xfrm>
            <a:off x="8534400" y="2654300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 b="1">
                <a:solidFill>
                  <a:srgbClr val="14261F"/>
                </a:solidFill>
                <a:latin typeface="Consolas"/>
                <a:cs typeface="Consolas"/>
              </a:rPr>
              <a:t>k * A</a:t>
            </a:r>
          </a:p>
        </p:txBody>
      </p:sp>
      <p:sp>
        <p:nvSpPr>
          <p:cNvPr id="39" name="text39"/>
          <p:cNvSpPr txBox="1"/>
          <p:nvPr/>
        </p:nvSpPr>
        <p:spPr>
          <a:xfrm>
            <a:off x="9753600" y="2654300"/>
            <a:ext cx="1727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3F4F49"/>
                </a:solidFill>
                <a:latin typeface="Segoe UI"/>
                <a:cs typeface="Segoe UI"/>
              </a:rPr>
              <a:t>any scalar, shape kept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8534400" y="2921000"/>
            <a:ext cx="1219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 b="1">
                <a:solidFill>
                  <a:srgbClr val="14261F"/>
                </a:solidFill>
                <a:latin typeface="Consolas"/>
                <a:cs typeface="Consolas"/>
              </a:rPr>
              <a:t>transpose(A)</a:t>
            </a:r>
          </a:p>
        </p:txBody>
      </p:sp>
      <p:sp>
        <p:nvSpPr>
          <p:cNvPr id="41" name="text41"/>
          <p:cNvSpPr txBox="1"/>
          <p:nvPr/>
        </p:nvSpPr>
        <p:spPr>
          <a:xfrm>
            <a:off x="9753600" y="2921000"/>
            <a:ext cx="17272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00" dirty="0">
                <a:solidFill>
                  <a:srgbClr val="3F4F49"/>
                </a:solidFill>
                <a:latin typeface="Segoe UI"/>
                <a:cs typeface="Segoe UI"/>
              </a:rPr>
              <a:t>rows and cols swap</a:t>
            </a:r>
          </a:p>
        </p:txBody>
      </p:sp>
      <p:sp>
        <p:nvSpPr>
          <p:cNvPr id="42" name="rule42"/>
          <p:cNvSpPr txBox="1"/>
          <p:nvPr/>
        </p:nvSpPr>
        <p:spPr>
          <a:xfrm>
            <a:off x="8534400" y="3225800"/>
            <a:ext cx="2946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3" name="text43"/>
          <p:cNvSpPr txBox="1"/>
          <p:nvPr/>
        </p:nvSpPr>
        <p:spPr>
          <a:xfrm>
            <a:off x="8559800" y="3302000"/>
            <a:ext cx="292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19" dirty="0" b="1">
                <a:solidFill>
                  <a:srgbClr val="9E2B3F"/>
                </a:solidFill>
                <a:latin typeface="Segoe UI"/>
                <a:cs typeface="Segoe UI"/>
              </a:rPr>
              <a:t>Rejected:  </a:t>
            </a:r>
            <a:r>
              <a:rPr lang="en-US" sz="819" dirty="0" b="1">
                <a:solidFill>
                  <a:srgbClr val="9E2B3F"/>
                </a:solidFill>
                <a:latin typeface="Consolas"/>
                <a:cs typeface="Consolas"/>
              </a:rPr>
              <a:t>A + k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  there is no broadcasting; it would read like matrix addition and would not be.</a:t>
            </a:r>
          </a:p>
          <a:p>
            <a:pPr algn="l">
              <a:lnSpc>
                <a:spcPts val="1100"/>
              </a:lnSpc>
              <a:spcBef>
                <a:spcPts val="400"/>
              </a:spcBef>
              <a:buNone/>
            </a:pPr>
            <a:r>
              <a:rPr lang="en-US" sz="819" dirty="0" b="1">
                <a:solidFill>
                  <a:srgbClr val="9E2B3F"/>
                </a:solidFill>
                <a:latin typeface="Segoe UI"/>
                <a:cs typeface="Segoe UI"/>
              </a:rPr>
              <a:t>Rejected:  </a:t>
            </a:r>
            <a:r>
              <a:rPr lang="en-US" sz="819" dirty="0" b="1">
                <a:solidFill>
                  <a:srgbClr val="9E2B3F"/>
                </a:solidFill>
                <a:latin typeface="Consolas"/>
                <a:cs typeface="Consolas"/>
              </a:rPr>
              <a:t>transpose(k)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  a scalar has no axes to exchange.</a:t>
            </a:r>
          </a:p>
        </p:txBody>
      </p:sp>
      <p:sp>
        <p:nvSpPr>
          <p:cNvPr id="44" name="panel44"/>
          <p:cNvSpPr txBox="1"/>
          <p:nvPr/>
        </p:nvSpPr>
        <p:spPr>
          <a:xfrm>
            <a:off x="8382000" y="4394200"/>
            <a:ext cx="3251200" cy="1676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5" name="text45"/>
          <p:cNvSpPr txBox="1"/>
          <p:nvPr/>
        </p:nvSpPr>
        <p:spPr>
          <a:xfrm>
            <a:off x="8547100" y="4495800"/>
            <a:ext cx="292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Why it is scoped this way</a:t>
            </a:r>
          </a:p>
        </p:txBody>
      </p:sp>
      <p:sp>
        <p:nvSpPr>
          <p:cNvPr id="46" name="text46"/>
          <p:cNvSpPr txBox="1"/>
          <p:nvPr/>
        </p:nvSpPr>
        <p:spPr>
          <a:xfrm>
            <a:off x="8559800" y="4749800"/>
            <a:ext cx="2895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40" dirty="0">
                <a:solidFill>
                  <a:srgbClr val="3F4F49"/>
                </a:solidFill>
                <a:latin typeface="Segoe UI"/>
                <a:cs typeface="Segoe UI"/>
              </a:rPr>
              <a:t>With no control flow a whole program is a single basic block. That is what makes the Phase 3 optimizations exact rather than conservative: available expressions and liveness are each one linear scan, with no control-flow graph and no dataflow iteration.</a:t>
            </a:r>
          </a:p>
        </p:txBody>
      </p:sp>
      <p:sp>
        <p:nvSpPr>
          <p:cNvPr id="47" name="panel47"/>
          <p:cNvSpPr txBox="1"/>
          <p:nvPr/>
        </p:nvSpPr>
        <p:spPr>
          <a:xfrm>
            <a:off x="558800" y="6197600"/>
            <a:ext cx="11074400" cy="406400"/>
          </a:xfrm>
          <a:prstGeom prst="roundRect">
            <a:avLst>
              <a:gd name="adj" fmla="val 2000"/>
            </a:avLst>
          </a:prstGeom>
          <a:solidFill>
            <a:srgbClr val="E4F3F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8" name="shape48"/>
          <p:cNvSpPr txBox="1"/>
          <p:nvPr/>
        </p:nvSpPr>
        <p:spPr>
          <a:xfrm>
            <a:off x="558800" y="6197600"/>
            <a:ext cx="44450" cy="4064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9" name="text49"/>
          <p:cNvSpPr txBox="1"/>
          <p:nvPr/>
        </p:nvSpPr>
        <p:spPr>
          <a:xfrm>
            <a:off x="774700" y="6197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 b="1" spc="130" cap="all">
                <a:solidFill>
                  <a:srgbClr val="0E7C6B"/>
                </a:solidFill>
                <a:latin typeface="Segoe UI"/>
                <a:cs typeface="Segoe UI"/>
              </a:rPr>
              <a:t>Key takeaway     </a:t>
            </a:r>
            <a:r>
              <a:rPr lang="en-US" sz="1050" dirty="0">
                <a:solidFill>
                  <a:srgbClr val="14261F"/>
                </a:solidFill>
                <a:latin typeface="Segoe UI"/>
                <a:cs typeface="Segoe UI"/>
              </a:rPr>
              <a:t>A type is not “matrix” but Matrix&lt;2x3&gt;, and every rule in the language is a statement about shapes.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2"/>
          <p:cNvSpPr txBox="1"/>
          <p:nvPr/>
        </p:nvSpPr>
        <p:spPr>
          <a:xfrm>
            <a:off x="558800" y="279400"/>
            <a:ext cx="812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70" cap="all">
                <a:solidFill>
                  <a:srgbClr val="0E7C6B"/>
                </a:solidFill>
                <a:latin typeface="Segoe UI"/>
                <a:cs typeface="Segoe UI"/>
              </a:rPr>
              <a:t>03   ·   System Design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10617200" y="279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800" dirty="0" b="1" spc="100">
                <a:solidFill>
                  <a:srgbClr val="7C8B85"/>
                </a:solidFill>
                <a:latin typeface="Segoe UI"/>
                <a:cs typeface="Segoe UI"/>
              </a:rPr>
              <a:t>3 / 8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558800" y="482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14261F"/>
                </a:solidFill>
                <a:latin typeface="Georgia"/>
                <a:cs typeface="Georgia"/>
              </a:rPr>
              <a:t>Total System Design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558800" y="9271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7C8B85"/>
                </a:solidFill>
                <a:latin typeface="Segoe UI"/>
                <a:cs typeface="Segoe UI"/>
              </a:rPr>
              <a:t>A conventional compiler pipeline with one addition: three separate stages consult the same shape rules.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558800" y="1257300"/>
            <a:ext cx="11074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panel7"/>
          <p:cNvSpPr txBox="1"/>
          <p:nvPr/>
        </p:nvSpPr>
        <p:spPr>
          <a:xfrm>
            <a:off x="558800" y="1473200"/>
            <a:ext cx="5334000" cy="459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23900" y="1574800"/>
            <a:ext cx="5003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The compilation spine</a:t>
            </a:r>
          </a:p>
        </p:txBody>
      </p:sp>
      <p:sp>
        <p:nvSpPr>
          <p:cNvPr id="9" name="panel9"/>
          <p:cNvSpPr txBox="1"/>
          <p:nvPr/>
        </p:nvSpPr>
        <p:spPr>
          <a:xfrm>
            <a:off x="1549400" y="1828800"/>
            <a:ext cx="2133600" cy="279400"/>
          </a:xfrm>
          <a:prstGeom prst="roundRect">
            <a:avLst>
              <a:gd name="adj" fmla="val 9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1549400" y="1828800"/>
            <a:ext cx="2133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60" dirty="0" b="1">
                <a:solidFill>
                  <a:srgbClr val="B4690E"/>
                </a:solidFill>
                <a:latin typeface="Consolas"/>
                <a:cs typeface="Consolas"/>
              </a:rPr>
              <a:t>source.ml</a:t>
            </a:r>
          </a:p>
        </p:txBody>
      </p:sp>
      <p:sp>
        <p:nvSpPr>
          <p:cNvPr id="11" name="panel11"/>
          <p:cNvSpPr txBox="1"/>
          <p:nvPr/>
        </p:nvSpPr>
        <p:spPr>
          <a:xfrm>
            <a:off x="1346200" y="2209800"/>
            <a:ext cx="2540000" cy="381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text12"/>
          <p:cNvSpPr txBox="1"/>
          <p:nvPr/>
        </p:nvSpPr>
        <p:spPr>
          <a:xfrm>
            <a:off x="1346200" y="2209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27000" tIns="0" rIns="7620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750" dirty="0" b="1">
                <a:solidFill>
                  <a:srgbClr val="0E7C6B"/>
                </a:solidFill>
                <a:latin typeface="Segoe UI"/>
                <a:cs typeface="Segoe UI"/>
              </a:rPr>
              <a:t/>
            </a: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Lexical analysis</a:t>
            </a:r>
            <a:r>
              <a:rPr lang="en-US" sz="760" dirty="0">
                <a:solidFill>
                  <a:srgbClr val="7C8B85"/>
                </a:solidFill>
                <a:latin typeface="Consolas"/>
                <a:cs typeface="Consolas"/>
              </a:rPr>
              <a:t>   matrix.l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4013200" y="22098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0E7C6B"/>
                </a:solidFill>
                <a:latin typeface="Segoe UI"/>
                <a:cs typeface="Segoe UI"/>
              </a:rPr>
              <a:t>→  tokens</a:t>
            </a:r>
          </a:p>
        </p:txBody>
      </p:sp>
      <p:sp>
        <p:nvSpPr>
          <p:cNvPr id="14" name="shape14"/>
          <p:cNvSpPr txBox="1"/>
          <p:nvPr/>
        </p:nvSpPr>
        <p:spPr>
          <a:xfrm>
            <a:off x="2590800" y="2590800"/>
            <a:ext cx="17780" cy="127000"/>
          </a:xfrm>
          <a:prstGeom prst="rect">
            <a:avLst/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panel15"/>
          <p:cNvSpPr txBox="1"/>
          <p:nvPr/>
        </p:nvSpPr>
        <p:spPr>
          <a:xfrm>
            <a:off x="1346200" y="2717800"/>
            <a:ext cx="2540000" cy="381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6" name="text16"/>
          <p:cNvSpPr txBox="1"/>
          <p:nvPr/>
        </p:nvSpPr>
        <p:spPr>
          <a:xfrm>
            <a:off x="1346200" y="2717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27000" tIns="0" rIns="7620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750" dirty="0" b="1">
                <a:solidFill>
                  <a:srgbClr val="0E7C6B"/>
                </a:solidFill>
                <a:latin typeface="Segoe UI"/>
                <a:cs typeface="Segoe UI"/>
              </a:rPr>
              <a:t/>
            </a: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Syntax analysis</a:t>
            </a:r>
            <a:r>
              <a:rPr lang="en-US" sz="760" dirty="0">
                <a:solidFill>
                  <a:srgbClr val="7C8B85"/>
                </a:solidFill>
                <a:latin typeface="Consolas"/>
                <a:cs typeface="Consolas"/>
              </a:rPr>
              <a:t>   matrix.y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4013200" y="27178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0E7C6B"/>
                </a:solidFill>
                <a:latin typeface="Segoe UI"/>
                <a:cs typeface="Segoe UI"/>
              </a:rPr>
              <a:t>→  syntax tree</a:t>
            </a:r>
          </a:p>
        </p:txBody>
      </p:sp>
      <p:sp>
        <p:nvSpPr>
          <p:cNvPr id="18" name="shape18"/>
          <p:cNvSpPr txBox="1"/>
          <p:nvPr/>
        </p:nvSpPr>
        <p:spPr>
          <a:xfrm>
            <a:off x="2590800" y="3098800"/>
            <a:ext cx="17780" cy="127000"/>
          </a:xfrm>
          <a:prstGeom prst="rect">
            <a:avLst/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panel19"/>
          <p:cNvSpPr txBox="1"/>
          <p:nvPr/>
        </p:nvSpPr>
        <p:spPr>
          <a:xfrm>
            <a:off x="1346200" y="3225800"/>
            <a:ext cx="2540000" cy="381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0E7C6B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0" name="text20"/>
          <p:cNvSpPr txBox="1"/>
          <p:nvPr/>
        </p:nvSpPr>
        <p:spPr>
          <a:xfrm>
            <a:off x="1346200" y="3225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27000" tIns="0" rIns="7620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750" dirty="0" b="1">
                <a:solidFill>
                  <a:srgbClr val="0E7C6B"/>
                </a:solidFill>
                <a:latin typeface="Segoe UI"/>
                <a:cs typeface="Segoe UI"/>
              </a:rPr>
              <a:t>●  </a:t>
            </a: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Semantic analysis</a:t>
            </a:r>
            <a:r>
              <a:rPr lang="en-US" sz="760" dirty="0">
                <a:solidFill>
                  <a:srgbClr val="7C8B85"/>
                </a:solidFill>
                <a:latin typeface="Consolas"/>
                <a:cs typeface="Consolas"/>
              </a:rPr>
              <a:t>   semantic.c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4013200" y="32258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0E7C6B"/>
                </a:solidFill>
                <a:latin typeface="Segoe UI"/>
                <a:cs typeface="Segoe UI"/>
              </a:rPr>
              <a:t>→  typed tree + symbols</a:t>
            </a:r>
          </a:p>
        </p:txBody>
      </p:sp>
      <p:sp>
        <p:nvSpPr>
          <p:cNvPr id="22" name="shape22"/>
          <p:cNvSpPr txBox="1"/>
          <p:nvPr/>
        </p:nvSpPr>
        <p:spPr>
          <a:xfrm>
            <a:off x="2590800" y="3606800"/>
            <a:ext cx="17780" cy="127000"/>
          </a:xfrm>
          <a:prstGeom prst="rect">
            <a:avLst/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3" name="panel23"/>
          <p:cNvSpPr txBox="1"/>
          <p:nvPr/>
        </p:nvSpPr>
        <p:spPr>
          <a:xfrm>
            <a:off x="1346200" y="3733800"/>
            <a:ext cx="2540000" cy="381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1346200" y="3733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27000" tIns="0" rIns="7620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750" dirty="0" b="1">
                <a:solidFill>
                  <a:srgbClr val="0E7C6B"/>
                </a:solidFill>
                <a:latin typeface="Segoe UI"/>
                <a:cs typeface="Segoe UI"/>
              </a:rPr>
              <a:t/>
            </a: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Intermediate code</a:t>
            </a:r>
            <a:r>
              <a:rPr lang="en-US" sz="760" dirty="0">
                <a:solidFill>
                  <a:srgbClr val="7C8B85"/>
                </a:solidFill>
                <a:latin typeface="Consolas"/>
                <a:cs typeface="Consolas"/>
              </a:rPr>
              <a:t>   tac.c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4013200" y="37338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0E7C6B"/>
                </a:solidFill>
                <a:latin typeface="Segoe UI"/>
                <a:cs typeface="Segoe UI"/>
              </a:rPr>
              <a:t>→  three-address code</a:t>
            </a:r>
          </a:p>
        </p:txBody>
      </p:sp>
      <p:sp>
        <p:nvSpPr>
          <p:cNvPr id="26" name="shape26"/>
          <p:cNvSpPr txBox="1"/>
          <p:nvPr/>
        </p:nvSpPr>
        <p:spPr>
          <a:xfrm>
            <a:off x="2590800" y="4114800"/>
            <a:ext cx="17780" cy="127000"/>
          </a:xfrm>
          <a:prstGeom prst="rect">
            <a:avLst/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7" name="panel27"/>
          <p:cNvSpPr txBox="1"/>
          <p:nvPr/>
        </p:nvSpPr>
        <p:spPr>
          <a:xfrm>
            <a:off x="1346200" y="4241800"/>
            <a:ext cx="2540000" cy="381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0E7C6B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8" name="text28"/>
          <p:cNvSpPr txBox="1"/>
          <p:nvPr/>
        </p:nvSpPr>
        <p:spPr>
          <a:xfrm>
            <a:off x="1346200" y="4241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27000" tIns="0" rIns="7620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750" dirty="0" b="1">
                <a:solidFill>
                  <a:srgbClr val="0E7C6B"/>
                </a:solidFill>
                <a:latin typeface="Segoe UI"/>
                <a:cs typeface="Segoe UI"/>
              </a:rPr>
              <a:t>●  </a:t>
            </a: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Optimizer</a:t>
            </a:r>
            <a:r>
              <a:rPr lang="en-US" sz="760" dirty="0">
                <a:solidFill>
                  <a:srgbClr val="7C8B85"/>
                </a:solidFill>
                <a:latin typeface="Consolas"/>
                <a:cs typeface="Consolas"/>
              </a:rPr>
              <a:t>   optimize.c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4013200" y="42418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0E7C6B"/>
                </a:solidFill>
                <a:latin typeface="Segoe UI"/>
                <a:cs typeface="Segoe UI"/>
              </a:rPr>
              <a:t>→  optimized code</a:t>
            </a:r>
          </a:p>
        </p:txBody>
      </p:sp>
      <p:sp>
        <p:nvSpPr>
          <p:cNvPr id="30" name="shape30"/>
          <p:cNvSpPr txBox="1"/>
          <p:nvPr/>
        </p:nvSpPr>
        <p:spPr>
          <a:xfrm>
            <a:off x="2590800" y="4622800"/>
            <a:ext cx="17780" cy="127000"/>
          </a:xfrm>
          <a:prstGeom prst="rect">
            <a:avLst/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panel31"/>
          <p:cNvSpPr txBox="1"/>
          <p:nvPr/>
        </p:nvSpPr>
        <p:spPr>
          <a:xfrm>
            <a:off x="1346200" y="4749800"/>
            <a:ext cx="2540000" cy="381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0E7C6B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1346200" y="4749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27000" tIns="0" rIns="7620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750" dirty="0" b="1">
                <a:solidFill>
                  <a:srgbClr val="0E7C6B"/>
                </a:solidFill>
                <a:latin typeface="Segoe UI"/>
                <a:cs typeface="Segoe UI"/>
              </a:rPr>
              <a:t>●  </a:t>
            </a: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Code generation</a:t>
            </a:r>
            <a:r>
              <a:rPr lang="en-US" sz="760" dirty="0">
                <a:solidFill>
                  <a:srgbClr val="7C8B85"/>
                </a:solidFill>
                <a:latin typeface="Consolas"/>
                <a:cs typeface="Consolas"/>
              </a:rPr>
              <a:t>   codegen.c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4013200" y="47498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0E7C6B"/>
                </a:solidFill>
                <a:latin typeface="Segoe UI"/>
                <a:cs typeface="Segoe UI"/>
              </a:rPr>
              <a:t>→  MVM instructions</a:t>
            </a:r>
          </a:p>
        </p:txBody>
      </p:sp>
      <p:sp>
        <p:nvSpPr>
          <p:cNvPr id="34" name="shape34"/>
          <p:cNvSpPr txBox="1"/>
          <p:nvPr/>
        </p:nvSpPr>
        <p:spPr>
          <a:xfrm>
            <a:off x="2590800" y="5130800"/>
            <a:ext cx="17780" cy="127000"/>
          </a:xfrm>
          <a:prstGeom prst="rect">
            <a:avLst/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5" name="panel35"/>
          <p:cNvSpPr txBox="1"/>
          <p:nvPr/>
        </p:nvSpPr>
        <p:spPr>
          <a:xfrm>
            <a:off x="1346200" y="5257800"/>
            <a:ext cx="2540000" cy="381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1346200" y="5257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27000" tIns="0" rIns="76200" bIns="0" anchor="ctr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750" dirty="0" b="1">
                <a:solidFill>
                  <a:srgbClr val="0E7C6B"/>
                </a:solidFill>
                <a:latin typeface="Segoe UI"/>
                <a:cs typeface="Segoe UI"/>
              </a:rPr>
              <a:t/>
            </a:r>
            <a:r>
              <a:rPr lang="en-US" sz="880" dirty="0" b="1">
                <a:solidFill>
                  <a:srgbClr val="14261F"/>
                </a:solidFill>
                <a:latin typeface="Segoe UI"/>
                <a:cs typeface="Segoe UI"/>
              </a:rPr>
              <a:t>Virtual machine</a:t>
            </a:r>
            <a:r>
              <a:rPr lang="en-US" sz="760" dirty="0">
                <a:solidFill>
                  <a:srgbClr val="7C8B85"/>
                </a:solidFill>
                <a:latin typeface="Consolas"/>
                <a:cs typeface="Consolas"/>
              </a:rPr>
              <a:t>   vm.c</a:t>
            </a:r>
          </a:p>
        </p:txBody>
      </p:sp>
      <p:sp>
        <p:nvSpPr>
          <p:cNvPr id="37" name="text37"/>
          <p:cNvSpPr txBox="1"/>
          <p:nvPr/>
        </p:nvSpPr>
        <p:spPr>
          <a:xfrm>
            <a:off x="4013200" y="52578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0E7C6B"/>
                </a:solidFill>
                <a:latin typeface="Segoe UI"/>
                <a:cs typeface="Segoe UI"/>
              </a:rPr>
              <a:t>→  printed result</a:t>
            </a:r>
          </a:p>
        </p:txBody>
      </p:sp>
      <p:sp>
        <p:nvSpPr>
          <p:cNvPr id="38" name="shape38"/>
          <p:cNvSpPr txBox="1"/>
          <p:nvPr/>
        </p:nvSpPr>
        <p:spPr>
          <a:xfrm>
            <a:off x="2590800" y="2108200"/>
            <a:ext cx="17780" cy="101600"/>
          </a:xfrm>
          <a:prstGeom prst="rect">
            <a:avLst/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9" name="text39"/>
          <p:cNvSpPr txBox="1"/>
          <p:nvPr/>
        </p:nvSpPr>
        <p:spPr>
          <a:xfrm>
            <a:off x="736600" y="5740400"/>
            <a:ext cx="4978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 b="1">
                <a:solidFill>
                  <a:srgbClr val="0E7C6B"/>
                </a:solidFill>
                <a:latin typeface="Segoe UI"/>
                <a:cs typeface="Segoe UI"/>
              </a:rPr>
              <a:t>●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consults </a:t>
            </a: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types.c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 — the shape rules, written once and read by three stages.</a:t>
            </a:r>
          </a:p>
        </p:txBody>
      </p:sp>
      <p:sp>
        <p:nvSpPr>
          <p:cNvPr id="40" name="panel40"/>
          <p:cNvSpPr txBox="1"/>
          <p:nvPr/>
        </p:nvSpPr>
        <p:spPr>
          <a:xfrm>
            <a:off x="6223000" y="1473200"/>
            <a:ext cx="5410200" cy="459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1" name="text41"/>
          <p:cNvSpPr txBox="1"/>
          <p:nvPr/>
        </p:nvSpPr>
        <p:spPr>
          <a:xfrm>
            <a:off x="6388100" y="1574800"/>
            <a:ext cx="5080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Module responsibilities</a:t>
            </a:r>
          </a:p>
        </p:txBody>
      </p:sp>
      <p:sp>
        <p:nvSpPr>
          <p:cNvPr id="42" name="shape42"/>
          <p:cNvSpPr txBox="1"/>
          <p:nvPr/>
        </p:nvSpPr>
        <p:spPr>
          <a:xfrm>
            <a:off x="6299200" y="1828800"/>
            <a:ext cx="5257800" cy="31496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3" name="text43"/>
          <p:cNvSpPr txBox="1"/>
          <p:nvPr/>
        </p:nvSpPr>
        <p:spPr>
          <a:xfrm>
            <a:off x="6375400" y="182880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matrix.l</a:t>
            </a:r>
          </a:p>
        </p:txBody>
      </p:sp>
      <p:sp>
        <p:nvSpPr>
          <p:cNvPr id="44" name="text44"/>
          <p:cNvSpPr txBox="1"/>
          <p:nvPr/>
        </p:nvSpPr>
        <p:spPr>
          <a:xfrm>
            <a:off x="7467600" y="182880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Flex scanner; also records each token for display</a:t>
            </a:r>
          </a:p>
        </p:txBody>
      </p:sp>
      <p:sp>
        <p:nvSpPr>
          <p:cNvPr id="45" name="text45"/>
          <p:cNvSpPr txBox="1"/>
          <p:nvPr/>
        </p:nvSpPr>
        <p:spPr>
          <a:xfrm>
            <a:off x="6375400" y="214376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matrix.y</a:t>
            </a:r>
          </a:p>
        </p:txBody>
      </p:sp>
      <p:sp>
        <p:nvSpPr>
          <p:cNvPr id="46" name="text46"/>
          <p:cNvSpPr txBox="1"/>
          <p:nvPr/>
        </p:nvSpPr>
        <p:spPr>
          <a:xfrm>
            <a:off x="7467600" y="214376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Bison LALR(1) grammar; builds the syntax tree</a:t>
            </a:r>
          </a:p>
        </p:txBody>
      </p:sp>
      <p:sp>
        <p:nvSpPr>
          <p:cNvPr id="47" name="shape47"/>
          <p:cNvSpPr txBox="1"/>
          <p:nvPr/>
        </p:nvSpPr>
        <p:spPr>
          <a:xfrm>
            <a:off x="6299200" y="2458720"/>
            <a:ext cx="5257800" cy="31496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8" name="text48"/>
          <p:cNvSpPr txBox="1"/>
          <p:nvPr/>
        </p:nvSpPr>
        <p:spPr>
          <a:xfrm>
            <a:off x="6375400" y="245872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types.c</a:t>
            </a:r>
          </a:p>
        </p:txBody>
      </p:sp>
      <p:sp>
        <p:nvSpPr>
          <p:cNvPr id="49" name="text49"/>
          <p:cNvSpPr txBox="1"/>
          <p:nvPr/>
        </p:nvSpPr>
        <p:spPr>
          <a:xfrm>
            <a:off x="7467600" y="245872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the type lattice and every shape rule</a:t>
            </a:r>
          </a:p>
        </p:txBody>
      </p:sp>
      <p:sp>
        <p:nvSpPr>
          <p:cNvPr id="50" name="text50"/>
          <p:cNvSpPr txBox="1"/>
          <p:nvPr/>
        </p:nvSpPr>
        <p:spPr>
          <a:xfrm>
            <a:off x="6375400" y="277368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ast.c</a:t>
            </a:r>
          </a:p>
        </p:txBody>
      </p:sp>
      <p:sp>
        <p:nvSpPr>
          <p:cNvPr id="51" name="text51"/>
          <p:cNvSpPr txBox="1"/>
          <p:nvPr/>
        </p:nvSpPr>
        <p:spPr>
          <a:xfrm>
            <a:off x="7467600" y="277368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tree nodes, printer, expression rendering</a:t>
            </a:r>
          </a:p>
        </p:txBody>
      </p:sp>
      <p:sp>
        <p:nvSpPr>
          <p:cNvPr id="52" name="shape52"/>
          <p:cNvSpPr txBox="1"/>
          <p:nvPr/>
        </p:nvSpPr>
        <p:spPr>
          <a:xfrm>
            <a:off x="6299200" y="3088640"/>
            <a:ext cx="5257800" cy="31496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3" name="text53"/>
          <p:cNvSpPr txBox="1"/>
          <p:nvPr/>
        </p:nvSpPr>
        <p:spPr>
          <a:xfrm>
            <a:off x="6375400" y="308864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symtab.c</a:t>
            </a:r>
          </a:p>
        </p:txBody>
      </p:sp>
      <p:sp>
        <p:nvSpPr>
          <p:cNvPr id="54" name="text54"/>
          <p:cNvSpPr txBox="1"/>
          <p:nvPr/>
        </p:nvSpPr>
        <p:spPr>
          <a:xfrm>
            <a:off x="7467600" y="308864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names, kinds and shapes; duplicate detection</a:t>
            </a:r>
          </a:p>
        </p:txBody>
      </p:sp>
      <p:sp>
        <p:nvSpPr>
          <p:cNvPr id="55" name="text55"/>
          <p:cNvSpPr txBox="1"/>
          <p:nvPr/>
        </p:nvSpPr>
        <p:spPr>
          <a:xfrm>
            <a:off x="6375400" y="340360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semantic.c</a:t>
            </a:r>
          </a:p>
        </p:txBody>
      </p:sp>
      <p:sp>
        <p:nvSpPr>
          <p:cNvPr id="56" name="text56"/>
          <p:cNvSpPr txBox="1"/>
          <p:nvPr/>
        </p:nvSpPr>
        <p:spPr>
          <a:xfrm>
            <a:off x="7467600" y="340360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shape inference and dimension checking</a:t>
            </a:r>
          </a:p>
        </p:txBody>
      </p:sp>
      <p:sp>
        <p:nvSpPr>
          <p:cNvPr id="57" name="shape57"/>
          <p:cNvSpPr txBox="1"/>
          <p:nvPr/>
        </p:nvSpPr>
        <p:spPr>
          <a:xfrm>
            <a:off x="6299200" y="3718560"/>
            <a:ext cx="5257800" cy="31496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8" name="text58"/>
          <p:cNvSpPr txBox="1"/>
          <p:nvPr/>
        </p:nvSpPr>
        <p:spPr>
          <a:xfrm>
            <a:off x="6375400" y="371856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tac.c</a:t>
            </a:r>
          </a:p>
        </p:txBody>
      </p:sp>
      <p:sp>
        <p:nvSpPr>
          <p:cNvPr id="59" name="text59"/>
          <p:cNvSpPr txBox="1"/>
          <p:nvPr/>
        </p:nvSpPr>
        <p:spPr>
          <a:xfrm>
            <a:off x="7467600" y="371856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three-address code with typed instructions</a:t>
            </a:r>
          </a:p>
        </p:txBody>
      </p:sp>
      <p:sp>
        <p:nvSpPr>
          <p:cNvPr id="60" name="text60"/>
          <p:cNvSpPr txBox="1"/>
          <p:nvPr/>
        </p:nvSpPr>
        <p:spPr>
          <a:xfrm>
            <a:off x="6375400" y="403352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optimize.c</a:t>
            </a:r>
          </a:p>
        </p:txBody>
      </p:sp>
      <p:sp>
        <p:nvSpPr>
          <p:cNvPr id="61" name="text61"/>
          <p:cNvSpPr txBox="1"/>
          <p:nvPr/>
        </p:nvSpPr>
        <p:spPr>
          <a:xfrm>
            <a:off x="7467600" y="403352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four passes, run to a fixed point</a:t>
            </a:r>
          </a:p>
        </p:txBody>
      </p:sp>
      <p:sp>
        <p:nvSpPr>
          <p:cNvPr id="62" name="shape62"/>
          <p:cNvSpPr txBox="1"/>
          <p:nvPr/>
        </p:nvSpPr>
        <p:spPr>
          <a:xfrm>
            <a:off x="6299200" y="4348480"/>
            <a:ext cx="5257800" cy="31496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3" name="text63"/>
          <p:cNvSpPr txBox="1"/>
          <p:nvPr/>
        </p:nvSpPr>
        <p:spPr>
          <a:xfrm>
            <a:off x="6375400" y="434848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codegen.c</a:t>
            </a:r>
          </a:p>
        </p:txBody>
      </p:sp>
      <p:sp>
        <p:nvSpPr>
          <p:cNvPr id="64" name="text64"/>
          <p:cNvSpPr txBox="1"/>
          <p:nvPr/>
        </p:nvSpPr>
        <p:spPr>
          <a:xfrm>
            <a:off x="7467600" y="434848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instruction selection for the stack machine</a:t>
            </a:r>
          </a:p>
        </p:txBody>
      </p:sp>
      <p:sp>
        <p:nvSpPr>
          <p:cNvPr id="65" name="text65"/>
          <p:cNvSpPr txBox="1"/>
          <p:nvPr/>
        </p:nvSpPr>
        <p:spPr>
          <a:xfrm>
            <a:off x="6375400" y="466344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vm.c</a:t>
            </a:r>
          </a:p>
        </p:txBody>
      </p:sp>
      <p:sp>
        <p:nvSpPr>
          <p:cNvPr id="66" name="text66"/>
          <p:cNvSpPr txBox="1"/>
          <p:nvPr/>
        </p:nvSpPr>
        <p:spPr>
          <a:xfrm>
            <a:off x="7467600" y="466344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executes the generated program</a:t>
            </a:r>
          </a:p>
        </p:txBody>
      </p:sp>
      <p:sp>
        <p:nvSpPr>
          <p:cNvPr id="67" name="shape67"/>
          <p:cNvSpPr txBox="1"/>
          <p:nvPr/>
        </p:nvSpPr>
        <p:spPr>
          <a:xfrm>
            <a:off x="6299200" y="4978400"/>
            <a:ext cx="5257800" cy="31496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8" name="text68"/>
          <p:cNvSpPr txBox="1"/>
          <p:nvPr/>
        </p:nvSpPr>
        <p:spPr>
          <a:xfrm>
            <a:off x="6375400" y="497840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value.c</a:t>
            </a:r>
          </a:p>
        </p:txBody>
      </p:sp>
      <p:sp>
        <p:nvSpPr>
          <p:cNvPr id="69" name="text69"/>
          <p:cNvSpPr txBox="1"/>
          <p:nvPr/>
        </p:nvSpPr>
        <p:spPr>
          <a:xfrm>
            <a:off x="7467600" y="497840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matrix arithmetic and the literal pool</a:t>
            </a:r>
          </a:p>
        </p:txBody>
      </p:sp>
      <p:sp>
        <p:nvSpPr>
          <p:cNvPr id="70" name="text70"/>
          <p:cNvSpPr txBox="1"/>
          <p:nvPr/>
        </p:nvSpPr>
        <p:spPr>
          <a:xfrm>
            <a:off x="6375400" y="529336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diag.c</a:t>
            </a:r>
          </a:p>
        </p:txBody>
      </p:sp>
      <p:sp>
        <p:nvSpPr>
          <p:cNvPr id="71" name="text71"/>
          <p:cNvSpPr txBox="1"/>
          <p:nvPr/>
        </p:nvSpPr>
        <p:spPr>
          <a:xfrm>
            <a:off x="7467600" y="529336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every message, ordered by source position</a:t>
            </a:r>
          </a:p>
        </p:txBody>
      </p:sp>
      <p:sp>
        <p:nvSpPr>
          <p:cNvPr id="72" name="shape72"/>
          <p:cNvSpPr txBox="1"/>
          <p:nvPr/>
        </p:nvSpPr>
        <p:spPr>
          <a:xfrm>
            <a:off x="6299200" y="5608320"/>
            <a:ext cx="5257800" cy="31496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3" name="text73"/>
          <p:cNvSpPr txBox="1"/>
          <p:nvPr/>
        </p:nvSpPr>
        <p:spPr>
          <a:xfrm>
            <a:off x="6375400" y="5608320"/>
            <a:ext cx="1092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 b="1">
                <a:solidFill>
                  <a:srgbClr val="14261F"/>
                </a:solidFill>
                <a:latin typeface="Consolas"/>
                <a:cs typeface="Consolas"/>
              </a:rPr>
              <a:t>main.c</a:t>
            </a:r>
          </a:p>
        </p:txBody>
      </p:sp>
      <p:sp>
        <p:nvSpPr>
          <p:cNvPr id="74" name="text74"/>
          <p:cNvSpPr txBox="1"/>
          <p:nvPr/>
        </p:nvSpPr>
        <p:spPr>
          <a:xfrm>
            <a:off x="7467600" y="5608320"/>
            <a:ext cx="4013200" cy="314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driver, stage selection, exit status</a:t>
            </a:r>
          </a:p>
        </p:txBody>
      </p:sp>
      <p:sp>
        <p:nvSpPr>
          <p:cNvPr id="75" name="panel75"/>
          <p:cNvSpPr txBox="1"/>
          <p:nvPr/>
        </p:nvSpPr>
        <p:spPr>
          <a:xfrm>
            <a:off x="558800" y="6197600"/>
            <a:ext cx="11074400" cy="406400"/>
          </a:xfrm>
          <a:prstGeom prst="roundRect">
            <a:avLst>
              <a:gd name="adj" fmla="val 2000"/>
            </a:avLst>
          </a:prstGeom>
          <a:solidFill>
            <a:srgbClr val="E4F3F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6" name="shape76"/>
          <p:cNvSpPr txBox="1"/>
          <p:nvPr/>
        </p:nvSpPr>
        <p:spPr>
          <a:xfrm>
            <a:off x="558800" y="6197600"/>
            <a:ext cx="44450" cy="4064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7" name="text77"/>
          <p:cNvSpPr txBox="1"/>
          <p:nvPr/>
        </p:nvSpPr>
        <p:spPr>
          <a:xfrm>
            <a:off x="774700" y="6197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 b="1" spc="130" cap="all">
                <a:solidFill>
                  <a:srgbClr val="0E7C6B"/>
                </a:solidFill>
                <a:latin typeface="Segoe UI"/>
                <a:cs typeface="Segoe UI"/>
              </a:rPr>
              <a:t>Key takeaway     </a:t>
            </a:r>
            <a:r>
              <a:rPr lang="en-US" sz="1050" dirty="0">
                <a:solidFill>
                  <a:srgbClr val="14261F"/>
                </a:solidFill>
                <a:latin typeface="Segoe UI"/>
                <a:cs typeface="Segoe UI"/>
              </a:rPr>
              <a:t>It is a full compiler, not a calculator: lexer, parser, tree, symbol table, semantics, IR, optimizer, code generation and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2"/>
          <p:cNvSpPr txBox="1"/>
          <p:nvPr/>
        </p:nvSpPr>
        <p:spPr>
          <a:xfrm>
            <a:off x="558800" y="279400"/>
            <a:ext cx="812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70" cap="all">
                <a:solidFill>
                  <a:srgbClr val="0E7C6B"/>
                </a:solidFill>
                <a:latin typeface="Segoe UI"/>
                <a:cs typeface="Segoe UI"/>
              </a:rPr>
              <a:t>04   ·   End to End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10617200" y="279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800" dirty="0" b="1" spc="100">
                <a:solidFill>
                  <a:srgbClr val="7C8B85"/>
                </a:solidFill>
                <a:latin typeface="Segoe UI"/>
                <a:cs typeface="Segoe UI"/>
              </a:rPr>
              <a:t>4 / 8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558800" y="482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14261F"/>
                </a:solidFill>
                <a:latin typeface="Georgia"/>
                <a:cs typeface="Georgia"/>
              </a:rPr>
              <a:t>Input → Compiler Stages → Output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558800" y="9271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7C8B85"/>
                </a:solidFill>
                <a:latin typeface="Segoe UI"/>
                <a:cs typeface="Segoe UI"/>
              </a:rPr>
              <a:t>Every stage prints what it produced, so the project can be demonstrated one phase at a time.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558800" y="1257300"/>
            <a:ext cx="11074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panel7"/>
          <p:cNvSpPr txBox="1"/>
          <p:nvPr/>
        </p:nvSpPr>
        <p:spPr>
          <a:xfrm>
            <a:off x="558800" y="1422400"/>
            <a:ext cx="11074400" cy="9398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36600" y="1498600"/>
            <a:ext cx="3048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 b="1" spc="100" cap="all">
                <a:solidFill>
                  <a:srgbClr val="7E968D"/>
                </a:solidFill>
                <a:latin typeface="Segoe UI"/>
                <a:cs typeface="Segoe UI"/>
              </a:rPr>
              <a:t>in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1092200" y="1498600"/>
            <a:ext cx="5334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2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matrix A[2,3] = {{1, 2, 3},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                 {4, 5, 6}};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matrix B[3,4] = {{1, 0, 0, 1},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                 {0, 1, 0, 2},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                 {0, 0, 1, 3}};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6654800" y="1498600"/>
            <a:ext cx="482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20"/>
              </a:lnSpc>
              <a:buNone/>
            </a:pPr>
            <a:r>
              <a:rPr lang="en-US" sz="819" dirty="0">
                <a:solidFill>
                  <a:srgbClr val="5FD3BC"/>
                </a:solidFill>
                <a:latin typeface="Consolas"/>
                <a:cs typeface="Consolas"/>
              </a:rPr>
              <a:t>matrix C = A * B;</a:t>
            </a:r>
          </a:p>
          <a:p>
            <a:pPr algn="l">
              <a:lnSpc>
                <a:spcPts val="1120"/>
              </a:lnSpc>
              <a:buNone/>
            </a:pPr>
            <a:r>
              <a:rPr lang="en-US" sz="819" dirty="0">
                <a:solidFill>
                  <a:srgbClr val="CFE3DC"/>
                </a:solidFill>
                <a:latin typeface="Consolas"/>
                <a:cs typeface="Consolas"/>
              </a:rPr>
              <a:t>print(C);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6654800" y="18542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60" dirty="0" i="1">
                <a:solidFill>
                  <a:srgbClr val="5FD3BC"/>
                </a:solidFill>
                <a:latin typeface="Segoe UI"/>
                <a:cs typeface="Segoe UI"/>
              </a:rPr>
              <a:t>C is declared without a shape. The compiler works out</a:t>
            </a:r>
          </a:p>
          <a:p>
            <a:pPr algn="l">
              <a:lnSpc>
                <a:spcPts val="1040"/>
              </a:lnSpc>
              <a:buNone/>
            </a:pPr>
            <a:r>
              <a:rPr lang="en-US" sz="760" dirty="0" i="1">
                <a:solidFill>
                  <a:srgbClr val="5FD3BC"/>
                </a:solidFill>
                <a:latin typeface="Segoe UI"/>
                <a:cs typeface="Segoe UI"/>
              </a:rPr>
              <a:t>Matrix&lt;2x4&gt; from the shapes of A and B.</a:t>
            </a:r>
          </a:p>
        </p:txBody>
      </p:sp>
      <p:sp>
        <p:nvSpPr>
          <p:cNvPr id="12" name="panel12"/>
          <p:cNvSpPr txBox="1"/>
          <p:nvPr/>
        </p:nvSpPr>
        <p:spPr>
          <a:xfrm>
            <a:off x="558800" y="2489200"/>
            <a:ext cx="3556000" cy="1752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panel13"/>
          <p:cNvSpPr txBox="1"/>
          <p:nvPr/>
        </p:nvSpPr>
        <p:spPr>
          <a:xfrm>
            <a:off x="711200" y="2603500"/>
            <a:ext cx="190500" cy="1905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711200" y="2603500"/>
            <a:ext cx="19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780" dirty="0" b="1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977900" y="2603500"/>
            <a:ext cx="297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19" dirty="0" b="1" spc="80" cap="all">
                <a:solidFill>
                  <a:srgbClr val="14261F"/>
                </a:solidFill>
                <a:latin typeface="Segoe UI"/>
                <a:cs typeface="Segoe UI"/>
              </a:rPr>
              <a:t>Lexical analysis</a:t>
            </a:r>
            <a:r>
              <a:rPr lang="en-US" sz="760" dirty="0">
                <a:solidFill>
                  <a:srgbClr val="0E7C6B"/>
                </a:solidFill>
                <a:latin typeface="Consolas"/>
                <a:cs typeface="Consolas"/>
              </a:rPr>
              <a:t>   --tokens</a:t>
            </a:r>
          </a:p>
        </p:txBody>
      </p:sp>
      <p:sp>
        <p:nvSpPr>
          <p:cNvPr id="16" name="panel16"/>
          <p:cNvSpPr txBox="1"/>
          <p:nvPr/>
        </p:nvSpPr>
        <p:spPr>
          <a:xfrm>
            <a:off x="685800" y="2870200"/>
            <a:ext cx="3302000" cy="12446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85800" y="2870200"/>
            <a:ext cx="3302000" cy="12446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88900" rIns="88900" bIns="7620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#   TOKEN         LEXEME     LINE:COL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1   MATRIX        matrix     5:1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2   IDENTIFIER    A          5:8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3   LBRACKET      [          5:9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4   NUMBER        2          5:10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5   COMMA         ,          5:11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6   NUMBER        3          5:12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...                        78 token(s).</a:t>
            </a:r>
          </a:p>
        </p:txBody>
      </p:sp>
      <p:sp>
        <p:nvSpPr>
          <p:cNvPr id="18" name="panel18"/>
          <p:cNvSpPr txBox="1"/>
          <p:nvPr/>
        </p:nvSpPr>
        <p:spPr>
          <a:xfrm>
            <a:off x="4318000" y="2489200"/>
            <a:ext cx="3556000" cy="1752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panel19"/>
          <p:cNvSpPr txBox="1"/>
          <p:nvPr/>
        </p:nvSpPr>
        <p:spPr>
          <a:xfrm>
            <a:off x="4470400" y="2603500"/>
            <a:ext cx="190500" cy="1905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0" name="text20"/>
          <p:cNvSpPr txBox="1"/>
          <p:nvPr/>
        </p:nvSpPr>
        <p:spPr>
          <a:xfrm>
            <a:off x="4470400" y="2603500"/>
            <a:ext cx="19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780" dirty="0" b="1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4737100" y="2603500"/>
            <a:ext cx="297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19" dirty="0" b="1" spc="80" cap="all">
                <a:solidFill>
                  <a:srgbClr val="14261F"/>
                </a:solidFill>
                <a:latin typeface="Segoe UI"/>
                <a:cs typeface="Segoe UI"/>
              </a:rPr>
              <a:t>Syntax analysis</a:t>
            </a:r>
            <a:r>
              <a:rPr lang="en-US" sz="760" dirty="0">
                <a:solidFill>
                  <a:srgbClr val="0E7C6B"/>
                </a:solidFill>
                <a:latin typeface="Consolas"/>
                <a:cs typeface="Consolas"/>
              </a:rPr>
              <a:t>   --ast</a:t>
            </a:r>
          </a:p>
        </p:txBody>
      </p:sp>
      <p:sp>
        <p:nvSpPr>
          <p:cNvPr id="22" name="panel22"/>
          <p:cNvSpPr txBox="1"/>
          <p:nvPr/>
        </p:nvSpPr>
        <p:spPr>
          <a:xfrm>
            <a:off x="4445000" y="2870200"/>
            <a:ext cx="3302000" cy="12446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3" name="text23"/>
          <p:cNvSpPr txBox="1"/>
          <p:nvPr/>
        </p:nvSpPr>
        <p:spPr>
          <a:xfrm>
            <a:off x="4445000" y="2870200"/>
            <a:ext cx="3302000" cy="12446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88900" rIns="88900" bIns="7620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Program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|-- Declare A : Matrix&lt;2x3&gt;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|-- Declare B : Matrix&lt;3x4&gt;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|-- Declare C : Matrix&lt;2x4&gt;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|   `-- BinaryOp * : Matrix&lt;2x4&gt;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|       |-- Identifier A : Matrix&lt;2x3&gt;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|       `-- Identifier B : Matrix&lt;3x4&gt;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`-- Print : Matrix&lt;2x4&gt;</a:t>
            </a:r>
          </a:p>
        </p:txBody>
      </p:sp>
      <p:sp>
        <p:nvSpPr>
          <p:cNvPr id="24" name="panel24"/>
          <p:cNvSpPr txBox="1"/>
          <p:nvPr/>
        </p:nvSpPr>
        <p:spPr>
          <a:xfrm>
            <a:off x="8077200" y="2489200"/>
            <a:ext cx="3556000" cy="1752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panel25"/>
          <p:cNvSpPr txBox="1"/>
          <p:nvPr/>
        </p:nvSpPr>
        <p:spPr>
          <a:xfrm>
            <a:off x="8229600" y="2603500"/>
            <a:ext cx="190500" cy="1905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8229600" y="2603500"/>
            <a:ext cx="19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780" dirty="0" b="1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8496300" y="2603500"/>
            <a:ext cx="297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19" dirty="0" b="1" spc="80" cap="all">
                <a:solidFill>
                  <a:srgbClr val="14261F"/>
                </a:solidFill>
                <a:latin typeface="Segoe UI"/>
                <a:cs typeface="Segoe UI"/>
              </a:rPr>
              <a:t>Symbol table</a:t>
            </a:r>
            <a:r>
              <a:rPr lang="en-US" sz="760" dirty="0">
                <a:solidFill>
                  <a:srgbClr val="0E7C6B"/>
                </a:solidFill>
                <a:latin typeface="Consolas"/>
                <a:cs typeface="Consolas"/>
              </a:rPr>
              <a:t>   --symbols</a:t>
            </a:r>
          </a:p>
        </p:txBody>
      </p:sp>
      <p:sp>
        <p:nvSpPr>
          <p:cNvPr id="28" name="panel28"/>
          <p:cNvSpPr txBox="1"/>
          <p:nvPr/>
        </p:nvSpPr>
        <p:spPr>
          <a:xfrm>
            <a:off x="8204200" y="2870200"/>
            <a:ext cx="3302000" cy="12446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9" name="text29"/>
          <p:cNvSpPr txBox="1"/>
          <p:nvPr/>
        </p:nvSpPr>
        <p:spPr>
          <a:xfrm>
            <a:off x="8204200" y="2870200"/>
            <a:ext cx="3302000" cy="12446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88900" rIns="88900" bIns="7620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Name   Kind    Rows  Cols  Decl@Ln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A      Matrix     2     3        5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B      Matrix     3     4        8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C      Matrix     2     4       12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3 symbol(s).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rows and cols are the whole point</a:t>
            </a:r>
          </a:p>
        </p:txBody>
      </p:sp>
      <p:sp>
        <p:nvSpPr>
          <p:cNvPr id="30" name="panel30"/>
          <p:cNvSpPr txBox="1"/>
          <p:nvPr/>
        </p:nvSpPr>
        <p:spPr>
          <a:xfrm>
            <a:off x="558800" y="4394200"/>
            <a:ext cx="3556000" cy="1676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panel31"/>
          <p:cNvSpPr txBox="1"/>
          <p:nvPr/>
        </p:nvSpPr>
        <p:spPr>
          <a:xfrm>
            <a:off x="711200" y="4508500"/>
            <a:ext cx="190500" cy="1905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711200" y="4508500"/>
            <a:ext cx="19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780" dirty="0" b="1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977900" y="4508500"/>
            <a:ext cx="297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19" dirty="0" b="1" spc="80" cap="all">
                <a:solidFill>
                  <a:srgbClr val="14261F"/>
                </a:solidFill>
                <a:latin typeface="Segoe UI"/>
                <a:cs typeface="Segoe UI"/>
              </a:rPr>
              <a:t>Intermediate code</a:t>
            </a:r>
            <a:r>
              <a:rPr lang="en-US" sz="760" dirty="0">
                <a:solidFill>
                  <a:srgbClr val="0E7C6B"/>
                </a:solidFill>
                <a:latin typeface="Consolas"/>
                <a:cs typeface="Consolas"/>
              </a:rPr>
              <a:t>   --tac</a:t>
            </a:r>
          </a:p>
        </p:txBody>
      </p:sp>
      <p:sp>
        <p:nvSpPr>
          <p:cNvPr id="34" name="panel34"/>
          <p:cNvSpPr txBox="1"/>
          <p:nvPr/>
        </p:nvSpPr>
        <p:spPr>
          <a:xfrm>
            <a:off x="685800" y="4775200"/>
            <a:ext cx="3302000" cy="11684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5" name="text35"/>
          <p:cNvSpPr txBox="1"/>
          <p:nvPr/>
        </p:nvSpPr>
        <p:spPr>
          <a:xfrm>
            <a:off x="685800" y="4775200"/>
            <a:ext cx="3302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88900" rIns="88900" bIns="7620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1  A = #0              Matrix&lt;2x3&gt;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2  B = #1              Matrix&lt;3x4&gt;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3  t1 = A * B          Matrix&lt;2x4&gt;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4  C = t1              Matrix&lt;2x4&gt;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5  print C             Matrix&lt;2x4&gt;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5 instruction(s).</a:t>
            </a:r>
          </a:p>
        </p:txBody>
      </p:sp>
      <p:sp>
        <p:nvSpPr>
          <p:cNvPr id="36" name="panel36"/>
          <p:cNvSpPr txBox="1"/>
          <p:nvPr/>
        </p:nvSpPr>
        <p:spPr>
          <a:xfrm>
            <a:off x="4318000" y="4394200"/>
            <a:ext cx="3556000" cy="1676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7" name="panel37"/>
          <p:cNvSpPr txBox="1"/>
          <p:nvPr/>
        </p:nvSpPr>
        <p:spPr>
          <a:xfrm>
            <a:off x="4470400" y="4508500"/>
            <a:ext cx="190500" cy="1905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8" name="text38"/>
          <p:cNvSpPr txBox="1"/>
          <p:nvPr/>
        </p:nvSpPr>
        <p:spPr>
          <a:xfrm>
            <a:off x="4470400" y="4508500"/>
            <a:ext cx="19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780" dirty="0" b="1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39" name="text39"/>
          <p:cNvSpPr txBox="1"/>
          <p:nvPr/>
        </p:nvSpPr>
        <p:spPr>
          <a:xfrm>
            <a:off x="4737100" y="4508500"/>
            <a:ext cx="297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19" dirty="0" b="1" spc="80" cap="all">
                <a:solidFill>
                  <a:srgbClr val="14261F"/>
                </a:solidFill>
                <a:latin typeface="Segoe UI"/>
                <a:cs typeface="Segoe UI"/>
              </a:rPr>
              <a:t>Target code</a:t>
            </a:r>
            <a:r>
              <a:rPr lang="en-US" sz="760" dirty="0">
                <a:solidFill>
                  <a:srgbClr val="0E7C6B"/>
                </a:solidFill>
                <a:latin typeface="Consolas"/>
                <a:cs typeface="Consolas"/>
              </a:rPr>
              <a:t>   --target</a:t>
            </a:r>
          </a:p>
        </p:txBody>
      </p:sp>
      <p:sp>
        <p:nvSpPr>
          <p:cNvPr id="40" name="panel40"/>
          <p:cNvSpPr txBox="1"/>
          <p:nvPr/>
        </p:nvSpPr>
        <p:spPr>
          <a:xfrm>
            <a:off x="4445000" y="4775200"/>
            <a:ext cx="3302000" cy="11684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1" name="text41"/>
          <p:cNvSpPr txBox="1"/>
          <p:nvPr/>
        </p:nvSpPr>
        <p:spPr>
          <a:xfrm>
            <a:off x="4445000" y="4775200"/>
            <a:ext cx="3302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88900" rIns="88900" bIns="7620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0  PUSH_MATRIX   #0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1  STORE_MATRIX  A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4  LOAD_MATRIX   A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5  LOAD_MATRIX   B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 6  MATMUL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7  STORE_MATRIX  t1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11  PRINT         C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12  HALT                13 instruction(s).</a:t>
            </a:r>
          </a:p>
        </p:txBody>
      </p:sp>
      <p:sp>
        <p:nvSpPr>
          <p:cNvPr id="42" name="panel42"/>
          <p:cNvSpPr txBox="1"/>
          <p:nvPr/>
        </p:nvSpPr>
        <p:spPr>
          <a:xfrm>
            <a:off x="8077200" y="4394200"/>
            <a:ext cx="3556000" cy="1676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3" name="panel43"/>
          <p:cNvSpPr txBox="1"/>
          <p:nvPr/>
        </p:nvSpPr>
        <p:spPr>
          <a:xfrm>
            <a:off x="8229600" y="4508500"/>
            <a:ext cx="190500" cy="1905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4" name="text44"/>
          <p:cNvSpPr txBox="1"/>
          <p:nvPr/>
        </p:nvSpPr>
        <p:spPr>
          <a:xfrm>
            <a:off x="8229600" y="4508500"/>
            <a:ext cx="19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780" dirty="0" b="1">
                <a:solidFill>
                  <a:srgbClr val="FFFFFF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45" name="text45"/>
          <p:cNvSpPr txBox="1"/>
          <p:nvPr/>
        </p:nvSpPr>
        <p:spPr>
          <a:xfrm>
            <a:off x="8496300" y="4508500"/>
            <a:ext cx="297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19" dirty="0" b="1" spc="80" cap="all">
                <a:solidFill>
                  <a:srgbClr val="14261F"/>
                </a:solidFill>
                <a:latin typeface="Segoe UI"/>
                <a:cs typeface="Segoe UI"/>
              </a:rPr>
              <a:t>Execution</a:t>
            </a:r>
            <a:r>
              <a:rPr lang="en-US" sz="760" dirty="0">
                <a:solidFill>
                  <a:srgbClr val="0E7C6B"/>
                </a:solidFill>
                <a:latin typeface="Consolas"/>
                <a:cs typeface="Consolas"/>
              </a:rPr>
              <a:t>   --run</a:t>
            </a:r>
          </a:p>
        </p:txBody>
      </p:sp>
      <p:sp>
        <p:nvSpPr>
          <p:cNvPr id="46" name="panel46"/>
          <p:cNvSpPr txBox="1"/>
          <p:nvPr/>
        </p:nvSpPr>
        <p:spPr>
          <a:xfrm>
            <a:off x="8204200" y="4775200"/>
            <a:ext cx="3302000" cy="11684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7" name="text47"/>
          <p:cNvSpPr txBox="1"/>
          <p:nvPr/>
        </p:nvSpPr>
        <p:spPr>
          <a:xfrm>
            <a:off x="8204200" y="4775200"/>
            <a:ext cx="3302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88900" rIns="88900" bIns="7620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C = Matrix&lt;2x4&gt;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 [  1  2  3 14 ]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 [  4  5  6 32 ]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check by hand: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row 1 of A is [1 2 3]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col 4 of B is [1 2 3]</a:t>
            </a:r>
          </a:p>
          <a:p>
            <a:pPr algn="l">
              <a:lnSpc>
                <a:spcPts val="1000"/>
              </a:lnSpc>
              <a:buNone/>
            </a:pPr>
            <a:r>
              <a:rPr lang="en-US" sz="770" dirty="0">
                <a:solidFill>
                  <a:srgbClr val="E8B45F"/>
                </a:solidFill>
                <a:latin typeface="Consolas"/>
                <a:cs typeface="Consolas"/>
              </a:rPr>
              <a:t>1*1 + 2*2 + 3*3 = 14</a:t>
            </a:r>
          </a:p>
        </p:txBody>
      </p:sp>
      <p:sp>
        <p:nvSpPr>
          <p:cNvPr id="48" name="panel48"/>
          <p:cNvSpPr txBox="1"/>
          <p:nvPr/>
        </p:nvSpPr>
        <p:spPr>
          <a:xfrm>
            <a:off x="558800" y="6197600"/>
            <a:ext cx="11074400" cy="406400"/>
          </a:xfrm>
          <a:prstGeom prst="roundRect">
            <a:avLst>
              <a:gd name="adj" fmla="val 2000"/>
            </a:avLst>
          </a:prstGeom>
          <a:solidFill>
            <a:srgbClr val="E4F3F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9" name="shape49"/>
          <p:cNvSpPr txBox="1"/>
          <p:nvPr/>
        </p:nvSpPr>
        <p:spPr>
          <a:xfrm>
            <a:off x="558800" y="6197600"/>
            <a:ext cx="44450" cy="4064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0" name="text50"/>
          <p:cNvSpPr txBox="1"/>
          <p:nvPr/>
        </p:nvSpPr>
        <p:spPr>
          <a:xfrm>
            <a:off x="774700" y="6197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 b="1" spc="130" cap="all">
                <a:solidFill>
                  <a:srgbClr val="0E7C6B"/>
                </a:solidFill>
                <a:latin typeface="Segoe UI"/>
                <a:cs typeface="Segoe UI"/>
              </a:rPr>
              <a:t>Key takeaway     </a:t>
            </a:r>
            <a:r>
              <a:rPr lang="en-US" sz="1050" dirty="0">
                <a:solidFill>
                  <a:srgbClr val="14261F"/>
                </a:solidFill>
                <a:latin typeface="Segoe UI"/>
                <a:cs typeface="Segoe UI"/>
              </a:rPr>
              <a:t>Each phase has its own flag, so a reviewer can stop the compiler at any stage and read what it produced.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2"/>
          <p:cNvSpPr txBox="1"/>
          <p:nvPr/>
        </p:nvSpPr>
        <p:spPr>
          <a:xfrm>
            <a:off x="558800" y="279400"/>
            <a:ext cx="812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70" cap="all">
                <a:solidFill>
                  <a:srgbClr val="0E7C6B"/>
                </a:solidFill>
                <a:latin typeface="Segoe UI"/>
                <a:cs typeface="Segoe UI"/>
              </a:rPr>
              <a:t>05   ·   Checking and Optimization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10617200" y="279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800" dirty="0" b="1" spc="100">
                <a:solidFill>
                  <a:srgbClr val="7C8B85"/>
                </a:solidFill>
                <a:latin typeface="Segoe UI"/>
                <a:cs typeface="Segoe UI"/>
              </a:rPr>
              <a:t>5 / 8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558800" y="482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14261F"/>
                </a:solidFill>
                <a:latin typeface="Georgia"/>
                <a:cs typeface="Georgia"/>
              </a:rPr>
              <a:t>What the Shapes Buy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558800" y="9271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7C8B85"/>
                </a:solidFill>
                <a:latin typeface="Segoe UI"/>
                <a:cs typeface="Segoe UI"/>
              </a:rPr>
              <a:t>The same information rejects impossible programs and removes work a general-purpose optimizer cannot see.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558800" y="1257300"/>
            <a:ext cx="11074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panel7"/>
          <p:cNvSpPr txBox="1"/>
          <p:nvPr/>
        </p:nvSpPr>
        <p:spPr>
          <a:xfrm>
            <a:off x="558800" y="1422400"/>
            <a:ext cx="5384800" cy="4038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23900" y="1524000"/>
            <a:ext cx="5054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9E2B3F"/>
                </a:solidFill>
                <a:latin typeface="Segoe UI"/>
                <a:cs typeface="Segoe UI"/>
              </a:rPr>
              <a:t>1   ·   Dimension checking</a:t>
            </a:r>
          </a:p>
        </p:txBody>
      </p:sp>
      <p:sp>
        <p:nvSpPr>
          <p:cNvPr id="9" name="panel9"/>
          <p:cNvSpPr txBox="1"/>
          <p:nvPr/>
        </p:nvSpPr>
        <p:spPr>
          <a:xfrm>
            <a:off x="723900" y="1778000"/>
            <a:ext cx="5054600" cy="10160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723900" y="1778000"/>
            <a:ext cx="5054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080"/>
              </a:lnSpc>
              <a:buNone/>
            </a:pPr>
            <a:r>
              <a:rPr lang="en-US" sz="790" dirty="0">
                <a:solidFill>
                  <a:srgbClr val="F09AA8"/>
                </a:solidFill>
                <a:latin typeface="Consolas"/>
                <a:cs typeface="Consolas"/>
              </a:rPr>
              <a:t>9:7: error [semantic] cannot multiply Matrix&lt;2x3&gt;</a:t>
            </a:r>
          </a:p>
          <a:p>
            <a:pPr algn="l">
              <a:lnSpc>
                <a:spcPts val="1080"/>
              </a:lnSpc>
              <a:buNone/>
            </a:pPr>
            <a:r>
              <a:rPr lang="en-US" sz="790" dirty="0">
                <a:solidFill>
                  <a:srgbClr val="F09AA8"/>
                </a:solidFill>
                <a:latin typeface="Consolas"/>
                <a:cs typeface="Consolas"/>
              </a:rPr>
              <a:t>     by Matrix&lt;5x4&gt;</a:t>
            </a:r>
          </a:p>
          <a:p>
            <a:pPr algn="l">
              <a:lnSpc>
                <a:spcPts val="1080"/>
              </a:lnSpc>
              <a:buNone/>
            </a:pPr>
            <a:r>
              <a:rPr lang="en-US" sz="790" dirty="0">
                <a:solidFill>
                  <a:srgbClr val="CFE3DC"/>
                </a:solidFill>
                <a:latin typeface="Consolas"/>
                <a:cs typeface="Consolas"/>
              </a:rPr>
              <a:t>   left   : A -&gt; Matrix&lt;2x3&gt;        right : B -&gt; Matrix&lt;5x4&gt;</a:t>
            </a:r>
          </a:p>
          <a:p>
            <a:pPr algn="l">
              <a:lnSpc>
                <a:spcPts val="1080"/>
              </a:lnSpc>
              <a:buNone/>
            </a:pPr>
            <a:r>
              <a:rPr lang="en-US" sz="790" dirty="0">
                <a:solidFill>
                  <a:srgbClr val="5FD3BC"/>
                </a:solidFill>
                <a:latin typeface="Consolas"/>
                <a:cs typeface="Consolas"/>
              </a:rPr>
              <a:t>   rule   : columns(left) must equal rows(right)</a:t>
            </a:r>
          </a:p>
          <a:p>
            <a:pPr algn="l">
              <a:lnSpc>
                <a:spcPts val="1080"/>
              </a:lnSpc>
              <a:buNone/>
            </a:pPr>
            <a:r>
              <a:rPr lang="en-US" sz="790" dirty="0">
                <a:solidFill>
                  <a:srgbClr val="5FD3BC"/>
                </a:solidFill>
                <a:latin typeface="Consolas"/>
                <a:cs typeface="Consolas"/>
              </a:rPr>
              <a:t>   found  : 3 != 5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723900" y="2870200"/>
            <a:ext cx="5054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19" dirty="0" i="1">
                <a:solidFill>
                  <a:srgbClr val="3F4F49"/>
                </a:solidFill>
                <a:latin typeface="Segoe UI"/>
                <a:cs typeface="Segoe UI"/>
              </a:rPr>
              <a:t>The message names both operands as they were written, the rule, and what it found.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723900" y="3124200"/>
            <a:ext cx="5054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90" cap="all">
                <a:solidFill>
                  <a:srgbClr val="9E2B3F"/>
                </a:solidFill>
                <a:latin typeface="Segoe UI"/>
                <a:cs typeface="Segoe UI"/>
              </a:rPr>
              <a:t>Every error class, one example file each</a:t>
            </a:r>
          </a:p>
        </p:txBody>
      </p:sp>
      <p:sp>
        <p:nvSpPr>
          <p:cNvPr id="13" name="shape13"/>
          <p:cNvSpPr txBox="1"/>
          <p:nvPr/>
        </p:nvSpPr>
        <p:spPr>
          <a:xfrm>
            <a:off x="660400" y="3327400"/>
            <a:ext cx="5181600" cy="24384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736600" y="3327400"/>
            <a:ext cx="13208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 b="1">
                <a:solidFill>
                  <a:srgbClr val="14261F"/>
                </a:solidFill>
                <a:latin typeface="Consolas"/>
                <a:cs typeface="Consolas"/>
              </a:rPr>
              <a:t>mul_mismatch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2057400" y="3327400"/>
            <a:ext cx="37084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>
                <a:solidFill>
                  <a:srgbClr val="3F4F49"/>
                </a:solidFill>
                <a:latin typeface="Segoe UI"/>
                <a:cs typeface="Segoe UI"/>
              </a:rPr>
              <a:t>cannot multiply Matrix&lt;2x3&gt; by Matrix&lt;5x4&gt;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736600" y="3571240"/>
            <a:ext cx="13208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 b="1">
                <a:solidFill>
                  <a:srgbClr val="14261F"/>
                </a:solidFill>
                <a:latin typeface="Consolas"/>
                <a:cs typeface="Consolas"/>
              </a:rPr>
              <a:t>add_mismatch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2057400" y="3571240"/>
            <a:ext cx="37084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>
                <a:solidFill>
                  <a:srgbClr val="3F4F49"/>
                </a:solidFill>
                <a:latin typeface="Segoe UI"/>
                <a:cs typeface="Segoe UI"/>
              </a:rPr>
              <a:t>addition requires identical dimensions</a:t>
            </a:r>
          </a:p>
        </p:txBody>
      </p:sp>
      <p:sp>
        <p:nvSpPr>
          <p:cNvPr id="18" name="shape18"/>
          <p:cNvSpPr txBox="1"/>
          <p:nvPr/>
        </p:nvSpPr>
        <p:spPr>
          <a:xfrm>
            <a:off x="660400" y="3815080"/>
            <a:ext cx="5181600" cy="24384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736600" y="3815080"/>
            <a:ext cx="13208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 b="1">
                <a:solidFill>
                  <a:srgbClr val="14261F"/>
                </a:solidFill>
                <a:latin typeface="Consolas"/>
                <a:cs typeface="Consolas"/>
              </a:rPr>
              <a:t>bad_shape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2057400" y="3815080"/>
            <a:ext cx="37084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>
                <a:solidFill>
                  <a:srgbClr val="3F4F49"/>
                </a:solidFill>
                <a:latin typeface="Segoe UI"/>
                <a:cs typeface="Segoe UI"/>
              </a:rPr>
              <a:t>transpose() expects a matrix, got Scalar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736600" y="4058920"/>
            <a:ext cx="13208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 b="1">
                <a:solidFill>
                  <a:srgbClr val="14261F"/>
                </a:solidFill>
                <a:latin typeface="Consolas"/>
                <a:cs typeface="Consolas"/>
              </a:rPr>
              <a:t>bad_literal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2057400" y="4058920"/>
            <a:ext cx="37084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>
                <a:solidFill>
                  <a:srgbClr val="3F4F49"/>
                </a:solidFill>
                <a:latin typeface="Segoe UI"/>
                <a:cs typeface="Segoe UI"/>
              </a:rPr>
              <a:t>row 2 has 2 entries, expected 3</a:t>
            </a:r>
          </a:p>
        </p:txBody>
      </p:sp>
      <p:sp>
        <p:nvSpPr>
          <p:cNvPr id="23" name="shape23"/>
          <p:cNvSpPr txBox="1"/>
          <p:nvPr/>
        </p:nvSpPr>
        <p:spPr>
          <a:xfrm>
            <a:off x="660400" y="4302760"/>
            <a:ext cx="5181600" cy="24384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736600" y="4302760"/>
            <a:ext cx="13208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 b="1">
                <a:solidFill>
                  <a:srgbClr val="14261F"/>
                </a:solidFill>
                <a:latin typeface="Consolas"/>
                <a:cs typeface="Consolas"/>
              </a:rPr>
              <a:t>undeclared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2057400" y="4302760"/>
            <a:ext cx="37084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>
                <a:solidFill>
                  <a:srgbClr val="3F4F49"/>
                </a:solidFill>
                <a:latin typeface="Segoe UI"/>
                <a:cs typeface="Segoe UI"/>
              </a:rPr>
              <a:t>assignment to undeclared variable 'B'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736600" y="4546600"/>
            <a:ext cx="13208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 b="1">
                <a:solidFill>
                  <a:srgbClr val="14261F"/>
                </a:solidFill>
                <a:latin typeface="Consolas"/>
                <a:cs typeface="Consolas"/>
              </a:rPr>
              <a:t>duplicate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2057400" y="4546600"/>
            <a:ext cx="37084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>
                <a:solidFill>
                  <a:srgbClr val="3F4F49"/>
                </a:solidFill>
                <a:latin typeface="Segoe UI"/>
                <a:cs typeface="Segoe UI"/>
              </a:rPr>
              <a:t>duplicate declaration of 'A'</a:t>
            </a:r>
          </a:p>
        </p:txBody>
      </p:sp>
      <p:sp>
        <p:nvSpPr>
          <p:cNvPr id="28" name="shape28"/>
          <p:cNvSpPr txBox="1"/>
          <p:nvPr/>
        </p:nvSpPr>
        <p:spPr>
          <a:xfrm>
            <a:off x="660400" y="4790440"/>
            <a:ext cx="5181600" cy="24384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9" name="text29"/>
          <p:cNvSpPr txBox="1"/>
          <p:nvPr/>
        </p:nvSpPr>
        <p:spPr>
          <a:xfrm>
            <a:off x="736600" y="4790440"/>
            <a:ext cx="13208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 b="1">
                <a:solidFill>
                  <a:srgbClr val="14261F"/>
                </a:solidFill>
                <a:latin typeface="Consolas"/>
                <a:cs typeface="Consolas"/>
              </a:rPr>
              <a:t>syntax</a:t>
            </a:r>
          </a:p>
        </p:txBody>
      </p:sp>
      <p:sp>
        <p:nvSpPr>
          <p:cNvPr id="30" name="text30"/>
          <p:cNvSpPr txBox="1"/>
          <p:nvPr/>
        </p:nvSpPr>
        <p:spPr>
          <a:xfrm>
            <a:off x="2057400" y="4790440"/>
            <a:ext cx="37084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>
                <a:solidFill>
                  <a:srgbClr val="3F4F49"/>
                </a:solidFill>
                <a:latin typeface="Segoe UI"/>
                <a:cs typeface="Segoe UI"/>
              </a:rPr>
              <a:t>unexpected IDENT, expecting ';' or '='</a:t>
            </a:r>
          </a:p>
        </p:txBody>
      </p:sp>
      <p:sp>
        <p:nvSpPr>
          <p:cNvPr id="31" name="text31"/>
          <p:cNvSpPr txBox="1"/>
          <p:nvPr/>
        </p:nvSpPr>
        <p:spPr>
          <a:xfrm>
            <a:off x="736600" y="5034280"/>
            <a:ext cx="13208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 b="1">
                <a:solidFill>
                  <a:srgbClr val="14261F"/>
                </a:solidFill>
                <a:latin typeface="Consolas"/>
                <a:cs typeface="Consolas"/>
              </a:rPr>
              <a:t>lexical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2057400" y="5034280"/>
            <a:ext cx="37084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90" dirty="0">
                <a:solidFill>
                  <a:srgbClr val="3F4F49"/>
                </a:solidFill>
                <a:latin typeface="Segoe UI"/>
                <a:cs typeface="Segoe UI"/>
              </a:rPr>
              <a:t>illegal character '$'</a:t>
            </a:r>
          </a:p>
        </p:txBody>
      </p:sp>
      <p:sp>
        <p:nvSpPr>
          <p:cNvPr id="33" name="panel33"/>
          <p:cNvSpPr txBox="1"/>
          <p:nvPr/>
        </p:nvSpPr>
        <p:spPr>
          <a:xfrm>
            <a:off x="6248400" y="1422400"/>
            <a:ext cx="5384800" cy="4038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4" name="text34"/>
          <p:cNvSpPr txBox="1"/>
          <p:nvPr/>
        </p:nvSpPr>
        <p:spPr>
          <a:xfrm>
            <a:off x="6413500" y="1524000"/>
            <a:ext cx="5054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2   ·   Optimization</a:t>
            </a:r>
          </a:p>
        </p:txBody>
      </p:sp>
      <p:sp>
        <p:nvSpPr>
          <p:cNvPr id="35" name="text35"/>
          <p:cNvSpPr txBox="1"/>
          <p:nvPr/>
        </p:nvSpPr>
        <p:spPr>
          <a:xfrm>
            <a:off x="6426200" y="1778000"/>
            <a:ext cx="50292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90" dirty="0" b="1" spc="90" cap="all">
                <a:solidFill>
                  <a:srgbClr val="0E7C6B"/>
                </a:solidFill>
                <a:latin typeface="Segoe UI"/>
                <a:cs typeface="Segoe UI"/>
              </a:rPr>
              <a:t>Common subexpression elimination</a:t>
            </a:r>
          </a:p>
        </p:txBody>
      </p:sp>
      <p:sp>
        <p:nvSpPr>
          <p:cNvPr id="36" name="panel36"/>
          <p:cNvSpPr txBox="1"/>
          <p:nvPr/>
        </p:nvSpPr>
        <p:spPr>
          <a:xfrm>
            <a:off x="6426200" y="1968500"/>
            <a:ext cx="2362200" cy="7366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7" name="text37"/>
          <p:cNvSpPr txBox="1"/>
          <p:nvPr/>
        </p:nvSpPr>
        <p:spPr>
          <a:xfrm>
            <a:off x="6426200" y="1968500"/>
            <a:ext cx="2362200" cy="7366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76200" rIns="76200" bIns="63500" anchor="t">
            <a:noAutofit/>
          </a:bodyPr>
          <a:lstStyle/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t1 = A * B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X  = t1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F09AA8"/>
                </a:solidFill>
                <a:latin typeface="Consolas"/>
                <a:cs typeface="Consolas"/>
              </a:rPr>
              <a:t>t2 = A * B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Y  = t2</a:t>
            </a:r>
          </a:p>
        </p:txBody>
      </p:sp>
      <p:sp>
        <p:nvSpPr>
          <p:cNvPr id="38" name="arrow38"/>
          <p:cNvSpPr txBox="1"/>
          <p:nvPr/>
        </p:nvSpPr>
        <p:spPr>
          <a:xfrm>
            <a:off x="8864600" y="2209800"/>
            <a:ext cx="254000" cy="203200"/>
          </a:xfrm>
          <a:prstGeom prst="rightArrow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9" name="panel39"/>
          <p:cNvSpPr txBox="1"/>
          <p:nvPr/>
        </p:nvSpPr>
        <p:spPr>
          <a:xfrm>
            <a:off x="9194800" y="1968500"/>
            <a:ext cx="2260600" cy="7366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0" name="text40"/>
          <p:cNvSpPr txBox="1"/>
          <p:nvPr/>
        </p:nvSpPr>
        <p:spPr>
          <a:xfrm>
            <a:off x="9194800" y="1968500"/>
            <a:ext cx="2260600" cy="7366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76200" rIns="76200" bIns="63500" anchor="t">
            <a:noAutofit/>
          </a:bodyPr>
          <a:lstStyle/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t1 = A * B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X  = t1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5FD3BC"/>
                </a:solidFill>
                <a:latin typeface="Consolas"/>
                <a:cs typeface="Consolas"/>
              </a:rPr>
              <a:t>Y  = t1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41" name="text41"/>
          <p:cNvSpPr txBox="1"/>
          <p:nvPr/>
        </p:nvSpPr>
        <p:spPr>
          <a:xfrm>
            <a:off x="6426200" y="2730500"/>
            <a:ext cx="5029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70" dirty="0" i="1">
                <a:solidFill>
                  <a:srgbClr val="3F4F49"/>
                </a:solidFill>
                <a:latin typeface="Segoe UI"/>
                <a:cs typeface="Segoe UI"/>
              </a:rPr>
              <a:t>A matrix multiply is the costliest operation in the language.</a:t>
            </a:r>
          </a:p>
        </p:txBody>
      </p:sp>
      <p:sp>
        <p:nvSpPr>
          <p:cNvPr id="42" name="text42"/>
          <p:cNvSpPr txBox="1"/>
          <p:nvPr/>
        </p:nvSpPr>
        <p:spPr>
          <a:xfrm>
            <a:off x="6426200" y="2921000"/>
            <a:ext cx="50292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90" dirty="0" b="1" spc="90" cap="all">
                <a:solidFill>
                  <a:srgbClr val="0E7C6B"/>
                </a:solidFill>
                <a:latin typeface="Segoe UI"/>
                <a:cs typeface="Segoe UI"/>
              </a:rPr>
              <a:t>Dead code elimination</a:t>
            </a:r>
          </a:p>
        </p:txBody>
      </p:sp>
      <p:sp>
        <p:nvSpPr>
          <p:cNvPr id="43" name="panel43"/>
          <p:cNvSpPr txBox="1"/>
          <p:nvPr/>
        </p:nvSpPr>
        <p:spPr>
          <a:xfrm>
            <a:off x="6426200" y="3111500"/>
            <a:ext cx="2362200" cy="7366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4" name="text44"/>
          <p:cNvSpPr txBox="1"/>
          <p:nvPr/>
        </p:nvSpPr>
        <p:spPr>
          <a:xfrm>
            <a:off x="6426200" y="3111500"/>
            <a:ext cx="2362200" cy="7366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76200" rIns="76200" bIns="63500" anchor="t">
            <a:noAutofit/>
          </a:bodyPr>
          <a:lstStyle/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F09AA8"/>
                </a:solidFill>
                <a:latin typeface="Consolas"/>
                <a:cs typeface="Consolas"/>
              </a:rPr>
              <a:t>t1 = A * B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F09AA8"/>
                </a:solidFill>
                <a:latin typeface="Consolas"/>
                <a:cs typeface="Consolas"/>
              </a:rPr>
              <a:t>X  = t1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t2 = C * D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X  = t2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print X</a:t>
            </a:r>
          </a:p>
        </p:txBody>
      </p:sp>
      <p:sp>
        <p:nvSpPr>
          <p:cNvPr id="45" name="arrow45"/>
          <p:cNvSpPr txBox="1"/>
          <p:nvPr/>
        </p:nvSpPr>
        <p:spPr>
          <a:xfrm>
            <a:off x="8864600" y="3352800"/>
            <a:ext cx="254000" cy="203200"/>
          </a:xfrm>
          <a:prstGeom prst="rightArrow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6" name="panel46"/>
          <p:cNvSpPr txBox="1"/>
          <p:nvPr/>
        </p:nvSpPr>
        <p:spPr>
          <a:xfrm>
            <a:off x="9194800" y="3111500"/>
            <a:ext cx="2260600" cy="7366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7" name="text47"/>
          <p:cNvSpPr txBox="1"/>
          <p:nvPr/>
        </p:nvSpPr>
        <p:spPr>
          <a:xfrm>
            <a:off x="9194800" y="3111500"/>
            <a:ext cx="2260600" cy="7366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76200" rIns="76200" bIns="63500" anchor="t">
            <a:noAutofit/>
          </a:bodyPr>
          <a:lstStyle/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t2 = C * D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X  = t2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print X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980"/>
              </a:lnSpc>
              <a:buNone/>
            </a:pPr>
            <a:r>
              <a:rPr lang="en-US" sz="750" dirty="0">
                <a:solidFill>
                  <a:srgbClr val="5FD3BC"/>
                </a:solidFill>
                <a:latin typeface="Consolas"/>
                <a:cs typeface="Consolas"/>
              </a:rPr>
              <a:t>9 → 5 instructions</a:t>
            </a:r>
          </a:p>
        </p:txBody>
      </p:sp>
      <p:sp>
        <p:nvSpPr>
          <p:cNvPr id="48" name="text48"/>
          <p:cNvSpPr txBox="1"/>
          <p:nvPr/>
        </p:nvSpPr>
        <p:spPr>
          <a:xfrm>
            <a:off x="6426200" y="3873500"/>
            <a:ext cx="5029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70" dirty="0" i="1">
                <a:solidFill>
                  <a:srgbClr val="3F4F49"/>
                </a:solidFill>
                <a:latin typeface="Segoe UI"/>
                <a:cs typeface="Segoe UI"/>
              </a:rPr>
              <a:t>Removing X = A*B makes A and B dead too, so the passes repeat.</a:t>
            </a:r>
          </a:p>
        </p:txBody>
      </p:sp>
      <p:sp>
        <p:nvSpPr>
          <p:cNvPr id="49" name="text49"/>
          <p:cNvSpPr txBox="1"/>
          <p:nvPr/>
        </p:nvSpPr>
        <p:spPr>
          <a:xfrm>
            <a:off x="6426200" y="4089400"/>
            <a:ext cx="50292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790" dirty="0" b="1" spc="90" cap="all">
                <a:solidFill>
                  <a:srgbClr val="B4690E"/>
                </a:solidFill>
                <a:latin typeface="Segoe UI"/>
                <a:cs typeface="Segoe UI"/>
              </a:rPr>
              <a:t>Matrix-specific algebra   ·   the original contribution</a:t>
            </a:r>
          </a:p>
        </p:txBody>
      </p:sp>
      <p:sp>
        <p:nvSpPr>
          <p:cNvPr id="50" name="panel50"/>
          <p:cNvSpPr txBox="1"/>
          <p:nvPr/>
        </p:nvSpPr>
        <p:spPr>
          <a:xfrm>
            <a:off x="6426200" y="4279900"/>
            <a:ext cx="5029200" cy="9398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1" name="text51"/>
          <p:cNvSpPr txBox="1"/>
          <p:nvPr/>
        </p:nvSpPr>
        <p:spPr>
          <a:xfrm>
            <a:off x="6426200" y="4279900"/>
            <a:ext cx="5029200" cy="939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040"/>
              </a:lnSpc>
              <a:buNone/>
            </a:pPr>
            <a:r>
              <a:rPr lang="en-US" sz="760" dirty="0">
                <a:solidFill>
                  <a:srgbClr val="E8B45F"/>
                </a:solidFill>
                <a:latin typeface="Consolas"/>
                <a:cs typeface="Consolas"/>
              </a:rPr>
              <a:t>A * identity(n)  →  A        identity(n) * A  →  A</a:t>
            </a:r>
          </a:p>
          <a:p>
            <a:pPr algn="l">
              <a:lnSpc>
                <a:spcPts val="1040"/>
              </a:lnSpc>
              <a:buNone/>
            </a:pPr>
            <a:r>
              <a:rPr lang="en-US" sz="760" dirty="0">
                <a:solidFill>
                  <a:srgbClr val="E8B45F"/>
                </a:solidFill>
                <a:latin typeface="Consolas"/>
                <a:cs typeface="Consolas"/>
              </a:rPr>
              <a:t>A + zeros(r,c)   →  A        A - zeros(r,c)   →  A</a:t>
            </a:r>
          </a:p>
          <a:p>
            <a:pPr algn="l">
              <a:lnSpc>
                <a:spcPts val="1040"/>
              </a:lnSpc>
              <a:buNone/>
            </a:pPr>
            <a:r>
              <a:rPr lang="en-US" sz="760" dirty="0">
                <a:solidFill>
                  <a:srgbClr val="E8B45F"/>
                </a:solidFill>
                <a:latin typeface="Consolas"/>
                <a:cs typeface="Consolas"/>
              </a:rPr>
              <a:t>A * 1            →  A        A * 0            →  zeros(r,c)</a:t>
            </a:r>
          </a:p>
          <a:p>
            <a:pPr algn="l">
              <a:lnSpc>
                <a:spcPts val="1040"/>
              </a:lnSpc>
              <a:buNone/>
            </a:pPr>
            <a:r>
              <a:rPr lang="en-US" sz="760" dirty="0">
                <a:solidFill>
                  <a:srgbClr val="E8B45F"/>
                </a:solidFill>
                <a:latin typeface="Consolas"/>
                <a:cs typeface="Consolas"/>
              </a:rPr>
              <a:t>transpose(transpose(A))           →  A</a:t>
            </a:r>
          </a:p>
          <a:p>
            <a:pPr algn="l">
              <a:lnSpc>
                <a:spcPts val="1040"/>
              </a:lnSpc>
              <a:buNone/>
            </a:pPr>
            <a:r>
              <a:rPr lang="en-US" sz="76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040"/>
              </a:lnSpc>
              <a:buNone/>
            </a:pPr>
            <a:r>
              <a:rPr lang="en-US" sz="760" dirty="0">
                <a:solidFill>
                  <a:srgbClr val="7E968D"/>
                </a:solidFill>
                <a:latin typeface="Consolas"/>
                <a:cs typeface="Consolas"/>
              </a:rPr>
              <a:t>a general optimizer cannot: it does not know what a matrix is</a:t>
            </a:r>
          </a:p>
        </p:txBody>
      </p:sp>
      <p:sp>
        <p:nvSpPr>
          <p:cNvPr id="52" name="panel52"/>
          <p:cNvSpPr txBox="1"/>
          <p:nvPr/>
        </p:nvSpPr>
        <p:spPr>
          <a:xfrm>
            <a:off x="558800" y="5588000"/>
            <a:ext cx="11074400" cy="482600"/>
          </a:xfrm>
          <a:prstGeom prst="roundRect">
            <a:avLst>
              <a:gd name="adj" fmla="val 2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3" name="shape53"/>
          <p:cNvSpPr txBox="1"/>
          <p:nvPr/>
        </p:nvSpPr>
        <p:spPr>
          <a:xfrm>
            <a:off x="558800" y="5588000"/>
            <a:ext cx="44450" cy="482600"/>
          </a:xfrm>
          <a:prstGeom prst="rect">
            <a:avLst/>
          </a:prstGeom>
          <a:solidFill>
            <a:srgbClr val="B4690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4" name="text54"/>
          <p:cNvSpPr txBox="1"/>
          <p:nvPr/>
        </p:nvSpPr>
        <p:spPr>
          <a:xfrm>
            <a:off x="774700" y="5588000"/>
            <a:ext cx="10642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80" dirty="0" b="1">
                <a:solidFill>
                  <a:srgbClr val="B4690E"/>
                </a:solidFill>
                <a:latin typeface="Segoe UI"/>
                <a:cs typeface="Segoe UI"/>
              </a:rPr>
              <a:t>Is it still the same program?   </a:t>
            </a:r>
            <a:r>
              <a:rPr lang="en-US" sz="880" dirty="0">
                <a:solidFill>
                  <a:srgbClr val="14261F"/>
                </a:solidFill>
                <a:latin typeface="Segoe UI"/>
                <a:cs typeface="Segoe UI"/>
              </a:rPr>
              <a:t>Every example is executed twice, with the optimizer and without, and the two outputs must be byte-identical. A smaller program that computes something else is not an optimization, and an instruction count cannot tell the difference.</a:t>
            </a:r>
          </a:p>
        </p:txBody>
      </p:sp>
      <p:sp>
        <p:nvSpPr>
          <p:cNvPr id="55" name="panel55"/>
          <p:cNvSpPr txBox="1"/>
          <p:nvPr/>
        </p:nvSpPr>
        <p:spPr>
          <a:xfrm>
            <a:off x="558800" y="6197600"/>
            <a:ext cx="11074400" cy="406400"/>
          </a:xfrm>
          <a:prstGeom prst="roundRect">
            <a:avLst>
              <a:gd name="adj" fmla="val 2000"/>
            </a:avLst>
          </a:prstGeom>
          <a:solidFill>
            <a:srgbClr val="E4F3F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6" name="shape56"/>
          <p:cNvSpPr txBox="1"/>
          <p:nvPr/>
        </p:nvSpPr>
        <p:spPr>
          <a:xfrm>
            <a:off x="558800" y="6197600"/>
            <a:ext cx="44450" cy="4064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7" name="text57"/>
          <p:cNvSpPr txBox="1"/>
          <p:nvPr/>
        </p:nvSpPr>
        <p:spPr>
          <a:xfrm>
            <a:off x="774700" y="6197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 b="1" spc="130" cap="all">
                <a:solidFill>
                  <a:srgbClr val="0E7C6B"/>
                </a:solidFill>
                <a:latin typeface="Segoe UI"/>
                <a:cs typeface="Segoe UI"/>
              </a:rPr>
              <a:t>Key takeaway     </a:t>
            </a:r>
            <a:r>
              <a:rPr lang="en-US" sz="1050" dirty="0">
                <a:solidFill>
                  <a:srgbClr val="14261F"/>
                </a:solidFill>
                <a:latin typeface="Segoe UI"/>
                <a:cs typeface="Segoe UI"/>
              </a:rPr>
              <a:t>Shapes are checked once and then reused: the same facts that reject a bad program are what let a good one be optimized.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2"/>
          <p:cNvSpPr txBox="1"/>
          <p:nvPr/>
        </p:nvSpPr>
        <p:spPr>
          <a:xfrm>
            <a:off x="558800" y="279400"/>
            <a:ext cx="812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70" cap="all">
                <a:solidFill>
                  <a:srgbClr val="0E7C6B"/>
                </a:solidFill>
                <a:latin typeface="Segoe UI"/>
                <a:cs typeface="Segoe UI"/>
              </a:rPr>
              <a:t>06   ·   Current State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10617200" y="279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800" dirty="0" b="1" spc="100">
                <a:solidFill>
                  <a:srgbClr val="7C8B85"/>
                </a:solidFill>
                <a:latin typeface="Segoe UI"/>
                <a:cs typeface="Segoe UI"/>
              </a:rPr>
              <a:t>6 / 8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558800" y="482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14261F"/>
                </a:solidFill>
                <a:latin typeface="Georgia"/>
                <a:cs typeface="Georgia"/>
              </a:rPr>
              <a:t>What Is Already Built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558800" y="9271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7C8B85"/>
                </a:solidFill>
                <a:latin typeface="Segoe UI"/>
                <a:cs typeface="Segoe UI"/>
              </a:rPr>
              <a:t>The whole pipeline runs today. Nothing on the previous slides is a plan.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558800" y="1257300"/>
            <a:ext cx="11074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panel7"/>
          <p:cNvSpPr txBox="1"/>
          <p:nvPr/>
        </p:nvSpPr>
        <p:spPr>
          <a:xfrm>
            <a:off x="558800" y="1473200"/>
            <a:ext cx="3276600" cy="459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23900" y="1574800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Repository</a:t>
            </a:r>
          </a:p>
        </p:txBody>
      </p:sp>
      <p:sp>
        <p:nvSpPr>
          <p:cNvPr id="9" name="panel9"/>
          <p:cNvSpPr txBox="1"/>
          <p:nvPr/>
        </p:nvSpPr>
        <p:spPr>
          <a:xfrm>
            <a:off x="711200" y="1828800"/>
            <a:ext cx="2971800" cy="32766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711200" y="1828800"/>
            <a:ext cx="2971800" cy="3276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MatrixLang/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|-- Makefile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|-- README.md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|-- src/            15 modules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    |-- matrix.l    matrix.y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    |-- types.c     semantic.c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    |-- symtab.c    ast.c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    |-- tac.c       optimize.c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    |-- codegen.c   vm.c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    `-- value.c     diag.c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|-- examples/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    |-- phase1/     valid/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    `-- errors/     optimize/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|-- tests/          139 assertions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|-- demos/          one per review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|-- tools/          figure, docx, deck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`-- docs/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7E968D"/>
                </a:solidFill>
                <a:latin typeface="Consolas"/>
                <a:cs typeface="Consolas"/>
              </a:rPr>
              <a:t>one command per review:</a:t>
            </a:r>
          </a:p>
          <a:p>
            <a:pPr algn="l">
              <a:lnSpc>
                <a:spcPts val="1160"/>
              </a:lnSpc>
              <a:buNone/>
            </a:pPr>
            <a:r>
              <a:rPr lang="en-US" sz="770" dirty="0">
                <a:solidFill>
                  <a:srgbClr val="5FD3BC"/>
                </a:solidFill>
                <a:latin typeface="Consolas"/>
                <a:cs typeface="Consolas"/>
              </a:rPr>
              <a:t>make demo1  demo2  demo3</a:t>
            </a:r>
          </a:p>
        </p:txBody>
      </p:sp>
      <p:sp>
        <p:nvSpPr>
          <p:cNvPr id="11" name="rule11"/>
          <p:cNvSpPr txBox="1"/>
          <p:nvPr/>
        </p:nvSpPr>
        <p:spPr>
          <a:xfrm>
            <a:off x="736600" y="5283200"/>
            <a:ext cx="29210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text12"/>
          <p:cNvSpPr txBox="1"/>
          <p:nvPr/>
        </p:nvSpPr>
        <p:spPr>
          <a:xfrm>
            <a:off x="736600" y="5410200"/>
            <a:ext cx="2921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780" dirty="0">
                <a:solidFill>
                  <a:srgbClr val="7C8B85"/>
                </a:solidFill>
                <a:latin typeface="Segoe UI"/>
                <a:cs typeface="Segoe UI"/>
              </a:rPr>
              <a:t>tools/ holds three generators: the architecture figure, the Phase 1 document, and this deck. Each rebuilds from the repository.</a:t>
            </a:r>
          </a:p>
        </p:txBody>
      </p:sp>
      <p:sp>
        <p:nvSpPr>
          <p:cNvPr id="13" name="panel13"/>
          <p:cNvSpPr txBox="1"/>
          <p:nvPr/>
        </p:nvSpPr>
        <p:spPr>
          <a:xfrm>
            <a:off x="4038600" y="1473200"/>
            <a:ext cx="3810000" cy="2921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4203700" y="157480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Implemented, end to end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4216400" y="18288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Flex lexical analyser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5969000" y="18288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Bison LALR(1) parser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4216400" y="21463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Abstract syntax tree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5969000" y="21463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Symbol table with shapes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4216400" y="24638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Shape inference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5969000" y="24638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Dimension checking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4216400" y="27813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Diagnostics with detail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5969000" y="27813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Error recovery at ';'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4216400" y="30988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Three-address code</a:t>
            </a:r>
          </a:p>
        </p:txBody>
      </p:sp>
      <p:sp>
        <p:nvSpPr>
          <p:cNvPr id="24" name="text24"/>
          <p:cNvSpPr txBox="1"/>
          <p:nvPr/>
        </p:nvSpPr>
        <p:spPr>
          <a:xfrm>
            <a:off x="5969000" y="30988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Constant folding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4216400" y="34163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Common subexpr. elim.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5969000" y="34163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Copy propagation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4216400" y="37338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Dead code elimination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5969000" y="37338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Matrix algebra passes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4216400" y="40513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Target code generation</a:t>
            </a:r>
          </a:p>
        </p:txBody>
      </p:sp>
      <p:sp>
        <p:nvSpPr>
          <p:cNvPr id="30" name="text30"/>
          <p:cNvSpPr txBox="1"/>
          <p:nvPr/>
        </p:nvSpPr>
        <p:spPr>
          <a:xfrm>
            <a:off x="5969000" y="4051300"/>
            <a:ext cx="170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4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19" dirty="0">
                <a:solidFill>
                  <a:srgbClr val="3F4F49"/>
                </a:solidFill>
                <a:latin typeface="Segoe UI"/>
                <a:cs typeface="Segoe UI"/>
              </a:rPr>
              <a:t>Virtual machine</a:t>
            </a:r>
          </a:p>
        </p:txBody>
      </p:sp>
      <p:sp>
        <p:nvSpPr>
          <p:cNvPr id="31" name="panel31"/>
          <p:cNvSpPr txBox="1"/>
          <p:nvPr/>
        </p:nvSpPr>
        <p:spPr>
          <a:xfrm>
            <a:off x="4038600" y="4521200"/>
            <a:ext cx="3810000" cy="1549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4203700" y="462280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One flag per stage</a:t>
            </a:r>
          </a:p>
        </p:txBody>
      </p:sp>
      <p:sp>
        <p:nvSpPr>
          <p:cNvPr id="33" name="panel33"/>
          <p:cNvSpPr txBox="1"/>
          <p:nvPr/>
        </p:nvSpPr>
        <p:spPr>
          <a:xfrm>
            <a:off x="4216400" y="4876800"/>
            <a:ext cx="3454400" cy="10922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4" name="text34"/>
          <p:cNvSpPr txBox="1"/>
          <p:nvPr/>
        </p:nvSpPr>
        <p:spPr>
          <a:xfrm>
            <a:off x="4216400" y="4876800"/>
            <a:ext cx="3454400" cy="1092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--tokens    --ast       --symbols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--check     --tac       --optimize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--explain   --report    --target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--run       --trace     --stats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40"/>
              </a:lnSpc>
              <a:buNone/>
            </a:pPr>
            <a:r>
              <a:rPr lang="en-US" sz="800" dirty="0">
                <a:solidFill>
                  <a:srgbClr val="5FD3BC"/>
                </a:solidFill>
                <a:latin typeface="Consolas"/>
                <a:cs typeface="Consolas"/>
              </a:rPr>
              <a:t>--phase1  --phase2  --phase3</a:t>
            </a:r>
          </a:p>
        </p:txBody>
      </p:sp>
      <p:sp>
        <p:nvSpPr>
          <p:cNvPr id="35" name="panel35"/>
          <p:cNvSpPr txBox="1"/>
          <p:nvPr/>
        </p:nvSpPr>
        <p:spPr>
          <a:xfrm>
            <a:off x="8051800" y="1473200"/>
            <a:ext cx="3581400" cy="2921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8216900" y="1574800"/>
            <a:ext cx="3251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Measured</a:t>
            </a:r>
          </a:p>
        </p:txBody>
      </p:sp>
      <p:sp>
        <p:nvSpPr>
          <p:cNvPr id="37" name="text37"/>
          <p:cNvSpPr txBox="1"/>
          <p:nvPr/>
        </p:nvSpPr>
        <p:spPr>
          <a:xfrm>
            <a:off x="8255000" y="1879600"/>
            <a:ext cx="1524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3000" dirty="0" b="1">
                <a:solidFill>
                  <a:srgbClr val="0E7C6B"/>
                </a:solidFill>
                <a:latin typeface="Georgia"/>
                <a:cs typeface="Georgia"/>
              </a:rPr>
              <a:t>139</a:t>
            </a:r>
          </a:p>
        </p:txBody>
      </p:sp>
      <p:sp>
        <p:nvSpPr>
          <p:cNvPr id="38" name="text38"/>
          <p:cNvSpPr txBox="1"/>
          <p:nvPr/>
        </p:nvSpPr>
        <p:spPr>
          <a:xfrm>
            <a:off x="8255000" y="23368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7C8B85"/>
                </a:solidFill>
                <a:latin typeface="Segoe UI"/>
                <a:cs typeface="Segoe UI"/>
              </a:rPr>
              <a:t>acceptance assertions,</a:t>
            </a:r>
          </a:p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7C8B85"/>
                </a:solidFill>
                <a:latin typeface="Segoe UI"/>
                <a:cs typeface="Segoe UI"/>
              </a:rPr>
              <a:t>all passing</a:t>
            </a:r>
          </a:p>
        </p:txBody>
      </p:sp>
      <p:sp>
        <p:nvSpPr>
          <p:cNvPr id="39" name="text39"/>
          <p:cNvSpPr txBox="1"/>
          <p:nvPr/>
        </p:nvSpPr>
        <p:spPr>
          <a:xfrm>
            <a:off x="9931400" y="1879600"/>
            <a:ext cx="1524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3000" dirty="0" b="1">
                <a:solidFill>
                  <a:srgbClr val="0E7C6B"/>
                </a:solidFill>
                <a:latin typeface="Georgia"/>
                <a:cs typeface="Georgia"/>
              </a:rPr>
              <a:t>0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9931400" y="23368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7C8B85"/>
                </a:solidFill>
                <a:latin typeface="Segoe UI"/>
                <a:cs typeface="Segoe UI"/>
              </a:rPr>
              <a:t>compiler warnings under</a:t>
            </a:r>
          </a:p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7C8B85"/>
                </a:solidFill>
                <a:latin typeface="Segoe UI"/>
                <a:cs typeface="Segoe UI"/>
              </a:rPr>
              <a:t>-Wall -Wextra</a:t>
            </a:r>
          </a:p>
        </p:txBody>
      </p:sp>
      <p:sp>
        <p:nvSpPr>
          <p:cNvPr id="41" name="rule41"/>
          <p:cNvSpPr txBox="1"/>
          <p:nvPr/>
        </p:nvSpPr>
        <p:spPr>
          <a:xfrm>
            <a:off x="8255000" y="2844800"/>
            <a:ext cx="3200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2" name="text42"/>
          <p:cNvSpPr txBox="1"/>
          <p:nvPr/>
        </p:nvSpPr>
        <p:spPr>
          <a:xfrm>
            <a:off x="8255000" y="3022600"/>
            <a:ext cx="1524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3000" dirty="0" b="1">
                <a:solidFill>
                  <a:srgbClr val="0E7C6B"/>
                </a:solidFill>
                <a:latin typeface="Georgia"/>
                <a:cs typeface="Georgia"/>
              </a:rPr>
              <a:t>0</a:t>
            </a:r>
          </a:p>
        </p:txBody>
      </p:sp>
      <p:sp>
        <p:nvSpPr>
          <p:cNvPr id="43" name="text43"/>
          <p:cNvSpPr txBox="1"/>
          <p:nvPr/>
        </p:nvSpPr>
        <p:spPr>
          <a:xfrm>
            <a:off x="8255000" y="34798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7C8B85"/>
                </a:solidFill>
                <a:latin typeface="Segoe UI"/>
                <a:cs typeface="Segoe UI"/>
              </a:rPr>
              <a:t>LALR(1) grammar</a:t>
            </a:r>
          </a:p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7C8B85"/>
                </a:solidFill>
                <a:latin typeface="Segoe UI"/>
                <a:cs typeface="Segoe UI"/>
              </a:rPr>
              <a:t>conflicts</a:t>
            </a:r>
          </a:p>
        </p:txBody>
      </p:sp>
      <p:sp>
        <p:nvSpPr>
          <p:cNvPr id="44" name="text44"/>
          <p:cNvSpPr txBox="1"/>
          <p:nvPr/>
        </p:nvSpPr>
        <p:spPr>
          <a:xfrm>
            <a:off x="9931400" y="3022600"/>
            <a:ext cx="1524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3000" dirty="0" b="1">
                <a:solidFill>
                  <a:srgbClr val="14261F"/>
                </a:solidFill>
                <a:latin typeface="Georgia"/>
                <a:cs typeface="Georgia"/>
              </a:rPr>
              <a:t>3781</a:t>
            </a:r>
          </a:p>
        </p:txBody>
      </p:sp>
      <p:sp>
        <p:nvSpPr>
          <p:cNvPr id="45" name="text45"/>
          <p:cNvSpPr txBox="1"/>
          <p:nvPr/>
        </p:nvSpPr>
        <p:spPr>
          <a:xfrm>
            <a:off x="9931400" y="34798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7C8B85"/>
                </a:solidFill>
                <a:latin typeface="Segoe UI"/>
                <a:cs typeface="Segoe UI"/>
              </a:rPr>
              <a:t>lines of C, plus 320</a:t>
            </a:r>
          </a:p>
          <a:p>
            <a:pPr algn="l">
              <a:lnSpc>
                <a:spcPts val="1060"/>
              </a:lnSpc>
              <a:buNone/>
            </a:pPr>
            <a:r>
              <a:rPr lang="en-US" sz="819" dirty="0">
                <a:solidFill>
                  <a:srgbClr val="7C8B85"/>
                </a:solidFill>
                <a:latin typeface="Segoe UI"/>
                <a:cs typeface="Segoe UI"/>
              </a:rPr>
              <a:t>of Flex and Bison</a:t>
            </a:r>
          </a:p>
        </p:txBody>
      </p:sp>
      <p:sp>
        <p:nvSpPr>
          <p:cNvPr id="46" name="panel46"/>
          <p:cNvSpPr txBox="1"/>
          <p:nvPr/>
        </p:nvSpPr>
        <p:spPr>
          <a:xfrm>
            <a:off x="8051800" y="4521200"/>
            <a:ext cx="3581400" cy="1549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7" name="text47"/>
          <p:cNvSpPr txBox="1"/>
          <p:nvPr/>
        </p:nvSpPr>
        <p:spPr>
          <a:xfrm>
            <a:off x="8216900" y="4622800"/>
            <a:ext cx="3251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Instruction reduction</a:t>
            </a:r>
          </a:p>
        </p:txBody>
      </p:sp>
      <p:sp>
        <p:nvSpPr>
          <p:cNvPr id="48" name="text48"/>
          <p:cNvSpPr txBox="1"/>
          <p:nvPr/>
        </p:nvSpPr>
        <p:spPr>
          <a:xfrm>
            <a:off x="8229600" y="4876800"/>
            <a:ext cx="838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3F4F49"/>
                </a:solidFill>
                <a:latin typeface="Segoe UI"/>
                <a:cs typeface="Segoe UI"/>
              </a:rPr>
              <a:t>algebra</a:t>
            </a:r>
          </a:p>
        </p:txBody>
      </p:sp>
      <p:sp>
        <p:nvSpPr>
          <p:cNvPr id="49" name="shape49"/>
          <p:cNvSpPr txBox="1"/>
          <p:nvPr/>
        </p:nvSpPr>
        <p:spPr>
          <a:xfrm>
            <a:off x="9093200" y="4921250"/>
            <a:ext cx="1879600" cy="1016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0" name="shape50"/>
          <p:cNvSpPr txBox="1"/>
          <p:nvPr/>
        </p:nvSpPr>
        <p:spPr>
          <a:xfrm>
            <a:off x="9093200" y="4921250"/>
            <a:ext cx="1529994" cy="1016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1" name="text51"/>
          <p:cNvSpPr txBox="1"/>
          <p:nvPr/>
        </p:nvSpPr>
        <p:spPr>
          <a:xfrm>
            <a:off x="11023600" y="4876800"/>
            <a:ext cx="558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 b="1">
                <a:solidFill>
                  <a:srgbClr val="14261F"/>
                </a:solidFill>
                <a:latin typeface="Segoe UI"/>
                <a:cs typeface="Segoe UI"/>
              </a:rPr>
              <a:t>40.7%</a:t>
            </a:r>
          </a:p>
        </p:txBody>
      </p:sp>
      <p:sp>
        <p:nvSpPr>
          <p:cNvPr id="52" name="text52"/>
          <p:cNvSpPr txBox="1"/>
          <p:nvPr/>
        </p:nvSpPr>
        <p:spPr>
          <a:xfrm>
            <a:off x="8229600" y="5080000"/>
            <a:ext cx="838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3F4F49"/>
                </a:solidFill>
                <a:latin typeface="Segoe UI"/>
                <a:cs typeface="Segoe UI"/>
              </a:rPr>
              <a:t>dce</a:t>
            </a:r>
          </a:p>
        </p:txBody>
      </p:sp>
      <p:sp>
        <p:nvSpPr>
          <p:cNvPr id="53" name="shape53"/>
          <p:cNvSpPr txBox="1"/>
          <p:nvPr/>
        </p:nvSpPr>
        <p:spPr>
          <a:xfrm>
            <a:off x="9093200" y="5124450"/>
            <a:ext cx="1879600" cy="1016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4" name="shape54"/>
          <p:cNvSpPr txBox="1"/>
          <p:nvPr/>
        </p:nvSpPr>
        <p:spPr>
          <a:xfrm>
            <a:off x="9093200" y="5124450"/>
            <a:ext cx="1669085" cy="1016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5" name="text55"/>
          <p:cNvSpPr txBox="1"/>
          <p:nvPr/>
        </p:nvSpPr>
        <p:spPr>
          <a:xfrm>
            <a:off x="11023600" y="5080000"/>
            <a:ext cx="558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 b="1">
                <a:solidFill>
                  <a:srgbClr val="14261F"/>
                </a:solidFill>
                <a:latin typeface="Segoe UI"/>
                <a:cs typeface="Segoe UI"/>
              </a:rPr>
              <a:t>44.4%</a:t>
            </a:r>
          </a:p>
        </p:txBody>
      </p:sp>
      <p:sp>
        <p:nvSpPr>
          <p:cNvPr id="56" name="text56"/>
          <p:cNvSpPr txBox="1"/>
          <p:nvPr/>
        </p:nvSpPr>
        <p:spPr>
          <a:xfrm>
            <a:off x="8229600" y="5283200"/>
            <a:ext cx="838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3F4F49"/>
                </a:solidFill>
                <a:latin typeface="Segoe UI"/>
                <a:cs typeface="Segoe UI"/>
              </a:rPr>
              <a:t>lit. identity</a:t>
            </a:r>
          </a:p>
        </p:txBody>
      </p:sp>
      <p:sp>
        <p:nvSpPr>
          <p:cNvPr id="57" name="shape57"/>
          <p:cNvSpPr txBox="1"/>
          <p:nvPr/>
        </p:nvSpPr>
        <p:spPr>
          <a:xfrm>
            <a:off x="9093200" y="5327650"/>
            <a:ext cx="1879600" cy="1016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8" name="shape58"/>
          <p:cNvSpPr txBox="1"/>
          <p:nvPr/>
        </p:nvSpPr>
        <p:spPr>
          <a:xfrm>
            <a:off x="9093200" y="5327650"/>
            <a:ext cx="1503680" cy="1016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59" name="text59"/>
          <p:cNvSpPr txBox="1"/>
          <p:nvPr/>
        </p:nvSpPr>
        <p:spPr>
          <a:xfrm>
            <a:off x="11023600" y="5283200"/>
            <a:ext cx="558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 b="1">
                <a:solidFill>
                  <a:srgbClr val="14261F"/>
                </a:solidFill>
                <a:latin typeface="Segoe UI"/>
                <a:cs typeface="Segoe UI"/>
              </a:rPr>
              <a:t>40.0%</a:t>
            </a:r>
          </a:p>
        </p:txBody>
      </p:sp>
      <p:sp>
        <p:nvSpPr>
          <p:cNvPr id="60" name="text60"/>
          <p:cNvSpPr txBox="1"/>
          <p:nvPr/>
        </p:nvSpPr>
        <p:spPr>
          <a:xfrm>
            <a:off x="8229600" y="5486400"/>
            <a:ext cx="838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3F4F49"/>
                </a:solidFill>
                <a:latin typeface="Segoe UI"/>
                <a:cs typeface="Segoe UI"/>
              </a:rPr>
              <a:t>cse</a:t>
            </a:r>
          </a:p>
        </p:txBody>
      </p:sp>
      <p:sp>
        <p:nvSpPr>
          <p:cNvPr id="61" name="shape61"/>
          <p:cNvSpPr txBox="1"/>
          <p:nvPr/>
        </p:nvSpPr>
        <p:spPr>
          <a:xfrm>
            <a:off x="9093200" y="5530850"/>
            <a:ext cx="1879600" cy="1016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2" name="shape62"/>
          <p:cNvSpPr txBox="1"/>
          <p:nvPr/>
        </p:nvSpPr>
        <p:spPr>
          <a:xfrm>
            <a:off x="9093200" y="5530850"/>
            <a:ext cx="469900" cy="1016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3" name="text63"/>
          <p:cNvSpPr txBox="1"/>
          <p:nvPr/>
        </p:nvSpPr>
        <p:spPr>
          <a:xfrm>
            <a:off x="11023600" y="5486400"/>
            <a:ext cx="558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 b="1">
                <a:solidFill>
                  <a:srgbClr val="14261F"/>
                </a:solidFill>
                <a:latin typeface="Segoe UI"/>
                <a:cs typeface="Segoe UI"/>
              </a:rPr>
              <a:t>12.5%</a:t>
            </a:r>
          </a:p>
        </p:txBody>
      </p:sp>
      <p:sp>
        <p:nvSpPr>
          <p:cNvPr id="64" name="text64"/>
          <p:cNvSpPr txBox="1"/>
          <p:nvPr/>
        </p:nvSpPr>
        <p:spPr>
          <a:xfrm>
            <a:off x="8229600" y="5689600"/>
            <a:ext cx="838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>
                <a:solidFill>
                  <a:srgbClr val="3F4F49"/>
                </a:solidFill>
                <a:latin typeface="Segoe UI"/>
                <a:cs typeface="Segoe UI"/>
              </a:rPr>
              <a:t>chain</a:t>
            </a:r>
          </a:p>
        </p:txBody>
      </p:sp>
      <p:sp>
        <p:nvSpPr>
          <p:cNvPr id="65" name="shape65"/>
          <p:cNvSpPr txBox="1"/>
          <p:nvPr/>
        </p:nvSpPr>
        <p:spPr>
          <a:xfrm>
            <a:off x="9093200" y="5734050"/>
            <a:ext cx="1879600" cy="1016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6" name="shape66"/>
          <p:cNvSpPr txBox="1"/>
          <p:nvPr/>
        </p:nvSpPr>
        <p:spPr>
          <a:xfrm>
            <a:off x="9093200" y="5734050"/>
            <a:ext cx="19050" cy="101600"/>
          </a:xfrm>
          <a:prstGeom prst="rect">
            <a:avLst/>
          </a:prstGeom>
          <a:solidFill>
            <a:srgbClr val="7C8B85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7" name="text67"/>
          <p:cNvSpPr txBox="1"/>
          <p:nvPr/>
        </p:nvSpPr>
        <p:spPr>
          <a:xfrm>
            <a:off x="11023600" y="5689600"/>
            <a:ext cx="558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60" dirty="0" b="1">
                <a:solidFill>
                  <a:srgbClr val="7C8B85"/>
                </a:solidFill>
                <a:latin typeface="Segoe UI"/>
                <a:cs typeface="Segoe UI"/>
              </a:rPr>
              <a:t>0.0%</a:t>
            </a:r>
          </a:p>
        </p:txBody>
      </p:sp>
      <p:sp>
        <p:nvSpPr>
          <p:cNvPr id="68" name="text68"/>
          <p:cNvSpPr txBox="1"/>
          <p:nvPr/>
        </p:nvSpPr>
        <p:spPr>
          <a:xfrm>
            <a:off x="8229600" y="5918200"/>
            <a:ext cx="32258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0"/>
              </a:lnSpc>
              <a:buNone/>
            </a:pPr>
            <a:r>
              <a:rPr lang="en-US" sz="740" dirty="0" i="1">
                <a:solidFill>
                  <a:srgbClr val="7C8B85"/>
                </a:solidFill>
                <a:latin typeface="Segoe UI"/>
                <a:cs typeface="Segoe UI"/>
              </a:rPr>
              <a:t>chain.ml has nothing redundant, and the optimizer correctly leaves it alone.</a:t>
            </a:r>
          </a:p>
        </p:txBody>
      </p:sp>
      <p:sp>
        <p:nvSpPr>
          <p:cNvPr id="69" name="panel69"/>
          <p:cNvSpPr txBox="1"/>
          <p:nvPr/>
        </p:nvSpPr>
        <p:spPr>
          <a:xfrm>
            <a:off x="558800" y="6197600"/>
            <a:ext cx="11074400" cy="406400"/>
          </a:xfrm>
          <a:prstGeom prst="roundRect">
            <a:avLst>
              <a:gd name="adj" fmla="val 2000"/>
            </a:avLst>
          </a:prstGeom>
          <a:solidFill>
            <a:srgbClr val="E4F3F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0" name="shape70"/>
          <p:cNvSpPr txBox="1"/>
          <p:nvPr/>
        </p:nvSpPr>
        <p:spPr>
          <a:xfrm>
            <a:off x="558800" y="6197600"/>
            <a:ext cx="44450" cy="4064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1" name="text71"/>
          <p:cNvSpPr txBox="1"/>
          <p:nvPr/>
        </p:nvSpPr>
        <p:spPr>
          <a:xfrm>
            <a:off x="774700" y="6197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 b="1" spc="130" cap="all">
                <a:solidFill>
                  <a:srgbClr val="0E7C6B"/>
                </a:solidFill>
                <a:latin typeface="Segoe UI"/>
                <a:cs typeface="Segoe UI"/>
              </a:rPr>
              <a:t>Key takeaway     </a:t>
            </a:r>
            <a:r>
              <a:rPr lang="en-US" sz="1050" dirty="0">
                <a:solidFill>
                  <a:srgbClr val="14261F"/>
                </a:solidFill>
                <a:latin typeface="Segoe UI"/>
                <a:cs typeface="Segoe UI"/>
              </a:rPr>
              <a:t>The compiler is finished and demonstrable today; what remains is extension, not completion.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2"/>
          <p:cNvSpPr txBox="1"/>
          <p:nvPr/>
        </p:nvSpPr>
        <p:spPr>
          <a:xfrm>
            <a:off x="558800" y="279400"/>
            <a:ext cx="812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70" cap="all">
                <a:solidFill>
                  <a:srgbClr val="0E7C6B"/>
                </a:solidFill>
                <a:latin typeface="Segoe UI"/>
                <a:cs typeface="Segoe UI"/>
              </a:rPr>
              <a:t>07   ·   Next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10617200" y="279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800" dirty="0" b="1" spc="100">
                <a:solidFill>
                  <a:srgbClr val="7C8B85"/>
                </a:solidFill>
                <a:latin typeface="Segoe UI"/>
                <a:cs typeface="Segoe UI"/>
              </a:rPr>
              <a:t>7 / 8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558800" y="482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14261F"/>
                </a:solidFill>
                <a:latin typeface="Georgia"/>
                <a:cs typeface="Georgia"/>
              </a:rPr>
              <a:t>What Comes Next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558800" y="9271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7C8B85"/>
                </a:solidFill>
                <a:latin typeface="Segoe UI"/>
                <a:cs typeface="Segoe UI"/>
              </a:rPr>
              <a:t>The same pipeline, extended. Each step names the compiler work it actually requires.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558800" y="1257300"/>
            <a:ext cx="11074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panel7"/>
          <p:cNvSpPr txBox="1"/>
          <p:nvPr/>
        </p:nvSpPr>
        <p:spPr>
          <a:xfrm>
            <a:off x="558800" y="1473200"/>
            <a:ext cx="5384800" cy="459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23900" y="1574800"/>
            <a:ext cx="5054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Roadmap</a:t>
            </a:r>
          </a:p>
        </p:txBody>
      </p:sp>
      <p:sp>
        <p:nvSpPr>
          <p:cNvPr id="9" name="panel9"/>
          <p:cNvSpPr txBox="1"/>
          <p:nvPr/>
        </p:nvSpPr>
        <p:spPr>
          <a:xfrm>
            <a:off x="736600" y="1854200"/>
            <a:ext cx="241300" cy="2413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736600" y="1854200"/>
            <a:ext cx="24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60" dirty="0" b="1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1092200" y="1841500"/>
            <a:ext cx="4800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 b="1">
                <a:solidFill>
                  <a:srgbClr val="14261F"/>
                </a:solidFill>
                <a:latin typeface="Segoe UI"/>
                <a:cs typeface="Segoe UI"/>
              </a:rPr>
              <a:t>Control flow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1092200" y="2044700"/>
            <a:ext cx="48006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30" dirty="0">
                <a:solidFill>
                  <a:srgbClr val="3F4F49"/>
                </a:solidFill>
                <a:latin typeface="Segoe UI"/>
                <a:cs typeface="Segoe UI"/>
              </a:rPr>
              <a:t>if and while turn one basic block into a control-flow graph, and these local passes into global dataflow analyses. The largest single step.</a:t>
            </a:r>
          </a:p>
        </p:txBody>
      </p:sp>
      <p:sp>
        <p:nvSpPr>
          <p:cNvPr id="13" name="panel13"/>
          <p:cNvSpPr txBox="1"/>
          <p:nvPr/>
        </p:nvSpPr>
        <p:spPr>
          <a:xfrm>
            <a:off x="736600" y="2692400"/>
            <a:ext cx="241300" cy="241300"/>
          </a:xfrm>
          <a:prstGeom prst="roundRect">
            <a:avLst>
              <a:gd name="adj" fmla="val 12000"/>
            </a:avLst>
          </a:prstGeom>
          <a:solidFill>
            <a:srgbClr val="B4690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736600" y="2692400"/>
            <a:ext cx="24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60" dirty="0" b="1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1092200" y="2679700"/>
            <a:ext cx="4800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 b="1">
                <a:solidFill>
                  <a:srgbClr val="14261F"/>
                </a:solidFill>
                <a:latin typeface="Segoe UI"/>
                <a:cs typeface="Segoe UI"/>
              </a:rPr>
              <a:t>Matrix chain ordering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1092200" y="2882900"/>
            <a:ext cx="48006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30" dirty="0">
                <a:solidFill>
                  <a:srgbClr val="3F4F49"/>
                </a:solidFill>
                <a:latin typeface="Segoe UI"/>
                <a:cs typeface="Segoe UI"/>
              </a:rPr>
              <a:t>(A*B)*C and A*(B*C) give the same result at very different cost. The compiler already knows every shape needed to choose.</a:t>
            </a:r>
          </a:p>
        </p:txBody>
      </p:sp>
      <p:sp>
        <p:nvSpPr>
          <p:cNvPr id="17" name="panel17"/>
          <p:cNvSpPr txBox="1"/>
          <p:nvPr/>
        </p:nvSpPr>
        <p:spPr>
          <a:xfrm>
            <a:off x="736600" y="3530600"/>
            <a:ext cx="241300" cy="2413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text18"/>
          <p:cNvSpPr txBox="1"/>
          <p:nvPr/>
        </p:nvSpPr>
        <p:spPr>
          <a:xfrm>
            <a:off x="736600" y="3530600"/>
            <a:ext cx="24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60" dirty="0" b="1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1092200" y="3517900"/>
            <a:ext cx="4800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 b="1">
                <a:solidFill>
                  <a:srgbClr val="14261F"/>
                </a:solidFill>
                <a:latin typeface="Segoe UI"/>
                <a:cs typeface="Segoe UI"/>
              </a:rPr>
              <a:t>Functions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1092200" y="3721100"/>
            <a:ext cx="48006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30" dirty="0">
                <a:solidFill>
                  <a:srgbClr val="3F4F49"/>
                </a:solidFill>
                <a:latin typeface="Segoe UI"/>
                <a:cs typeface="Segoe UI"/>
              </a:rPr>
              <a:t>shape-polymorphic signatures, so a routine can accept Matrix&lt;m,n&gt; rather than one fixed shape.</a:t>
            </a:r>
          </a:p>
        </p:txBody>
      </p:sp>
      <p:sp>
        <p:nvSpPr>
          <p:cNvPr id="21" name="panel21"/>
          <p:cNvSpPr txBox="1"/>
          <p:nvPr/>
        </p:nvSpPr>
        <p:spPr>
          <a:xfrm>
            <a:off x="736600" y="4368800"/>
            <a:ext cx="241300" cy="2413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736600" y="4368800"/>
            <a:ext cx="24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60" dirty="0" b="1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1092200" y="4356100"/>
            <a:ext cx="4800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 b="1">
                <a:solidFill>
                  <a:srgbClr val="14261F"/>
                </a:solidFill>
                <a:latin typeface="Segoe UI"/>
                <a:cs typeface="Segoe UI"/>
              </a:rPr>
              <a:t>Real target code</a:t>
            </a:r>
          </a:p>
        </p:txBody>
      </p:sp>
      <p:sp>
        <p:nvSpPr>
          <p:cNvPr id="24" name="text24"/>
          <p:cNvSpPr txBox="1"/>
          <p:nvPr/>
        </p:nvSpPr>
        <p:spPr>
          <a:xfrm>
            <a:off x="1092200" y="4559300"/>
            <a:ext cx="48006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30" dirty="0">
                <a:solidFill>
                  <a:srgbClr val="3F4F49"/>
                </a:solidFill>
                <a:latin typeface="Segoe UI"/>
                <a:cs typeface="Segoe UI"/>
              </a:rPr>
              <a:t>x86-64 or LLVM IR instead of a virtual machine, which introduces register allocation.</a:t>
            </a:r>
          </a:p>
        </p:txBody>
      </p:sp>
      <p:sp>
        <p:nvSpPr>
          <p:cNvPr id="25" name="panel25"/>
          <p:cNvSpPr txBox="1"/>
          <p:nvPr/>
        </p:nvSpPr>
        <p:spPr>
          <a:xfrm>
            <a:off x="736600" y="5207000"/>
            <a:ext cx="241300" cy="241300"/>
          </a:xfrm>
          <a:prstGeom prst="roundRect">
            <a:avLst>
              <a:gd name="adj" fmla="val 12000"/>
            </a:avLst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736600" y="5207000"/>
            <a:ext cx="24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60" dirty="0" b="1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1092200" y="5194300"/>
            <a:ext cx="4800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 b="1">
                <a:solidFill>
                  <a:srgbClr val="14261F"/>
                </a:solidFill>
                <a:latin typeface="Segoe UI"/>
                <a:cs typeface="Segoe UI"/>
              </a:rPr>
              <a:t>Generated test programs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1092200" y="5397500"/>
            <a:ext cx="48006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30" dirty="0">
                <a:solidFill>
                  <a:srgbClr val="3F4F49"/>
                </a:solidFill>
                <a:latin typeface="Segoe UI"/>
                <a:cs typeface="Segoe UI"/>
              </a:rPr>
              <a:t>the optimized-equals-unoptimized check is far stronger against randomly generated programs than against a fixed corpus.</a:t>
            </a:r>
          </a:p>
        </p:txBody>
      </p:sp>
      <p:sp>
        <p:nvSpPr>
          <p:cNvPr id="29" name="panel29"/>
          <p:cNvSpPr txBox="1"/>
          <p:nvPr/>
        </p:nvSpPr>
        <p:spPr>
          <a:xfrm>
            <a:off x="6248400" y="1473200"/>
            <a:ext cx="5384800" cy="2235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text30"/>
          <p:cNvSpPr txBox="1"/>
          <p:nvPr/>
        </p:nvSpPr>
        <p:spPr>
          <a:xfrm>
            <a:off x="6413500" y="1574800"/>
            <a:ext cx="5054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1   ·   Control flow, sketched</a:t>
            </a:r>
          </a:p>
        </p:txBody>
      </p:sp>
      <p:sp>
        <p:nvSpPr>
          <p:cNvPr id="31" name="panel31"/>
          <p:cNvSpPr txBox="1"/>
          <p:nvPr/>
        </p:nvSpPr>
        <p:spPr>
          <a:xfrm>
            <a:off x="6426200" y="1828800"/>
            <a:ext cx="5029200" cy="18034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2" name="text32"/>
          <p:cNvSpPr txBox="1"/>
          <p:nvPr/>
        </p:nvSpPr>
        <p:spPr>
          <a:xfrm>
            <a:off x="6426200" y="1828800"/>
            <a:ext cx="5029200" cy="18034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scalar i = 0;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matrix Acc = zeros(3,3);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5FD3BC"/>
                </a:solidFill>
                <a:latin typeface="Consolas"/>
                <a:cs typeface="Consolas"/>
              </a:rPr>
              <a:t>while (i &lt; 10) {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 Acc = Acc + A * B;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 i   = i + 1;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5FD3BC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7E968D"/>
                </a:solidFill>
                <a:latin typeface="Consolas"/>
                <a:cs typeface="Consolas"/>
              </a:rPr>
              <a:t>A * B is loop-invariant. Hoisting it needs a loop,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7E968D"/>
                </a:solidFill>
                <a:latin typeface="Consolas"/>
                <a:cs typeface="Consolas"/>
              </a:rPr>
              <a:t>a CFG, and iterative liveness -- none of which</a:t>
            </a:r>
          </a:p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7E968D"/>
                </a:solidFill>
                <a:latin typeface="Consolas"/>
                <a:cs typeface="Consolas"/>
              </a:rPr>
              <a:t>the current single-block optimizer has.</a:t>
            </a:r>
          </a:p>
        </p:txBody>
      </p:sp>
      <p:sp>
        <p:nvSpPr>
          <p:cNvPr id="33" name="panel33"/>
          <p:cNvSpPr txBox="1"/>
          <p:nvPr/>
        </p:nvSpPr>
        <p:spPr>
          <a:xfrm>
            <a:off x="6248400" y="3835400"/>
            <a:ext cx="5384800" cy="2235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4" name="text34"/>
          <p:cNvSpPr txBox="1"/>
          <p:nvPr/>
        </p:nvSpPr>
        <p:spPr>
          <a:xfrm>
            <a:off x="6413500" y="3937000"/>
            <a:ext cx="5054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B4690E"/>
                </a:solidFill>
                <a:latin typeface="Segoe UI"/>
                <a:cs typeface="Segoe UI"/>
              </a:rPr>
              <a:t>2   ·   Matrix chain ordering</a:t>
            </a:r>
          </a:p>
        </p:txBody>
      </p:sp>
      <p:sp>
        <p:nvSpPr>
          <p:cNvPr id="35" name="panel35"/>
          <p:cNvSpPr txBox="1"/>
          <p:nvPr/>
        </p:nvSpPr>
        <p:spPr>
          <a:xfrm>
            <a:off x="6426200" y="4191000"/>
            <a:ext cx="5029200" cy="17272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6" name="text36"/>
          <p:cNvSpPr txBox="1"/>
          <p:nvPr/>
        </p:nvSpPr>
        <p:spPr>
          <a:xfrm>
            <a:off x="6426200" y="4191000"/>
            <a:ext cx="5029200" cy="1727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matrix A[10,100];  matrix B[100,5];  matrix C[5,50];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matrix R = A * B * C;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5FD3BC"/>
                </a:solidFill>
                <a:latin typeface="Consolas"/>
                <a:cs typeface="Consolas"/>
              </a:rPr>
              <a:t>(A*B)*C   10*100*5 + 10*5*50    =   7,500 mults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F09AA8"/>
                </a:solidFill>
                <a:latin typeface="Consolas"/>
                <a:cs typeface="Consolas"/>
              </a:rPr>
              <a:t>A*(B*C)   100*5*50 + 10*100*50  =  75,000 mults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E8B45F"/>
                </a:solidFill>
                <a:latin typeface="Consolas"/>
                <a:cs typeface="Consolas"/>
              </a:rPr>
              <a:t>A tenfold difference, decided entirely by shapes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E8B45F"/>
                </a:solidFill>
                <a:latin typeface="Consolas"/>
                <a:cs typeface="Consolas"/>
              </a:rPr>
              <a:t>the compiler has already inferred. This is the</a:t>
            </a:r>
          </a:p>
          <a:p>
            <a:pPr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E8B45F"/>
                </a:solidFill>
                <a:latin typeface="Consolas"/>
                <a:cs typeface="Consolas"/>
              </a:rPr>
              <a:t>clearest thing a scalar compiler could not do.</a:t>
            </a:r>
          </a:p>
        </p:txBody>
      </p:sp>
      <p:sp>
        <p:nvSpPr>
          <p:cNvPr id="37" name="panel37"/>
          <p:cNvSpPr txBox="1"/>
          <p:nvPr/>
        </p:nvSpPr>
        <p:spPr>
          <a:xfrm>
            <a:off x="558800" y="6197600"/>
            <a:ext cx="11074400" cy="406400"/>
          </a:xfrm>
          <a:prstGeom prst="roundRect">
            <a:avLst>
              <a:gd name="adj" fmla="val 2000"/>
            </a:avLst>
          </a:prstGeom>
          <a:solidFill>
            <a:srgbClr val="E4F3F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8" name="shape38"/>
          <p:cNvSpPr txBox="1"/>
          <p:nvPr/>
        </p:nvSpPr>
        <p:spPr>
          <a:xfrm>
            <a:off x="558800" y="6197600"/>
            <a:ext cx="44450" cy="4064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9" name="text39"/>
          <p:cNvSpPr txBox="1"/>
          <p:nvPr/>
        </p:nvSpPr>
        <p:spPr>
          <a:xfrm>
            <a:off x="774700" y="6197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 b="1" spc="130" cap="all">
                <a:solidFill>
                  <a:srgbClr val="0E7C6B"/>
                </a:solidFill>
                <a:latin typeface="Segoe UI"/>
                <a:cs typeface="Segoe UI"/>
              </a:rPr>
              <a:t>Key takeaway     </a:t>
            </a:r>
            <a:r>
              <a:rPr lang="en-US" sz="1050" dirty="0">
                <a:solidFill>
                  <a:srgbClr val="14261F"/>
                </a:solidFill>
                <a:latin typeface="Segoe UI"/>
                <a:cs typeface="Segoe UI"/>
              </a:rPr>
              <a:t>Every next step is bounded and stated as compiler work, not as a wish: the dependency each one has is named.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2"/>
          <p:cNvSpPr txBox="1"/>
          <p:nvPr/>
        </p:nvSpPr>
        <p:spPr>
          <a:xfrm>
            <a:off x="558800" y="279400"/>
            <a:ext cx="812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70" cap="all">
                <a:solidFill>
                  <a:srgbClr val="0E7C6B"/>
                </a:solidFill>
                <a:latin typeface="Segoe UI"/>
                <a:cs typeface="Segoe UI"/>
              </a:rPr>
              <a:t>08   ·   Contribution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10617200" y="279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800" dirty="0" b="1" spc="100">
                <a:solidFill>
                  <a:srgbClr val="7C8B85"/>
                </a:solidFill>
                <a:latin typeface="Segoe UI"/>
                <a:cs typeface="Segoe UI"/>
              </a:rPr>
              <a:t>8 / 8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558800" y="482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900"/>
              </a:lnSpc>
              <a:buNone/>
            </a:pPr>
            <a:r>
              <a:rPr lang="en-US" sz="2500" dirty="0" b="1">
                <a:solidFill>
                  <a:srgbClr val="14261F"/>
                </a:solidFill>
                <a:latin typeface="Georgia"/>
                <a:cs typeface="Georgia"/>
              </a:rPr>
              <a:t>Usefulness, Originality and the Final System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558800" y="9271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7C8B85"/>
                </a:solidFill>
                <a:latin typeface="Segoe UI"/>
                <a:cs typeface="Segoe UI"/>
              </a:rPr>
              <a:t>Static shape checking is not new. The contribution is carrying it through a complete compiler and then optimizing with it.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558800" y="1257300"/>
            <a:ext cx="11074400" cy="127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panel7"/>
          <p:cNvSpPr txBox="1"/>
          <p:nvPr/>
        </p:nvSpPr>
        <p:spPr>
          <a:xfrm>
            <a:off x="558800" y="1473200"/>
            <a:ext cx="3556000" cy="309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23900" y="1574800"/>
            <a:ext cx="3225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Why it is useful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736600" y="1828800"/>
            <a:ext cx="3200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shape errors caught before anything runs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736600" y="2209800"/>
            <a:ext cx="3200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the message names the rule, not just the types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736600" y="2590800"/>
            <a:ext cx="3200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no runtime shape checks in generated code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736600" y="2971800"/>
            <a:ext cx="3200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matrix identities removed automatically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736600" y="3352800"/>
            <a:ext cx="3200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every phase inspectable from the command line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736600" y="3733800"/>
            <a:ext cx="3200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one command per project review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736600" y="4114800"/>
            <a:ext cx="3200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60" dirty="0" b="1">
                <a:solidFill>
                  <a:srgbClr val="0E7C6B"/>
                </a:solidFill>
                <a:latin typeface="Segoe UI"/>
                <a:cs typeface="Segoe UI"/>
              </a:rPr>
              <a:t>✓  </a:t>
            </a:r>
            <a:r>
              <a:rPr lang="en-US" sz="850" dirty="0">
                <a:solidFill>
                  <a:srgbClr val="3F4F49"/>
                </a:solidFill>
                <a:latin typeface="Segoe UI"/>
                <a:cs typeface="Segoe UI"/>
              </a:rPr>
              <a:t>optimization proved to preserve meaning</a:t>
            </a:r>
          </a:p>
        </p:txBody>
      </p:sp>
      <p:sp>
        <p:nvSpPr>
          <p:cNvPr id="16" name="panel16"/>
          <p:cNvSpPr txBox="1"/>
          <p:nvPr/>
        </p:nvSpPr>
        <p:spPr>
          <a:xfrm>
            <a:off x="4318000" y="1473200"/>
            <a:ext cx="3556000" cy="309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4483100" y="1574800"/>
            <a:ext cx="3225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B4690E"/>
                </a:solidFill>
                <a:latin typeface="Segoe UI"/>
                <a:cs typeface="Segoe UI"/>
              </a:rPr>
              <a:t>What makes it original</a:t>
            </a:r>
          </a:p>
        </p:txBody>
      </p:sp>
      <p:sp>
        <p:nvSpPr>
          <p:cNvPr id="18" name="panel18"/>
          <p:cNvSpPr txBox="1"/>
          <p:nvPr/>
        </p:nvSpPr>
        <p:spPr>
          <a:xfrm>
            <a:off x="4495800" y="1828800"/>
            <a:ext cx="3200400" cy="279400"/>
          </a:xfrm>
          <a:prstGeom prst="roundRect">
            <a:avLst>
              <a:gd name="adj" fmla="val 2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4495800" y="18288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Shapes in the type system</a:t>
            </a:r>
          </a:p>
        </p:txBody>
      </p:sp>
      <p:sp>
        <p:nvSpPr>
          <p:cNvPr id="20" name="text20"/>
          <p:cNvSpPr txBox="1"/>
          <p:nvPr/>
        </p:nvSpPr>
        <p:spPr>
          <a:xfrm>
            <a:off x="4495800" y="2108200"/>
            <a:ext cx="32004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00" dirty="0" b="1">
                <a:solidFill>
                  <a:srgbClr val="7C8B85"/>
                </a:solidFill>
                <a:latin typeface="Segoe UI"/>
                <a:cs typeface="Segoe UI"/>
              </a:rPr>
              <a:t>+</a:t>
            </a:r>
          </a:p>
        </p:txBody>
      </p:sp>
      <p:sp>
        <p:nvSpPr>
          <p:cNvPr id="21" name="panel21"/>
          <p:cNvSpPr txBox="1"/>
          <p:nvPr/>
        </p:nvSpPr>
        <p:spPr>
          <a:xfrm>
            <a:off x="4495800" y="2235200"/>
            <a:ext cx="3200400" cy="279400"/>
          </a:xfrm>
          <a:prstGeom prst="roundRect">
            <a:avLst>
              <a:gd name="adj" fmla="val 2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4495800" y="22352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Inference through expressions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4495800" y="2514600"/>
            <a:ext cx="32004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00" dirty="0" b="1">
                <a:solidFill>
                  <a:srgbClr val="7C8B85"/>
                </a:solidFill>
                <a:latin typeface="Segoe UI"/>
                <a:cs typeface="Segoe UI"/>
              </a:rPr>
              <a:t>+</a:t>
            </a:r>
          </a:p>
        </p:txBody>
      </p:sp>
      <p:sp>
        <p:nvSpPr>
          <p:cNvPr id="24" name="panel24"/>
          <p:cNvSpPr txBox="1"/>
          <p:nvPr/>
        </p:nvSpPr>
        <p:spPr>
          <a:xfrm>
            <a:off x="4495800" y="2641600"/>
            <a:ext cx="3200400" cy="279400"/>
          </a:xfrm>
          <a:prstGeom prst="roundRect">
            <a:avLst>
              <a:gd name="adj" fmla="val 2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4495800" y="26416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Rules defined in one place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4495800" y="2921000"/>
            <a:ext cx="32004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00" dirty="0" b="1">
                <a:solidFill>
                  <a:srgbClr val="7C8B85"/>
                </a:solidFill>
                <a:latin typeface="Segoe UI"/>
                <a:cs typeface="Segoe UI"/>
              </a:rPr>
              <a:t>+</a:t>
            </a:r>
          </a:p>
        </p:txBody>
      </p:sp>
      <p:sp>
        <p:nvSpPr>
          <p:cNvPr id="27" name="panel27"/>
          <p:cNvSpPr txBox="1"/>
          <p:nvPr/>
        </p:nvSpPr>
        <p:spPr>
          <a:xfrm>
            <a:off x="4495800" y="3048000"/>
            <a:ext cx="3200400" cy="279400"/>
          </a:xfrm>
          <a:prstGeom prst="roundRect">
            <a:avLst>
              <a:gd name="adj" fmla="val 2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8" name="text28"/>
          <p:cNvSpPr txBox="1"/>
          <p:nvPr/>
        </p:nvSpPr>
        <p:spPr>
          <a:xfrm>
            <a:off x="4495800" y="30480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Matrix-specific algebra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4495800" y="3327400"/>
            <a:ext cx="32004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00" dirty="0" b="1">
                <a:solidFill>
                  <a:srgbClr val="7C8B85"/>
                </a:solidFill>
                <a:latin typeface="Segoe UI"/>
                <a:cs typeface="Segoe UI"/>
              </a:rPr>
              <a:t>+</a:t>
            </a:r>
          </a:p>
        </p:txBody>
      </p:sp>
      <p:sp>
        <p:nvSpPr>
          <p:cNvPr id="30" name="panel30"/>
          <p:cNvSpPr txBox="1"/>
          <p:nvPr/>
        </p:nvSpPr>
        <p:spPr>
          <a:xfrm>
            <a:off x="4495800" y="3454400"/>
            <a:ext cx="3200400" cy="279400"/>
          </a:xfrm>
          <a:prstGeom prst="roundRect">
            <a:avLst>
              <a:gd name="adj" fmla="val 2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1" name="text31"/>
          <p:cNvSpPr txBox="1"/>
          <p:nvPr/>
        </p:nvSpPr>
        <p:spPr>
          <a:xfrm>
            <a:off x="4495800" y="34544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Shape-driven instruction selection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4495800" y="3733800"/>
            <a:ext cx="32004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00" dirty="0" b="1">
                <a:solidFill>
                  <a:srgbClr val="7C8B85"/>
                </a:solidFill>
                <a:latin typeface="Segoe UI"/>
                <a:cs typeface="Segoe UI"/>
              </a:rPr>
              <a:t>+</a:t>
            </a:r>
          </a:p>
        </p:txBody>
      </p:sp>
      <p:sp>
        <p:nvSpPr>
          <p:cNvPr id="33" name="panel33"/>
          <p:cNvSpPr txBox="1"/>
          <p:nvPr/>
        </p:nvSpPr>
        <p:spPr>
          <a:xfrm>
            <a:off x="4495800" y="3860800"/>
            <a:ext cx="3200400" cy="279400"/>
          </a:xfrm>
          <a:prstGeom prst="roundRect">
            <a:avLst>
              <a:gd name="adj" fmla="val 2000"/>
            </a:avLst>
          </a:prstGeom>
          <a:solidFill>
            <a:srgbClr val="FBF0DC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4" name="text34"/>
          <p:cNvSpPr txBox="1"/>
          <p:nvPr/>
        </p:nvSpPr>
        <p:spPr>
          <a:xfrm>
            <a:off x="4495800" y="3860800"/>
            <a:ext cx="3200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840" dirty="0" b="1">
                <a:solidFill>
                  <a:srgbClr val="B4690E"/>
                </a:solidFill>
                <a:latin typeface="Segoe UI"/>
                <a:cs typeface="Segoe UI"/>
              </a:rPr>
              <a:t>Verified-equivalent optimization</a:t>
            </a:r>
          </a:p>
        </p:txBody>
      </p:sp>
      <p:sp>
        <p:nvSpPr>
          <p:cNvPr id="35" name="text35"/>
          <p:cNvSpPr txBox="1"/>
          <p:nvPr/>
        </p:nvSpPr>
        <p:spPr>
          <a:xfrm>
            <a:off x="4495800" y="4165600"/>
            <a:ext cx="3200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760" dirty="0" i="1">
                <a:solidFill>
                  <a:srgbClr val="7C8B85"/>
                </a:solidFill>
                <a:latin typeface="Segoe UI"/>
                <a:cs typeface="Segoe UI"/>
              </a:rPr>
              <a:t>none of these is novel alone</a:t>
            </a:r>
          </a:p>
        </p:txBody>
      </p:sp>
      <p:sp>
        <p:nvSpPr>
          <p:cNvPr id="36" name="panel36"/>
          <p:cNvSpPr txBox="1"/>
          <p:nvPr/>
        </p:nvSpPr>
        <p:spPr>
          <a:xfrm>
            <a:off x="8077200" y="1473200"/>
            <a:ext cx="3556000" cy="309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7" name="text37"/>
          <p:cNvSpPr txBox="1"/>
          <p:nvPr/>
        </p:nvSpPr>
        <p:spPr>
          <a:xfrm>
            <a:off x="8242300" y="1574800"/>
            <a:ext cx="32258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19" dirty="0" b="1" spc="110" cap="all">
                <a:solidFill>
                  <a:srgbClr val="0E7C6B"/>
                </a:solidFill>
                <a:latin typeface="Segoe UI"/>
                <a:cs typeface="Segoe UI"/>
              </a:rPr>
              <a:t>The final system</a:t>
            </a:r>
          </a:p>
        </p:txBody>
      </p:sp>
      <p:sp>
        <p:nvSpPr>
          <p:cNvPr id="38" name="panel38"/>
          <p:cNvSpPr txBox="1"/>
          <p:nvPr/>
        </p:nvSpPr>
        <p:spPr>
          <a:xfrm>
            <a:off x="8255000" y="1828800"/>
            <a:ext cx="3200400" cy="1930400"/>
          </a:xfrm>
          <a:prstGeom prst="roundRect">
            <a:avLst>
              <a:gd name="adj" fmla="val 1600"/>
            </a:avLst>
          </a:prstGeom>
          <a:solidFill>
            <a:srgbClr val="16221E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9" name="text39"/>
          <p:cNvSpPr txBox="1"/>
          <p:nvPr/>
        </p:nvSpPr>
        <p:spPr>
          <a:xfrm>
            <a:off x="8255000" y="1828800"/>
            <a:ext cx="3200400" cy="19304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14300" rIns="127000" bIns="10160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E8B45F"/>
                </a:solidFill>
                <a:latin typeface="Consolas"/>
                <a:cs typeface="Consolas"/>
              </a:rPr>
              <a:t>source.ml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7E968D"/>
                </a:solidFill>
                <a:latin typeface="Consolas"/>
                <a:cs typeface="Consolas"/>
              </a:rPr>
              <a:t>   |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+-- lexer, parser, tree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+-- symbol table, shapes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5FD3BC"/>
                </a:solidFill>
                <a:latin typeface="Consolas"/>
                <a:cs typeface="Consolas"/>
              </a:rPr>
              <a:t>   +-- dimension checking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+-- three-address code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5FD3BC"/>
                </a:solidFill>
                <a:latin typeface="Consolas"/>
                <a:cs typeface="Consolas"/>
              </a:rPr>
              <a:t>   +-- optimizer x4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+-- MVM target code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CFE3DC"/>
                </a:solidFill>
                <a:latin typeface="Consolas"/>
                <a:cs typeface="Consolas"/>
              </a:rPr>
              <a:t>   +-- execution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7E968D"/>
                </a:solidFill>
                <a:latin typeface="Consolas"/>
                <a:cs typeface="Consolas"/>
              </a:rPr>
              <a:t>   |</a:t>
            </a:r>
          </a:p>
          <a:p>
            <a:pPr algn="l">
              <a:lnSpc>
                <a:spcPts val="1240"/>
              </a:lnSpc>
              <a:buNone/>
            </a:pPr>
            <a:r>
              <a:rPr lang="en-US" sz="800" dirty="0">
                <a:solidFill>
                  <a:srgbClr val="E8B45F"/>
                </a:solidFill>
                <a:latin typeface="Consolas"/>
                <a:cs typeface="Consolas"/>
              </a:rPr>
              <a:t>printed result</a:t>
            </a:r>
          </a:p>
        </p:txBody>
      </p:sp>
      <p:sp>
        <p:nvSpPr>
          <p:cNvPr id="40" name="text40"/>
          <p:cNvSpPr txBox="1"/>
          <p:nvPr/>
        </p:nvSpPr>
        <p:spPr>
          <a:xfrm>
            <a:off x="8255000" y="3810000"/>
            <a:ext cx="32004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840" dirty="0">
                <a:solidFill>
                  <a:srgbClr val="3F4F49"/>
                </a:solidFill>
                <a:latin typeface="Segoe UI"/>
                <a:cs typeface="Segoe UI"/>
              </a:rPr>
              <a:t>All of it exists. The remaining work widens the language, it does not finish the compiler.</a:t>
            </a:r>
          </a:p>
        </p:txBody>
      </p:sp>
      <p:sp>
        <p:nvSpPr>
          <p:cNvPr id="41" name="panel41"/>
          <p:cNvSpPr txBox="1"/>
          <p:nvPr/>
        </p:nvSpPr>
        <p:spPr>
          <a:xfrm>
            <a:off x="558800" y="4749800"/>
            <a:ext cx="11074400" cy="127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DDD2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2" name="text42"/>
          <p:cNvSpPr txBox="1"/>
          <p:nvPr/>
        </p:nvSpPr>
        <p:spPr>
          <a:xfrm>
            <a:off x="863600" y="4927600"/>
            <a:ext cx="7112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50" dirty="0" b="1">
                <a:solidFill>
                  <a:srgbClr val="14261F"/>
                </a:solidFill>
                <a:latin typeface="Georgia"/>
                <a:cs typeface="Georgia"/>
              </a:rPr>
              <a:t>The one idea, and what it paid for</a:t>
            </a:r>
          </a:p>
          <a:p>
            <a:pPr algn="l">
              <a:lnSpc>
                <a:spcPts val="1200"/>
              </a:lnSpc>
              <a:spcBef>
                <a:spcPts val="500"/>
              </a:spcBef>
              <a:buNone/>
            </a:pPr>
            <a:r>
              <a:rPr lang="en-US" sz="880" dirty="0">
                <a:solidFill>
                  <a:srgbClr val="3F4F49"/>
                </a:solidFill>
                <a:latin typeface="Segoe UI"/>
                <a:cs typeface="Segoe UI"/>
              </a:rPr>
              <a:t>Putting a matrix's dimensions into its type is a single decision, and it pays in three separate places: the semantic analyser gains real work to do, the optimizer gains transformations a general-purpose compiler cannot perform, and the code generator gains instruction selection. That is the whole argument.</a:t>
            </a:r>
          </a:p>
        </p:txBody>
      </p:sp>
      <p:sp>
        <p:nvSpPr>
          <p:cNvPr id="43" name="shape43"/>
          <p:cNvSpPr txBox="1"/>
          <p:nvPr/>
        </p:nvSpPr>
        <p:spPr>
          <a:xfrm>
            <a:off x="8077200" y="4978400"/>
            <a:ext cx="15240" cy="838200"/>
          </a:xfrm>
          <a:prstGeom prst="rect">
            <a:avLst/>
          </a:prstGeom>
          <a:solidFill>
            <a:srgbClr val="E3DDD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4" name="text44"/>
          <p:cNvSpPr txBox="1"/>
          <p:nvPr/>
        </p:nvSpPr>
        <p:spPr>
          <a:xfrm>
            <a:off x="8382000" y="4953000"/>
            <a:ext cx="32512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40" dirty="0">
                <a:solidFill>
                  <a:srgbClr val="7C8B85"/>
                </a:solidFill>
                <a:latin typeface="Segoe UI"/>
                <a:cs typeface="Segoe UI"/>
              </a:rPr>
              <a:t>Built with   </a:t>
            </a:r>
            <a:r>
              <a:rPr lang="en-US" sz="840" dirty="0" b="1">
                <a:solidFill>
                  <a:srgbClr val="14261F"/>
                </a:solidFill>
                <a:latin typeface="Segoe UI"/>
                <a:cs typeface="Segoe UI"/>
              </a:rPr>
              <a:t>C, Flex, Bison</a:t>
            </a:r>
          </a:p>
          <a:p>
            <a:pPr algn="l">
              <a:lnSpc>
                <a:spcPts val="1200"/>
              </a:lnSpc>
              <a:spcBef>
                <a:spcPts val="300"/>
              </a:spcBef>
              <a:buNone/>
            </a:pPr>
            <a:r>
              <a:rPr lang="en-US" sz="840" dirty="0">
                <a:solidFill>
                  <a:srgbClr val="7C8B85"/>
                </a:solidFill>
                <a:latin typeface="Segoe UI"/>
                <a:cs typeface="Segoe UI"/>
              </a:rPr>
              <a:t>Verified by   </a:t>
            </a:r>
            <a:r>
              <a:rPr lang="en-US" sz="840" dirty="0" b="1">
                <a:solidFill>
                  <a:srgbClr val="14261F"/>
                </a:solidFill>
                <a:latin typeface="Segoe UI"/>
                <a:cs typeface="Segoe UI"/>
              </a:rPr>
              <a:t>139 assertions</a:t>
            </a:r>
          </a:p>
          <a:p>
            <a:pPr algn="l">
              <a:lnSpc>
                <a:spcPts val="1200"/>
              </a:lnSpc>
              <a:spcBef>
                <a:spcPts val="300"/>
              </a:spcBef>
              <a:buNone/>
            </a:pPr>
            <a:r>
              <a:rPr lang="en-US" sz="840" dirty="0">
                <a:solidFill>
                  <a:srgbClr val="7C8B85"/>
                </a:solidFill>
                <a:latin typeface="Segoe UI"/>
                <a:cs typeface="Segoe UI"/>
              </a:rPr>
              <a:t>Demonstrated by   </a:t>
            </a:r>
            <a:r>
              <a:rPr lang="en-US" sz="840" dirty="0" b="1">
                <a:solidFill>
                  <a:srgbClr val="14261F"/>
                </a:solidFill>
                <a:latin typeface="Consolas"/>
                <a:cs typeface="Consolas"/>
              </a:rPr>
              <a:t>make demo1/2/3</a:t>
            </a:r>
          </a:p>
        </p:txBody>
      </p:sp>
      <p:sp>
        <p:nvSpPr>
          <p:cNvPr id="45" name="panel45"/>
          <p:cNvSpPr txBox="1"/>
          <p:nvPr/>
        </p:nvSpPr>
        <p:spPr>
          <a:xfrm>
            <a:off x="558800" y="6197600"/>
            <a:ext cx="11074400" cy="406400"/>
          </a:xfrm>
          <a:prstGeom prst="roundRect">
            <a:avLst>
              <a:gd name="adj" fmla="val 2000"/>
            </a:avLst>
          </a:prstGeom>
          <a:solidFill>
            <a:srgbClr val="E4F3F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6" name="shape46"/>
          <p:cNvSpPr txBox="1"/>
          <p:nvPr/>
        </p:nvSpPr>
        <p:spPr>
          <a:xfrm>
            <a:off x="558800" y="6197600"/>
            <a:ext cx="44450" cy="406400"/>
          </a:xfrm>
          <a:prstGeom prst="rect">
            <a:avLst/>
          </a:prstGeom>
          <a:solidFill>
            <a:srgbClr val="0E7C6B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7" name="text47"/>
          <p:cNvSpPr txBox="1"/>
          <p:nvPr/>
        </p:nvSpPr>
        <p:spPr>
          <a:xfrm>
            <a:off x="774700" y="6197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800" dirty="0" b="1" spc="130" cap="all">
                <a:solidFill>
                  <a:srgbClr val="0E7C6B"/>
                </a:solidFill>
                <a:latin typeface="Segoe UI"/>
                <a:cs typeface="Segoe UI"/>
              </a:rPr>
              <a:t>Key takeaway     </a:t>
            </a:r>
            <a:r>
              <a:rPr lang="en-US" sz="1050" dirty="0">
                <a:solidFill>
                  <a:srgbClr val="14261F"/>
                </a:solidFill>
                <a:latin typeface="Segoe UI"/>
                <a:cs typeface="Segoe UI"/>
              </a:rPr>
              <a:t>The originality is not the idea of checking shapes; it is a complete, working compiler that checks them and then optimizes with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rixLang">
  <a:themeElements>
    <a:clrScheme name="MatrixLang">
      <a:dk1>
        <a:srgbClr val="14261F"/>
      </a:dk1>
      <a:lt1>
        <a:srgbClr val="FFFFFF"/>
      </a:lt1>
      <a:dk2>
        <a:srgbClr val="3F4F49"/>
      </a:dk2>
      <a:lt2>
        <a:srgbClr val="FAF7F2"/>
      </a:lt2>
      <a:accent1>
        <a:srgbClr val="0E7C6B"/>
      </a:accent1>
      <a:accent2>
        <a:srgbClr val="B4690E"/>
      </a:accent2>
      <a:accent3>
        <a:srgbClr val="9E2B3F"/>
      </a:accent3>
      <a:accent4>
        <a:srgbClr val="7C8B85"/>
      </a:accent4>
      <a:accent5>
        <a:srgbClr val="E3DDD2"/>
      </a:accent5>
      <a:accent6>
        <a:srgbClr val="16221E"/>
      </a:accent6>
      <a:hlink>
        <a:srgbClr val="0E7C6B"/>
      </a:hlink>
      <a:folHlink>
        <a:srgbClr val="7C8B85"/>
      </a:folHlink>
    </a:clrScheme>
    <a:fontScheme name="MatrixLang">
      <a:majorFont>
        <a:latin typeface="Georgia"/>
        <a:ea typeface=""/>
        <a:cs typeface=""/>
      </a:majorFont>
      <a:minorFont>
        <a:latin typeface="Segoe UI"/>
        <a:ea typeface=""/>
        <a:cs typeface=""/>
      </a:minorFont>
    </a:fontScheme>
    <a:fmtScheme name="MatrixLa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</Slides>
  <TitlesOfParts>
    <vt:vector size="1" baseType="lpstr">
      <vt:lpstr>MatrixLang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MatrixLang</dc:title>
  <dc:creator>A Aswanth Raj</dc:creator>
  <cp:lastModifiedBy>A Aswanth Raj</cp:lastModifiedBy>
</cp:coreProperties>
</file>