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E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965200"/>
            <a:ext cx="71120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200"/>
              </a:lnSpc>
              <a:buNone/>
            </a:pPr>
            <a:r>
              <a:rPr lang="en-US" sz="4400" dirty="0" b="1">
                <a:solidFill>
                  <a:srgbClr val="EFEAE0"/>
                </a:solidFill>
                <a:latin typeface="Georgia"/>
                <a:cs typeface="Georgia"/>
              </a:rPr>
              <a:t>Shapes in the</a:t>
            </a:r>
          </a:p>
          <a:p>
            <a:pPr algn="l">
              <a:lnSpc>
                <a:spcPts val="5200"/>
              </a:lnSpc>
              <a:buNone/>
            </a:pPr>
            <a:r>
              <a:rPr lang="en-US" sz="4400" dirty="0" b="1">
                <a:solidFill>
                  <a:srgbClr val="E0A94A"/>
                </a:solidFill>
                <a:latin typeface="Georgia"/>
                <a:cs typeface="Georgia"/>
              </a:rPr>
              <a:t>Type System</a:t>
            </a:r>
          </a:p>
        </p:txBody>
      </p:sp>
      <p:sp>
        <p:nvSpPr>
          <p:cNvPr id="4" name="rule4"/>
          <p:cNvSpPr txBox="1"/>
          <p:nvPr/>
        </p:nvSpPr>
        <p:spPr>
          <a:xfrm>
            <a:off x="533400" y="2540000"/>
            <a:ext cx="736600" cy="3810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533400" y="2768600"/>
            <a:ext cx="685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FEAE0"/>
                </a:solidFill>
                <a:latin typeface="Georgia"/>
                <a:cs typeface="Georgia"/>
              </a:rPr>
              <a:t>A matrix language that lets a compiler course reach optimization</a:t>
            </a:r>
          </a:p>
        </p:txBody>
      </p:sp>
      <p:sp>
        <p:nvSpPr>
          <p:cNvPr id="6" name="text6"/>
          <p:cNvSpPr txBox="1"/>
          <p:nvPr/>
        </p:nvSpPr>
        <p:spPr>
          <a:xfrm>
            <a:off x="533400" y="3479800"/>
            <a:ext cx="6604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Put matrix shapes in the type system and the compiler can cost a program before it runs. Semantic analysis, optimization and code generation all gain something to do.</a:t>
            </a:r>
          </a:p>
        </p:txBody>
      </p:sp>
      <p:sp>
        <p:nvSpPr>
          <p:cNvPr id="7" name="rule7"/>
          <p:cNvSpPr txBox="1"/>
          <p:nvPr/>
        </p:nvSpPr>
        <p:spPr>
          <a:xfrm>
            <a:off x="533400" y="4521200"/>
            <a:ext cx="66040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533400" y="4724400"/>
            <a:ext cx="3175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62C6A8"/>
                </a:solidFill>
                <a:latin typeface="Georgia"/>
                <a:cs typeface="Georgia"/>
              </a:rPr>
              <a:t>48.5%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533400" y="5308600"/>
            <a:ext cx="3175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of the arithmetic removed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by the optimizer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3860800" y="4724400"/>
            <a:ext cx="3175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E2705F"/>
                </a:solidFill>
                <a:latin typeface="Georgia"/>
                <a:cs typeface="Georgia"/>
              </a:rPr>
              <a:t>5.6%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3860800" y="5308600"/>
            <a:ext cx="3175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what an instruction count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would have reported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533400" y="59944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50" dirty="0" i="1">
                <a:solidFill>
                  <a:srgbClr val="E0A94A"/>
                </a:solidFill>
                <a:latin typeface="Segoe UI"/>
                <a:cs typeface="Segoe UI"/>
              </a:rPr>
              <a:t>Same optimizer. Same 400 programs. Different question.</a:t>
            </a:r>
          </a:p>
        </p:txBody>
      </p:sp>
      <p:sp>
        <p:nvSpPr>
          <p:cNvPr id="13" name="panel13"/>
          <p:cNvSpPr txBox="1"/>
          <p:nvPr/>
        </p:nvSpPr>
        <p:spPr>
          <a:xfrm>
            <a:off x="7772400" y="762000"/>
            <a:ext cx="3886200" cy="53340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8001000" y="1016000"/>
            <a:ext cx="342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en-US" sz="1700" dirty="0" b="1">
                <a:solidFill>
                  <a:srgbClr val="EFEAE0"/>
                </a:solidFill>
                <a:latin typeface="Georgia"/>
                <a:cs typeface="Georgia"/>
              </a:rPr>
              <a:t>A Aswanth Raj</a:t>
            </a:r>
          </a:p>
          <a:p>
            <a:pPr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Compiler Design Laboratory</a:t>
            </a:r>
          </a:p>
        </p:txBody>
      </p:sp>
      <p:sp>
        <p:nvSpPr>
          <p:cNvPr id="15" name="rule15"/>
          <p:cNvSpPr txBox="1"/>
          <p:nvPr/>
        </p:nvSpPr>
        <p:spPr>
          <a:xfrm>
            <a:off x="8001000" y="1676400"/>
            <a:ext cx="508000" cy="1905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6" name="code16"/>
          <p:cNvSpPr txBox="1"/>
          <p:nvPr/>
        </p:nvSpPr>
        <p:spPr>
          <a:xfrm>
            <a:off x="8001000" y="1905000"/>
            <a:ext cx="3429000" cy="20574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8001000" y="1905000"/>
            <a:ext cx="3429000" cy="20574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matrix A[100,2];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matrix B[2,100];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matrix C[100,2];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62C6A8"/>
                </a:solidFill>
                <a:latin typeface="Consolas"/>
                <a:cs typeface="Consolas"/>
              </a:rPr>
              <a:t>matrix R = A * B * C;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print(R);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the compiler picks the bracketing,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because it knows all three shapes</a:t>
            </a:r>
          </a:p>
          <a:p>
            <a:pPr algn="l">
              <a:lnSpc>
                <a:spcPts val="130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before anything runs</a:t>
            </a:r>
          </a:p>
        </p:txBody>
      </p:sp>
      <p:sp>
        <p:nvSpPr>
          <p:cNvPr id="18" name="text18"/>
          <p:cNvSpPr txBox="1"/>
          <p:nvPr/>
        </p:nvSpPr>
        <p:spPr>
          <a:xfrm>
            <a:off x="8001000" y="4165600"/>
            <a:ext cx="3429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150" dirty="0" b="1">
                <a:solidFill>
                  <a:srgbClr val="E2705F"/>
                </a:solidFill>
                <a:latin typeface="Consolas"/>
                <a:cs typeface="Consolas"/>
              </a:rPr>
              <a:t>69,800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  FLOP as written</a:t>
            </a:r>
          </a:p>
          <a:p>
            <a:pPr algn="l">
              <a:lnSpc>
                <a:spcPts val="1400"/>
              </a:lnSpc>
              <a:spcBef>
                <a:spcPts val="400"/>
              </a:spcBef>
              <a:buNone/>
            </a:pPr>
            <a:r>
              <a:rPr lang="en-US" sz="1150" dirty="0" b="1">
                <a:solidFill>
                  <a:srgbClr val="62C6A8"/>
                </a:solidFill>
                <a:latin typeface="Consolas"/>
                <a:cs typeface="Consolas"/>
              </a:rPr>
              <a:t> 1,396</a:t>
            </a: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  FLOP as compiled</a:t>
            </a:r>
          </a:p>
          <a:p>
            <a:pPr algn="l">
              <a:lnSpc>
                <a:spcPts val="1200"/>
              </a:lnSpc>
              <a:spcBef>
                <a:spcPts val="1000"/>
              </a:spcBef>
              <a:buNone/>
            </a:pPr>
            <a:r>
              <a:rPr lang="en-US" sz="880" dirty="0" i="1">
                <a:solidFill>
                  <a:srgbClr val="E0A94A"/>
                </a:solidFill>
                <a:latin typeface="Segoe UI"/>
                <a:cs typeface="Segoe UI"/>
              </a:rPr>
              <a:t>The instruction count is 4 either way, which is why the usual metric reports nothing.</a:t>
            </a:r>
          </a:p>
        </p:txBody>
      </p:sp>
      <p:sp>
        <p:nvSpPr>
          <p:cNvPr id="19" name="rule19"/>
          <p:cNvSpPr txBox="1"/>
          <p:nvPr/>
        </p:nvSpPr>
        <p:spPr>
          <a:xfrm>
            <a:off x="8001000" y="5537200"/>
            <a:ext cx="34290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0" name="text20"/>
          <p:cNvSpPr txBox="1"/>
          <p:nvPr/>
        </p:nvSpPr>
        <p:spPr>
          <a:xfrm>
            <a:off x="8001000" y="5664200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60" dirty="0">
                <a:solidFill>
                  <a:srgbClr val="EFEAE0"/>
                </a:solidFill>
                <a:latin typeface="Consolas"/>
                <a:cs typeface="Consolas"/>
              </a:rPr>
              <a:t>github.com/aswanth-07/matrixlang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7D928B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phase-mar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phase-mar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phase-mar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phase-mar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phase-mar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17" name="rule17"/>
          <p:cNvSpPr txBox="1"/>
          <p:nvPr/>
        </p:nvSpPr>
        <p:spPr>
          <a:xfrm>
            <a:off x="533400" y="5969000"/>
            <a:ext cx="27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text18"/>
          <p:cNvSpPr txBox="1"/>
          <p:nvPr/>
        </p:nvSpPr>
        <p:spPr>
          <a:xfrm>
            <a:off x="533400" y="6070600"/>
            <a:ext cx="1625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spc="80">
                <a:solidFill>
                  <a:srgbClr val="7D928B"/>
                </a:solidFill>
                <a:latin typeface="Consolas"/>
                <a:cs typeface="Consolas"/>
              </a:rPr>
              <a:t>02</a:t>
            </a:r>
          </a:p>
        </p:txBody>
      </p:sp>
      <p:sp>
        <p:nvSpPr>
          <p:cNvPr id="19" name="text19"/>
          <p:cNvSpPr txBox="1"/>
          <p:nvPr/>
        </p:nvSpPr>
        <p:spPr>
          <a:xfrm>
            <a:off x="2489200" y="609600"/>
            <a:ext cx="9169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  <a:buNone/>
            </a:pPr>
            <a:r>
              <a:rPr lang="en-US" sz="2600" dirty="0" b="1">
                <a:solidFill>
                  <a:srgbClr val="EFEAE0"/>
                </a:solidFill>
                <a:latin typeface="Georgia"/>
                <a:cs typeface="Georgia"/>
              </a:rPr>
              <a:t>Where a C-subset project stops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489200" y="11176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We measured three public compiler-design course projects. Not one of them contains an optimizer, and not one executes anything.</a:t>
            </a:r>
          </a:p>
        </p:txBody>
      </p:sp>
      <p:sp>
        <p:nvSpPr>
          <p:cNvPr id="21" name="rule21"/>
          <p:cNvSpPr txBox="1"/>
          <p:nvPr/>
        </p:nvSpPr>
        <p:spPr>
          <a:xfrm>
            <a:off x="2489200" y="1574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2" name="text22"/>
          <p:cNvSpPr txBox="1"/>
          <p:nvPr/>
        </p:nvSpPr>
        <p:spPr>
          <a:xfrm>
            <a:off x="2489200" y="1879600"/>
            <a:ext cx="3810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800"/>
              </a:lnSpc>
              <a:buNone/>
            </a:pPr>
            <a:r>
              <a:rPr lang="en-US" sz="4600" dirty="0" b="1">
                <a:solidFill>
                  <a:srgbClr val="E2705F"/>
                </a:solidFill>
                <a:latin typeface="Georgia"/>
                <a:cs typeface="Georgia"/>
              </a:rPr>
              <a:t>0 of 3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2489200" y="2540000"/>
            <a:ext cx="3810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baselines that reach the optimization phase,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on a search generous enough to overstate them</a:t>
            </a:r>
          </a:p>
        </p:txBody>
      </p:sp>
      <p:sp>
        <p:nvSpPr>
          <p:cNvPr id="24" name="panel24"/>
          <p:cNvSpPr txBox="1"/>
          <p:nvPr/>
        </p:nvSpPr>
        <p:spPr>
          <a:xfrm>
            <a:off x="2489200" y="3149600"/>
            <a:ext cx="4953000" cy="26162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2667000" y="3302000"/>
            <a:ext cx="459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Why those phases stay empty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2667000" y="3606800"/>
            <a:ext cx="4597400" cy="210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69"/>
              </a:lnSpc>
              <a:buNone/>
            </a:pPr>
            <a:r>
              <a:rPr lang="en-US" sz="919" dirty="0">
                <a:solidFill>
                  <a:srgbClr val="EFEAE0"/>
                </a:solidFill>
                <a:latin typeface="Segoe UI"/>
                <a:cs typeface="Segoe UI"/>
              </a:rPr>
              <a:t>A subset of C has two numeric types, so its type system is an enumeration with two members.</a:t>
            </a:r>
          </a:p>
          <a:p>
            <a:pPr algn="l">
              <a:lnSpc>
                <a:spcPts val="1241"/>
              </a:lnSpc>
              <a:spcBef>
                <a:spcPts val="8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Semantic analysis becomes a comparison of two tags. An optimizer over it has constant folding and the scalar identities, and no way to tell a cheap expression from an expensive one.</a:t>
            </a:r>
          </a:p>
          <a:p>
            <a:pPr algn="l">
              <a:lnSpc>
                <a:spcPts val="1241"/>
              </a:lnSpc>
              <a:spcBef>
                <a:spcPts val="8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The baselines are not badly built. They reach lexical analysis, parsing and the symbol table, and then run out of anything for the later phases to be about.</a:t>
            </a:r>
          </a:p>
          <a:p>
            <a:pPr algn="l">
              <a:lnSpc>
                <a:spcPts val="1241"/>
              </a:lnSpc>
              <a:spcBef>
                <a:spcPts val="800"/>
              </a:spcBef>
              <a:buNone/>
            </a:pPr>
            <a:r>
              <a:rPr lang="en-US" sz="900" dirty="0">
                <a:solidFill>
                  <a:srgbClr val="E0A94A"/>
                </a:solidFill>
                <a:latin typeface="Segoe UI"/>
                <a:cs typeface="Segoe UI"/>
              </a:rPr>
              <a:t>The two phases the syllabus calls the centre of the subject are the two with the least to do.</a:t>
            </a:r>
          </a:p>
        </p:txBody>
      </p:sp>
      <p:sp>
        <p:nvSpPr>
          <p:cNvPr id="27" name="panel27"/>
          <p:cNvSpPr txBox="1"/>
          <p:nvPr/>
        </p:nvSpPr>
        <p:spPr>
          <a:xfrm>
            <a:off x="7645400" y="1828800"/>
            <a:ext cx="4013200" cy="39370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8" name="text28"/>
          <p:cNvSpPr txBox="1"/>
          <p:nvPr/>
        </p:nvSpPr>
        <p:spPr>
          <a:xfrm>
            <a:off x="7823200" y="1981200"/>
            <a:ext cx="3657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Phases present, of eight</a:t>
            </a:r>
          </a:p>
        </p:txBody>
      </p:sp>
      <p:sp>
        <p:nvSpPr>
          <p:cNvPr id="29" name="text29"/>
          <p:cNvSpPr txBox="1"/>
          <p:nvPr/>
        </p:nvSpPr>
        <p:spPr>
          <a:xfrm>
            <a:off x="7823200" y="23368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EFEAE0"/>
                </a:solidFill>
                <a:latin typeface="Segoe UI"/>
                <a:cs typeface="Segoe UI"/>
              </a:rPr>
              <a:t>MatrixLang</a:t>
            </a:r>
          </a:p>
        </p:txBody>
      </p:sp>
      <p:sp>
        <p:nvSpPr>
          <p:cNvPr id="30" name="bar-bg30"/>
          <p:cNvSpPr txBox="1"/>
          <p:nvPr/>
        </p:nvSpPr>
        <p:spPr>
          <a:xfrm>
            <a:off x="9017000" y="2362200"/>
            <a:ext cx="1828800" cy="1143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bar31"/>
          <p:cNvSpPr txBox="1"/>
          <p:nvPr/>
        </p:nvSpPr>
        <p:spPr>
          <a:xfrm>
            <a:off x="9017000" y="2362200"/>
            <a:ext cx="1828800" cy="114300"/>
          </a:xfrm>
          <a:prstGeom prst="rect">
            <a:avLst/>
          </a:prstGeom>
          <a:solidFill>
            <a:srgbClr val="62C6A8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10972800" y="23368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EFEAE0"/>
                </a:solidFill>
                <a:latin typeface="Consolas"/>
                <a:cs typeface="Consolas"/>
              </a:rPr>
              <a:t>8/8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7823200" y="27178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baseline 1</a:t>
            </a:r>
          </a:p>
        </p:txBody>
      </p:sp>
      <p:sp>
        <p:nvSpPr>
          <p:cNvPr id="34" name="bar-bg34"/>
          <p:cNvSpPr txBox="1"/>
          <p:nvPr/>
        </p:nvSpPr>
        <p:spPr>
          <a:xfrm>
            <a:off x="9017000" y="2743200"/>
            <a:ext cx="1828800" cy="1143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5" name="bar35"/>
          <p:cNvSpPr txBox="1"/>
          <p:nvPr/>
        </p:nvSpPr>
        <p:spPr>
          <a:xfrm>
            <a:off x="9017000" y="2743200"/>
            <a:ext cx="1143000" cy="11430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text36"/>
          <p:cNvSpPr txBox="1"/>
          <p:nvPr/>
        </p:nvSpPr>
        <p:spPr>
          <a:xfrm>
            <a:off x="10972800" y="27178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9BAAA3"/>
                </a:solidFill>
                <a:latin typeface="Consolas"/>
                <a:cs typeface="Consolas"/>
              </a:rPr>
              <a:t>5/8</a:t>
            </a:r>
          </a:p>
        </p:txBody>
      </p:sp>
      <p:sp>
        <p:nvSpPr>
          <p:cNvPr id="37" name="text37"/>
          <p:cNvSpPr txBox="1"/>
          <p:nvPr/>
        </p:nvSpPr>
        <p:spPr>
          <a:xfrm>
            <a:off x="7823200" y="30988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baseline 2</a:t>
            </a:r>
          </a:p>
        </p:txBody>
      </p:sp>
      <p:sp>
        <p:nvSpPr>
          <p:cNvPr id="38" name="bar-bg38"/>
          <p:cNvSpPr txBox="1"/>
          <p:nvPr/>
        </p:nvSpPr>
        <p:spPr>
          <a:xfrm>
            <a:off x="9017000" y="3124200"/>
            <a:ext cx="1828800" cy="1143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9" name="bar39"/>
          <p:cNvSpPr txBox="1"/>
          <p:nvPr/>
        </p:nvSpPr>
        <p:spPr>
          <a:xfrm>
            <a:off x="9017000" y="3124200"/>
            <a:ext cx="685800" cy="11430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0" name="text40"/>
          <p:cNvSpPr txBox="1"/>
          <p:nvPr/>
        </p:nvSpPr>
        <p:spPr>
          <a:xfrm>
            <a:off x="10972800" y="30988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9BAAA3"/>
                </a:solidFill>
                <a:latin typeface="Consolas"/>
                <a:cs typeface="Consolas"/>
              </a:rPr>
              <a:t>3/8</a:t>
            </a:r>
          </a:p>
        </p:txBody>
      </p:sp>
      <p:sp>
        <p:nvSpPr>
          <p:cNvPr id="41" name="text41"/>
          <p:cNvSpPr txBox="1"/>
          <p:nvPr/>
        </p:nvSpPr>
        <p:spPr>
          <a:xfrm>
            <a:off x="7823200" y="34798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baseline 3</a:t>
            </a:r>
          </a:p>
        </p:txBody>
      </p:sp>
      <p:sp>
        <p:nvSpPr>
          <p:cNvPr id="42" name="bar-bg42"/>
          <p:cNvSpPr txBox="1"/>
          <p:nvPr/>
        </p:nvSpPr>
        <p:spPr>
          <a:xfrm>
            <a:off x="9017000" y="3505200"/>
            <a:ext cx="1828800" cy="1143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3" name="bar43"/>
          <p:cNvSpPr txBox="1"/>
          <p:nvPr/>
        </p:nvSpPr>
        <p:spPr>
          <a:xfrm>
            <a:off x="9017000" y="3505200"/>
            <a:ext cx="1371600" cy="11430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4" name="text44"/>
          <p:cNvSpPr txBox="1"/>
          <p:nvPr/>
        </p:nvSpPr>
        <p:spPr>
          <a:xfrm>
            <a:off x="10972800" y="34798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 b="1">
                <a:solidFill>
                  <a:srgbClr val="9BAAA3"/>
                </a:solidFill>
                <a:latin typeface="Consolas"/>
                <a:cs typeface="Consolas"/>
              </a:rPr>
              <a:t>6/8</a:t>
            </a:r>
          </a:p>
        </p:txBody>
      </p:sp>
      <p:sp>
        <p:nvSpPr>
          <p:cNvPr id="45" name="rule45"/>
          <p:cNvSpPr txBox="1"/>
          <p:nvPr/>
        </p:nvSpPr>
        <p:spPr>
          <a:xfrm>
            <a:off x="7823200" y="3987800"/>
            <a:ext cx="36576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6" name="text46"/>
          <p:cNvSpPr txBox="1"/>
          <p:nvPr/>
        </p:nvSpPr>
        <p:spPr>
          <a:xfrm>
            <a:off x="7823200" y="4191000"/>
            <a:ext cx="3657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86"/>
              </a:lnSpc>
              <a:buNone/>
            </a:pPr>
            <a:r>
              <a:rPr lang="en-US" sz="860" dirty="0" b="1">
                <a:solidFill>
                  <a:srgbClr val="E0A94A"/>
                </a:solidFill>
                <a:latin typeface="Segoe UI"/>
                <a:cs typeface="Segoe UI"/>
              </a:rPr>
              <a:t>How a phase is counted</a:t>
            </a:r>
          </a:p>
          <a:p>
            <a:pPr algn="l">
              <a:lnSpc>
                <a:spcPts val="1186"/>
              </a:lnSpc>
              <a:spcBef>
                <a:spcPts val="800"/>
              </a:spcBef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A file is attributed to a phase by its path and name, and a phase counts as present on a single case-insensitive match of any of its markers. The rule is deliberately generous: it can only overstate a baseline, and it still finds no optimizer in any of them.</a:t>
            </a:r>
          </a:p>
        </p:txBody>
      </p:sp>
      <p:sp>
        <p:nvSpPr>
          <p:cNvPr id="47" name="rule47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8" name="bullet48"/>
          <p:cNvSpPr txBox="1"/>
          <p:nvPr/>
        </p:nvSpPr>
        <p:spPr>
          <a:xfrm>
            <a:off x="2489200" y="6451600"/>
            <a:ext cx="38100" cy="3810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9" name="text49"/>
          <p:cNvSpPr txBox="1"/>
          <p:nvPr/>
        </p:nvSpPr>
        <p:spPr>
          <a:xfrm>
            <a:off x="2667000" y="6375400"/>
            <a:ext cx="8991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Three repositories, chosen by their description before their contents were read. Each reduced to its most complete 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7D928B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phase-mar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phase-mar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phase-mar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phase-mar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16" name="rule16"/>
          <p:cNvSpPr txBox="1"/>
          <p:nvPr/>
        </p:nvSpPr>
        <p:spPr>
          <a:xfrm>
            <a:off x="533400" y="5969000"/>
            <a:ext cx="27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533400" y="6070600"/>
            <a:ext cx="1625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spc="80">
                <a:solidFill>
                  <a:srgbClr val="7D928B"/>
                </a:solidFill>
                <a:latin typeface="Consolas"/>
                <a:cs typeface="Consolas"/>
              </a:rPr>
              <a:t>03</a:t>
            </a:r>
          </a:p>
        </p:txBody>
      </p:sp>
      <p:sp>
        <p:nvSpPr>
          <p:cNvPr id="18" name="text18"/>
          <p:cNvSpPr txBox="1"/>
          <p:nvPr/>
        </p:nvSpPr>
        <p:spPr>
          <a:xfrm>
            <a:off x="2489200" y="609600"/>
            <a:ext cx="9169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  <a:buNone/>
            </a:pPr>
            <a:r>
              <a:rPr lang="en-US" sz="2600" dirty="0" b="1">
                <a:solidFill>
                  <a:srgbClr val="EFEAE0"/>
                </a:solidFill>
                <a:latin typeface="Georgia"/>
                <a:cs typeface="Georgia"/>
              </a:rPr>
              <a:t>A type carries its shape</a:t>
            </a:r>
          </a:p>
        </p:txBody>
      </p:sp>
      <p:sp>
        <p:nvSpPr>
          <p:cNvPr id="19" name="text19"/>
          <p:cNvSpPr txBox="1"/>
          <p:nvPr/>
        </p:nvSpPr>
        <p:spPr>
          <a:xfrm>
            <a:off x="2489200" y="11176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Not matrix, but Matrix&lt;2x3&gt;. Two matrices of different shapes are values of different types.</a:t>
            </a:r>
          </a:p>
        </p:txBody>
      </p:sp>
      <p:sp>
        <p:nvSpPr>
          <p:cNvPr id="20" name="rule20"/>
          <p:cNvSpPr txBox="1"/>
          <p:nvPr/>
        </p:nvSpPr>
        <p:spPr>
          <a:xfrm>
            <a:off x="2489200" y="1574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code21"/>
          <p:cNvSpPr txBox="1"/>
          <p:nvPr/>
        </p:nvSpPr>
        <p:spPr>
          <a:xfrm>
            <a:off x="2489200" y="1828800"/>
            <a:ext cx="5029200" cy="17780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2" name="text22"/>
          <p:cNvSpPr txBox="1"/>
          <p:nvPr/>
        </p:nvSpPr>
        <p:spPr>
          <a:xfrm>
            <a:off x="2489200" y="1828800"/>
            <a:ext cx="5029200" cy="17780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matrix A[2,3] = {{1, 2, 3},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                 {4, 5, 6}};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matrix B[3,4];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62C6A8"/>
                </a:solidFill>
                <a:latin typeface="Consolas"/>
                <a:cs typeface="Consolas"/>
              </a:rPr>
              <a:t>matrix C = A * B;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62C6A8"/>
                </a:solidFill>
                <a:latin typeface="Consolas"/>
                <a:cs typeface="Consolas"/>
              </a:rPr>
              <a:t>    -&gt; C : Matrix&lt;2x4&gt;, inferred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EAE0"/>
                </a:solidFill>
                <a:latin typeface="Consolas"/>
                <a:cs typeface="Consolas"/>
              </a:rPr>
              <a:t>print(C);</a:t>
            </a:r>
          </a:p>
        </p:txBody>
      </p:sp>
      <p:sp>
        <p:nvSpPr>
          <p:cNvPr id="23" name="panel23"/>
          <p:cNvSpPr txBox="1"/>
          <p:nvPr/>
        </p:nvSpPr>
        <p:spPr>
          <a:xfrm>
            <a:off x="7721600" y="1828800"/>
            <a:ext cx="3937000" cy="17780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7899400" y="1981200"/>
            <a:ext cx="3581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2705F"/>
                </a:solidFill>
                <a:latin typeface="Segoe UI"/>
                <a:cs typeface="Segoe UI"/>
              </a:rPr>
              <a:t>Rejected before anything runs</a:t>
            </a:r>
          </a:p>
        </p:txBody>
      </p:sp>
      <p:sp>
        <p:nvSpPr>
          <p:cNvPr id="25" name="code25"/>
          <p:cNvSpPr txBox="1"/>
          <p:nvPr/>
        </p:nvSpPr>
        <p:spPr>
          <a:xfrm>
            <a:off x="7874000" y="2260600"/>
            <a:ext cx="3632200" cy="11684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7874000" y="2260600"/>
            <a:ext cx="3632200" cy="11684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2705F"/>
                </a:solidFill>
                <a:latin typeface="Consolas"/>
                <a:cs typeface="Consolas"/>
              </a:rPr>
              <a:t>cannot multiply Matrix&lt;2x3&gt;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2705F"/>
                </a:solidFill>
                <a:latin typeface="Consolas"/>
                <a:cs typeface="Consolas"/>
              </a:rPr>
              <a:t>               by Matrix&lt;5x4&gt;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 left  : A -&gt; Matrix&lt;2x3&gt;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 right : B -&gt; Matrix&lt;5x4&gt;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0A94A"/>
                </a:solidFill>
                <a:latin typeface="Consolas"/>
                <a:cs typeface="Consolas"/>
              </a:rPr>
              <a:t>  rule  : cols(left) = rows(right)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00" dirty="0">
                <a:solidFill>
                  <a:srgbClr val="E0A94A"/>
                </a:solidFill>
                <a:latin typeface="Consolas"/>
                <a:cs typeface="Consolas"/>
              </a:rPr>
              <a:t>  found : 3 != 5</a:t>
            </a:r>
          </a:p>
        </p:txBody>
      </p:sp>
      <p:sp>
        <p:nvSpPr>
          <p:cNvPr id="27" name="panel27"/>
          <p:cNvSpPr txBox="1"/>
          <p:nvPr/>
        </p:nvSpPr>
        <p:spPr>
          <a:xfrm>
            <a:off x="2489200" y="3835400"/>
            <a:ext cx="3276600" cy="20066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8" name="text28"/>
          <p:cNvSpPr txBox="1"/>
          <p:nvPr/>
        </p:nvSpPr>
        <p:spPr>
          <a:xfrm>
            <a:off x="2667000" y="3987800"/>
            <a:ext cx="2921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What the language has</a:t>
            </a:r>
          </a:p>
        </p:txBody>
      </p:sp>
      <p:sp>
        <p:nvSpPr>
          <p:cNvPr id="29" name="bullet29"/>
          <p:cNvSpPr txBox="1"/>
          <p:nvPr/>
        </p:nvSpPr>
        <p:spPr>
          <a:xfrm>
            <a:off x="2667000" y="4356100"/>
            <a:ext cx="38100" cy="381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0" name="text30"/>
          <p:cNvSpPr txBox="1"/>
          <p:nvPr/>
        </p:nvSpPr>
        <p:spPr>
          <a:xfrm>
            <a:off x="2794000" y="4292600"/>
            <a:ext cx="281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scalar and matrix</a:t>
            </a:r>
          </a:p>
        </p:txBody>
      </p:sp>
      <p:sp>
        <p:nvSpPr>
          <p:cNvPr id="31" name="bullet31"/>
          <p:cNvSpPr txBox="1"/>
          <p:nvPr/>
        </p:nvSpPr>
        <p:spPr>
          <a:xfrm>
            <a:off x="2667000" y="4610100"/>
            <a:ext cx="38100" cy="381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2794000" y="4546600"/>
            <a:ext cx="281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+  -  *  unary -  transpose</a:t>
            </a:r>
          </a:p>
        </p:txBody>
      </p:sp>
      <p:sp>
        <p:nvSpPr>
          <p:cNvPr id="33" name="bullet33"/>
          <p:cNvSpPr txBox="1"/>
          <p:nvPr/>
        </p:nvSpPr>
        <p:spPr>
          <a:xfrm>
            <a:off x="2667000" y="4864100"/>
            <a:ext cx="38100" cy="381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4" name="text34"/>
          <p:cNvSpPr txBox="1"/>
          <p:nvPr/>
        </p:nvSpPr>
        <p:spPr>
          <a:xfrm>
            <a:off x="2794000" y="4800600"/>
            <a:ext cx="281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literals, identity, zeros, ones</a:t>
            </a:r>
          </a:p>
        </p:txBody>
      </p:sp>
      <p:sp>
        <p:nvSpPr>
          <p:cNvPr id="35" name="bullet35"/>
          <p:cNvSpPr txBox="1"/>
          <p:nvPr/>
        </p:nvSpPr>
        <p:spPr>
          <a:xfrm>
            <a:off x="2667000" y="5118100"/>
            <a:ext cx="38100" cy="381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text36"/>
          <p:cNvSpPr txBox="1"/>
          <p:nvPr/>
        </p:nvSpPr>
        <p:spPr>
          <a:xfrm>
            <a:off x="2794000" y="5054600"/>
            <a:ext cx="281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declaration, assignment, print</a:t>
            </a:r>
          </a:p>
        </p:txBody>
      </p:sp>
      <p:sp>
        <p:nvSpPr>
          <p:cNvPr id="37" name="text37"/>
          <p:cNvSpPr txBox="1"/>
          <p:nvPr/>
        </p:nvSpPr>
        <p:spPr>
          <a:xfrm>
            <a:off x="2667000" y="5384800"/>
            <a:ext cx="2946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i="1">
                <a:solidFill>
                  <a:srgbClr val="E0A94A"/>
                </a:solidFill>
                <a:latin typeface="Segoe UI"/>
                <a:cs typeface="Segoe UI"/>
              </a:rPr>
              <a:t>No control flow. That is the enabling decision, not a gap.</a:t>
            </a:r>
          </a:p>
        </p:txBody>
      </p:sp>
      <p:sp>
        <p:nvSpPr>
          <p:cNvPr id="38" name="panel38"/>
          <p:cNvSpPr txBox="1"/>
          <p:nvPr/>
        </p:nvSpPr>
        <p:spPr>
          <a:xfrm>
            <a:off x="5969000" y="3835400"/>
            <a:ext cx="5689600" cy="20066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9" name="text39"/>
          <p:cNvSpPr txBox="1"/>
          <p:nvPr/>
        </p:nvSpPr>
        <p:spPr>
          <a:xfrm>
            <a:off x="6146800" y="3987800"/>
            <a:ext cx="5334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Why no control flow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6146800" y="4292600"/>
            <a:ext cx="5334000" cy="154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69"/>
              </a:lnSpc>
              <a:buNone/>
            </a:pPr>
            <a:r>
              <a:rPr lang="en-US" sz="919" dirty="0">
                <a:solidFill>
                  <a:srgbClr val="EFEAE0"/>
                </a:solidFill>
                <a:latin typeface="Segoe UI"/>
                <a:cs typeface="Segoe UI"/>
              </a:rPr>
              <a:t>With no branches a whole program is a single basic block. Available-expression analysis and liveness are each one linear scan.</a:t>
            </a:r>
          </a:p>
          <a:p>
            <a:pPr algn="l">
              <a:lnSpc>
                <a:spcPts val="1241"/>
              </a:lnSpc>
              <a:spcBef>
                <a:spcPts val="8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A course reaches working common-subexpression elimination and dead-code elimination without first building a control-flow graph, which is where a semester usually runs out.</a:t>
            </a:r>
          </a:p>
          <a:p>
            <a:pPr algn="l">
              <a:lnSpc>
                <a:spcPts val="1241"/>
              </a:lnSpc>
              <a:spcBef>
                <a:spcPts val="800"/>
              </a:spcBef>
              <a:buNone/>
            </a:pPr>
            <a:r>
              <a:rPr lang="en-US" sz="900" dirty="0">
                <a:solidFill>
                  <a:srgbClr val="E2705F"/>
                </a:solidFill>
                <a:latin typeface="Segoe UI"/>
                <a:cs typeface="Segoe UI"/>
              </a:rPr>
              <a:t>The cost is real and we do not pretend otherwise: this project teaches no dataflow analysis at all.</a:t>
            </a:r>
          </a:p>
        </p:txBody>
      </p:sp>
      <p:sp>
        <p:nvSpPr>
          <p:cNvPr id="41" name="rule41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2" name="bullet42"/>
          <p:cNvSpPr txBox="1"/>
          <p:nvPr/>
        </p:nvSpPr>
        <p:spPr>
          <a:xfrm>
            <a:off x="2489200" y="6451600"/>
            <a:ext cx="38100" cy="381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3" name="text43"/>
          <p:cNvSpPr txBox="1"/>
          <p:nvPr/>
        </p:nvSpPr>
        <p:spPr>
          <a:xfrm>
            <a:off x="2667000" y="6375400"/>
            <a:ext cx="8991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Every shape rule lives in one file, read by both the semantic analyser and the code generator.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7D928B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phase-mar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phase-mar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phase-mar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phase-mar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phase-mar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phase-mark14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6" name="phase-mark16"/>
          <p:cNvSpPr txBox="1"/>
          <p:nvPr/>
        </p:nvSpPr>
        <p:spPr>
          <a:xfrm>
            <a:off x="533400" y="24765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8" name="phase-mark18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20" name="rule20"/>
          <p:cNvSpPr txBox="1"/>
          <p:nvPr/>
        </p:nvSpPr>
        <p:spPr>
          <a:xfrm>
            <a:off x="533400" y="5969000"/>
            <a:ext cx="27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text21"/>
          <p:cNvSpPr txBox="1"/>
          <p:nvPr/>
        </p:nvSpPr>
        <p:spPr>
          <a:xfrm>
            <a:off x="533400" y="6070600"/>
            <a:ext cx="1625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spc="80">
                <a:solidFill>
                  <a:srgbClr val="7D928B"/>
                </a:solidFill>
                <a:latin typeface="Consolas"/>
                <a:cs typeface="Consolas"/>
              </a:rPr>
              <a:t>04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489200" y="609600"/>
            <a:ext cx="9169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  <a:buNone/>
            </a:pPr>
            <a:r>
              <a:rPr lang="en-US" sz="2600" dirty="0" b="1">
                <a:solidFill>
                  <a:srgbClr val="EFEAE0"/>
                </a:solidFill>
                <a:latin typeface="Georgia"/>
                <a:cs typeface="Georgia"/>
              </a:rPr>
              <a:t>Every phase prints what it produced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2489200" y="11176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One flag per phase, so a reviewer can stop the compiler anywhere and read the artifact. The text below is its output.</a:t>
            </a:r>
          </a:p>
        </p:txBody>
      </p:sp>
      <p:sp>
        <p:nvSpPr>
          <p:cNvPr id="24" name="rule24"/>
          <p:cNvSpPr txBox="1"/>
          <p:nvPr/>
        </p:nvSpPr>
        <p:spPr>
          <a:xfrm>
            <a:off x="2489200" y="1574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2489200" y="18288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--tokens</a:t>
            </a:r>
            <a:r>
              <a:rPr lang="en-US" sz="760" dirty="0">
                <a:solidFill>
                  <a:srgbClr val="7D928B"/>
                </a:solidFill>
                <a:latin typeface="Segoe UI"/>
                <a:cs typeface="Segoe UI"/>
              </a:rPr>
              <a:t>   the lexer, one row per token</a:t>
            </a:r>
          </a:p>
        </p:txBody>
      </p:sp>
      <p:sp>
        <p:nvSpPr>
          <p:cNvPr id="26" name="code26"/>
          <p:cNvSpPr txBox="1"/>
          <p:nvPr/>
        </p:nvSpPr>
        <p:spPr>
          <a:xfrm>
            <a:off x="2489200" y="20574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7" name="text27"/>
          <p:cNvSpPr txBox="1"/>
          <p:nvPr/>
        </p:nvSpPr>
        <p:spPr>
          <a:xfrm>
            <a:off x="2489200" y="20574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#   TOKEN       LEXEME   LINE:COL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1   MATRIX      matrix   1:1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2   IDENTIFIER  A        1:8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3   LBRACKET    [        1:9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4   NUMBER      2        1:10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5   COMMA       ,        1:11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6   NUMBER      3        1:12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7   RBRACKET    ]        1:13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...                   78 tokens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5604933" y="18288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--ast</a:t>
            </a:r>
            <a:r>
              <a:rPr lang="en-US" sz="760" dirty="0">
                <a:solidFill>
                  <a:srgbClr val="7D928B"/>
                </a:solidFill>
                <a:latin typeface="Segoe UI"/>
                <a:cs typeface="Segoe UI"/>
              </a:rPr>
              <a:t>   the parse, with shapes attached</a:t>
            </a:r>
          </a:p>
        </p:txBody>
      </p:sp>
      <p:sp>
        <p:nvSpPr>
          <p:cNvPr id="29" name="code29"/>
          <p:cNvSpPr txBox="1"/>
          <p:nvPr/>
        </p:nvSpPr>
        <p:spPr>
          <a:xfrm>
            <a:off x="5604933" y="20574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0" name="text30"/>
          <p:cNvSpPr txBox="1"/>
          <p:nvPr/>
        </p:nvSpPr>
        <p:spPr>
          <a:xfrm>
            <a:off x="5604933" y="20574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Program  (line 1)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|-- Declare A : Matrix&lt;2x3&gt;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   `-- MatrixLiteral : Matrix&lt;2x3&gt;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|       |-- Row : Matrix&lt;1x3&gt;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|       `-- Row : Matrix&lt;1x3&gt;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|-- Declare B : Matrix&lt;3x4&gt;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|-- Declare C :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|   `-- BinaryOp * :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`-- Print :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31" name="text31"/>
          <p:cNvSpPr txBox="1"/>
          <p:nvPr/>
        </p:nvSpPr>
        <p:spPr>
          <a:xfrm>
            <a:off x="8720667" y="18288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--symbols</a:t>
            </a:r>
            <a:r>
              <a:rPr lang="en-US" sz="760" dirty="0">
                <a:solidFill>
                  <a:srgbClr val="7D928B"/>
                </a:solidFill>
                <a:latin typeface="Segoe UI"/>
                <a:cs typeface="Segoe UI"/>
              </a:rPr>
              <a:t>   one row per name, shape included</a:t>
            </a:r>
          </a:p>
        </p:txBody>
      </p:sp>
      <p:sp>
        <p:nvSpPr>
          <p:cNvPr id="32" name="code32"/>
          <p:cNvSpPr txBox="1"/>
          <p:nvPr/>
        </p:nvSpPr>
        <p:spPr>
          <a:xfrm>
            <a:off x="8720667" y="20574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3" name="text33"/>
          <p:cNvSpPr txBox="1"/>
          <p:nvPr/>
        </p:nvSpPr>
        <p:spPr>
          <a:xfrm>
            <a:off x="8720667" y="20574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 Name | Kind   | Rows | Cols |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 A    | Matrix |    2 |    3 |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| B    | Matrix |    3 |    4 |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| C    | Matrix |    2 |    4 |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3 symbol(s).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C's shape was never written down;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it was inferred from A and B.</a:t>
            </a:r>
          </a:p>
        </p:txBody>
      </p:sp>
      <p:sp>
        <p:nvSpPr>
          <p:cNvPr id="34" name="text34"/>
          <p:cNvSpPr txBox="1"/>
          <p:nvPr/>
        </p:nvSpPr>
        <p:spPr>
          <a:xfrm>
            <a:off x="2489200" y="39243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--tac</a:t>
            </a:r>
            <a:r>
              <a:rPr lang="en-US" sz="760" dirty="0">
                <a:solidFill>
                  <a:srgbClr val="7D928B"/>
                </a:solidFill>
                <a:latin typeface="Segoe UI"/>
                <a:cs typeface="Segoe UI"/>
              </a:rPr>
              <a:t>   three-address code, still typed</a:t>
            </a:r>
          </a:p>
        </p:txBody>
      </p:sp>
      <p:sp>
        <p:nvSpPr>
          <p:cNvPr id="35" name="code35"/>
          <p:cNvSpPr txBox="1"/>
          <p:nvPr/>
        </p:nvSpPr>
        <p:spPr>
          <a:xfrm>
            <a:off x="2489200" y="41529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text36"/>
          <p:cNvSpPr txBox="1"/>
          <p:nvPr/>
        </p:nvSpPr>
        <p:spPr>
          <a:xfrm>
            <a:off x="2489200" y="41529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1  A = #0            Matrix&lt;2x3&gt;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2  B = #1            Matrix&lt;3x4&gt;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3  t1 = A * B       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4  C = t1           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5  print C          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5 instruction(s).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every temporary carries its shape,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which is what the optimizer costs.</a:t>
            </a:r>
          </a:p>
        </p:txBody>
      </p:sp>
      <p:sp>
        <p:nvSpPr>
          <p:cNvPr id="37" name="text37"/>
          <p:cNvSpPr txBox="1"/>
          <p:nvPr/>
        </p:nvSpPr>
        <p:spPr>
          <a:xfrm>
            <a:off x="5604933" y="39243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--target</a:t>
            </a:r>
            <a:r>
              <a:rPr lang="en-US" sz="760" dirty="0">
                <a:solidFill>
                  <a:srgbClr val="7D928B"/>
                </a:solidFill>
                <a:latin typeface="Segoe UI"/>
                <a:cs typeface="Segoe UI"/>
              </a:rPr>
              <a:t>   stack machine, selected by shape</a:t>
            </a:r>
          </a:p>
        </p:txBody>
      </p:sp>
      <p:sp>
        <p:nvSpPr>
          <p:cNvPr id="38" name="code38"/>
          <p:cNvSpPr txBox="1"/>
          <p:nvPr/>
        </p:nvSpPr>
        <p:spPr>
          <a:xfrm>
            <a:off x="5604933" y="41529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9" name="text39"/>
          <p:cNvSpPr txBox="1"/>
          <p:nvPr/>
        </p:nvSpPr>
        <p:spPr>
          <a:xfrm>
            <a:off x="5604933" y="41529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0  PUSH_MATRIX   #0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1  STORE_MATRIX  A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2  PUSH_MATRIX   #1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3  STORE_MATRIX  B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4  LOAD_MATRIX   A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5  LOAD_MATRIX   B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6  MATMUL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7  STORE_MATRIX  t1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...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13 instruction(s).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8720667" y="3924300"/>
            <a:ext cx="2937933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0A94A"/>
                </a:solidFill>
                <a:latin typeface="Consolas"/>
                <a:cs typeface="Consolas"/>
              </a:rPr>
              <a:t>--run</a:t>
            </a:r>
            <a:r>
              <a:rPr lang="en-US" sz="760" dirty="0">
                <a:solidFill>
                  <a:srgbClr val="7D928B"/>
                </a:solidFill>
                <a:latin typeface="Segoe UI"/>
                <a:cs typeface="Segoe UI"/>
              </a:rPr>
              <a:t>   the VM, printing the result</a:t>
            </a:r>
          </a:p>
        </p:txBody>
      </p:sp>
      <p:sp>
        <p:nvSpPr>
          <p:cNvPr id="41" name="code41"/>
          <p:cNvSpPr txBox="1"/>
          <p:nvPr/>
        </p:nvSpPr>
        <p:spPr>
          <a:xfrm>
            <a:off x="8720667" y="4152900"/>
            <a:ext cx="2937933" cy="16891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2" name="text42"/>
          <p:cNvSpPr txBox="1"/>
          <p:nvPr/>
        </p:nvSpPr>
        <p:spPr>
          <a:xfrm>
            <a:off x="8720667" y="4152900"/>
            <a:ext cx="2937933" cy="16891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62C6A8"/>
                </a:solidFill>
                <a:latin typeface="Consolas"/>
                <a:cs typeface="Consolas"/>
              </a:rPr>
              <a:t>C = Matrix&lt;2x4&gt;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 [  38  44  50  56 ]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 [  83  98 113 128 ]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ACCEPTED (0 error(s), 0 warning(s))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0A94A"/>
                </a:solidFill>
                <a:latin typeface="Consolas"/>
                <a:cs typeface="Consolas"/>
              </a:rPr>
              <a:t>38 = 1*1 + 2*5 + 3*9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the shapes were checked long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40" dirty="0">
                <a:solidFill>
                  <a:srgbClr val="9BAAA3"/>
                </a:solidFill>
                <a:latin typeface="Consolas"/>
                <a:cs typeface="Consolas"/>
              </a:rPr>
              <a:t>before any number was touched</a:t>
            </a:r>
          </a:p>
        </p:txBody>
      </p:sp>
      <p:sp>
        <p:nvSpPr>
          <p:cNvPr id="43" name="rule43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4" name="bullet44"/>
          <p:cNvSpPr txBox="1"/>
          <p:nvPr/>
        </p:nvSpPr>
        <p:spPr>
          <a:xfrm>
            <a:off x="2489200" y="6451600"/>
            <a:ext cx="38100" cy="381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5" name="text45"/>
          <p:cNvSpPr txBox="1"/>
          <p:nvPr/>
        </p:nvSpPr>
        <p:spPr>
          <a:xfrm>
            <a:off x="2667000" y="6375400"/>
            <a:ext cx="8991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make demo1 demo2 demo3 runs one demonstration per project review, straight from the source tree.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7D928B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6" name="text6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9" name="phase-mark9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13" name="rule13"/>
          <p:cNvSpPr txBox="1"/>
          <p:nvPr/>
        </p:nvSpPr>
        <p:spPr>
          <a:xfrm>
            <a:off x="533400" y="5969000"/>
            <a:ext cx="27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533400" y="6070600"/>
            <a:ext cx="1625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spc="80">
                <a:solidFill>
                  <a:srgbClr val="7D928B"/>
                </a:solidFill>
                <a:latin typeface="Consolas"/>
                <a:cs typeface="Consolas"/>
              </a:rPr>
              <a:t>05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2489200" y="609600"/>
            <a:ext cx="9169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  <a:buNone/>
            </a:pPr>
            <a:r>
              <a:rPr lang="en-US" sz="2600" dirty="0" b="1">
                <a:solidFill>
                  <a:srgbClr val="EFEAE0"/>
                </a:solidFill>
                <a:latin typeface="Georgia"/>
                <a:cs typeface="Georgia"/>
              </a:rPr>
              <a:t>A shape is also a cost model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2489200" y="11176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Multiplying an m x n by an n x p matrix performs m p (2n-1) operations. Every term is a shape, and every shape is in the type.</a:t>
            </a:r>
          </a:p>
        </p:txBody>
      </p:sp>
      <p:sp>
        <p:nvSpPr>
          <p:cNvPr id="17" name="rule17"/>
          <p:cNvSpPr txBox="1"/>
          <p:nvPr/>
        </p:nvSpPr>
        <p:spPr>
          <a:xfrm>
            <a:off x="2489200" y="1574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text18"/>
          <p:cNvSpPr txBox="1"/>
          <p:nvPr/>
        </p:nvSpPr>
        <p:spPr>
          <a:xfrm>
            <a:off x="2489200" y="1905000"/>
            <a:ext cx="2540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600"/>
              </a:lnSpc>
              <a:buNone/>
            </a:pPr>
            <a:r>
              <a:rPr lang="en-US" sz="4400" dirty="0" b="1">
                <a:solidFill>
                  <a:srgbClr val="62C6A8"/>
                </a:solidFill>
                <a:latin typeface="Georgia"/>
                <a:cs typeface="Georgia"/>
              </a:rPr>
              <a:t>98.0%</a:t>
            </a:r>
          </a:p>
        </p:txBody>
      </p:sp>
      <p:sp>
        <p:nvSpPr>
          <p:cNvPr id="19" name="text19"/>
          <p:cNvSpPr txBox="1"/>
          <p:nvPr/>
        </p:nvSpPr>
        <p:spPr>
          <a:xfrm>
            <a:off x="2489200" y="2540000"/>
            <a:ext cx="2540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of the arithmetic removed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from one three-matrix chain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489200" y="3302000"/>
            <a:ext cx="2717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E2705F"/>
                </a:solidFill>
                <a:latin typeface="Segoe UI"/>
                <a:cs typeface="Segoe UI"/>
              </a:rPr>
              <a:t>The instruction count did not move. Four before, four after.</a:t>
            </a:r>
          </a:p>
        </p:txBody>
      </p:sp>
      <p:sp>
        <p:nvSpPr>
          <p:cNvPr id="21" name="panel21"/>
          <p:cNvSpPr txBox="1"/>
          <p:nvPr/>
        </p:nvSpPr>
        <p:spPr>
          <a:xfrm>
            <a:off x="5334000" y="1828800"/>
            <a:ext cx="6324600" cy="21844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2" name="text22"/>
          <p:cNvSpPr txBox="1"/>
          <p:nvPr/>
        </p:nvSpPr>
        <p:spPr>
          <a:xfrm>
            <a:off x="5511800" y="1981200"/>
            <a:ext cx="5969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One chain, two bracketings</a:t>
            </a:r>
          </a:p>
        </p:txBody>
      </p:sp>
      <p:sp>
        <p:nvSpPr>
          <p:cNvPr id="23" name="code23"/>
          <p:cNvSpPr txBox="1"/>
          <p:nvPr/>
        </p:nvSpPr>
        <p:spPr>
          <a:xfrm>
            <a:off x="5511800" y="2260600"/>
            <a:ext cx="5969000" cy="15748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5511800" y="2260600"/>
            <a:ext cx="5969000" cy="15748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matrix R = A * B * C;    A 100x2  B 2x100  C 100x2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2705F"/>
                </a:solidFill>
                <a:latin typeface="Consolas"/>
                <a:cs typeface="Consolas"/>
              </a:rPr>
              <a:t>(A * B) * C   builds a 100x100 intermediate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2705F"/>
                </a:solidFill>
                <a:latin typeface="Consolas"/>
                <a:cs typeface="Consolas"/>
              </a:rPr>
              <a:t>              69,800 FLOP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62C6A8"/>
                </a:solidFill>
                <a:latin typeface="Consolas"/>
                <a:cs typeface="Consolas"/>
              </a:rPr>
              <a:t>A * (B * C)   builds a 2x2 intermediate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62C6A8"/>
                </a:solidFill>
                <a:latin typeface="Consolas"/>
                <a:cs typeface="Consolas"/>
              </a:rPr>
              <a:t>               1,396 FLOP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'*' is left associative, so the source asked for the first.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9BAAA3"/>
                </a:solidFill>
                <a:latin typeface="Consolas"/>
                <a:cs typeface="Consolas"/>
              </a:rPr>
              <a:t>The compiler emitted the second, into the same four slots.</a:t>
            </a:r>
          </a:p>
        </p:txBody>
      </p:sp>
      <p:sp>
        <p:nvSpPr>
          <p:cNvPr id="25" name="panel25"/>
          <p:cNvSpPr txBox="1"/>
          <p:nvPr/>
        </p:nvSpPr>
        <p:spPr>
          <a:xfrm>
            <a:off x="2489200" y="4165600"/>
            <a:ext cx="3810000" cy="16764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2667000" y="4318000"/>
            <a:ext cx="3454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Why an instruction count cannot see it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2667000" y="4622800"/>
            <a:ext cx="34798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1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A chain of k matrices needs exactly k-1 products under every bracketing.</a:t>
            </a:r>
          </a:p>
          <a:p>
            <a:pPr algn="l">
              <a:lnSpc>
                <a:spcPts val="1241"/>
              </a:lnSpc>
              <a:spcBef>
                <a:spcPts val="800"/>
              </a:spcBef>
              <a:buNone/>
            </a:pPr>
            <a:r>
              <a:rPr lang="en-US" sz="900" dirty="0">
                <a:solidFill>
                  <a:srgbClr val="E0A94A"/>
                </a:solidFill>
                <a:latin typeface="Segoe UI"/>
                <a:cs typeface="Segoe UI"/>
              </a:rPr>
              <a:t>So re-bracketing never changes the instruction count. It is invisible to the metric course projects report.</a:t>
            </a:r>
          </a:p>
        </p:txBody>
      </p:sp>
      <p:sp>
        <p:nvSpPr>
          <p:cNvPr id="28" name="panel28"/>
          <p:cNvSpPr txBox="1"/>
          <p:nvPr/>
        </p:nvSpPr>
        <p:spPr>
          <a:xfrm>
            <a:off x="6502400" y="4165600"/>
            <a:ext cx="5156200" cy="16764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9" name="text29"/>
          <p:cNvSpPr txBox="1"/>
          <p:nvPr/>
        </p:nvSpPr>
        <p:spPr>
          <a:xfrm>
            <a:off x="6680200" y="4318000"/>
            <a:ext cx="4800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The algorithm is the textbook one</a:t>
            </a:r>
          </a:p>
        </p:txBody>
      </p:sp>
      <p:sp>
        <p:nvSpPr>
          <p:cNvPr id="30" name="text30"/>
          <p:cNvSpPr txBox="1"/>
          <p:nvPr/>
        </p:nvSpPr>
        <p:spPr>
          <a:xfrm>
            <a:off x="6680200" y="4622800"/>
            <a:ext cx="48006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1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The standard O(k^3) dynamic program over the chain, the same one an algorithms course teaches.</a:t>
            </a:r>
          </a:p>
          <a:p>
            <a:pPr algn="l">
              <a:lnSpc>
                <a:spcPts val="1241"/>
              </a:lnSpc>
              <a:spcBef>
                <a:spcPts val="8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What is new is not the algorithm. It is that a student compiler holds the information needed to run it.</a:t>
            </a:r>
          </a:p>
        </p:txBody>
      </p:sp>
      <p:sp>
        <p:nvSpPr>
          <p:cNvPr id="31" name="rule31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bullet32"/>
          <p:cNvSpPr txBox="1"/>
          <p:nvPr/>
        </p:nvSpPr>
        <p:spPr>
          <a:xfrm>
            <a:off x="2489200" y="6451600"/>
            <a:ext cx="38100" cy="381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3" name="text33"/>
          <p:cNvSpPr txBox="1"/>
          <p:nvPr/>
        </p:nvSpPr>
        <p:spPr>
          <a:xfrm>
            <a:off x="2667000" y="6375400"/>
            <a:ext cx="8991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Linnea and LGen do this at research quality. Here the dynamic program is 21 lines of C, inside a 328-line pass.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7D928B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6" name="text6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9" name="phase-mark9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13" name="rule13"/>
          <p:cNvSpPr txBox="1"/>
          <p:nvPr/>
        </p:nvSpPr>
        <p:spPr>
          <a:xfrm>
            <a:off x="533400" y="5969000"/>
            <a:ext cx="27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533400" y="6070600"/>
            <a:ext cx="1625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spc="80">
                <a:solidFill>
                  <a:srgbClr val="7D928B"/>
                </a:solidFill>
                <a:latin typeface="Consolas"/>
                <a:cs typeface="Consolas"/>
              </a:rPr>
              <a:t>06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2489200" y="609600"/>
            <a:ext cx="9169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  <a:buNone/>
            </a:pPr>
            <a:r>
              <a:rPr lang="en-US" sz="2600" dirty="0" b="1">
                <a:solidFill>
                  <a:srgbClr val="EFEAE0"/>
                </a:solidFill>
                <a:latin typeface="Georgia"/>
                <a:cs typeface="Georgia"/>
              </a:rPr>
              <a:t>Two metrics, same programs, different answers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2489200" y="11176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400 programs from a generator, two seeds. The corpus was not written by whoever wrote the optimizer.</a:t>
            </a:r>
          </a:p>
        </p:txBody>
      </p:sp>
      <p:sp>
        <p:nvSpPr>
          <p:cNvPr id="17" name="rule17"/>
          <p:cNvSpPr txBox="1"/>
          <p:nvPr/>
        </p:nvSpPr>
        <p:spPr>
          <a:xfrm>
            <a:off x="2489200" y="1574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panel18"/>
          <p:cNvSpPr txBox="1"/>
          <p:nvPr/>
        </p:nvSpPr>
        <p:spPr>
          <a:xfrm>
            <a:off x="2489200" y="1828800"/>
            <a:ext cx="9169400" cy="19304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2667000" y="1981200"/>
            <a:ext cx="8813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Median reduction per program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667000" y="1981200"/>
            <a:ext cx="8813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000"/>
              </a:lnSpc>
              <a:buNone/>
            </a:pPr>
            <a:r>
              <a:rPr lang="en-US" sz="740" dirty="0">
                <a:solidFill>
                  <a:srgbClr val="7D928B"/>
                </a:solidFill>
                <a:latin typeface="Segoe UI"/>
                <a:cs typeface="Segoe UI"/>
              </a:rPr>
              <a:t>bar = interquartile range     tick = median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2692400" y="233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arithmetic removed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692400" y="25781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>
                <a:solidFill>
                  <a:srgbClr val="7D928B"/>
                </a:solidFill>
                <a:latin typeface="Segoe UI"/>
                <a:cs typeface="Segoe UI"/>
              </a:rPr>
              <a:t>IQR 2.5 to 81.7</a:t>
            </a:r>
          </a:p>
        </p:txBody>
      </p:sp>
      <p:sp>
        <p:nvSpPr>
          <p:cNvPr id="23" name="bar-bg23"/>
          <p:cNvSpPr txBox="1"/>
          <p:nvPr/>
        </p:nvSpPr>
        <p:spPr>
          <a:xfrm>
            <a:off x="4851400" y="2552700"/>
            <a:ext cx="53340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iqr24"/>
          <p:cNvSpPr txBox="1"/>
          <p:nvPr/>
        </p:nvSpPr>
        <p:spPr>
          <a:xfrm>
            <a:off x="4987286" y="2552700"/>
            <a:ext cx="4220502" cy="152400"/>
          </a:xfrm>
          <a:prstGeom prst="rect">
            <a:avLst/>
          </a:prstGeom>
          <a:solidFill>
            <a:srgbClr val="62C6A8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median25"/>
          <p:cNvSpPr txBox="1"/>
          <p:nvPr/>
        </p:nvSpPr>
        <p:spPr>
          <a:xfrm>
            <a:off x="7424128" y="2501900"/>
            <a:ext cx="31750" cy="254000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10337800" y="250190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en-US" sz="1300" dirty="0" b="1">
                <a:solidFill>
                  <a:srgbClr val="62C6A8"/>
                </a:solidFill>
                <a:latin typeface="Georgia"/>
                <a:cs typeface="Georgia"/>
              </a:rPr>
              <a:t>48.5%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2692400" y="2997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instructions removed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2692400" y="32385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>
                <a:solidFill>
                  <a:srgbClr val="7D928B"/>
                </a:solidFill>
                <a:latin typeface="Segoe UI"/>
                <a:cs typeface="Segoe UI"/>
              </a:rPr>
              <a:t>IQR 0.0 to 9.1</a:t>
            </a:r>
          </a:p>
        </p:txBody>
      </p:sp>
      <p:sp>
        <p:nvSpPr>
          <p:cNvPr id="29" name="bar-bg29"/>
          <p:cNvSpPr txBox="1"/>
          <p:nvPr/>
        </p:nvSpPr>
        <p:spPr>
          <a:xfrm>
            <a:off x="4851400" y="3213100"/>
            <a:ext cx="5334000" cy="1524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0" name="iqr30"/>
          <p:cNvSpPr txBox="1"/>
          <p:nvPr/>
        </p:nvSpPr>
        <p:spPr>
          <a:xfrm>
            <a:off x="4851400" y="3213100"/>
            <a:ext cx="484909" cy="152400"/>
          </a:xfrm>
          <a:prstGeom prst="rect">
            <a:avLst/>
          </a:prstGeom>
          <a:solidFill>
            <a:srgbClr val="6E3A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median31"/>
          <p:cNvSpPr txBox="1"/>
          <p:nvPr/>
        </p:nvSpPr>
        <p:spPr>
          <a:xfrm>
            <a:off x="5131858" y="3162300"/>
            <a:ext cx="31750" cy="254000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10337800" y="316230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en-US" sz="1300" dirty="0" b="1">
                <a:solidFill>
                  <a:srgbClr val="E2705F"/>
                </a:solidFill>
                <a:latin typeface="Georgia"/>
                <a:cs typeface="Georgia"/>
              </a:rPr>
              <a:t>5.6%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4851400" y="35560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40" dirty="0">
                <a:solidFill>
                  <a:srgbClr val="7D928B"/>
                </a:solidFill>
                <a:latin typeface="Consolas"/>
                <a:cs typeface="Consolas"/>
              </a:rPr>
              <a:t>0%</a:t>
            </a:r>
          </a:p>
        </p:txBody>
      </p:sp>
      <p:sp>
        <p:nvSpPr>
          <p:cNvPr id="34" name="text34"/>
          <p:cNvSpPr txBox="1"/>
          <p:nvPr/>
        </p:nvSpPr>
        <p:spPr>
          <a:xfrm>
            <a:off x="9423400" y="35560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000"/>
              </a:lnSpc>
              <a:buNone/>
            </a:pPr>
            <a:r>
              <a:rPr lang="en-US" sz="740" dirty="0">
                <a:solidFill>
                  <a:srgbClr val="7D928B"/>
                </a:solidFill>
                <a:latin typeface="Consolas"/>
                <a:cs typeface="Consolas"/>
              </a:rPr>
              <a:t>100%</a:t>
            </a:r>
          </a:p>
        </p:txBody>
      </p:sp>
      <p:sp>
        <p:nvSpPr>
          <p:cNvPr id="35" name="text35"/>
          <p:cNvSpPr txBox="1"/>
          <p:nvPr/>
        </p:nvSpPr>
        <p:spPr>
          <a:xfrm>
            <a:off x="2489200" y="40132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000"/>
              </a:lnSpc>
              <a:buNone/>
            </a:pPr>
            <a:r>
              <a:rPr lang="en-US" sz="3800" dirty="0" b="1">
                <a:solidFill>
                  <a:srgbClr val="E0A94A"/>
                </a:solidFill>
                <a:latin typeface="Georgia"/>
                <a:cs typeface="Georgia"/>
              </a:rPr>
              <a:t>79.8%</a:t>
            </a:r>
          </a:p>
        </p:txBody>
      </p:sp>
      <p:sp>
        <p:nvSpPr>
          <p:cNvPr id="36" name="text36"/>
          <p:cNvSpPr txBox="1"/>
          <p:nvPr/>
        </p:nvSpPr>
        <p:spPr>
          <a:xfrm>
            <a:off x="2489200" y="4572000"/>
            <a:ext cx="2489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of programs had a chain worth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re-bracketing (319 of 400)</a:t>
            </a:r>
          </a:p>
        </p:txBody>
      </p:sp>
      <p:sp>
        <p:nvSpPr>
          <p:cNvPr id="37" name="text37"/>
          <p:cNvSpPr txBox="1"/>
          <p:nvPr/>
        </p:nvSpPr>
        <p:spPr>
          <a:xfrm>
            <a:off x="5156200" y="4013200"/>
            <a:ext cx="24892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000"/>
              </a:lnSpc>
              <a:buNone/>
            </a:pPr>
            <a:r>
              <a:rPr lang="en-US" sz="3800" dirty="0" b="1">
                <a:solidFill>
                  <a:srgbClr val="E0A94A"/>
                </a:solidFill>
                <a:latin typeface="Georgia"/>
                <a:cs typeface="Georgia"/>
              </a:rPr>
              <a:t>60.1%</a:t>
            </a:r>
          </a:p>
        </p:txBody>
      </p:sp>
      <p:sp>
        <p:nvSpPr>
          <p:cNvPr id="38" name="text38"/>
          <p:cNvSpPr txBox="1"/>
          <p:nvPr/>
        </p:nvSpPr>
        <p:spPr>
          <a:xfrm>
            <a:off x="5156200" y="4572000"/>
            <a:ext cx="2489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median arithmetic saved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on those programs</a:t>
            </a:r>
          </a:p>
        </p:txBody>
      </p:sp>
      <p:sp>
        <p:nvSpPr>
          <p:cNvPr id="39" name="text39"/>
          <p:cNvSpPr txBox="1"/>
          <p:nvPr/>
        </p:nvSpPr>
        <p:spPr>
          <a:xfrm>
            <a:off x="7823200" y="4013200"/>
            <a:ext cx="3175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000"/>
              </a:lnSpc>
              <a:buNone/>
            </a:pPr>
            <a:r>
              <a:rPr lang="en-US" sz="3800" dirty="0" b="1">
                <a:solidFill>
                  <a:srgbClr val="62C6A8"/>
                </a:solidFill>
                <a:latin typeface="Georgia"/>
                <a:cs typeface="Georgia"/>
              </a:rPr>
              <a:t>400/400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7823200" y="4572000"/>
            <a:ext cx="3175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programs printed the same bytes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60" dirty="0">
                <a:solidFill>
                  <a:srgbClr val="9BAAA3"/>
                </a:solidFill>
                <a:latin typeface="Segoe UI"/>
                <a:cs typeface="Segoe UI"/>
              </a:rPr>
              <a:t>with the optimizer and without</a:t>
            </a:r>
          </a:p>
        </p:txBody>
      </p:sp>
      <p:sp>
        <p:nvSpPr>
          <p:cNvPr id="41" name="panel41"/>
          <p:cNvSpPr txBox="1"/>
          <p:nvPr/>
        </p:nvSpPr>
        <p:spPr>
          <a:xfrm>
            <a:off x="2489200" y="5384800"/>
            <a:ext cx="9169400" cy="685800"/>
          </a:xfrm>
          <a:prstGeom prst="roundRect">
            <a:avLst>
              <a:gd name="adj" fmla="val 22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2" name="text42"/>
          <p:cNvSpPr txBox="1"/>
          <p:nvPr/>
        </p:nvSpPr>
        <p:spPr>
          <a:xfrm>
            <a:off x="2743200" y="5384800"/>
            <a:ext cx="8661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50"/>
              </a:lnSpc>
              <a:buNone/>
            </a:pPr>
            <a:r>
              <a:rPr lang="en-US" sz="900" dirty="0" b="1">
                <a:solidFill>
                  <a:srgbClr val="E0A94A"/>
                </a:solidFill>
                <a:latin typeface="Segoe UI"/>
                <a:cs typeface="Segoe UI"/>
              </a:rPr>
              <a:t>Not one lucky corpus.  </a:t>
            </a: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Taken separately the two seeds give 47.3% and 49.7% of the arithmetic against 5.3% and 5.9% of the instructions. The gap between the metrics is the stable part.</a:t>
            </a:r>
          </a:p>
        </p:txBody>
      </p:sp>
      <p:sp>
        <p:nvSpPr>
          <p:cNvPr id="43" name="rule43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4" name="bullet44"/>
          <p:cNvSpPr txBox="1"/>
          <p:nvPr/>
        </p:nvSpPr>
        <p:spPr>
          <a:xfrm>
            <a:off x="2489200" y="6451600"/>
            <a:ext cx="38100" cy="381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5" name="text45"/>
          <p:cNvSpPr txBox="1"/>
          <p:nvPr/>
        </p:nvSpPr>
        <p:spPr>
          <a:xfrm>
            <a:off x="2667000" y="6375400"/>
            <a:ext cx="8991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Roughly a fifth of programs are left alone. An optimizer that always reports an improvement is measuring nothing.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7D928B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6" name="text6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9" name="phase-mark9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D928B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2" name="phase-mark12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14" name="rule14"/>
          <p:cNvSpPr txBox="1"/>
          <p:nvPr/>
        </p:nvSpPr>
        <p:spPr>
          <a:xfrm>
            <a:off x="533400" y="5969000"/>
            <a:ext cx="27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533400" y="6070600"/>
            <a:ext cx="1625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spc="80">
                <a:solidFill>
                  <a:srgbClr val="7D928B"/>
                </a:solidFill>
                <a:latin typeface="Consolas"/>
                <a:cs typeface="Consolas"/>
              </a:rPr>
              <a:t>07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2489200" y="609600"/>
            <a:ext cx="9169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  <a:buNone/>
            </a:pPr>
            <a:r>
              <a:rPr lang="en-US" sz="2600" dirty="0" b="1">
                <a:solidFill>
                  <a:srgbClr val="EFEAE0"/>
                </a:solidFill>
                <a:latin typeface="Georgia"/>
                <a:cs typeface="Georgia"/>
              </a:rPr>
              <a:t>The corpus found a bug we had not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2489200" y="11176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The first differential run did not come back clean, and that is the part worth reporting.</a:t>
            </a:r>
          </a:p>
        </p:txBody>
      </p:sp>
      <p:sp>
        <p:nvSpPr>
          <p:cNvPr id="18" name="rule18"/>
          <p:cNvSpPr txBox="1"/>
          <p:nvPr/>
        </p:nvSpPr>
        <p:spPr>
          <a:xfrm>
            <a:off x="2489200" y="1574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code19"/>
          <p:cNvSpPr txBox="1"/>
          <p:nvPr/>
        </p:nvSpPr>
        <p:spPr>
          <a:xfrm>
            <a:off x="2489200" y="1828800"/>
            <a:ext cx="5461000" cy="1600200"/>
          </a:xfrm>
          <a:prstGeom prst="roundRect">
            <a:avLst>
              <a:gd name="adj" fmla="val 1600"/>
            </a:avLst>
          </a:prstGeom>
          <a:solidFill>
            <a:srgbClr val="1D292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0" name="text20"/>
          <p:cNvSpPr txBox="1"/>
          <p:nvPr/>
        </p:nvSpPr>
        <p:spPr>
          <a:xfrm>
            <a:off x="2489200" y="1828800"/>
            <a:ext cx="5461000" cy="1600200"/>
          </a:xfrm>
          <a:prstGeom prst="rect">
            <a:avLst/>
          </a:prstGeom>
          <a:noFill/>
          <a:ln>
            <a:noFill/>
          </a:ln>
        </p:spPr>
        <p:txBody>
          <a:bodyPr wrap="square" lIns="165100" tIns="114300" rIns="127000" bIns="101600" anchor="t">
            <a:noAutofit/>
          </a:bodyPr>
          <a:lstStyle/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9BAAA3"/>
                </a:solidFill>
                <a:latin typeface="Consolas"/>
                <a:cs typeface="Consolas"/>
              </a:rPr>
              <a:t>unoptimized          optimized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Consolas"/>
                <a:cs typeface="Consolas"/>
              </a:rPr>
              <a:t>R = Matrix&lt;1x1&gt;      R = Matrix&lt;1x1&gt;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E2705F"/>
                </a:solidFill>
                <a:latin typeface="Consolas"/>
                <a:cs typeface="Consolas"/>
              </a:rPr>
              <a:t>  [ 0 ]                [ -0 ]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9BAAA3"/>
                </a:solidFill>
                <a:latin typeface="Consolas"/>
                <a:cs typeface="Consolas"/>
              </a:rPr>
              <a:t>the rewrite that did it:</a:t>
            </a:r>
          </a:p>
          <a:p>
            <a:pPr algn="l">
              <a:lnSpc>
                <a:spcPts val="1340"/>
              </a:lnSpc>
              <a:buNone/>
            </a:pPr>
            <a:r>
              <a:rPr lang="en-US" sz="900" dirty="0">
                <a:solidFill>
                  <a:srgbClr val="E0A94A"/>
                </a:solidFill>
                <a:latin typeface="Consolas"/>
                <a:cs typeface="Consolas"/>
              </a:rPr>
              <a:t>    0 - x   =&gt;   -x</a:t>
            </a:r>
          </a:p>
        </p:txBody>
      </p:sp>
      <p:sp>
        <p:nvSpPr>
          <p:cNvPr id="21" name="panel21"/>
          <p:cNvSpPr txBox="1"/>
          <p:nvPr/>
        </p:nvSpPr>
        <p:spPr>
          <a:xfrm>
            <a:off x="8153400" y="1828800"/>
            <a:ext cx="3505200" cy="16002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2" name="text22"/>
          <p:cNvSpPr txBox="1"/>
          <p:nvPr/>
        </p:nvSpPr>
        <p:spPr>
          <a:xfrm>
            <a:off x="8331200" y="1981200"/>
            <a:ext cx="3149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2705F"/>
                </a:solidFill>
                <a:latin typeface="Segoe UI"/>
                <a:cs typeface="Segoe UI"/>
              </a:rPr>
              <a:t>Why it is wrong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8331200" y="2260600"/>
            <a:ext cx="3149600" cy="1117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50"/>
              </a:lnSpc>
              <a:buNone/>
            </a:pPr>
            <a:r>
              <a:rPr lang="en-US" sz="900" dirty="0">
                <a:solidFill>
                  <a:srgbClr val="EFEAE0"/>
                </a:solidFill>
                <a:latin typeface="Segoe UI"/>
                <a:cs typeface="Segoe UI"/>
              </a:rPr>
              <a:t>True over the reals. Not observationally equivalent in IEEE-754: +0 minus +0 is +0, but negating +0 gives -0, and the two print differently.</a:t>
            </a:r>
          </a:p>
        </p:txBody>
      </p:sp>
      <p:sp>
        <p:nvSpPr>
          <p:cNvPr id="24" name="panel24"/>
          <p:cNvSpPr txBox="1"/>
          <p:nvPr/>
        </p:nvSpPr>
        <p:spPr>
          <a:xfrm>
            <a:off x="2489200" y="3759200"/>
            <a:ext cx="9169400" cy="20828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2667000" y="3911600"/>
            <a:ext cx="8813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What we take from it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2692400" y="4216400"/>
            <a:ext cx="42799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97"/>
              </a:lnSpc>
              <a:buNone/>
            </a:pPr>
            <a:r>
              <a:rPr lang="en-US" sz="940" dirty="0" b="1">
                <a:solidFill>
                  <a:srgbClr val="E0A94A"/>
                </a:solidFill>
                <a:latin typeface="Segoe UI"/>
                <a:cs typeface="Segoe UI"/>
              </a:rPr>
              <a:t>Not a finding about floating point.</a:t>
            </a:r>
          </a:p>
          <a:p>
            <a:pPr algn="l">
              <a:lnSpc>
                <a:spcPts val="1241"/>
              </a:lnSpc>
              <a:spcBef>
                <a:spcPts val="8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That algebraic identities valid over the reals are unsound in floating point is textbook, and production compilers gate exactly these rewrites behind fast-math.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7175500" y="4216400"/>
            <a:ext cx="42799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97"/>
              </a:lnSpc>
              <a:buNone/>
            </a:pPr>
            <a:r>
              <a:rPr lang="en-US" sz="940" dirty="0" b="1">
                <a:solidFill>
                  <a:srgbClr val="62C6A8"/>
                </a:solidFill>
                <a:latin typeface="Segoe UI"/>
                <a:cs typeface="Segoe UI"/>
              </a:rPr>
              <a:t>A finding about what a course can afford.</a:t>
            </a:r>
          </a:p>
          <a:p>
            <a:pPr algn="l">
              <a:lnSpc>
                <a:spcPts val="1241"/>
              </a:lnSpc>
              <a:spcBef>
                <a:spcPts val="800"/>
              </a:spcBef>
              <a:buNone/>
            </a:pPr>
            <a:r>
              <a:rPr lang="en-US" sz="900" dirty="0">
                <a:solidFill>
                  <a:srgbClr val="9BAAA3"/>
                </a:solidFill>
                <a:latin typeface="Segoe UI"/>
                <a:cs typeface="Segoe UI"/>
              </a:rPr>
              <a:t>A generator and a loop comparing two runs, which is a weekend of work, found a defect in a student-scale optimizer that reading the code had not, on an input nobody chose.</a:t>
            </a:r>
          </a:p>
        </p:txBody>
      </p:sp>
      <p:sp>
        <p:nvSpPr>
          <p:cNvPr id="28" name="rule28"/>
          <p:cNvSpPr txBox="1"/>
          <p:nvPr/>
        </p:nvSpPr>
        <p:spPr>
          <a:xfrm>
            <a:off x="2692400" y="5334000"/>
            <a:ext cx="87630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9" name="text29"/>
          <p:cNvSpPr txBox="1"/>
          <p:nvPr/>
        </p:nvSpPr>
        <p:spPr>
          <a:xfrm>
            <a:off x="2692400" y="5486400"/>
            <a:ext cx="876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80" dirty="0" i="1">
                <a:solidFill>
                  <a:srgbClr val="EFEAE0"/>
                </a:solidFill>
                <a:latin typeface="Segoe UI"/>
                <a:cs typeface="Segoe UI"/>
              </a:rPr>
              <a:t>The rewrite was removed. It saved no arithmetic anyway: a negation costs what a subtraction from zero costs.</a:t>
            </a:r>
          </a:p>
        </p:txBody>
      </p:sp>
      <p:sp>
        <p:nvSpPr>
          <p:cNvPr id="30" name="rule30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bullet31"/>
          <p:cNvSpPr txBox="1"/>
          <p:nvPr/>
        </p:nvSpPr>
        <p:spPr>
          <a:xfrm>
            <a:off x="2489200" y="6451600"/>
            <a:ext cx="38100" cy="38100"/>
          </a:xfrm>
          <a:prstGeom prst="rect">
            <a:avLst/>
          </a:prstGeom>
          <a:solidFill>
            <a:srgbClr val="62C6A8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2667000" y="6375400"/>
            <a:ext cx="8991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Over the hand-written examples the same check passes, and passing there shows only that the check runs.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533400" y="558800"/>
            <a:ext cx="16256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20" dirty="0" b="1" spc="140" cap="all">
                <a:solidFill>
                  <a:srgbClr val="7D928B"/>
                </a:solidFill>
                <a:latin typeface="Segoe UI"/>
                <a:cs typeface="Segoe UI"/>
              </a:rPr>
              <a:t>compiler phases</a:t>
            </a:r>
          </a:p>
        </p:txBody>
      </p:sp>
      <p:sp>
        <p:nvSpPr>
          <p:cNvPr id="4" name="phase-mark4"/>
          <p:cNvSpPr txBox="1"/>
          <p:nvPr/>
        </p:nvSpPr>
        <p:spPr>
          <a:xfrm>
            <a:off x="533400" y="8763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685800" y="8382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lexical</a:t>
            </a:r>
          </a:p>
        </p:txBody>
      </p:sp>
      <p:sp>
        <p:nvSpPr>
          <p:cNvPr id="6" name="phase-mark6"/>
          <p:cNvSpPr txBox="1"/>
          <p:nvPr/>
        </p:nvSpPr>
        <p:spPr>
          <a:xfrm>
            <a:off x="533400" y="11430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685800" y="11049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syntax</a:t>
            </a:r>
          </a:p>
        </p:txBody>
      </p:sp>
      <p:sp>
        <p:nvSpPr>
          <p:cNvPr id="8" name="phase-mark8"/>
          <p:cNvSpPr txBox="1"/>
          <p:nvPr/>
        </p:nvSpPr>
        <p:spPr>
          <a:xfrm>
            <a:off x="533400" y="14097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85800" y="13716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symbol table</a:t>
            </a:r>
          </a:p>
        </p:txBody>
      </p:sp>
      <p:sp>
        <p:nvSpPr>
          <p:cNvPr id="10" name="phase-mark10"/>
          <p:cNvSpPr txBox="1"/>
          <p:nvPr/>
        </p:nvSpPr>
        <p:spPr>
          <a:xfrm>
            <a:off x="533400" y="16764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85800" y="16383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semantic</a:t>
            </a:r>
          </a:p>
        </p:txBody>
      </p:sp>
      <p:sp>
        <p:nvSpPr>
          <p:cNvPr id="12" name="phase-mark12"/>
          <p:cNvSpPr txBox="1"/>
          <p:nvPr/>
        </p:nvSpPr>
        <p:spPr>
          <a:xfrm>
            <a:off x="533400" y="19431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85800" y="19050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intermediate</a:t>
            </a:r>
          </a:p>
        </p:txBody>
      </p:sp>
      <p:sp>
        <p:nvSpPr>
          <p:cNvPr id="14" name="phase-mark14"/>
          <p:cNvSpPr txBox="1"/>
          <p:nvPr/>
        </p:nvSpPr>
        <p:spPr>
          <a:xfrm>
            <a:off x="533400" y="22098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85800" y="21717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optimization</a:t>
            </a:r>
          </a:p>
        </p:txBody>
      </p:sp>
      <p:sp>
        <p:nvSpPr>
          <p:cNvPr id="16" name="phase-mark16"/>
          <p:cNvSpPr txBox="1"/>
          <p:nvPr/>
        </p:nvSpPr>
        <p:spPr>
          <a:xfrm>
            <a:off x="533400" y="24765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4384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target code</a:t>
            </a:r>
          </a:p>
        </p:txBody>
      </p:sp>
      <p:sp>
        <p:nvSpPr>
          <p:cNvPr id="18" name="phase-mark18"/>
          <p:cNvSpPr txBox="1"/>
          <p:nvPr/>
        </p:nvSpPr>
        <p:spPr>
          <a:xfrm>
            <a:off x="533400" y="2743200"/>
            <a:ext cx="38100" cy="152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85800" y="27051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EFEAE0"/>
                </a:solidFill>
                <a:latin typeface="Segoe UI"/>
                <a:cs typeface="Segoe UI"/>
              </a:rPr>
              <a:t>execution</a:t>
            </a:r>
          </a:p>
        </p:txBody>
      </p:sp>
      <p:sp>
        <p:nvSpPr>
          <p:cNvPr id="20" name="rule20"/>
          <p:cNvSpPr txBox="1"/>
          <p:nvPr/>
        </p:nvSpPr>
        <p:spPr>
          <a:xfrm>
            <a:off x="533400" y="5969000"/>
            <a:ext cx="27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text21"/>
          <p:cNvSpPr txBox="1"/>
          <p:nvPr/>
        </p:nvSpPr>
        <p:spPr>
          <a:xfrm>
            <a:off x="533400" y="6070600"/>
            <a:ext cx="1625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spc="80">
                <a:solidFill>
                  <a:srgbClr val="7D928B"/>
                </a:solidFill>
                <a:latin typeface="Consolas"/>
                <a:cs typeface="Consolas"/>
              </a:rPr>
              <a:t>08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489200" y="609600"/>
            <a:ext cx="9169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000"/>
              </a:lnSpc>
              <a:buNone/>
            </a:pPr>
            <a:r>
              <a:rPr lang="en-US" sz="2600" dirty="0" b="1">
                <a:solidFill>
                  <a:srgbClr val="EFEAE0"/>
                </a:solidFill>
                <a:latin typeface="Georgia"/>
                <a:cs typeface="Georgia"/>
              </a:rPr>
              <a:t>The source language is a curricular decision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2489200" y="1117600"/>
            <a:ext cx="9169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9BAAA3"/>
                </a:solidFill>
                <a:latin typeface="Segoe UI"/>
                <a:cs typeface="Segoe UI"/>
              </a:rPr>
              <a:t>It decides which phases can carry real work. That is the claim, and it is the one we can evidence.</a:t>
            </a:r>
          </a:p>
        </p:txBody>
      </p:sp>
      <p:sp>
        <p:nvSpPr>
          <p:cNvPr id="24" name="rule24"/>
          <p:cNvSpPr txBox="1"/>
          <p:nvPr/>
        </p:nvSpPr>
        <p:spPr>
          <a:xfrm>
            <a:off x="2489200" y="1574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panel25"/>
          <p:cNvSpPr txBox="1"/>
          <p:nvPr/>
        </p:nvSpPr>
        <p:spPr>
          <a:xfrm>
            <a:off x="2489200" y="1828800"/>
            <a:ext cx="4445000" cy="24892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2667000" y="1981200"/>
            <a:ext cx="408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0A94A"/>
                </a:solidFill>
                <a:latin typeface="Segoe UI"/>
                <a:cs typeface="Segoe UI"/>
              </a:rPr>
              <a:t>What the domain bought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2667000" y="2286000"/>
            <a:ext cx="4089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62C6A8"/>
                </a:solidFill>
                <a:latin typeface="Segoe UI"/>
                <a:cs typeface="Segoe UI"/>
              </a:rPr>
              <a:t>Semantic analysis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became shape inference and dimension checking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2667000" y="2870200"/>
            <a:ext cx="4089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62C6A8"/>
                </a:solidFill>
                <a:latin typeface="Segoe UI"/>
                <a:cs typeface="Segoe UI"/>
              </a:rPr>
              <a:t>Code generation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gained instruction selection from inferred types</a:t>
            </a:r>
          </a:p>
        </p:txBody>
      </p:sp>
      <p:sp>
        <p:nvSpPr>
          <p:cNvPr id="29" name="text29"/>
          <p:cNvSpPr txBox="1"/>
          <p:nvPr/>
        </p:nvSpPr>
        <p:spPr>
          <a:xfrm>
            <a:off x="2667000" y="3454400"/>
            <a:ext cx="4089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62C6A8"/>
                </a:solidFill>
                <a:latin typeface="Segoe UI"/>
                <a:cs typeface="Segoe UI"/>
              </a:rPr>
              <a:t>Optimization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gained transformations and a way to score them</a:t>
            </a:r>
          </a:p>
        </p:txBody>
      </p:sp>
      <p:sp>
        <p:nvSpPr>
          <p:cNvPr id="30" name="text30"/>
          <p:cNvSpPr txBox="1"/>
          <p:nvPr/>
        </p:nvSpPr>
        <p:spPr>
          <a:xfrm>
            <a:off x="2667000" y="4140200"/>
            <a:ext cx="408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60" dirty="0">
                <a:solidFill>
                  <a:srgbClr val="E2705F"/>
                </a:solidFill>
                <a:latin typeface="Segoe UI"/>
                <a:cs typeface="Segoe UI"/>
              </a:rPr>
              <a:t>It costs control-flow graphs and dataflow analysis.</a:t>
            </a:r>
          </a:p>
        </p:txBody>
      </p:sp>
      <p:sp>
        <p:nvSpPr>
          <p:cNvPr id="31" name="panel31"/>
          <p:cNvSpPr txBox="1"/>
          <p:nvPr/>
        </p:nvSpPr>
        <p:spPr>
          <a:xfrm>
            <a:off x="7137400" y="1828800"/>
            <a:ext cx="4521200" cy="2489200"/>
          </a:xfrm>
          <a:prstGeom prst="roundRect">
            <a:avLst>
              <a:gd name="adj" fmla="val 2200"/>
            </a:avLst>
          </a:prstGeom>
          <a:solidFill>
            <a:srgbClr val="16201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7315200" y="1981200"/>
            <a:ext cx="4165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80" dirty="0" b="1" spc="120" cap="all">
                <a:solidFill>
                  <a:srgbClr val="E2705F"/>
                </a:solidFill>
                <a:latin typeface="Segoe UI"/>
                <a:cs typeface="Segoe UI"/>
              </a:rPr>
              <a:t>What we do not claim</a:t>
            </a:r>
          </a:p>
        </p:txBody>
      </p:sp>
      <p:sp>
        <p:nvSpPr>
          <p:cNvPr id="33" name="negation33"/>
          <p:cNvSpPr txBox="1"/>
          <p:nvPr/>
        </p:nvSpPr>
        <p:spPr>
          <a:xfrm>
            <a:off x="7315200" y="2387600"/>
            <a:ext cx="101600" cy="2032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4" name="text34"/>
          <p:cNvSpPr txBox="1"/>
          <p:nvPr/>
        </p:nvSpPr>
        <p:spPr>
          <a:xfrm>
            <a:off x="7493000" y="2311400"/>
            <a:ext cx="3911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That students learn more. It has not been taught yet.</a:t>
            </a:r>
          </a:p>
        </p:txBody>
      </p:sp>
      <p:sp>
        <p:nvSpPr>
          <p:cNvPr id="35" name="negation35"/>
          <p:cNvSpPr txBox="1"/>
          <p:nvPr/>
        </p:nvSpPr>
        <p:spPr>
          <a:xfrm>
            <a:off x="7315200" y="2819400"/>
            <a:ext cx="101600" cy="2032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text36"/>
          <p:cNvSpPr txBox="1"/>
          <p:nvPr/>
        </p:nvSpPr>
        <p:spPr>
          <a:xfrm>
            <a:off x="7493000" y="2743200"/>
            <a:ext cx="3911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That the mechanisms are new. They are not.</a:t>
            </a:r>
          </a:p>
        </p:txBody>
      </p:sp>
      <p:sp>
        <p:nvSpPr>
          <p:cNvPr id="37" name="negation37"/>
          <p:cNvSpPr txBox="1"/>
          <p:nvPr/>
        </p:nvSpPr>
        <p:spPr>
          <a:xfrm>
            <a:off x="7315200" y="3251200"/>
            <a:ext cx="101600" cy="2032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8" name="text38"/>
          <p:cNvSpPr txBox="1"/>
          <p:nvPr/>
        </p:nvSpPr>
        <p:spPr>
          <a:xfrm>
            <a:off x="7493000" y="3175000"/>
            <a:ext cx="3911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That the magnitudes generalise. The corpus is ours.</a:t>
            </a:r>
          </a:p>
        </p:txBody>
      </p:sp>
      <p:sp>
        <p:nvSpPr>
          <p:cNvPr id="39" name="negation39"/>
          <p:cNvSpPr txBox="1"/>
          <p:nvPr/>
        </p:nvSpPr>
        <p:spPr>
          <a:xfrm>
            <a:off x="7315200" y="3683000"/>
            <a:ext cx="101600" cy="20320"/>
          </a:xfrm>
          <a:prstGeom prst="rect">
            <a:avLst/>
          </a:prstGeom>
          <a:solidFill>
            <a:srgbClr val="E2705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0" name="text40"/>
          <p:cNvSpPr txBox="1"/>
          <p:nvPr/>
        </p:nvSpPr>
        <p:spPr>
          <a:xfrm>
            <a:off x="7493000" y="3606800"/>
            <a:ext cx="3911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80" dirty="0">
                <a:solidFill>
                  <a:srgbClr val="9BAAA3"/>
                </a:solidFill>
                <a:latin typeface="Segoe UI"/>
                <a:cs typeface="Segoe UI"/>
              </a:rPr>
              <a:t>That three repositories are a sample.</a:t>
            </a:r>
          </a:p>
        </p:txBody>
      </p:sp>
      <p:sp>
        <p:nvSpPr>
          <p:cNvPr id="41" name="rule41"/>
          <p:cNvSpPr txBox="1"/>
          <p:nvPr/>
        </p:nvSpPr>
        <p:spPr>
          <a:xfrm>
            <a:off x="2489200" y="4673600"/>
            <a:ext cx="1168400" cy="254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2" name="text42"/>
          <p:cNvSpPr txBox="1"/>
          <p:nvPr/>
        </p:nvSpPr>
        <p:spPr>
          <a:xfrm>
            <a:off x="2489200" y="4927600"/>
            <a:ext cx="86614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300" dirty="0">
                <a:solidFill>
                  <a:srgbClr val="EFEAE0"/>
                </a:solidFill>
                <a:latin typeface="Georgia"/>
                <a:cs typeface="Georgia"/>
              </a:rPr>
              <a:t>Whatever the domain, if the type system carries enough to cost a program statically, a student's optimizer can be scored on the work it removes rather than the lines it removes. The two are not close.</a:t>
            </a:r>
          </a:p>
        </p:txBody>
      </p:sp>
      <p:sp>
        <p:nvSpPr>
          <p:cNvPr id="43" name="rule43"/>
          <p:cNvSpPr txBox="1"/>
          <p:nvPr/>
        </p:nvSpPr>
        <p:spPr>
          <a:xfrm>
            <a:off x="2489200" y="6273800"/>
            <a:ext cx="9169400" cy="12700"/>
          </a:xfrm>
          <a:prstGeom prst="rect">
            <a:avLst/>
          </a:prstGeom>
          <a:solidFill>
            <a:srgbClr val="2A3833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4" name="bullet44"/>
          <p:cNvSpPr txBox="1"/>
          <p:nvPr/>
        </p:nvSpPr>
        <p:spPr>
          <a:xfrm>
            <a:off x="2489200" y="6451600"/>
            <a:ext cx="38100" cy="38100"/>
          </a:xfrm>
          <a:prstGeom prst="rect">
            <a:avLst/>
          </a:prstGeom>
          <a:solidFill>
            <a:srgbClr val="E0A94A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5" name="text45"/>
          <p:cNvSpPr txBox="1"/>
          <p:nvPr/>
        </p:nvSpPr>
        <p:spPr>
          <a:xfrm>
            <a:off x="2667000" y="6375400"/>
            <a:ext cx="6756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9BAAA3"/>
                </a:solidFill>
                <a:latin typeface="Segoe UI"/>
                <a:cs typeface="Segoe UI"/>
              </a:rPr>
              <a:t>Paper, compiler, generator, measurements and demo:</a:t>
            </a:r>
          </a:p>
        </p:txBody>
      </p:sp>
      <p:sp>
        <p:nvSpPr>
          <p:cNvPr id="46" name="text46"/>
          <p:cNvSpPr txBox="1"/>
          <p:nvPr/>
        </p:nvSpPr>
        <p:spPr>
          <a:xfrm>
            <a:off x="9423400" y="6375400"/>
            <a:ext cx="223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860" dirty="0">
                <a:solidFill>
                  <a:srgbClr val="7D928B"/>
                </a:solidFill>
                <a:latin typeface="Consolas"/>
                <a:cs typeface="Consolas"/>
              </a:rPr>
              <a:t>github.com/aswanth-07/matrixlang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rixLang">
  <a:themeElements>
    <a:clrScheme name="MatrixLang">
      <a:dk1>
        <a:srgbClr val="14261F"/>
      </a:dk1>
      <a:lt1>
        <a:srgbClr val="FFFFFF"/>
      </a:lt1>
      <a:dk2>
        <a:srgbClr val="3F4F49"/>
      </a:dk2>
      <a:lt2>
        <a:srgbClr val="FAF7F2"/>
      </a:lt2>
      <a:accent1>
        <a:srgbClr val="0E7C6B"/>
      </a:accent1>
      <a:accent2>
        <a:srgbClr val="B4690E"/>
      </a:accent2>
      <a:accent3>
        <a:srgbClr val="9E2B3F"/>
      </a:accent3>
      <a:accent4>
        <a:srgbClr val="7C8B85"/>
      </a:accent4>
      <a:accent5>
        <a:srgbClr val="E3DDD2"/>
      </a:accent5>
      <a:accent6>
        <a:srgbClr val="16221E"/>
      </a:accent6>
      <a:hlink>
        <a:srgbClr val="0E7C6B"/>
      </a:hlink>
      <a:folHlink>
        <a:srgbClr val="7C8B85"/>
      </a:folHlink>
    </a:clrScheme>
    <a:fontScheme name="MatrixLang">
      <a:majorFont>
        <a:latin typeface="Georgia"/>
        <a:ea typeface=""/>
        <a:cs typeface=""/>
      </a:majorFont>
      <a:minorFont>
        <a:latin typeface="Segoe UI"/>
        <a:ea typeface=""/>
        <a:cs typeface=""/>
      </a:minorFont>
    </a:fontScheme>
    <a:fmtScheme name="MatrixLa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</Slides>
  <TitlesOfParts>
    <vt:vector size="1" baseType="lpstr">
      <vt:lpstr>MatrixLang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MatrixLang</dc:title>
  <dc:creator>A Aswanth Raj</dc:creator>
  <cp:lastModifiedBy>A Aswanth Raj</cp:lastModifiedBy>
</cp:coreProperties>
</file>