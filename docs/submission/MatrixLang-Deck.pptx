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rule3"/>
          <p:cNvSpPr txBox="1"/>
          <p:nvPr/>
        </p:nvSpPr>
        <p:spPr>
          <a:xfrm>
            <a:off x="914400" y="1219200"/>
            <a:ext cx="914400" cy="381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" name="text4"/>
          <p:cNvSpPr txBox="1"/>
          <p:nvPr/>
        </p:nvSpPr>
        <p:spPr>
          <a:xfrm>
            <a:off x="914400" y="1498600"/>
            <a:ext cx="93980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6200"/>
              </a:lnSpc>
              <a:buNone/>
            </a:pPr>
            <a:r>
              <a:rPr lang="en-US" sz="5400" dirty="0" b="1">
                <a:solidFill>
                  <a:srgbClr val="FFFFFF"/>
                </a:solidFill>
                <a:latin typeface="Georgia"/>
                <a:cs typeface="Georgia"/>
              </a:rPr>
              <a:t>MatrixLang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914400" y="2489200"/>
            <a:ext cx="8382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C9C9C9"/>
                </a:solidFill>
                <a:latin typeface="Segoe UI"/>
                <a:cs typeface="Segoe UI"/>
              </a:rPr>
              <a:t>A dimension-aware optimizing compiler for a small matrix language</a:t>
            </a:r>
          </a:p>
        </p:txBody>
      </p:sp>
      <p:sp>
        <p:nvSpPr>
          <p:cNvPr id="6" name="rule6"/>
          <p:cNvSpPr txBox="1"/>
          <p:nvPr/>
        </p:nvSpPr>
        <p:spPr>
          <a:xfrm>
            <a:off x="914400" y="3276600"/>
            <a:ext cx="103632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914400" y="36703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40" dirty="0" b="1" spc="120" cap="all">
                <a:solidFill>
                  <a:srgbClr val="8C8C8C"/>
                </a:solidFill>
                <a:latin typeface="Segoe UI"/>
                <a:cs typeface="Segoe UI"/>
              </a:rPr>
              <a:t>Submitted by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3124200" y="36322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Segoe UI"/>
                <a:cs typeface="Segoe UI"/>
              </a:rPr>
              <a:t>A Aswanth Raj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6934200" y="36449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700"/>
              </a:lnSpc>
              <a:buNone/>
            </a:pPr>
            <a:r>
              <a:rPr lang="en-US" sz="1300" dirty="0">
                <a:solidFill>
                  <a:srgbClr val="4ADE80"/>
                </a:solidFill>
                <a:latin typeface="Consolas"/>
                <a:cs typeface="Consolas"/>
              </a:rPr>
              <a:t>24BAI0044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914400" y="42545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40" dirty="0" b="1" spc="120" cap="all">
                <a:solidFill>
                  <a:srgbClr val="8C8C8C"/>
                </a:solidFill>
                <a:latin typeface="Segoe UI"/>
                <a:cs typeface="Segoe UI"/>
              </a:rPr>
              <a:t>Supervisor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3124200" y="4216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Segoe UI"/>
                <a:cs typeface="Segoe UI"/>
              </a:rPr>
              <a:t>Dr. Ranjithkumar S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914400" y="48387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40" dirty="0" b="1" spc="120" cap="all">
                <a:solidFill>
                  <a:srgbClr val="8C8C8C"/>
                </a:solidFill>
                <a:latin typeface="Segoe UI"/>
                <a:cs typeface="Segoe UI"/>
              </a:rPr>
              <a:t>Course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3124200" y="4800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Segoe UI"/>
                <a:cs typeface="Segoe UI"/>
              </a:rPr>
              <a:t>Compiler Design Lab</a:t>
            </a:r>
          </a:p>
        </p:txBody>
      </p:sp>
      <p:sp>
        <p:nvSpPr>
          <p:cNvPr id="14" name="text14"/>
          <p:cNvSpPr txBox="1"/>
          <p:nvPr/>
        </p:nvSpPr>
        <p:spPr>
          <a:xfrm>
            <a:off x="6934200" y="48133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700"/>
              </a:lnSpc>
              <a:buNone/>
            </a:pPr>
            <a:r>
              <a:rPr lang="en-US" sz="1300" dirty="0">
                <a:solidFill>
                  <a:srgbClr val="4ADE80"/>
                </a:solidFill>
                <a:latin typeface="Consolas"/>
                <a:cs typeface="Consolas"/>
              </a:rPr>
              <a:t>BCSE307P</a:t>
            </a:r>
          </a:p>
        </p:txBody>
      </p:sp>
      <p:sp>
        <p:nvSpPr>
          <p:cNvPr id="15" name="rule15"/>
          <p:cNvSpPr txBox="1"/>
          <p:nvPr/>
        </p:nvSpPr>
        <p:spPr>
          <a:xfrm>
            <a:off x="914400" y="5613400"/>
            <a:ext cx="103632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6" name="text16"/>
          <p:cNvSpPr txBox="1"/>
          <p:nvPr/>
        </p:nvSpPr>
        <p:spPr>
          <a:xfrm>
            <a:off x="914400" y="579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6E9BFF"/>
                </a:solidFill>
                <a:latin typeface="Consolas"/>
                <a:cs typeface="Consolas"/>
              </a:rPr>
              <a:t>github.com/aswanth-07/matrixlang</a:t>
            </a:r>
          </a:p>
        </p:txBody>
      </p:sp>
      <p:sp>
        <p:nvSpPr>
          <p:cNvPr id="17" name="text17"/>
          <p:cNvSpPr txBox="1"/>
          <p:nvPr/>
        </p:nvSpPr>
        <p:spPr>
          <a:xfrm>
            <a:off x="914400" y="5791200"/>
            <a:ext cx="10363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3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School of Computer Science and Engineering, VIT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The compiler prices a program before it runs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Every matrix shape is known at compile time, so the optimizer can be scored on the arithmetic it removes rather than the lines it removes.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code6"/>
          <p:cNvSpPr txBox="1"/>
          <p:nvPr/>
        </p:nvSpPr>
        <p:spPr>
          <a:xfrm>
            <a:off x="711200" y="1905000"/>
            <a:ext cx="5461000" cy="19304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711200" y="1905000"/>
            <a:ext cx="5461000" cy="19304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matrix A[100,2];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matrix B[2,100];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matrix C[100,2];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4ADE80"/>
                </a:solidFill>
                <a:latin typeface="Consolas"/>
                <a:cs typeface="Consolas"/>
              </a:rPr>
              <a:t>matrix R = A * B * C;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print(R);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8C8C8C"/>
                </a:solidFill>
                <a:latin typeface="Consolas"/>
                <a:cs typeface="Consolas"/>
              </a:rPr>
              <a:t>'*' is left associative, so the source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8C8C8C"/>
                </a:solidFill>
                <a:latin typeface="Consolas"/>
                <a:cs typeface="Consolas"/>
              </a:rPr>
              <a:t>asks for (A * B) * C.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6578600" y="1981200"/>
            <a:ext cx="49022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lang="en-US" sz="1700" dirty="0" b="1">
                <a:solidFill>
                  <a:srgbClr val="EF4444"/>
                </a:solidFill>
                <a:latin typeface="Consolas"/>
                <a:cs typeface="Consolas"/>
              </a:rPr>
              <a:t>69,800</a:t>
            </a:r>
            <a:r>
              <a:rPr lang="en-US" sz="1100" dirty="0">
                <a:solidFill>
                  <a:srgbClr val="C9C9C9"/>
                </a:solidFill>
                <a:latin typeface="Segoe UI"/>
                <a:cs typeface="Segoe UI"/>
              </a:rPr>
              <a:t>   FLOP as written</a:t>
            </a:r>
          </a:p>
          <a:p>
            <a:pPr algn="l">
              <a:lnSpc>
                <a:spcPts val="2200"/>
              </a:lnSpc>
              <a:spcBef>
                <a:spcPts val="600"/>
              </a:spcBef>
              <a:buNone/>
            </a:pPr>
            <a:r>
              <a:rPr lang="en-US" sz="1700" dirty="0" b="1">
                <a:solidFill>
                  <a:srgbClr val="4ADE80"/>
                </a:solidFill>
                <a:latin typeface="Consolas"/>
                <a:cs typeface="Consolas"/>
              </a:rPr>
              <a:t> 1,396</a:t>
            </a:r>
            <a:r>
              <a:rPr lang="en-US" sz="1100" dirty="0">
                <a:solidFill>
                  <a:srgbClr val="C9C9C9"/>
                </a:solidFill>
                <a:latin typeface="Segoe UI"/>
                <a:cs typeface="Segoe UI"/>
              </a:rPr>
              <a:t>   FLOP as compiled</a:t>
            </a:r>
          </a:p>
        </p:txBody>
      </p:sp>
      <p:sp>
        <p:nvSpPr>
          <p:cNvPr id="9" name="rule9"/>
          <p:cNvSpPr txBox="1"/>
          <p:nvPr/>
        </p:nvSpPr>
        <p:spPr>
          <a:xfrm>
            <a:off x="6578600" y="3225800"/>
            <a:ext cx="49022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0" name="text10"/>
          <p:cNvSpPr txBox="1"/>
          <p:nvPr/>
        </p:nvSpPr>
        <p:spPr>
          <a:xfrm>
            <a:off x="6578600" y="3403600"/>
            <a:ext cx="4902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Segoe UI"/>
                <a:cs typeface="Segoe UI"/>
              </a:rPr>
              <a:t>The compiler emits A * (B * C) instead. Both forms are four instructions, so the metric course projects report sees nothing at all.</a:t>
            </a:r>
          </a:p>
        </p:txBody>
      </p:sp>
      <p:sp>
        <p:nvSpPr>
          <p:cNvPr id="11" name="rule11"/>
          <p:cNvSpPr txBox="1"/>
          <p:nvPr/>
        </p:nvSpPr>
        <p:spPr>
          <a:xfrm>
            <a:off x="711200" y="41910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2" name="text12"/>
          <p:cNvSpPr txBox="1"/>
          <p:nvPr/>
        </p:nvSpPr>
        <p:spPr>
          <a:xfrm>
            <a:off x="711200" y="4470400"/>
            <a:ext cx="3810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000"/>
              </a:lnSpc>
              <a:buNone/>
            </a:pPr>
            <a:r>
              <a:rPr lang="en-US" sz="4800" dirty="0" b="1">
                <a:solidFill>
                  <a:srgbClr val="4ADE80"/>
                </a:solidFill>
                <a:latin typeface="Georgia"/>
                <a:cs typeface="Georgia"/>
              </a:rPr>
              <a:t>48.5%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711200" y="5181600"/>
            <a:ext cx="381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of the arithmetic removed, median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over 400 generated programs</a:t>
            </a:r>
          </a:p>
        </p:txBody>
      </p:sp>
      <p:sp>
        <p:nvSpPr>
          <p:cNvPr id="14" name="text14"/>
          <p:cNvSpPr txBox="1"/>
          <p:nvPr/>
        </p:nvSpPr>
        <p:spPr>
          <a:xfrm>
            <a:off x="4902200" y="4470400"/>
            <a:ext cx="3810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000"/>
              </a:lnSpc>
              <a:buNone/>
            </a:pPr>
            <a:r>
              <a:rPr lang="en-US" sz="4800" dirty="0" b="1">
                <a:solidFill>
                  <a:srgbClr val="EF4444"/>
                </a:solidFill>
                <a:latin typeface="Georgia"/>
                <a:cs typeface="Georgia"/>
              </a:rPr>
              <a:t>5.6%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4902200" y="5181600"/>
            <a:ext cx="381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what an instruction count reports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on the very same programs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9144000" y="4622800"/>
            <a:ext cx="2336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200" dirty="0" i="1">
                <a:solidFill>
                  <a:srgbClr val="FFFFFF"/>
                </a:solidFill>
                <a:latin typeface="Georgia"/>
                <a:cs typeface="Georgia"/>
              </a:rPr>
              <a:t>Same optimizer.
Same programs.
Different question.</a:t>
            </a:r>
          </a:p>
        </p:txBody>
      </p:sp>
      <p:sp>
        <p:nvSpPr>
          <p:cNvPr id="17" name="text17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Where a C-subset project stops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We measured three public compiler-design course projects. Not one of them contains an optimizer, and not one executes anything.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text6"/>
          <p:cNvSpPr txBox="1"/>
          <p:nvPr/>
        </p:nvSpPr>
        <p:spPr>
          <a:xfrm>
            <a:off x="711200" y="1955800"/>
            <a:ext cx="533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200"/>
              </a:lnSpc>
              <a:buNone/>
            </a:pPr>
            <a:r>
              <a:rPr lang="en-US" sz="5000" dirty="0" b="1">
                <a:solidFill>
                  <a:srgbClr val="EF4444"/>
                </a:solidFill>
                <a:latin typeface="Georgia"/>
                <a:cs typeface="Georgia"/>
              </a:rPr>
              <a:t>0 of 3</a:t>
            </a:r>
          </a:p>
        </p:txBody>
      </p:sp>
      <p:sp>
        <p:nvSpPr>
          <p:cNvPr id="7" name="text7"/>
          <p:cNvSpPr txBox="1"/>
          <p:nvPr/>
        </p:nvSpPr>
        <p:spPr>
          <a:xfrm>
            <a:off x="711200" y="26924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baselines that reach the optimization phase, on a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search deliberately generous enough to overstate them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711200" y="3530600"/>
            <a:ext cx="5334000" cy="299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62"/>
              </a:lnSpc>
              <a:buNone/>
            </a:pPr>
            <a:r>
              <a:rPr lang="en-US" sz="1100" dirty="0">
                <a:solidFill>
                  <a:srgbClr val="C9C9C9"/>
                </a:solidFill>
                <a:latin typeface="Segoe UI"/>
                <a:cs typeface="Segoe UI"/>
              </a:rPr>
              <a:t>A subset of C has two numeric types, so its type system is an enumeration with two members.</a:t>
            </a:r>
          </a:p>
          <a:p>
            <a:pPr algn="l">
              <a:lnSpc>
                <a:spcPts val="1491"/>
              </a:lnSpc>
              <a:spcBef>
                <a:spcPts val="900"/>
              </a:spcBef>
              <a:buNone/>
            </a:pPr>
            <a:r>
              <a:rPr lang="en-US" sz="1050" dirty="0">
                <a:solidFill>
                  <a:srgbClr val="8C8C8C"/>
                </a:solidFill>
                <a:latin typeface="Segoe UI"/>
                <a:cs typeface="Segoe UI"/>
              </a:rPr>
              <a:t>Semantic analysis becomes a comparison of two tags, and an optimizer over it has constant folding and the scalar identities, with no way to tell a cheap expression from an expensive one.</a:t>
            </a:r>
          </a:p>
          <a:p>
            <a:pPr algn="l">
              <a:lnSpc>
                <a:spcPts val="1491"/>
              </a:lnSpc>
              <a:spcBef>
                <a:spcPts val="900"/>
              </a:spcBef>
              <a:buNone/>
            </a:pPr>
            <a:r>
              <a:rPr lang="en-US" sz="1050" dirty="0">
                <a:solidFill>
                  <a:srgbClr val="8C8C8C"/>
                </a:solidFill>
                <a:latin typeface="Segoe UI"/>
                <a:cs typeface="Segoe UI"/>
              </a:rPr>
              <a:t>The baselines are not badly built. They reach lexical analysis, parsing and the symbol table, and then run out of anything for the later phases to be about.</a:t>
            </a:r>
          </a:p>
          <a:p>
            <a:pPr algn="l">
              <a:lnSpc>
                <a:spcPts val="1491"/>
              </a:lnSpc>
              <a:spcBef>
                <a:spcPts val="900"/>
              </a:spcBef>
              <a:buNone/>
            </a:pPr>
            <a:r>
              <a:rPr lang="en-US" sz="1050" dirty="0">
                <a:solidFill>
                  <a:srgbClr val="4ADE80"/>
                </a:solidFill>
                <a:latin typeface="Segoe UI"/>
                <a:cs typeface="Segoe UI"/>
              </a:rPr>
              <a:t>The two phases the syllabus calls the centre of the subject are the two with the least to do.</a:t>
            </a:r>
          </a:p>
        </p:txBody>
      </p:sp>
      <p:sp>
        <p:nvSpPr>
          <p:cNvPr id="9" name="box9"/>
          <p:cNvSpPr txBox="1"/>
          <p:nvPr/>
        </p:nvSpPr>
        <p:spPr>
          <a:xfrm>
            <a:off x="6680200" y="1905000"/>
            <a:ext cx="4800600" cy="38100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0" name="text10"/>
          <p:cNvSpPr txBox="1"/>
          <p:nvPr/>
        </p:nvSpPr>
        <p:spPr>
          <a:xfrm>
            <a:off x="6883400" y="2070100"/>
            <a:ext cx="4394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Phases present, of eight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6908800" y="2463800"/>
            <a:ext cx="121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FFFFFF"/>
                </a:solidFill>
                <a:latin typeface="Segoe UI"/>
                <a:cs typeface="Segoe UI"/>
              </a:rPr>
              <a:t>MatrixLang</a:t>
            </a:r>
          </a:p>
        </p:txBody>
      </p:sp>
      <p:sp>
        <p:nvSpPr>
          <p:cNvPr id="12" name="bar-bg12"/>
          <p:cNvSpPr txBox="1"/>
          <p:nvPr/>
        </p:nvSpPr>
        <p:spPr>
          <a:xfrm>
            <a:off x="8229600" y="2501900"/>
            <a:ext cx="1905000" cy="1270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bar13"/>
          <p:cNvSpPr txBox="1"/>
          <p:nvPr/>
        </p:nvSpPr>
        <p:spPr>
          <a:xfrm>
            <a:off x="8229600" y="2501900"/>
            <a:ext cx="1905000" cy="1270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10287000" y="24638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FFFFFF"/>
                </a:solidFill>
                <a:latin typeface="Consolas"/>
                <a:cs typeface="Consolas"/>
              </a:rPr>
              <a:t>8/8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6908800" y="2895600"/>
            <a:ext cx="121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baseline 1</a:t>
            </a:r>
          </a:p>
        </p:txBody>
      </p:sp>
      <p:sp>
        <p:nvSpPr>
          <p:cNvPr id="16" name="bar-bg16"/>
          <p:cNvSpPr txBox="1"/>
          <p:nvPr/>
        </p:nvSpPr>
        <p:spPr>
          <a:xfrm>
            <a:off x="8229600" y="2933700"/>
            <a:ext cx="1905000" cy="1270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bar17"/>
          <p:cNvSpPr txBox="1"/>
          <p:nvPr/>
        </p:nvSpPr>
        <p:spPr>
          <a:xfrm>
            <a:off x="8229600" y="2933700"/>
            <a:ext cx="1190625" cy="127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8" name="text18"/>
          <p:cNvSpPr txBox="1"/>
          <p:nvPr/>
        </p:nvSpPr>
        <p:spPr>
          <a:xfrm>
            <a:off x="10287000" y="28956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8C8C8C"/>
                </a:solidFill>
                <a:latin typeface="Consolas"/>
                <a:cs typeface="Consolas"/>
              </a:rPr>
              <a:t>5/8</a:t>
            </a:r>
          </a:p>
        </p:txBody>
      </p:sp>
      <p:sp>
        <p:nvSpPr>
          <p:cNvPr id="19" name="text19"/>
          <p:cNvSpPr txBox="1"/>
          <p:nvPr/>
        </p:nvSpPr>
        <p:spPr>
          <a:xfrm>
            <a:off x="6908800" y="3327400"/>
            <a:ext cx="121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baseline 2</a:t>
            </a:r>
          </a:p>
        </p:txBody>
      </p:sp>
      <p:sp>
        <p:nvSpPr>
          <p:cNvPr id="20" name="bar-bg20"/>
          <p:cNvSpPr txBox="1"/>
          <p:nvPr/>
        </p:nvSpPr>
        <p:spPr>
          <a:xfrm>
            <a:off x="8229600" y="3365500"/>
            <a:ext cx="1905000" cy="1270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1" name="bar21"/>
          <p:cNvSpPr txBox="1"/>
          <p:nvPr/>
        </p:nvSpPr>
        <p:spPr>
          <a:xfrm>
            <a:off x="8229600" y="3365500"/>
            <a:ext cx="714375" cy="127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2" name="text22"/>
          <p:cNvSpPr txBox="1"/>
          <p:nvPr/>
        </p:nvSpPr>
        <p:spPr>
          <a:xfrm>
            <a:off x="10287000" y="3327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8C8C8C"/>
                </a:solidFill>
                <a:latin typeface="Consolas"/>
                <a:cs typeface="Consolas"/>
              </a:rPr>
              <a:t>3/8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6908800" y="3759200"/>
            <a:ext cx="121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baseline 3</a:t>
            </a:r>
          </a:p>
        </p:txBody>
      </p:sp>
      <p:sp>
        <p:nvSpPr>
          <p:cNvPr id="24" name="bar-bg24"/>
          <p:cNvSpPr txBox="1"/>
          <p:nvPr/>
        </p:nvSpPr>
        <p:spPr>
          <a:xfrm>
            <a:off x="8229600" y="3797300"/>
            <a:ext cx="1905000" cy="1270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bar25"/>
          <p:cNvSpPr txBox="1"/>
          <p:nvPr/>
        </p:nvSpPr>
        <p:spPr>
          <a:xfrm>
            <a:off x="8229600" y="3797300"/>
            <a:ext cx="1428750" cy="127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6" name="text26"/>
          <p:cNvSpPr txBox="1"/>
          <p:nvPr/>
        </p:nvSpPr>
        <p:spPr>
          <a:xfrm>
            <a:off x="10287000" y="37592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8C8C8C"/>
                </a:solidFill>
                <a:latin typeface="Consolas"/>
                <a:cs typeface="Consolas"/>
              </a:rPr>
              <a:t>6/8</a:t>
            </a:r>
          </a:p>
        </p:txBody>
      </p:sp>
      <p:sp>
        <p:nvSpPr>
          <p:cNvPr id="27" name="rule27"/>
          <p:cNvSpPr txBox="1"/>
          <p:nvPr/>
        </p:nvSpPr>
        <p:spPr>
          <a:xfrm>
            <a:off x="6908800" y="4318000"/>
            <a:ext cx="43434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8" name="text28"/>
          <p:cNvSpPr txBox="1"/>
          <p:nvPr/>
        </p:nvSpPr>
        <p:spPr>
          <a:xfrm>
            <a:off x="6908800" y="4521200"/>
            <a:ext cx="43434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78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Segoe UI"/>
                <a:cs typeface="Segoe UI"/>
              </a:rPr>
              <a:t>How a phase is counted</a:t>
            </a:r>
          </a:p>
          <a:p>
            <a:pPr algn="l">
              <a:lnSpc>
                <a:spcPts val="1278"/>
              </a:lnSpc>
              <a:spcBef>
                <a:spcPts val="900"/>
              </a:spcBef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A file is attributed to a phase by its path and name, and a phase counts as present on a single case-insensitive match of any marker. The rule can only overstate a baseline, and it still finds no optimizer in any of them.</a:t>
            </a:r>
          </a:p>
        </p:txBody>
      </p:sp>
      <p:sp>
        <p:nvSpPr>
          <p:cNvPr id="29" name="text29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A type carries its shape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Not matrix, but Matrix&lt;2x3&gt;. Two matrices of different shapes are values of different types.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text6"/>
          <p:cNvSpPr txBox="1"/>
          <p:nvPr/>
        </p:nvSpPr>
        <p:spPr>
          <a:xfrm>
            <a:off x="711200" y="1651000"/>
            <a:ext cx="546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Accepted, and its shape inferred</a:t>
            </a:r>
          </a:p>
        </p:txBody>
      </p:sp>
      <p:sp>
        <p:nvSpPr>
          <p:cNvPr id="7" name="code7"/>
          <p:cNvSpPr txBox="1"/>
          <p:nvPr/>
        </p:nvSpPr>
        <p:spPr>
          <a:xfrm>
            <a:off x="711200" y="1905000"/>
            <a:ext cx="5461000" cy="18796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711200" y="1905000"/>
            <a:ext cx="5461000" cy="18796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matrix A[2,3] = {{1, 2, 3},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                 {4, 5, 6}};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matrix B[3,4];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4ADE80"/>
                </a:solidFill>
                <a:latin typeface="Consolas"/>
                <a:cs typeface="Consolas"/>
              </a:rPr>
              <a:t>matrix C = A * B;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4ADE80"/>
                </a:solidFill>
                <a:latin typeface="Consolas"/>
                <a:cs typeface="Consolas"/>
              </a:rPr>
              <a:t>    -&gt; C : Matrix&lt;2x4&gt;, inferred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print(C);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6578600" y="1651000"/>
            <a:ext cx="4902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800" dirty="0" b="1" spc="130" cap="all">
                <a:solidFill>
                  <a:srgbClr val="EF4444"/>
                </a:solidFill>
                <a:latin typeface="Segoe UI"/>
                <a:cs typeface="Segoe UI"/>
              </a:rPr>
              <a:t>Rejected before anything runs</a:t>
            </a:r>
          </a:p>
        </p:txBody>
      </p:sp>
      <p:sp>
        <p:nvSpPr>
          <p:cNvPr id="10" name="code10"/>
          <p:cNvSpPr txBox="1"/>
          <p:nvPr/>
        </p:nvSpPr>
        <p:spPr>
          <a:xfrm>
            <a:off x="6578600" y="1905000"/>
            <a:ext cx="4902200" cy="18796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578600" y="1905000"/>
            <a:ext cx="4902200" cy="18796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4444"/>
                </a:solidFill>
                <a:latin typeface="Consolas"/>
                <a:cs typeface="Consolas"/>
              </a:rPr>
              <a:t>cannot multiply Matrix&lt;2x3&gt;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4444"/>
                </a:solidFill>
                <a:latin typeface="Consolas"/>
                <a:cs typeface="Consolas"/>
              </a:rPr>
              <a:t>               by Matrix&lt;5x4&gt;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C9C9C9"/>
                </a:solidFill>
                <a:latin typeface="Consolas"/>
                <a:cs typeface="Consolas"/>
              </a:rPr>
              <a:t>  left  : A -&gt; Matrix&lt;2x3&gt;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C9C9C9"/>
                </a:solidFill>
                <a:latin typeface="Consolas"/>
                <a:cs typeface="Consolas"/>
              </a:rPr>
              <a:t>  right : B -&gt; Matrix&lt;5x4&gt;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4ADE80"/>
                </a:solidFill>
                <a:latin typeface="Consolas"/>
                <a:cs typeface="Consolas"/>
              </a:rPr>
              <a:t>  rule  : cols(left) = rows(right)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4ADE80"/>
                </a:solidFill>
                <a:latin typeface="Consolas"/>
                <a:cs typeface="Consolas"/>
              </a:rPr>
              <a:t>  found : 3 != 5</a:t>
            </a:r>
          </a:p>
        </p:txBody>
      </p:sp>
      <p:sp>
        <p:nvSpPr>
          <p:cNvPr id="12" name="box12"/>
          <p:cNvSpPr txBox="1"/>
          <p:nvPr/>
        </p:nvSpPr>
        <p:spPr>
          <a:xfrm>
            <a:off x="711200" y="4089400"/>
            <a:ext cx="5156200" cy="18796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914400" y="4254500"/>
            <a:ext cx="4749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What the language has</a:t>
            </a:r>
          </a:p>
        </p:txBody>
      </p:sp>
      <p:sp>
        <p:nvSpPr>
          <p:cNvPr id="14" name="bullet14"/>
          <p:cNvSpPr txBox="1"/>
          <p:nvPr/>
        </p:nvSpPr>
        <p:spPr>
          <a:xfrm>
            <a:off x="939800" y="4648200"/>
            <a:ext cx="38100" cy="381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1092200" y="45720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>
                <a:solidFill>
                  <a:srgbClr val="C9C9C9"/>
                </a:solidFill>
                <a:latin typeface="Segoe UI"/>
                <a:cs typeface="Segoe UI"/>
              </a:rPr>
              <a:t>scalar and matrix</a:t>
            </a:r>
          </a:p>
        </p:txBody>
      </p:sp>
      <p:sp>
        <p:nvSpPr>
          <p:cNvPr id="16" name="bullet16"/>
          <p:cNvSpPr txBox="1"/>
          <p:nvPr/>
        </p:nvSpPr>
        <p:spPr>
          <a:xfrm>
            <a:off x="939800" y="4927600"/>
            <a:ext cx="38100" cy="381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1092200" y="48514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>
                <a:solidFill>
                  <a:srgbClr val="C9C9C9"/>
                </a:solidFill>
                <a:latin typeface="Segoe UI"/>
                <a:cs typeface="Segoe UI"/>
              </a:rPr>
              <a:t>+   -   *   unary -   transpose</a:t>
            </a:r>
          </a:p>
        </p:txBody>
      </p:sp>
      <p:sp>
        <p:nvSpPr>
          <p:cNvPr id="18" name="bullet18"/>
          <p:cNvSpPr txBox="1"/>
          <p:nvPr/>
        </p:nvSpPr>
        <p:spPr>
          <a:xfrm>
            <a:off x="939800" y="5207000"/>
            <a:ext cx="38100" cy="381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1092200" y="51308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>
                <a:solidFill>
                  <a:srgbClr val="C9C9C9"/>
                </a:solidFill>
                <a:latin typeface="Segoe UI"/>
                <a:cs typeface="Segoe UI"/>
              </a:rPr>
              <a:t>literals, identity, zeros, ones</a:t>
            </a:r>
          </a:p>
        </p:txBody>
      </p:sp>
      <p:sp>
        <p:nvSpPr>
          <p:cNvPr id="20" name="bullet20"/>
          <p:cNvSpPr txBox="1"/>
          <p:nvPr/>
        </p:nvSpPr>
        <p:spPr>
          <a:xfrm>
            <a:off x="939800" y="5486400"/>
            <a:ext cx="38100" cy="381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1" name="text21"/>
          <p:cNvSpPr txBox="1"/>
          <p:nvPr/>
        </p:nvSpPr>
        <p:spPr>
          <a:xfrm>
            <a:off x="1092200" y="54102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>
                <a:solidFill>
                  <a:srgbClr val="C9C9C9"/>
                </a:solidFill>
                <a:latin typeface="Segoe UI"/>
                <a:cs typeface="Segoe UI"/>
              </a:rPr>
              <a:t>declaration, assignment, print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939800" y="5740400"/>
            <a:ext cx="4724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i="1">
                <a:solidFill>
                  <a:srgbClr val="4ADE80"/>
                </a:solidFill>
                <a:latin typeface="Segoe UI"/>
                <a:cs typeface="Segoe UI"/>
              </a:rPr>
              <a:t>No control flow. That is the enabling decision, not a gap.</a:t>
            </a:r>
          </a:p>
        </p:txBody>
      </p:sp>
      <p:sp>
        <p:nvSpPr>
          <p:cNvPr id="23" name="box23"/>
          <p:cNvSpPr txBox="1"/>
          <p:nvPr/>
        </p:nvSpPr>
        <p:spPr>
          <a:xfrm>
            <a:off x="6273800" y="4089400"/>
            <a:ext cx="5207000" cy="18796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text24"/>
          <p:cNvSpPr txBox="1"/>
          <p:nvPr/>
        </p:nvSpPr>
        <p:spPr>
          <a:xfrm>
            <a:off x="6477000" y="4254500"/>
            <a:ext cx="4800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Why no control flow</a:t>
            </a:r>
          </a:p>
        </p:txBody>
      </p:sp>
      <p:sp>
        <p:nvSpPr>
          <p:cNvPr id="25" name="text25"/>
          <p:cNvSpPr txBox="1"/>
          <p:nvPr/>
        </p:nvSpPr>
        <p:spPr>
          <a:xfrm>
            <a:off x="6502400" y="4572000"/>
            <a:ext cx="4749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20"/>
              </a:lnSpc>
              <a:buNone/>
            </a:pPr>
            <a:r>
              <a:rPr lang="en-US" sz="1000" dirty="0">
                <a:solidFill>
                  <a:srgbClr val="C9C9C9"/>
                </a:solidFill>
                <a:latin typeface="Segoe UI"/>
                <a:cs typeface="Segoe UI"/>
              </a:rPr>
              <a:t>With no branches a whole program is a single basic block, so available-expression analysis and liveness are each one linear scan.</a:t>
            </a:r>
          </a:p>
          <a:p>
            <a:pPr algn="l">
              <a:lnSpc>
                <a:spcPts val="1363"/>
              </a:lnSpc>
              <a:spcBef>
                <a:spcPts val="900"/>
              </a:spcBef>
              <a:buNone/>
            </a:pPr>
            <a:r>
              <a:rPr lang="en-US" sz="960" dirty="0">
                <a:solidFill>
                  <a:srgbClr val="8C8C8C"/>
                </a:solidFill>
                <a:latin typeface="Segoe UI"/>
                <a:cs typeface="Segoe UI"/>
              </a:rPr>
              <a:t>A course reaches working CSE and dead-code elimination without first building a control-flow graph, which is where a semester usually runs out.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Every phase prints what it produced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One flag per phase, so a reviewer can stop the compiler anywhere and read the artifact. The text below is its real output.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text6"/>
          <p:cNvSpPr txBox="1"/>
          <p:nvPr/>
        </p:nvSpPr>
        <p:spPr>
          <a:xfrm>
            <a:off x="711200" y="1905000"/>
            <a:ext cx="3437467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Consolas"/>
                <a:cs typeface="Consolas"/>
              </a:rPr>
              <a:t>--tokens</a:t>
            </a:r>
            <a:r>
              <a:rPr lang="en-US" sz="840" dirty="0">
                <a:solidFill>
                  <a:srgbClr val="8C8C8C"/>
                </a:solidFill>
                <a:latin typeface="Segoe UI"/>
                <a:cs typeface="Segoe UI"/>
              </a:rPr>
              <a:t>   lexical analysis</a:t>
            </a:r>
          </a:p>
        </p:txBody>
      </p:sp>
      <p:sp>
        <p:nvSpPr>
          <p:cNvPr id="7" name="code7"/>
          <p:cNvSpPr txBox="1"/>
          <p:nvPr/>
        </p:nvSpPr>
        <p:spPr>
          <a:xfrm>
            <a:off x="711200" y="2146300"/>
            <a:ext cx="3437467" cy="15748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711200" y="2146300"/>
            <a:ext cx="3437467" cy="15748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#   TOKEN       LEXEME   LINE:COL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1   MATRIX      matrix   1:1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2   IDENTIFIER  A        1:8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3   LBRACKET    [        1:9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4   NUMBER      2        1:10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5   COMMA       ,        1:11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6   NUMBER      3        1:12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8C8C8C"/>
                </a:solidFill>
                <a:latin typeface="Consolas"/>
                <a:cs typeface="Consolas"/>
              </a:rPr>
              <a:t>...                   78 tokens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4377267" y="1905000"/>
            <a:ext cx="3437467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Consolas"/>
                <a:cs typeface="Consolas"/>
              </a:rPr>
              <a:t>--ast</a:t>
            </a:r>
            <a:r>
              <a:rPr lang="en-US" sz="840" dirty="0">
                <a:solidFill>
                  <a:srgbClr val="8C8C8C"/>
                </a:solidFill>
                <a:latin typeface="Segoe UI"/>
                <a:cs typeface="Segoe UI"/>
              </a:rPr>
              <a:t>   syntax, shapes attached</a:t>
            </a:r>
          </a:p>
        </p:txBody>
      </p:sp>
      <p:sp>
        <p:nvSpPr>
          <p:cNvPr id="10" name="code10"/>
          <p:cNvSpPr txBox="1"/>
          <p:nvPr/>
        </p:nvSpPr>
        <p:spPr>
          <a:xfrm>
            <a:off x="4377267" y="2146300"/>
            <a:ext cx="3437467" cy="15748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4377267" y="2146300"/>
            <a:ext cx="3437467" cy="15748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Program  (line 1)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|-- Declare A : Matrix&lt;2x3&gt;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|   `-- MatrixLiteral : &lt;2x3&gt;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8C8C8C"/>
                </a:solidFill>
                <a:latin typeface="Consolas"/>
                <a:cs typeface="Consolas"/>
              </a:rPr>
              <a:t>|       |-- Row : Matrix&lt;1x3&gt;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8C8C8C"/>
                </a:solidFill>
                <a:latin typeface="Consolas"/>
                <a:cs typeface="Consolas"/>
              </a:rPr>
              <a:t>|       `-- Row : Matrix&lt;1x3&gt;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|-- Declare B : Matrix&lt;3x4&gt;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|-- Declare C : Matrix&lt;2x4&gt;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`-- Print : Matrix&lt;2x4&gt;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8043333" y="1905000"/>
            <a:ext cx="3437467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Consolas"/>
                <a:cs typeface="Consolas"/>
              </a:rPr>
              <a:t>--symbols</a:t>
            </a:r>
            <a:r>
              <a:rPr lang="en-US" sz="840" dirty="0">
                <a:solidFill>
                  <a:srgbClr val="8C8C8C"/>
                </a:solidFill>
                <a:latin typeface="Segoe UI"/>
                <a:cs typeface="Segoe UI"/>
              </a:rPr>
              <a:t>   symbol table</a:t>
            </a:r>
          </a:p>
        </p:txBody>
      </p:sp>
      <p:sp>
        <p:nvSpPr>
          <p:cNvPr id="13" name="code13"/>
          <p:cNvSpPr txBox="1"/>
          <p:nvPr/>
        </p:nvSpPr>
        <p:spPr>
          <a:xfrm>
            <a:off x="8043333" y="2146300"/>
            <a:ext cx="3437467" cy="15748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8043333" y="2146300"/>
            <a:ext cx="3437467" cy="15748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+------+--------+------+------+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| Name | Kind   | Rows | Cols |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+------+--------+------+------+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| A    | Matrix |    2 |    3 |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| B    | Matrix |    3 |    4 |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| C    | Matrix |    2 |    4 |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+------+--------+------+------+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C's shape was never written.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711200" y="3911600"/>
            <a:ext cx="3437467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Consolas"/>
                <a:cs typeface="Consolas"/>
              </a:rPr>
              <a:t>--tac</a:t>
            </a:r>
            <a:r>
              <a:rPr lang="en-US" sz="840" dirty="0">
                <a:solidFill>
                  <a:srgbClr val="8C8C8C"/>
                </a:solidFill>
                <a:latin typeface="Segoe UI"/>
                <a:cs typeface="Segoe UI"/>
              </a:rPr>
              <a:t>   intermediate code</a:t>
            </a:r>
          </a:p>
        </p:txBody>
      </p:sp>
      <p:sp>
        <p:nvSpPr>
          <p:cNvPr id="16" name="code16"/>
          <p:cNvSpPr txBox="1"/>
          <p:nvPr/>
        </p:nvSpPr>
        <p:spPr>
          <a:xfrm>
            <a:off x="711200" y="4152900"/>
            <a:ext cx="3437467" cy="15748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711200" y="4152900"/>
            <a:ext cx="3437467" cy="15748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1  A = #0            Matrix&lt;2x3&gt;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2  B = #1            Matrix&lt;3x4&gt;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3  t1 = A * B        Matrix&lt;2x4&gt;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4  C = t1            Matrix&lt;2x4&gt;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5  print C           Matrix&lt;2x4&gt;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5 instruction(s).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every temporary carries a shape</a:t>
            </a:r>
          </a:p>
        </p:txBody>
      </p:sp>
      <p:sp>
        <p:nvSpPr>
          <p:cNvPr id="18" name="text18"/>
          <p:cNvSpPr txBox="1"/>
          <p:nvPr/>
        </p:nvSpPr>
        <p:spPr>
          <a:xfrm>
            <a:off x="4377267" y="3911600"/>
            <a:ext cx="3437467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Consolas"/>
                <a:cs typeface="Consolas"/>
              </a:rPr>
              <a:t>--target</a:t>
            </a:r>
            <a:r>
              <a:rPr lang="en-US" sz="840" dirty="0">
                <a:solidFill>
                  <a:srgbClr val="8C8C8C"/>
                </a:solidFill>
                <a:latin typeface="Segoe UI"/>
                <a:cs typeface="Segoe UI"/>
              </a:rPr>
              <a:t>   target code</a:t>
            </a:r>
          </a:p>
        </p:txBody>
      </p:sp>
      <p:sp>
        <p:nvSpPr>
          <p:cNvPr id="19" name="code19"/>
          <p:cNvSpPr txBox="1"/>
          <p:nvPr/>
        </p:nvSpPr>
        <p:spPr>
          <a:xfrm>
            <a:off x="4377267" y="4152900"/>
            <a:ext cx="3437467" cy="15748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0" name="text20"/>
          <p:cNvSpPr txBox="1"/>
          <p:nvPr/>
        </p:nvSpPr>
        <p:spPr>
          <a:xfrm>
            <a:off x="4377267" y="4152900"/>
            <a:ext cx="3437467" cy="15748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0  PUSH_MATRIX   #0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1  STORE_MATRIX  A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2  PUSH_MATRIX   #1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3  STORE_MATRIX  B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4  LOAD_MATRIX   A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5  LOAD_MATRIX   B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6  MATMUL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13 instruction(s).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8043333" y="3911600"/>
            <a:ext cx="3437467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Consolas"/>
                <a:cs typeface="Consolas"/>
              </a:rPr>
              <a:t>--run</a:t>
            </a:r>
            <a:r>
              <a:rPr lang="en-US" sz="840" dirty="0">
                <a:solidFill>
                  <a:srgbClr val="8C8C8C"/>
                </a:solidFill>
                <a:latin typeface="Segoe UI"/>
                <a:cs typeface="Segoe UI"/>
              </a:rPr>
              <a:t>   execution</a:t>
            </a:r>
          </a:p>
        </p:txBody>
      </p:sp>
      <p:sp>
        <p:nvSpPr>
          <p:cNvPr id="22" name="code22"/>
          <p:cNvSpPr txBox="1"/>
          <p:nvPr/>
        </p:nvSpPr>
        <p:spPr>
          <a:xfrm>
            <a:off x="8043333" y="4152900"/>
            <a:ext cx="3437467" cy="15748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3" name="text23"/>
          <p:cNvSpPr txBox="1"/>
          <p:nvPr/>
        </p:nvSpPr>
        <p:spPr>
          <a:xfrm>
            <a:off x="8043333" y="4152900"/>
            <a:ext cx="3437467" cy="15748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C = Matrix&lt;2x4&gt;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  [  38  44  50  56 ]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  [  83  98 113 128 ]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ACCEPTED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  (0 error(s), 0 warning(s))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38 = 1*1 + 2*5 + 3*9</a:t>
            </a:r>
          </a:p>
        </p:txBody>
      </p:sp>
      <p:sp>
        <p:nvSpPr>
          <p:cNvPr id="24" name="text24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A shape is also a cost model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Multiplying an m x n by an n x p matrix performs m p (2n-1) operations. Every term is a shape, and every shape is in the type.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text6"/>
          <p:cNvSpPr txBox="1"/>
          <p:nvPr/>
        </p:nvSpPr>
        <p:spPr>
          <a:xfrm>
            <a:off x="711200" y="1981200"/>
            <a:ext cx="3048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400"/>
              </a:lnSpc>
              <a:buNone/>
            </a:pPr>
            <a:r>
              <a:rPr lang="en-US" sz="5200" dirty="0" b="1">
                <a:solidFill>
                  <a:srgbClr val="4ADE80"/>
                </a:solidFill>
                <a:latin typeface="Georgia"/>
                <a:cs typeface="Georgia"/>
              </a:rPr>
              <a:t>98.0%</a:t>
            </a:r>
          </a:p>
        </p:txBody>
      </p:sp>
      <p:sp>
        <p:nvSpPr>
          <p:cNvPr id="7" name="text7"/>
          <p:cNvSpPr txBox="1"/>
          <p:nvPr/>
        </p:nvSpPr>
        <p:spPr>
          <a:xfrm>
            <a:off x="711200" y="2743200"/>
            <a:ext cx="3048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of the arithmetic removed from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one three-matrix chain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711200" y="3581400"/>
            <a:ext cx="30480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F4444"/>
                </a:solidFill>
                <a:latin typeface="Segoe UI"/>
                <a:cs typeface="Segoe UI"/>
              </a:rPr>
              <a:t>The instruction count did not move. Four before, four after.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4165600" y="1651000"/>
            <a:ext cx="7315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One chain, two bracketings</a:t>
            </a:r>
          </a:p>
        </p:txBody>
      </p:sp>
      <p:sp>
        <p:nvSpPr>
          <p:cNvPr id="10" name="code10"/>
          <p:cNvSpPr txBox="1"/>
          <p:nvPr/>
        </p:nvSpPr>
        <p:spPr>
          <a:xfrm>
            <a:off x="4165600" y="1905000"/>
            <a:ext cx="7315200" cy="22606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4165600" y="1905000"/>
            <a:ext cx="7315200" cy="22606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C9C9C9"/>
                </a:solidFill>
                <a:latin typeface="Consolas"/>
                <a:cs typeface="Consolas"/>
              </a:rPr>
              <a:t>matrix R = A * B * C;     A 100x2   B 2x100   C 100x2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onsolas"/>
                <a:cs typeface="Consolas"/>
              </a:rPr>
              <a:t>(A * B) * C    builds a 100x100 intermediate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onsolas"/>
                <a:cs typeface="Consolas"/>
              </a:rPr>
              <a:t>               69,800 FLOP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4ADE80"/>
                </a:solidFill>
                <a:latin typeface="Consolas"/>
                <a:cs typeface="Consolas"/>
              </a:rPr>
              <a:t>A * (B * C)    builds a 2x2 intermediate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4ADE80"/>
                </a:solidFill>
                <a:latin typeface="Consolas"/>
                <a:cs typeface="Consolas"/>
              </a:rPr>
              <a:t>                1,396 FLOP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Matrix multiplication is associative: both compute the same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matrix. Which is cheaper depends only on the shapes.</a:t>
            </a:r>
          </a:p>
        </p:txBody>
      </p:sp>
      <p:sp>
        <p:nvSpPr>
          <p:cNvPr id="12" name="box12"/>
          <p:cNvSpPr txBox="1"/>
          <p:nvPr/>
        </p:nvSpPr>
        <p:spPr>
          <a:xfrm>
            <a:off x="711200" y="4521200"/>
            <a:ext cx="5156200" cy="14478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914400" y="4686300"/>
            <a:ext cx="4749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Why an instruction count cannot see it</a:t>
            </a:r>
          </a:p>
        </p:txBody>
      </p:sp>
      <p:sp>
        <p:nvSpPr>
          <p:cNvPr id="14" name="text14"/>
          <p:cNvSpPr txBox="1"/>
          <p:nvPr/>
        </p:nvSpPr>
        <p:spPr>
          <a:xfrm>
            <a:off x="939800" y="5003800"/>
            <a:ext cx="472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91"/>
              </a:lnSpc>
              <a:buNone/>
            </a:pPr>
            <a:r>
              <a:rPr lang="en-US" sz="980" dirty="0">
                <a:solidFill>
                  <a:srgbClr val="C9C9C9"/>
                </a:solidFill>
                <a:latin typeface="Segoe UI"/>
                <a:cs typeface="Segoe UI"/>
              </a:rPr>
              <a:t>A chain of k matrices needs exactly k-1 products under every bracketing.</a:t>
            </a:r>
          </a:p>
          <a:p>
            <a:pPr algn="l">
              <a:lnSpc>
                <a:spcPts val="1391"/>
              </a:lnSpc>
              <a:spcBef>
                <a:spcPts val="900"/>
              </a:spcBef>
              <a:buNone/>
            </a:pPr>
            <a:r>
              <a:rPr lang="en-US" sz="980" dirty="0">
                <a:solidFill>
                  <a:srgbClr val="4ADE80"/>
                </a:solidFill>
                <a:latin typeface="Segoe UI"/>
                <a:cs typeface="Segoe UI"/>
              </a:rPr>
              <a:t>So re-bracketing never changes the instruction count at all.</a:t>
            </a:r>
          </a:p>
        </p:txBody>
      </p:sp>
      <p:sp>
        <p:nvSpPr>
          <p:cNvPr id="15" name="box15"/>
          <p:cNvSpPr txBox="1"/>
          <p:nvPr/>
        </p:nvSpPr>
        <p:spPr>
          <a:xfrm>
            <a:off x="6273800" y="4521200"/>
            <a:ext cx="5207000" cy="14478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6" name="text16"/>
          <p:cNvSpPr txBox="1"/>
          <p:nvPr/>
        </p:nvSpPr>
        <p:spPr>
          <a:xfrm>
            <a:off x="6477000" y="4686300"/>
            <a:ext cx="4800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The algorithm is the textbook one</a:t>
            </a:r>
          </a:p>
        </p:txBody>
      </p:sp>
      <p:sp>
        <p:nvSpPr>
          <p:cNvPr id="17" name="text17"/>
          <p:cNvSpPr txBox="1"/>
          <p:nvPr/>
        </p:nvSpPr>
        <p:spPr>
          <a:xfrm>
            <a:off x="6502400" y="5003800"/>
            <a:ext cx="4749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91"/>
              </a:lnSpc>
              <a:buNone/>
            </a:pPr>
            <a:r>
              <a:rPr lang="en-US" sz="980" dirty="0">
                <a:solidFill>
                  <a:srgbClr val="C9C9C9"/>
                </a:solidFill>
                <a:latin typeface="Segoe UI"/>
                <a:cs typeface="Segoe UI"/>
              </a:rPr>
              <a:t>The standard O(k^3) dynamic program over the chain, the same one an algorithms course teaches.</a:t>
            </a:r>
          </a:p>
          <a:p>
            <a:pPr algn="l">
              <a:lnSpc>
                <a:spcPts val="1391"/>
              </a:lnSpc>
              <a:spcBef>
                <a:spcPts val="900"/>
              </a:spcBef>
              <a:buNone/>
            </a:pPr>
            <a:r>
              <a:rPr lang="en-US" sz="980" dirty="0">
                <a:solidFill>
                  <a:srgbClr val="8C8C8C"/>
                </a:solidFill>
                <a:latin typeface="Segoe UI"/>
                <a:cs typeface="Segoe UI"/>
              </a:rPr>
              <a:t>What is new is that a student compiler holds the information needed to run it.</a:t>
            </a:r>
          </a:p>
        </p:txBody>
      </p:sp>
      <p:sp>
        <p:nvSpPr>
          <p:cNvPr id="18" name="text18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Two metrics, same programs, different answers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400 programs from a generator, across two seeds. The corpus was not written by whoever wrote the optimizer.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box6"/>
          <p:cNvSpPr txBox="1"/>
          <p:nvPr/>
        </p:nvSpPr>
        <p:spPr>
          <a:xfrm>
            <a:off x="711200" y="1905000"/>
            <a:ext cx="10769600" cy="20066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914400" y="2070100"/>
            <a:ext cx="10363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Median reduction per program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914400" y="2070100"/>
            <a:ext cx="10363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1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Segoe UI"/>
                <a:cs typeface="Segoe UI"/>
              </a:rPr>
              <a:t>bar = interquartile range      tick = median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939800" y="24638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80" dirty="0">
                <a:solidFill>
                  <a:srgbClr val="C9C9C9"/>
                </a:solidFill>
                <a:latin typeface="Segoe UI"/>
                <a:cs typeface="Segoe UI"/>
              </a:rPr>
              <a:t>arithmetic removed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939800" y="2717800"/>
            <a:ext cx="228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Segoe UI"/>
                <a:cs typeface="Segoe UI"/>
              </a:rPr>
              <a:t>IQR 2.5 to 81.7</a:t>
            </a:r>
          </a:p>
        </p:txBody>
      </p:sp>
      <p:sp>
        <p:nvSpPr>
          <p:cNvPr id="11" name="bar-bg11"/>
          <p:cNvSpPr txBox="1"/>
          <p:nvPr/>
        </p:nvSpPr>
        <p:spPr>
          <a:xfrm>
            <a:off x="3302000" y="2692400"/>
            <a:ext cx="6223000" cy="1651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2" name="iqr12"/>
          <p:cNvSpPr txBox="1"/>
          <p:nvPr/>
        </p:nvSpPr>
        <p:spPr>
          <a:xfrm>
            <a:off x="3460534" y="2692400"/>
            <a:ext cx="4923919" cy="1651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median13"/>
          <p:cNvSpPr txBox="1"/>
          <p:nvPr/>
        </p:nvSpPr>
        <p:spPr>
          <a:xfrm>
            <a:off x="6306162" y="2641600"/>
            <a:ext cx="31750" cy="266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9702800" y="2628900"/>
            <a:ext cx="1092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500" dirty="0" b="1">
                <a:solidFill>
                  <a:srgbClr val="4ADE80"/>
                </a:solidFill>
                <a:latin typeface="Georgia"/>
                <a:cs typeface="Georgia"/>
              </a:rPr>
              <a:t>48.5%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939800" y="31496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80" dirty="0">
                <a:solidFill>
                  <a:srgbClr val="C9C9C9"/>
                </a:solidFill>
                <a:latin typeface="Segoe UI"/>
                <a:cs typeface="Segoe UI"/>
              </a:rPr>
              <a:t>instructions removed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939800" y="3403600"/>
            <a:ext cx="228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Segoe UI"/>
                <a:cs typeface="Segoe UI"/>
              </a:rPr>
              <a:t>IQR 0.0 to 9.1</a:t>
            </a:r>
          </a:p>
        </p:txBody>
      </p:sp>
      <p:sp>
        <p:nvSpPr>
          <p:cNvPr id="17" name="bar-bg17"/>
          <p:cNvSpPr txBox="1"/>
          <p:nvPr/>
        </p:nvSpPr>
        <p:spPr>
          <a:xfrm>
            <a:off x="3302000" y="3378200"/>
            <a:ext cx="6223000" cy="1651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8" name="iqr18"/>
          <p:cNvSpPr txBox="1"/>
          <p:nvPr/>
        </p:nvSpPr>
        <p:spPr>
          <a:xfrm>
            <a:off x="3302000" y="3378200"/>
            <a:ext cx="565727" cy="165100"/>
          </a:xfrm>
          <a:prstGeom prst="rect">
            <a:avLst/>
          </a:prstGeom>
          <a:solidFill>
            <a:srgbClr val="4A1F1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median19"/>
          <p:cNvSpPr txBox="1"/>
          <p:nvPr/>
        </p:nvSpPr>
        <p:spPr>
          <a:xfrm>
            <a:off x="3631847" y="3327400"/>
            <a:ext cx="31750" cy="266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0" name="text20"/>
          <p:cNvSpPr txBox="1"/>
          <p:nvPr/>
        </p:nvSpPr>
        <p:spPr>
          <a:xfrm>
            <a:off x="9702800" y="3314700"/>
            <a:ext cx="1092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500" dirty="0" b="1">
                <a:solidFill>
                  <a:srgbClr val="EF4444"/>
                </a:solidFill>
                <a:latin typeface="Georgia"/>
                <a:cs typeface="Georgia"/>
              </a:rPr>
              <a:t>5.6%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3302000" y="37338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Consolas"/>
                <a:cs typeface="Consolas"/>
              </a:rPr>
              <a:t>0%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8763000" y="37338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1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Consolas"/>
                <a:cs typeface="Consolas"/>
              </a:rPr>
              <a:t>100%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711200" y="41656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200"/>
              </a:lnSpc>
              <a:buNone/>
            </a:pPr>
            <a:r>
              <a:rPr lang="en-US" sz="4000" dirty="0" b="1">
                <a:solidFill>
                  <a:srgbClr val="A78BFA"/>
                </a:solidFill>
                <a:latin typeface="Georgia"/>
                <a:cs typeface="Georgia"/>
              </a:rPr>
              <a:t>79.8%</a:t>
            </a:r>
          </a:p>
        </p:txBody>
      </p:sp>
      <p:sp>
        <p:nvSpPr>
          <p:cNvPr id="24" name="text24"/>
          <p:cNvSpPr txBox="1"/>
          <p:nvPr/>
        </p:nvSpPr>
        <p:spPr>
          <a:xfrm>
            <a:off x="711200" y="4775200"/>
            <a:ext cx="29972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of programs had a chain worth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re-bracketing (319 of 400)</a:t>
            </a:r>
          </a:p>
        </p:txBody>
      </p:sp>
      <p:sp>
        <p:nvSpPr>
          <p:cNvPr id="25" name="text25"/>
          <p:cNvSpPr txBox="1"/>
          <p:nvPr/>
        </p:nvSpPr>
        <p:spPr>
          <a:xfrm>
            <a:off x="3911600" y="41656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200"/>
              </a:lnSpc>
              <a:buNone/>
            </a:pPr>
            <a:r>
              <a:rPr lang="en-US" sz="4000" dirty="0" b="1">
                <a:solidFill>
                  <a:srgbClr val="A78BFA"/>
                </a:solidFill>
                <a:latin typeface="Georgia"/>
                <a:cs typeface="Georgia"/>
              </a:rPr>
              <a:t>60.1%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3911600" y="4775200"/>
            <a:ext cx="29972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median arithmetic saved on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those programs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7112000" y="4165600"/>
            <a:ext cx="381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200"/>
              </a:lnSpc>
              <a:buNone/>
            </a:pPr>
            <a:r>
              <a:rPr lang="en-US" sz="4000" dirty="0" b="1">
                <a:solidFill>
                  <a:srgbClr val="4ADE80"/>
                </a:solidFill>
                <a:latin typeface="Georgia"/>
                <a:cs typeface="Georgia"/>
              </a:rPr>
              <a:t>400/400</a:t>
            </a:r>
          </a:p>
        </p:txBody>
      </p:sp>
      <p:sp>
        <p:nvSpPr>
          <p:cNvPr id="28" name="text28"/>
          <p:cNvSpPr txBox="1"/>
          <p:nvPr/>
        </p:nvSpPr>
        <p:spPr>
          <a:xfrm>
            <a:off x="7112000" y="4775200"/>
            <a:ext cx="381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programs printed identical bytes with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the optimizer and without</a:t>
            </a:r>
          </a:p>
        </p:txBody>
      </p:sp>
      <p:sp>
        <p:nvSpPr>
          <p:cNvPr id="29" name="rule29"/>
          <p:cNvSpPr txBox="1"/>
          <p:nvPr/>
        </p:nvSpPr>
        <p:spPr>
          <a:xfrm>
            <a:off x="711200" y="5689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0" name="text30"/>
          <p:cNvSpPr txBox="1"/>
          <p:nvPr/>
        </p:nvSpPr>
        <p:spPr>
          <a:xfrm>
            <a:off x="711200" y="58420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960" dirty="0" b="1">
                <a:solidFill>
                  <a:srgbClr val="4ADE80"/>
                </a:solidFill>
                <a:latin typeface="Segoe UI"/>
                <a:cs typeface="Segoe UI"/>
              </a:rPr>
              <a:t>Not one lucky corpus.   </a:t>
            </a:r>
            <a:r>
              <a:rPr lang="en-US" sz="960" dirty="0">
                <a:solidFill>
                  <a:srgbClr val="8C8C8C"/>
                </a:solidFill>
                <a:latin typeface="Segoe UI"/>
                <a:cs typeface="Segoe UI"/>
              </a:rPr>
              <a:t>Taken separately the two seeds give 47.3% and 49.7% of the arithmetic against 5.3% and 5.9% of the instructions.</a:t>
            </a:r>
          </a:p>
        </p:txBody>
      </p:sp>
      <p:sp>
        <p:nvSpPr>
          <p:cNvPr id="31" name="text31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The corpus found a bug we had not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The first differential run did not come back clean, and that is the part worth reporting.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code6"/>
          <p:cNvSpPr txBox="1"/>
          <p:nvPr/>
        </p:nvSpPr>
        <p:spPr>
          <a:xfrm>
            <a:off x="711200" y="1905000"/>
            <a:ext cx="5461000" cy="16764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711200" y="1905000"/>
            <a:ext cx="5461000" cy="16764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8C8C8C"/>
                </a:solidFill>
                <a:latin typeface="Consolas"/>
                <a:cs typeface="Consolas"/>
              </a:rPr>
              <a:t>unoptimized           optimized</a:t>
            </a:r>
          </a:p>
          <a:p>
            <a:pPr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C9C9C9"/>
                </a:solidFill>
                <a:latin typeface="Consolas"/>
                <a:cs typeface="Consolas"/>
              </a:rPr>
              <a:t>R = Matrix&lt;1x1&gt;       R = Matrix&lt;1x1&gt;</a:t>
            </a:r>
          </a:p>
          <a:p>
            <a:pPr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EF4444"/>
                </a:solidFill>
                <a:latin typeface="Consolas"/>
                <a:cs typeface="Consolas"/>
              </a:rPr>
              <a:t>  [ 0 ]                 [ -0 ]</a:t>
            </a:r>
          </a:p>
          <a:p>
            <a:pPr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8C8C8C"/>
                </a:solidFill>
                <a:latin typeface="Consolas"/>
                <a:cs typeface="Consolas"/>
              </a:rPr>
              <a:t>the rewrite that did it:</a:t>
            </a:r>
          </a:p>
          <a:p>
            <a:pPr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4ADE80"/>
                </a:solidFill>
                <a:latin typeface="Consolas"/>
                <a:cs typeface="Consolas"/>
              </a:rPr>
              <a:t>    0 - x    =&gt;    -x</a:t>
            </a:r>
          </a:p>
        </p:txBody>
      </p:sp>
      <p:sp>
        <p:nvSpPr>
          <p:cNvPr id="8" name="box8"/>
          <p:cNvSpPr txBox="1"/>
          <p:nvPr/>
        </p:nvSpPr>
        <p:spPr>
          <a:xfrm>
            <a:off x="6578600" y="1905000"/>
            <a:ext cx="4902200" cy="16764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781800" y="2070100"/>
            <a:ext cx="4495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EF4444"/>
                </a:solidFill>
                <a:latin typeface="Segoe UI"/>
                <a:cs typeface="Segoe UI"/>
              </a:rPr>
              <a:t>Why it is wrong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6781800" y="2362200"/>
            <a:ext cx="4495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9C9C9"/>
                </a:solidFill>
                <a:latin typeface="Segoe UI"/>
                <a:cs typeface="Segoe UI"/>
              </a:rPr>
              <a:t>True over the reals. Not observationally equivalent in IEEE-754: +0 minus +0 is +0, but negating +0 gives -0, and the two print differently.</a:t>
            </a:r>
          </a:p>
        </p:txBody>
      </p:sp>
      <p:sp>
        <p:nvSpPr>
          <p:cNvPr id="11" name="rule11"/>
          <p:cNvSpPr txBox="1"/>
          <p:nvPr/>
        </p:nvSpPr>
        <p:spPr>
          <a:xfrm>
            <a:off x="711200" y="4038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2" name="text12"/>
          <p:cNvSpPr txBox="1"/>
          <p:nvPr/>
        </p:nvSpPr>
        <p:spPr>
          <a:xfrm>
            <a:off x="711200" y="4267200"/>
            <a:ext cx="5130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91"/>
              </a:lnSpc>
              <a:buNone/>
            </a:pPr>
            <a:r>
              <a:rPr lang="en-US" sz="1050" dirty="0" b="1">
                <a:solidFill>
                  <a:srgbClr val="EF4444"/>
                </a:solidFill>
                <a:latin typeface="Segoe UI"/>
                <a:cs typeface="Segoe UI"/>
              </a:rPr>
              <a:t>Not a finding about floating point.</a:t>
            </a:r>
          </a:p>
          <a:p>
            <a:pPr algn="l">
              <a:lnSpc>
                <a:spcPts val="1420"/>
              </a:lnSpc>
              <a:spcBef>
                <a:spcPts val="900"/>
              </a:spcBef>
              <a:buNone/>
            </a:pPr>
            <a:r>
              <a:rPr lang="en-US" sz="1000" dirty="0">
                <a:solidFill>
                  <a:srgbClr val="8C8C8C"/>
                </a:solidFill>
                <a:latin typeface="Segoe UI"/>
                <a:cs typeface="Segoe UI"/>
              </a:rPr>
              <a:t>That algebraic identities valid over the reals are unsound in floating point is textbook, and production compilers gate exactly these rewrites behind fast-math.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6350000" y="4267200"/>
            <a:ext cx="5130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91"/>
              </a:lnSpc>
              <a:buNone/>
            </a:pPr>
            <a:r>
              <a:rPr lang="en-US" sz="1050" dirty="0" b="1">
                <a:solidFill>
                  <a:srgbClr val="4ADE80"/>
                </a:solidFill>
                <a:latin typeface="Segoe UI"/>
                <a:cs typeface="Segoe UI"/>
              </a:rPr>
              <a:t>A finding about what a course can afford.</a:t>
            </a:r>
          </a:p>
          <a:p>
            <a:pPr algn="l">
              <a:lnSpc>
                <a:spcPts val="1420"/>
              </a:lnSpc>
              <a:spcBef>
                <a:spcPts val="900"/>
              </a:spcBef>
              <a:buNone/>
            </a:pPr>
            <a:r>
              <a:rPr lang="en-US" sz="1000" dirty="0">
                <a:solidFill>
                  <a:srgbClr val="8C8C8C"/>
                </a:solidFill>
                <a:latin typeface="Segoe UI"/>
                <a:cs typeface="Segoe UI"/>
              </a:rPr>
              <a:t>A generator and a loop comparing two runs, which is a weekend of work, found a defect in a student-scale optimizer that reading the code had not, on an input nobody chose.</a:t>
            </a:r>
          </a:p>
        </p:txBody>
      </p:sp>
      <p:sp>
        <p:nvSpPr>
          <p:cNvPr id="14" name="text14"/>
          <p:cNvSpPr txBox="1"/>
          <p:nvPr/>
        </p:nvSpPr>
        <p:spPr>
          <a:xfrm>
            <a:off x="711200" y="5461000"/>
            <a:ext cx="107696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1000" dirty="0" i="1">
                <a:solidFill>
                  <a:srgbClr val="C9C9C9"/>
                </a:solidFill>
                <a:latin typeface="Segoe UI"/>
                <a:cs typeface="Segoe UI"/>
              </a:rPr>
              <a:t>The rewrite was removed. It saved no arithmetic anyway: a negation costs what a subtraction from zero costs.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The source language is a curricular decision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It decides which phases can carry real work. That is the claim, and it is the one we can evidence.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box6"/>
          <p:cNvSpPr txBox="1"/>
          <p:nvPr/>
        </p:nvSpPr>
        <p:spPr>
          <a:xfrm>
            <a:off x="711200" y="1905000"/>
            <a:ext cx="5156200" cy="26162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914400" y="2070100"/>
            <a:ext cx="4749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What the domain bought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939800" y="2413000"/>
            <a:ext cx="4724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1000" dirty="0" b="1">
                <a:solidFill>
                  <a:srgbClr val="4ADE80"/>
                </a:solidFill>
                <a:latin typeface="Segoe UI"/>
                <a:cs typeface="Segoe UI"/>
              </a:rPr>
              <a:t>Semantic analysis</a:t>
            </a:r>
          </a:p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8C8C8C"/>
                </a:solidFill>
                <a:latin typeface="Segoe UI"/>
                <a:cs typeface="Segoe UI"/>
              </a:rPr>
              <a:t>became shape inference and dimension checking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939800" y="2997200"/>
            <a:ext cx="4724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1000" dirty="0" b="1">
                <a:solidFill>
                  <a:srgbClr val="4ADE80"/>
                </a:solidFill>
                <a:latin typeface="Segoe UI"/>
                <a:cs typeface="Segoe UI"/>
              </a:rPr>
              <a:t>Code generation</a:t>
            </a:r>
          </a:p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8C8C8C"/>
                </a:solidFill>
                <a:latin typeface="Segoe UI"/>
                <a:cs typeface="Segoe UI"/>
              </a:rPr>
              <a:t>gained instruction selection from inferred types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939800" y="3581400"/>
            <a:ext cx="4724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1000" dirty="0" b="1">
                <a:solidFill>
                  <a:srgbClr val="4ADE80"/>
                </a:solidFill>
                <a:latin typeface="Segoe UI"/>
                <a:cs typeface="Segoe UI"/>
              </a:rPr>
              <a:t>Optimization</a:t>
            </a:r>
          </a:p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8C8C8C"/>
                </a:solidFill>
                <a:latin typeface="Segoe UI"/>
                <a:cs typeface="Segoe UI"/>
              </a:rPr>
              <a:t>gained transformations and a way to score them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939800" y="4267200"/>
            <a:ext cx="4724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>
                <a:solidFill>
                  <a:srgbClr val="EF4444"/>
                </a:solidFill>
                <a:latin typeface="Segoe UI"/>
                <a:cs typeface="Segoe UI"/>
              </a:rPr>
              <a:t>It costs control-flow graphs and dataflow analysis.</a:t>
            </a:r>
          </a:p>
        </p:txBody>
      </p:sp>
      <p:sp>
        <p:nvSpPr>
          <p:cNvPr id="12" name="box12"/>
          <p:cNvSpPr txBox="1"/>
          <p:nvPr/>
        </p:nvSpPr>
        <p:spPr>
          <a:xfrm>
            <a:off x="6273800" y="1905000"/>
            <a:ext cx="5207000" cy="26162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477000" y="2070100"/>
            <a:ext cx="4800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EF4444"/>
                </a:solidFill>
                <a:latin typeface="Segoe UI"/>
                <a:cs typeface="Segoe UI"/>
              </a:rPr>
              <a:t>What we do not claim</a:t>
            </a:r>
          </a:p>
        </p:txBody>
      </p:sp>
      <p:sp>
        <p:nvSpPr>
          <p:cNvPr id="14" name="negation14"/>
          <p:cNvSpPr txBox="1"/>
          <p:nvPr/>
        </p:nvSpPr>
        <p:spPr>
          <a:xfrm>
            <a:off x="6502400" y="2552700"/>
            <a:ext cx="114300" cy="20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6705600" y="2463800"/>
            <a:ext cx="42926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That students learn more. It has not been taught yet.</a:t>
            </a:r>
          </a:p>
        </p:txBody>
      </p:sp>
      <p:sp>
        <p:nvSpPr>
          <p:cNvPr id="16" name="negation16"/>
          <p:cNvSpPr txBox="1"/>
          <p:nvPr/>
        </p:nvSpPr>
        <p:spPr>
          <a:xfrm>
            <a:off x="6502400" y="3009900"/>
            <a:ext cx="114300" cy="20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6705600" y="2921000"/>
            <a:ext cx="42926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That the mechanisms are new. They are not.</a:t>
            </a:r>
          </a:p>
        </p:txBody>
      </p:sp>
      <p:sp>
        <p:nvSpPr>
          <p:cNvPr id="18" name="negation18"/>
          <p:cNvSpPr txBox="1"/>
          <p:nvPr/>
        </p:nvSpPr>
        <p:spPr>
          <a:xfrm>
            <a:off x="6502400" y="3467100"/>
            <a:ext cx="114300" cy="20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6705600" y="3378200"/>
            <a:ext cx="42926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That the magnitudes generalise. The corpus is ours.</a:t>
            </a:r>
          </a:p>
        </p:txBody>
      </p:sp>
      <p:sp>
        <p:nvSpPr>
          <p:cNvPr id="20" name="negation20"/>
          <p:cNvSpPr txBox="1"/>
          <p:nvPr/>
        </p:nvSpPr>
        <p:spPr>
          <a:xfrm>
            <a:off x="6502400" y="3924300"/>
            <a:ext cx="114300" cy="20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1" name="text21"/>
          <p:cNvSpPr txBox="1"/>
          <p:nvPr/>
        </p:nvSpPr>
        <p:spPr>
          <a:xfrm>
            <a:off x="6705600" y="3835400"/>
            <a:ext cx="42926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That three repositories are a sample.</a:t>
            </a:r>
          </a:p>
        </p:txBody>
      </p:sp>
      <p:sp>
        <p:nvSpPr>
          <p:cNvPr id="22" name="rule22"/>
          <p:cNvSpPr txBox="1"/>
          <p:nvPr/>
        </p:nvSpPr>
        <p:spPr>
          <a:xfrm>
            <a:off x="711200" y="4851400"/>
            <a:ext cx="609600" cy="254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3" name="text23"/>
          <p:cNvSpPr txBox="1"/>
          <p:nvPr/>
        </p:nvSpPr>
        <p:spPr>
          <a:xfrm>
            <a:off x="711200" y="5054600"/>
            <a:ext cx="10261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C9C9C9"/>
                </a:solidFill>
                <a:latin typeface="Segoe UI"/>
                <a:cs typeface="Segoe UI"/>
              </a:rPr>
              <a:t>Whatever the domain, if the type system carries enough to cost a program statically, a student's optimizer can be scored on the work it removes rather than the lines it removes. The two are not close.</a:t>
            </a:r>
          </a:p>
        </p:txBody>
      </p:sp>
      <p:sp>
        <p:nvSpPr>
          <p:cNvPr id="24" name="rule24"/>
          <p:cNvSpPr txBox="1"/>
          <p:nvPr/>
        </p:nvSpPr>
        <p:spPr>
          <a:xfrm>
            <a:off x="711200" y="59690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text25"/>
          <p:cNvSpPr txBox="1"/>
          <p:nvPr/>
        </p:nvSpPr>
        <p:spPr>
          <a:xfrm>
            <a:off x="711200" y="61214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>
                <a:solidFill>
                  <a:srgbClr val="8C8C8C"/>
                </a:solidFill>
                <a:latin typeface="Segoe UI"/>
                <a:cs typeface="Segoe UI"/>
              </a:rPr>
              <a:t>Paper, compiler, generator, measurements and demo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711200" y="6121400"/>
            <a:ext cx="10769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60" dirty="0">
                <a:solidFill>
                  <a:srgbClr val="6E9BFF"/>
                </a:solidFill>
                <a:latin typeface="Consolas"/>
                <a:cs typeface="Consolas"/>
              </a:rPr>
              <a:t>github.com/aswanth-07/matrixlang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rixLang">
  <a:themeElements>
    <a:clrScheme name="MatrixLang">
      <a:dk1>
        <a:srgbClr val="14261F"/>
      </a:dk1>
      <a:lt1>
        <a:srgbClr val="FFFFFF"/>
      </a:lt1>
      <a:dk2>
        <a:srgbClr val="3F4F49"/>
      </a:dk2>
      <a:lt2>
        <a:srgbClr val="FAF7F2"/>
      </a:lt2>
      <a:accent1>
        <a:srgbClr val="0E7C6B"/>
      </a:accent1>
      <a:accent2>
        <a:srgbClr val="B4690E"/>
      </a:accent2>
      <a:accent3>
        <a:srgbClr val="9E2B3F"/>
      </a:accent3>
      <a:accent4>
        <a:srgbClr val="7C8B85"/>
      </a:accent4>
      <a:accent5>
        <a:srgbClr val="E3DDD2"/>
      </a:accent5>
      <a:accent6>
        <a:srgbClr val="16221E"/>
      </a:accent6>
      <a:hlink>
        <a:srgbClr val="0E7C6B"/>
      </a:hlink>
      <a:folHlink>
        <a:srgbClr val="7C8B85"/>
      </a:folHlink>
    </a:clrScheme>
    <a:fontScheme name="MatrixLang">
      <a:majorFont>
        <a:latin typeface="Georgia"/>
        <a:ea typeface=""/>
        <a:cs typeface=""/>
      </a:majorFont>
      <a:minorFont>
        <a:latin typeface="Segoe UI"/>
        <a:ea typeface=""/>
        <a:cs typeface=""/>
      </a:minorFont>
    </a:fontScheme>
    <a:fmtScheme name="MatrixLa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9</Slides>
  <TitlesOfParts>
    <vt:vector size="1" baseType="lpstr">
      <vt:lpstr>MatrixLang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MatrixLang</dc:title>
  <dc:creator>A Aswanth Raj</dc:creator>
  <cp:lastModifiedBy>A Aswanth Raj</cp:lastModifiedBy>
</cp:coreProperties>
</file>