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github.com/aswanth-07/matrixlang" TargetMode="Externa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github.com/aswanth-07/matrixla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drop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3" name="rule3"/>
          <p:cNvSpPr txBox="1"/>
          <p:nvPr/>
        </p:nvSpPr>
        <p:spPr>
          <a:xfrm>
            <a:off x="914400" y="1219200"/>
            <a:ext cx="91440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4" name="text4"/>
          <p:cNvSpPr txBox="1"/>
          <p:nvPr/>
        </p:nvSpPr>
        <p:spPr>
          <a:xfrm>
            <a:off x="914400" y="1498600"/>
            <a:ext cx="93980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6200"/>
              </a:lnSpc>
              <a:buNone/>
            </a:pPr>
            <a:r>
              <a:rPr lang="en-US" sz="5400" dirty="0" b="1">
                <a:solidFill>
                  <a:srgbClr val="FFFFFF"/>
                </a:solidFill>
                <a:latin typeface="Georgia"/>
                <a:cs typeface="Georgia"/>
              </a:rPr>
              <a:t>MatrixLang</a:t>
            </a:r>
          </a:p>
        </p:txBody>
      </p:sp>
      <p:sp>
        <p:nvSpPr>
          <p:cNvPr id="5" name="text5"/>
          <p:cNvSpPr txBox="1"/>
          <p:nvPr/>
        </p:nvSpPr>
        <p:spPr>
          <a:xfrm>
            <a:off x="914400" y="2489200"/>
            <a:ext cx="8382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C9C9C9"/>
                </a:solidFill>
                <a:latin typeface="Segoe UI"/>
                <a:cs typeface="Segoe UI"/>
              </a:rPr>
              <a:t>A dimension-aware optimizing compiler for a small matrix language</a:t>
            </a:r>
          </a:p>
        </p:txBody>
      </p:sp>
      <p:sp>
        <p:nvSpPr>
          <p:cNvPr id="6" name="rule6"/>
          <p:cNvSpPr txBox="1"/>
          <p:nvPr/>
        </p:nvSpPr>
        <p:spPr>
          <a:xfrm>
            <a:off x="914400" y="3276600"/>
            <a:ext cx="10363200" cy="1270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7" name="text7"/>
          <p:cNvSpPr txBox="1"/>
          <p:nvPr/>
        </p:nvSpPr>
        <p:spPr>
          <a:xfrm>
            <a:off x="914400" y="3670300"/>
            <a:ext cx="203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840" dirty="0" b="1" spc="120" cap="all">
                <a:solidFill>
                  <a:srgbClr val="8C8C8C"/>
                </a:solidFill>
                <a:latin typeface="Segoe UI"/>
                <a:cs typeface="Segoe UI"/>
              </a:rPr>
              <a:t>Submitted by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3124200" y="363220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Segoe UI"/>
                <a:cs typeface="Segoe UI"/>
              </a:rPr>
              <a:t>A Aswanth Raj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6934200" y="36449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4ADE80"/>
                </a:solidFill>
                <a:latin typeface="Consolas"/>
                <a:cs typeface="Consolas"/>
              </a:rPr>
              <a:t>24BAI0044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914400" y="4254500"/>
            <a:ext cx="203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840" dirty="0" b="1" spc="120" cap="all">
                <a:solidFill>
                  <a:srgbClr val="8C8C8C"/>
                </a:solidFill>
                <a:latin typeface="Segoe UI"/>
                <a:cs typeface="Segoe UI"/>
              </a:rPr>
              <a:t>Supervisor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3124200" y="421640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Segoe UI"/>
                <a:cs typeface="Segoe UI"/>
              </a:rPr>
              <a:t>Dr. Ranjithkumar S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914400" y="4838700"/>
            <a:ext cx="203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840" dirty="0" b="1" spc="120" cap="all">
                <a:solidFill>
                  <a:srgbClr val="8C8C8C"/>
                </a:solidFill>
                <a:latin typeface="Segoe UI"/>
                <a:cs typeface="Segoe UI"/>
              </a:rPr>
              <a:t>Course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3124200" y="4800600"/>
            <a:ext cx="5334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Segoe UI"/>
                <a:cs typeface="Segoe UI"/>
              </a:rPr>
              <a:t>Compiler Design Lab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6934200" y="4813300"/>
            <a:ext cx="2540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4ADE80"/>
                </a:solidFill>
                <a:latin typeface="Consolas"/>
                <a:cs typeface="Consolas"/>
              </a:rPr>
              <a:t>BCSE307P</a:t>
            </a:r>
          </a:p>
        </p:txBody>
      </p:sp>
      <p:sp>
        <p:nvSpPr>
          <p:cNvPr id="15" name="rule15"/>
          <p:cNvSpPr txBox="1"/>
          <p:nvPr/>
        </p:nvSpPr>
        <p:spPr>
          <a:xfrm>
            <a:off x="914400" y="5613400"/>
            <a:ext cx="10363200" cy="1270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16" name="text16"/>
          <p:cNvSpPr txBox="1"/>
          <p:nvPr/>
        </p:nvSpPr>
        <p:spPr>
          <a:xfrm>
            <a:off x="914400" y="57912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6E9BFF"/>
                </a:solidFill>
                <a:latin typeface="Consolas"/>
                <a:cs typeface="Consolas"/>
                <a:hlinkClick r:id="rId2"/>
              </a:rPr>
              <a:t>github.com/aswanth-07/matrixlang</a:t>
            </a:r>
          </a:p>
        </p:txBody>
      </p:sp>
      <p:sp>
        <p:nvSpPr>
          <p:cNvPr id="17" name="text17"/>
          <p:cNvSpPr txBox="1"/>
          <p:nvPr/>
        </p:nvSpPr>
        <p:spPr>
          <a:xfrm>
            <a:off x="914400" y="5791200"/>
            <a:ext cx="10363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3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Segoe UI"/>
                <a:cs typeface="Segoe UI"/>
              </a:rPr>
              <a:t>School of Computer Science and Engineering, VIT Vellore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drop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3" name="text3"/>
          <p:cNvSpPr txBox="1"/>
          <p:nvPr/>
        </p:nvSpPr>
        <p:spPr>
          <a:xfrm>
            <a:off x="711200" y="5842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200"/>
              </a:lnSpc>
              <a:buNone/>
            </a:pPr>
            <a:r>
              <a:rPr lang="en-US" sz="2800" dirty="0" b="1">
                <a:solidFill>
                  <a:srgbClr val="FFFFFF"/>
                </a:solidFill>
                <a:latin typeface="Georgia"/>
                <a:cs typeface="Georgia"/>
              </a:rPr>
              <a:t>The compiler prices a program before it runs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711200" y="1168400"/>
            <a:ext cx="10007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8C8C8C"/>
                </a:solidFill>
                <a:latin typeface="Segoe UI"/>
                <a:cs typeface="Segoe UI"/>
              </a:rPr>
              <a:t>Every matrix shape is known at compile time, so the optimizer can be scored on the arithmetic it removes rather than the lines it removes.</a:t>
            </a:r>
          </a:p>
        </p:txBody>
      </p:sp>
      <p:sp>
        <p:nvSpPr>
          <p:cNvPr id="5" name="rule5"/>
          <p:cNvSpPr txBox="1"/>
          <p:nvPr/>
        </p:nvSpPr>
        <p:spPr>
          <a:xfrm>
            <a:off x="711200" y="1625600"/>
            <a:ext cx="10769600" cy="1270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6" name="code6"/>
          <p:cNvSpPr txBox="1"/>
          <p:nvPr/>
        </p:nvSpPr>
        <p:spPr>
          <a:xfrm>
            <a:off x="711200" y="1905000"/>
            <a:ext cx="5461000" cy="1930400"/>
          </a:xfrm>
          <a:prstGeom prst="roundRect">
            <a:avLst>
              <a:gd name="adj" fmla="val 1200"/>
            </a:avLst>
          </a:prstGeom>
          <a:solidFill>
            <a:srgbClr val="121212"/>
          </a:solidFill>
          <a:ln>
            <a:noFill/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7" name="text7"/>
          <p:cNvSpPr txBox="1"/>
          <p:nvPr/>
        </p:nvSpPr>
        <p:spPr>
          <a:xfrm>
            <a:off x="711200" y="1905000"/>
            <a:ext cx="5461000" cy="1930400"/>
          </a:xfrm>
          <a:prstGeom prst="rect">
            <a:avLst/>
          </a:prstGeom>
          <a:noFill/>
          <a:ln>
            <a:noFill/>
          </a:ln>
        </p:spPr>
        <p:txBody>
          <a:bodyPr wrap="square" lIns="177800" tIns="139700" rIns="152400" bIns="114300" anchor="t">
            <a:noAutofit/>
          </a:bodyPr>
          <a:lstStyle/>
          <a:p>
            <a:pPr algn="l">
              <a:lnSpc>
                <a:spcPts val="1360"/>
              </a:lnSpc>
              <a:buNone/>
            </a:pPr>
            <a:r>
              <a:rPr lang="en-US" sz="940" dirty="0">
                <a:solidFill>
                  <a:srgbClr val="C9C9C9"/>
                </a:solidFill>
                <a:latin typeface="Consolas"/>
                <a:cs typeface="Consolas"/>
              </a:rPr>
              <a:t>matrix A[100,2];</a:t>
            </a:r>
          </a:p>
          <a:p>
            <a:pPr algn="l">
              <a:lnSpc>
                <a:spcPts val="1360"/>
              </a:lnSpc>
              <a:buNone/>
            </a:pPr>
            <a:r>
              <a:rPr lang="en-US" sz="940" dirty="0">
                <a:solidFill>
                  <a:srgbClr val="C9C9C9"/>
                </a:solidFill>
                <a:latin typeface="Consolas"/>
                <a:cs typeface="Consolas"/>
              </a:rPr>
              <a:t>matrix B[2,100];</a:t>
            </a:r>
          </a:p>
          <a:p>
            <a:pPr algn="l">
              <a:lnSpc>
                <a:spcPts val="1360"/>
              </a:lnSpc>
              <a:buNone/>
            </a:pPr>
            <a:r>
              <a:rPr lang="en-US" sz="940" dirty="0">
                <a:solidFill>
                  <a:srgbClr val="C9C9C9"/>
                </a:solidFill>
                <a:latin typeface="Consolas"/>
                <a:cs typeface="Consolas"/>
              </a:rPr>
              <a:t>matrix C[100,2];</a:t>
            </a:r>
          </a:p>
          <a:p>
            <a:pPr algn="l">
              <a:lnSpc>
                <a:spcPts val="1360"/>
              </a:lnSpc>
              <a:buNone/>
            </a:pPr>
            <a:r>
              <a:rPr lang="en-US" sz="940" dirty="0">
                <a:solidFill>
                  <a:srgbClr val="C9C9C9"/>
                </a:solidFill>
                <a:latin typeface="Consolas"/>
                <a:cs typeface="Consolas"/>
              </a:rPr>
              <a:t> </a:t>
            </a:r>
          </a:p>
          <a:p>
            <a:pPr algn="l">
              <a:lnSpc>
                <a:spcPts val="1360"/>
              </a:lnSpc>
              <a:buNone/>
            </a:pPr>
            <a:r>
              <a:rPr lang="en-US" sz="940" dirty="0">
                <a:solidFill>
                  <a:srgbClr val="4ADE80"/>
                </a:solidFill>
                <a:latin typeface="Consolas"/>
                <a:cs typeface="Consolas"/>
              </a:rPr>
              <a:t>matrix R = A * B * C;</a:t>
            </a:r>
          </a:p>
          <a:p>
            <a:pPr algn="l">
              <a:lnSpc>
                <a:spcPts val="1360"/>
              </a:lnSpc>
              <a:buNone/>
            </a:pPr>
            <a:r>
              <a:rPr lang="en-US" sz="940" dirty="0">
                <a:solidFill>
                  <a:srgbClr val="C9C9C9"/>
                </a:solidFill>
                <a:latin typeface="Consolas"/>
                <a:cs typeface="Consolas"/>
              </a:rPr>
              <a:t>print(R);</a:t>
            </a:r>
          </a:p>
          <a:p>
            <a:pPr algn="l">
              <a:lnSpc>
                <a:spcPts val="1360"/>
              </a:lnSpc>
              <a:buNone/>
            </a:pPr>
            <a:r>
              <a:rPr lang="en-US" sz="940" dirty="0">
                <a:solidFill>
                  <a:srgbClr val="C9C9C9"/>
                </a:solidFill>
                <a:latin typeface="Consolas"/>
                <a:cs typeface="Consolas"/>
              </a:rPr>
              <a:t> </a:t>
            </a:r>
          </a:p>
          <a:p>
            <a:pPr algn="l">
              <a:lnSpc>
                <a:spcPts val="1360"/>
              </a:lnSpc>
              <a:buNone/>
            </a:pPr>
            <a:r>
              <a:rPr lang="en-US" sz="940" dirty="0">
                <a:solidFill>
                  <a:srgbClr val="8C8C8C"/>
                </a:solidFill>
                <a:latin typeface="Consolas"/>
                <a:cs typeface="Consolas"/>
              </a:rPr>
              <a:t>'*' is left associative, so the source</a:t>
            </a:r>
          </a:p>
          <a:p>
            <a:pPr algn="l">
              <a:lnSpc>
                <a:spcPts val="1360"/>
              </a:lnSpc>
              <a:buNone/>
            </a:pPr>
            <a:r>
              <a:rPr lang="en-US" sz="940" dirty="0">
                <a:solidFill>
                  <a:srgbClr val="8C8C8C"/>
                </a:solidFill>
                <a:latin typeface="Consolas"/>
                <a:cs typeface="Consolas"/>
              </a:rPr>
              <a:t>asks for (A * B) * C.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6578600" y="1981200"/>
            <a:ext cx="49022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00"/>
              </a:lnSpc>
              <a:buNone/>
            </a:pPr>
            <a:r>
              <a:rPr lang="en-US" sz="1700" dirty="0" b="1">
                <a:solidFill>
                  <a:srgbClr val="EF4444"/>
                </a:solidFill>
                <a:latin typeface="Consolas"/>
                <a:cs typeface="Consolas"/>
              </a:rPr>
              <a:t>69,800</a:t>
            </a:r>
            <a:r>
              <a:rPr lang="en-US" sz="1100" dirty="0">
                <a:solidFill>
                  <a:srgbClr val="C9C9C9"/>
                </a:solidFill>
                <a:latin typeface="Segoe UI"/>
                <a:cs typeface="Segoe UI"/>
              </a:rPr>
              <a:t>   FLOP as written</a:t>
            </a:r>
          </a:p>
          <a:p>
            <a:pPr algn="l">
              <a:lnSpc>
                <a:spcPts val="2200"/>
              </a:lnSpc>
              <a:spcBef>
                <a:spcPts val="600"/>
              </a:spcBef>
              <a:buNone/>
            </a:pPr>
            <a:r>
              <a:rPr lang="en-US" sz="1700" dirty="0" b="1">
                <a:solidFill>
                  <a:srgbClr val="4ADE80"/>
                </a:solidFill>
                <a:latin typeface="Consolas"/>
                <a:cs typeface="Consolas"/>
              </a:rPr>
              <a:t> 1,396</a:t>
            </a:r>
            <a:r>
              <a:rPr lang="en-US" sz="1100" dirty="0">
                <a:solidFill>
                  <a:srgbClr val="C9C9C9"/>
                </a:solidFill>
                <a:latin typeface="Segoe UI"/>
                <a:cs typeface="Segoe UI"/>
              </a:rPr>
              <a:t>   FLOP as compiled</a:t>
            </a:r>
          </a:p>
        </p:txBody>
      </p:sp>
      <p:sp>
        <p:nvSpPr>
          <p:cNvPr id="9" name="rule9"/>
          <p:cNvSpPr txBox="1"/>
          <p:nvPr/>
        </p:nvSpPr>
        <p:spPr>
          <a:xfrm>
            <a:off x="6578600" y="3225800"/>
            <a:ext cx="4902200" cy="1270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10" name="text10"/>
          <p:cNvSpPr txBox="1"/>
          <p:nvPr/>
        </p:nvSpPr>
        <p:spPr>
          <a:xfrm>
            <a:off x="6578600" y="3403600"/>
            <a:ext cx="4902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8C8C8C"/>
                </a:solidFill>
                <a:latin typeface="Segoe UI"/>
                <a:cs typeface="Segoe UI"/>
              </a:rPr>
              <a:t>Algebraic mode emits A * (B * C). Both forms are four instructions, so the metric course projects report sees nothing at all.</a:t>
            </a:r>
          </a:p>
        </p:txBody>
      </p:sp>
      <p:sp>
        <p:nvSpPr>
          <p:cNvPr id="11" name="rule11"/>
          <p:cNvSpPr txBox="1"/>
          <p:nvPr/>
        </p:nvSpPr>
        <p:spPr>
          <a:xfrm>
            <a:off x="711200" y="4191000"/>
            <a:ext cx="10769600" cy="1270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12" name="text12"/>
          <p:cNvSpPr txBox="1"/>
          <p:nvPr/>
        </p:nvSpPr>
        <p:spPr>
          <a:xfrm>
            <a:off x="711200" y="4470400"/>
            <a:ext cx="38100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5000"/>
              </a:lnSpc>
              <a:buNone/>
            </a:pPr>
            <a:r>
              <a:rPr lang="en-US" sz="4800" dirty="0" b="1">
                <a:solidFill>
                  <a:srgbClr val="4ADE80"/>
                </a:solidFill>
                <a:latin typeface="Georgia"/>
                <a:cs typeface="Georgia"/>
              </a:rPr>
              <a:t>48.5%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711200" y="5181600"/>
            <a:ext cx="381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Segoe UI"/>
                <a:cs typeface="Segoe UI"/>
              </a:rPr>
              <a:t>of the arithmetic removed, median</a:t>
            </a:r>
          </a:p>
          <a:p>
            <a:pPr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Segoe UI"/>
                <a:cs typeface="Segoe UI"/>
              </a:rPr>
              <a:t>over 400 generated programs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4902200" y="4470400"/>
            <a:ext cx="38100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5000"/>
              </a:lnSpc>
              <a:buNone/>
            </a:pPr>
            <a:r>
              <a:rPr lang="en-US" sz="4800" dirty="0" b="1">
                <a:solidFill>
                  <a:srgbClr val="EF4444"/>
                </a:solidFill>
                <a:latin typeface="Georgia"/>
                <a:cs typeface="Georgia"/>
              </a:rPr>
              <a:t>5.6%</a:t>
            </a:r>
          </a:p>
        </p:txBody>
      </p:sp>
      <p:sp>
        <p:nvSpPr>
          <p:cNvPr id="15" name="text15"/>
          <p:cNvSpPr txBox="1"/>
          <p:nvPr/>
        </p:nvSpPr>
        <p:spPr>
          <a:xfrm>
            <a:off x="4902200" y="5181600"/>
            <a:ext cx="381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Segoe UI"/>
                <a:cs typeface="Segoe UI"/>
              </a:rPr>
              <a:t>what an instruction count reports</a:t>
            </a:r>
          </a:p>
          <a:p>
            <a:pPr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Segoe UI"/>
                <a:cs typeface="Segoe UI"/>
              </a:rPr>
              <a:t>on the very same programs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9144000" y="4622800"/>
            <a:ext cx="23368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en-US" sz="1200" dirty="0" i="1">
                <a:solidFill>
                  <a:srgbClr val="FFFFFF"/>
                </a:solidFill>
                <a:latin typeface="Georgia"/>
                <a:cs typeface="Georgia"/>
              </a:rPr>
              <a:t>Same optimizer.
Same programs.
Different question.</a:t>
            </a:r>
          </a:p>
        </p:txBody>
      </p:sp>
      <p:sp>
        <p:nvSpPr>
          <p:cNvPr id="17" name="text17"/>
          <p:cNvSpPr txBox="1"/>
          <p:nvPr/>
        </p:nvSpPr>
        <p:spPr>
          <a:xfrm>
            <a:off x="711200" y="6248400"/>
            <a:ext cx="107696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Consolas"/>
                <a:cs typeface="Consola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drop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3" name="text3"/>
          <p:cNvSpPr txBox="1"/>
          <p:nvPr/>
        </p:nvSpPr>
        <p:spPr>
          <a:xfrm>
            <a:off x="711200" y="5842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200"/>
              </a:lnSpc>
              <a:buNone/>
            </a:pPr>
            <a:r>
              <a:rPr lang="en-US" sz="2800" dirty="0" b="1">
                <a:solidFill>
                  <a:srgbClr val="FFFFFF"/>
                </a:solidFill>
                <a:latin typeface="Georgia"/>
                <a:cs typeface="Georgia"/>
              </a:rPr>
              <a:t>The numerical contract decides which rewrites are legal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711200" y="1168400"/>
            <a:ext cx="10007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8C8C8C"/>
                </a:solidFill>
                <a:latin typeface="Segoe UI"/>
                <a:cs typeface="Segoe UI"/>
              </a:rPr>
              <a:t>Strict mode is the default. Algebraic mode explicitly permits reassociation, rounding and signed-zero changes.</a:t>
            </a:r>
          </a:p>
        </p:txBody>
      </p:sp>
      <p:sp>
        <p:nvSpPr>
          <p:cNvPr id="5" name="rule5"/>
          <p:cNvSpPr txBox="1"/>
          <p:nvPr/>
        </p:nvSpPr>
        <p:spPr>
          <a:xfrm>
            <a:off x="711200" y="1625600"/>
            <a:ext cx="10769600" cy="1270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6" name="text6"/>
          <p:cNvSpPr txBox="1"/>
          <p:nvPr/>
        </p:nvSpPr>
        <p:spPr>
          <a:xfrm>
            <a:off x="711200" y="1905000"/>
            <a:ext cx="5207000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72"/>
              </a:lnSpc>
              <a:buNone/>
            </a:pPr>
            <a:r>
              <a:rPr lang="en-US" sz="1600" dirty="0" b="1">
                <a:solidFill>
                  <a:srgbClr val="4ADE80"/>
                </a:solidFill>
                <a:latin typeface="Segoe UI"/>
                <a:cs typeface="Segoe UI"/>
              </a:rPr>
              <a:t>Strict</a:t>
            </a:r>
          </a:p>
          <a:p>
            <a:pPr algn="l">
              <a:lnSpc>
                <a:spcPts val="1704"/>
              </a:lnSpc>
              <a:spcBef>
                <a:spcPts val="900"/>
              </a:spcBef>
              <a:buNone/>
            </a:pPr>
            <a:r>
              <a:rPr lang="en-US" sz="1200" dirty="0">
                <a:solidFill>
                  <a:srgbClr val="C9C9C9"/>
                </a:solidFill>
                <a:latin typeface="Segoe UI"/>
                <a:cs typeface="Segoe UI"/>
              </a:rPr>
              <a:t>Finite constant folding, double transpose, CSE, copy propagation and dead code.</a:t>
            </a:r>
          </a:p>
          <a:p>
            <a:pPr algn="l">
              <a:lnSpc>
                <a:spcPts val="1562"/>
              </a:lnSpc>
              <a:spcBef>
                <a:spcPts val="900"/>
              </a:spcBef>
              <a:buNone/>
            </a:pPr>
            <a:r>
              <a:rPr lang="en-US" sz="1100" dirty="0">
                <a:solidFill>
                  <a:srgbClr val="8C8C8C"/>
                </a:solidFill>
                <a:latin typeface="Segoe UI"/>
                <a:cs typeface="Segoe UI"/>
              </a:rPr>
              <a:t>Source product association is retained. Exact printed values are checked on the regression corpus.</a:t>
            </a:r>
          </a:p>
        </p:txBody>
      </p:sp>
      <p:sp>
        <p:nvSpPr>
          <p:cNvPr id="7" name="text7"/>
          <p:cNvSpPr txBox="1"/>
          <p:nvPr/>
        </p:nvSpPr>
        <p:spPr>
          <a:xfrm>
            <a:off x="6426200" y="1905000"/>
            <a:ext cx="5054600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72"/>
              </a:lnSpc>
              <a:buNone/>
            </a:pPr>
            <a:r>
              <a:rPr lang="en-US" sz="1600" dirty="0" b="1">
                <a:solidFill>
                  <a:srgbClr val="EF4444"/>
                </a:solidFill>
                <a:latin typeface="Segoe UI"/>
                <a:cs typeface="Segoe UI"/>
              </a:rPr>
              <a:t>Algebraic</a:t>
            </a:r>
          </a:p>
          <a:p>
            <a:pPr algn="l">
              <a:lnSpc>
                <a:spcPts val="1704"/>
              </a:lnSpc>
              <a:spcBef>
                <a:spcPts val="900"/>
              </a:spcBef>
              <a:buNone/>
            </a:pPr>
            <a:r>
              <a:rPr lang="en-US" sz="1200" dirty="0">
                <a:solidFill>
                  <a:srgbClr val="C9C9C9"/>
                </a:solidFill>
                <a:latin typeface="Segoe UI"/>
                <a:cs typeface="Segoe UI"/>
              </a:rPr>
              <a:t>Real-number identities and chain ordering are permitted with --fp-algebraic.</a:t>
            </a:r>
          </a:p>
          <a:p>
            <a:pPr algn="l">
              <a:lnSpc>
                <a:spcPts val="1562"/>
              </a:lnSpc>
              <a:spcBef>
                <a:spcPts val="900"/>
              </a:spcBef>
              <a:buNone/>
            </a:pPr>
            <a:r>
              <a:rPr lang="en-US" sz="1100" dirty="0">
                <a:solidFill>
                  <a:srgbClr val="8C8C8C"/>
                </a:solidFill>
                <a:latin typeface="Segoe UI"/>
                <a:cs typeface="Segoe UI"/>
              </a:rPr>
              <a:t>Floating-point output can differ. Shape correctness is still required; there is no error-bound guarantee.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711200" y="5524500"/>
            <a:ext cx="107696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62"/>
              </a:lnSpc>
              <a:buNone/>
            </a:pPr>
            <a:r>
              <a:rPr lang="en-US" sz="1100" dirty="0">
                <a:solidFill>
                  <a:srgbClr val="6E9BFF"/>
                </a:solidFill>
                <a:latin typeface="Segoe UI"/>
                <a:cs typeface="Segoe UI"/>
              </a:rPr>
              <a:t>The paper evaluates ten seeds, eight arms and five workload profiles. This lab deck retains the two-seed development results.</a:t>
            </a:r>
          </a:p>
          <a:p>
            <a:pPr algn="l">
              <a:lnSpc>
                <a:spcPts val="1420"/>
              </a:lnSpc>
              <a:spcBef>
                <a:spcPts val="900"/>
              </a:spcBef>
              <a:buNone/>
            </a:pPr>
            <a:r>
              <a:rPr lang="en-US" sz="1000" dirty="0">
                <a:solidFill>
                  <a:srgbClr val="8C8C8C"/>
                </a:solidFill>
                <a:latin typeface="Segoe UI"/>
                <a:cs typeface="Segoe UI"/>
              </a:rPr>
              <a:t>Repository marker counts do not verify implementations and are excluded from research evidence.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711200" y="6248400"/>
            <a:ext cx="107696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Consolas"/>
                <a:cs typeface="Consola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drop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3" name="text3"/>
          <p:cNvSpPr txBox="1"/>
          <p:nvPr/>
        </p:nvSpPr>
        <p:spPr>
          <a:xfrm>
            <a:off x="711200" y="5842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200"/>
              </a:lnSpc>
              <a:buNone/>
            </a:pPr>
            <a:r>
              <a:rPr lang="en-US" sz="2800" dirty="0" b="1">
                <a:solidFill>
                  <a:srgbClr val="FFFFFF"/>
                </a:solidFill>
                <a:latin typeface="Georgia"/>
                <a:cs typeface="Georgia"/>
              </a:rPr>
              <a:t>A type carries its shape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711200" y="1168400"/>
            <a:ext cx="10007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8C8C8C"/>
                </a:solidFill>
                <a:latin typeface="Segoe UI"/>
                <a:cs typeface="Segoe UI"/>
              </a:rPr>
              <a:t>Not matrix, but Matrix&lt;2x3&gt;. Two matrices of different shapes are values of different types.</a:t>
            </a:r>
          </a:p>
        </p:txBody>
      </p:sp>
      <p:sp>
        <p:nvSpPr>
          <p:cNvPr id="5" name="rule5"/>
          <p:cNvSpPr txBox="1"/>
          <p:nvPr/>
        </p:nvSpPr>
        <p:spPr>
          <a:xfrm>
            <a:off x="711200" y="1625600"/>
            <a:ext cx="10769600" cy="1270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6" name="text6"/>
          <p:cNvSpPr txBox="1"/>
          <p:nvPr/>
        </p:nvSpPr>
        <p:spPr>
          <a:xfrm>
            <a:off x="711200" y="1651000"/>
            <a:ext cx="5461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00"/>
              </a:lnSpc>
              <a:buNone/>
            </a:pPr>
            <a:r>
              <a:rPr lang="en-US" sz="800" dirty="0" b="1" spc="130" cap="all">
                <a:solidFill>
                  <a:srgbClr val="4ADE80"/>
                </a:solidFill>
                <a:latin typeface="Segoe UI"/>
                <a:cs typeface="Segoe UI"/>
              </a:rPr>
              <a:t>Accepted, and its shape inferred</a:t>
            </a:r>
          </a:p>
        </p:txBody>
      </p:sp>
      <p:sp>
        <p:nvSpPr>
          <p:cNvPr id="7" name="code7"/>
          <p:cNvSpPr txBox="1"/>
          <p:nvPr/>
        </p:nvSpPr>
        <p:spPr>
          <a:xfrm>
            <a:off x="711200" y="1905000"/>
            <a:ext cx="5461000" cy="1879600"/>
          </a:xfrm>
          <a:prstGeom prst="roundRect">
            <a:avLst>
              <a:gd name="adj" fmla="val 1200"/>
            </a:avLst>
          </a:prstGeom>
          <a:solidFill>
            <a:srgbClr val="121212"/>
          </a:solidFill>
          <a:ln>
            <a:noFill/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8" name="text8"/>
          <p:cNvSpPr txBox="1"/>
          <p:nvPr/>
        </p:nvSpPr>
        <p:spPr>
          <a:xfrm>
            <a:off x="711200" y="1905000"/>
            <a:ext cx="5461000" cy="1879600"/>
          </a:xfrm>
          <a:prstGeom prst="rect">
            <a:avLst/>
          </a:prstGeom>
          <a:noFill/>
          <a:ln>
            <a:noFill/>
          </a:ln>
        </p:spPr>
        <p:txBody>
          <a:bodyPr wrap="square" lIns="177800" tIns="139700" rIns="152400" bIns="114300" anchor="t">
            <a:noAutofit/>
          </a:bodyPr>
          <a:lstStyle/>
          <a:p>
            <a:pPr algn="l">
              <a:lnSpc>
                <a:spcPts val="1420"/>
              </a:lnSpc>
              <a:buNone/>
            </a:pPr>
            <a:r>
              <a:rPr lang="en-US" sz="940" dirty="0">
                <a:solidFill>
                  <a:srgbClr val="C9C9C9"/>
                </a:solidFill>
                <a:latin typeface="Consolas"/>
                <a:cs typeface="Consolas"/>
              </a:rPr>
              <a:t>matrix A[2,3] = {{1, 2, 3},</a:t>
            </a:r>
          </a:p>
          <a:p>
            <a:pPr algn="l">
              <a:lnSpc>
                <a:spcPts val="1420"/>
              </a:lnSpc>
              <a:buNone/>
            </a:pPr>
            <a:r>
              <a:rPr lang="en-US" sz="940" dirty="0">
                <a:solidFill>
                  <a:srgbClr val="C9C9C9"/>
                </a:solidFill>
                <a:latin typeface="Consolas"/>
                <a:cs typeface="Consolas"/>
              </a:rPr>
              <a:t>                 {4, 5, 6}};</a:t>
            </a:r>
          </a:p>
          <a:p>
            <a:pPr algn="l">
              <a:lnSpc>
                <a:spcPts val="1420"/>
              </a:lnSpc>
              <a:buNone/>
            </a:pPr>
            <a:r>
              <a:rPr lang="en-US" sz="940" dirty="0">
                <a:solidFill>
                  <a:srgbClr val="C9C9C9"/>
                </a:solidFill>
                <a:latin typeface="Consolas"/>
                <a:cs typeface="Consolas"/>
              </a:rPr>
              <a:t>matrix B[3,4];</a:t>
            </a:r>
          </a:p>
          <a:p>
            <a:pPr algn="l">
              <a:lnSpc>
                <a:spcPts val="1420"/>
              </a:lnSpc>
              <a:buNone/>
            </a:pPr>
            <a:r>
              <a:rPr lang="en-US" sz="940" dirty="0">
                <a:solidFill>
                  <a:srgbClr val="C9C9C9"/>
                </a:solidFill>
                <a:latin typeface="Consolas"/>
                <a:cs typeface="Consolas"/>
              </a:rPr>
              <a:t> </a:t>
            </a:r>
          </a:p>
          <a:p>
            <a:pPr algn="l">
              <a:lnSpc>
                <a:spcPts val="1420"/>
              </a:lnSpc>
              <a:buNone/>
            </a:pPr>
            <a:r>
              <a:rPr lang="en-US" sz="940" dirty="0">
                <a:solidFill>
                  <a:srgbClr val="4ADE80"/>
                </a:solidFill>
                <a:latin typeface="Consolas"/>
                <a:cs typeface="Consolas"/>
              </a:rPr>
              <a:t>matrix C = A * B;</a:t>
            </a:r>
          </a:p>
          <a:p>
            <a:pPr algn="l">
              <a:lnSpc>
                <a:spcPts val="1420"/>
              </a:lnSpc>
              <a:buNone/>
            </a:pPr>
            <a:r>
              <a:rPr lang="en-US" sz="940" dirty="0">
                <a:solidFill>
                  <a:srgbClr val="4ADE80"/>
                </a:solidFill>
                <a:latin typeface="Consolas"/>
                <a:cs typeface="Consolas"/>
              </a:rPr>
              <a:t>    -&gt; C : Matrix&lt;2x4&gt;, inferred</a:t>
            </a:r>
          </a:p>
          <a:p>
            <a:pPr algn="l">
              <a:lnSpc>
                <a:spcPts val="1420"/>
              </a:lnSpc>
              <a:buNone/>
            </a:pPr>
            <a:r>
              <a:rPr lang="en-US" sz="940" dirty="0">
                <a:solidFill>
                  <a:srgbClr val="C9C9C9"/>
                </a:solidFill>
                <a:latin typeface="Consolas"/>
                <a:cs typeface="Consolas"/>
              </a:rPr>
              <a:t> </a:t>
            </a:r>
          </a:p>
          <a:p>
            <a:pPr algn="l">
              <a:lnSpc>
                <a:spcPts val="1420"/>
              </a:lnSpc>
              <a:buNone/>
            </a:pPr>
            <a:r>
              <a:rPr lang="en-US" sz="940" dirty="0">
                <a:solidFill>
                  <a:srgbClr val="C9C9C9"/>
                </a:solidFill>
                <a:latin typeface="Consolas"/>
                <a:cs typeface="Consolas"/>
              </a:rPr>
              <a:t>print(C);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6578600" y="1651000"/>
            <a:ext cx="49022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00"/>
              </a:lnSpc>
              <a:buNone/>
            </a:pPr>
            <a:r>
              <a:rPr lang="en-US" sz="800" dirty="0" b="1" spc="130" cap="all">
                <a:solidFill>
                  <a:srgbClr val="EF4444"/>
                </a:solidFill>
                <a:latin typeface="Segoe UI"/>
                <a:cs typeface="Segoe UI"/>
              </a:rPr>
              <a:t>Rejected before anything runs</a:t>
            </a:r>
          </a:p>
        </p:txBody>
      </p:sp>
      <p:sp>
        <p:nvSpPr>
          <p:cNvPr id="10" name="code10"/>
          <p:cNvSpPr txBox="1"/>
          <p:nvPr/>
        </p:nvSpPr>
        <p:spPr>
          <a:xfrm>
            <a:off x="6578600" y="1905000"/>
            <a:ext cx="4902200" cy="1879600"/>
          </a:xfrm>
          <a:prstGeom prst="roundRect">
            <a:avLst>
              <a:gd name="adj" fmla="val 1200"/>
            </a:avLst>
          </a:prstGeom>
          <a:solidFill>
            <a:srgbClr val="121212"/>
          </a:solidFill>
          <a:ln>
            <a:noFill/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11" name="text11"/>
          <p:cNvSpPr txBox="1"/>
          <p:nvPr/>
        </p:nvSpPr>
        <p:spPr>
          <a:xfrm>
            <a:off x="6578600" y="1905000"/>
            <a:ext cx="4902200" cy="1879600"/>
          </a:xfrm>
          <a:prstGeom prst="rect">
            <a:avLst/>
          </a:prstGeom>
          <a:noFill/>
          <a:ln>
            <a:noFill/>
          </a:ln>
        </p:spPr>
        <p:txBody>
          <a:bodyPr wrap="square" lIns="177800" tIns="139700" rIns="152400" bIns="114300" anchor="t">
            <a:noAutofit/>
          </a:bodyPr>
          <a:lstStyle/>
          <a:p>
            <a:pPr algn="l">
              <a:lnSpc>
                <a:spcPts val="1340"/>
              </a:lnSpc>
              <a:buNone/>
            </a:pPr>
            <a:r>
              <a:rPr lang="en-US" sz="880" dirty="0">
                <a:solidFill>
                  <a:srgbClr val="EF4444"/>
                </a:solidFill>
                <a:latin typeface="Consolas"/>
                <a:cs typeface="Consolas"/>
              </a:rPr>
              <a:t>cannot multiply Matrix&lt;2x3&gt;</a:t>
            </a:r>
          </a:p>
          <a:p>
            <a:pPr algn="l">
              <a:lnSpc>
                <a:spcPts val="1340"/>
              </a:lnSpc>
              <a:buNone/>
            </a:pPr>
            <a:r>
              <a:rPr lang="en-US" sz="880" dirty="0">
                <a:solidFill>
                  <a:srgbClr val="EF4444"/>
                </a:solidFill>
                <a:latin typeface="Consolas"/>
                <a:cs typeface="Consolas"/>
              </a:rPr>
              <a:t>               by Matrix&lt;5x4&gt;</a:t>
            </a:r>
          </a:p>
          <a:p>
            <a:pPr algn="l">
              <a:lnSpc>
                <a:spcPts val="1340"/>
              </a:lnSpc>
              <a:buNone/>
            </a:pPr>
            <a:r>
              <a:rPr lang="en-US" sz="880" dirty="0">
                <a:solidFill>
                  <a:srgbClr val="C9C9C9"/>
                </a:solidFill>
                <a:latin typeface="Consolas"/>
                <a:cs typeface="Consolas"/>
              </a:rPr>
              <a:t>  left  : A -&gt; Matrix&lt;2x3&gt;</a:t>
            </a:r>
          </a:p>
          <a:p>
            <a:pPr algn="l">
              <a:lnSpc>
                <a:spcPts val="1340"/>
              </a:lnSpc>
              <a:buNone/>
            </a:pPr>
            <a:r>
              <a:rPr lang="en-US" sz="880" dirty="0">
                <a:solidFill>
                  <a:srgbClr val="C9C9C9"/>
                </a:solidFill>
                <a:latin typeface="Consolas"/>
                <a:cs typeface="Consolas"/>
              </a:rPr>
              <a:t>  right : B -&gt; Matrix&lt;5x4&gt;</a:t>
            </a:r>
          </a:p>
          <a:p>
            <a:pPr algn="l">
              <a:lnSpc>
                <a:spcPts val="1340"/>
              </a:lnSpc>
              <a:buNone/>
            </a:pPr>
            <a:r>
              <a:rPr lang="en-US" sz="880" dirty="0">
                <a:solidFill>
                  <a:srgbClr val="4ADE80"/>
                </a:solidFill>
                <a:latin typeface="Consolas"/>
                <a:cs typeface="Consolas"/>
              </a:rPr>
              <a:t>  rule  : cols(left) = rows(right)</a:t>
            </a:r>
          </a:p>
          <a:p>
            <a:pPr algn="l">
              <a:lnSpc>
                <a:spcPts val="1340"/>
              </a:lnSpc>
              <a:buNone/>
            </a:pPr>
            <a:r>
              <a:rPr lang="en-US" sz="880" dirty="0">
                <a:solidFill>
                  <a:srgbClr val="4ADE80"/>
                </a:solidFill>
                <a:latin typeface="Consolas"/>
                <a:cs typeface="Consolas"/>
              </a:rPr>
              <a:t>  found : 3 != 5</a:t>
            </a:r>
          </a:p>
        </p:txBody>
      </p:sp>
      <p:sp>
        <p:nvSpPr>
          <p:cNvPr id="12" name="box12"/>
          <p:cNvSpPr txBox="1"/>
          <p:nvPr/>
        </p:nvSpPr>
        <p:spPr>
          <a:xfrm>
            <a:off x="711200" y="4089400"/>
            <a:ext cx="5156200" cy="1879600"/>
          </a:xfrm>
          <a:prstGeom prst="roundRect">
            <a:avLst>
              <a:gd name="adj" fmla="val 1400"/>
            </a:avLst>
          </a:prstGeom>
          <a:solidFill>
            <a:srgbClr val="0D0D0D"/>
          </a:solidFill>
          <a:ln w="9525">
            <a:solidFill>
              <a:srgbClr val="242424"/>
            </a:solidFill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13" name="text13"/>
          <p:cNvSpPr txBox="1"/>
          <p:nvPr/>
        </p:nvSpPr>
        <p:spPr>
          <a:xfrm>
            <a:off x="914400" y="4254500"/>
            <a:ext cx="47498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800" dirty="0" b="1" spc="130" cap="all">
                <a:solidFill>
                  <a:srgbClr val="4ADE80"/>
                </a:solidFill>
                <a:latin typeface="Segoe UI"/>
                <a:cs typeface="Segoe UI"/>
              </a:rPr>
              <a:t>What the language has</a:t>
            </a:r>
          </a:p>
        </p:txBody>
      </p:sp>
      <p:sp>
        <p:nvSpPr>
          <p:cNvPr id="14" name="bullet14"/>
          <p:cNvSpPr txBox="1"/>
          <p:nvPr/>
        </p:nvSpPr>
        <p:spPr>
          <a:xfrm>
            <a:off x="939800" y="4648200"/>
            <a:ext cx="3810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15" name="text15"/>
          <p:cNvSpPr txBox="1"/>
          <p:nvPr/>
        </p:nvSpPr>
        <p:spPr>
          <a:xfrm>
            <a:off x="1092200" y="45720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00"/>
              </a:lnSpc>
              <a:buNone/>
            </a:pPr>
            <a:r>
              <a:rPr lang="en-US" sz="960" dirty="0">
                <a:solidFill>
                  <a:srgbClr val="C9C9C9"/>
                </a:solidFill>
                <a:latin typeface="Segoe UI"/>
                <a:cs typeface="Segoe UI"/>
              </a:rPr>
              <a:t>scalar and matrix</a:t>
            </a:r>
          </a:p>
        </p:txBody>
      </p:sp>
      <p:sp>
        <p:nvSpPr>
          <p:cNvPr id="16" name="bullet16"/>
          <p:cNvSpPr txBox="1"/>
          <p:nvPr/>
        </p:nvSpPr>
        <p:spPr>
          <a:xfrm>
            <a:off x="939800" y="4927600"/>
            <a:ext cx="3810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17" name="text17"/>
          <p:cNvSpPr txBox="1"/>
          <p:nvPr/>
        </p:nvSpPr>
        <p:spPr>
          <a:xfrm>
            <a:off x="1092200" y="48514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00"/>
              </a:lnSpc>
              <a:buNone/>
            </a:pPr>
            <a:r>
              <a:rPr lang="en-US" sz="960" dirty="0">
                <a:solidFill>
                  <a:srgbClr val="C9C9C9"/>
                </a:solidFill>
                <a:latin typeface="Segoe UI"/>
                <a:cs typeface="Segoe UI"/>
              </a:rPr>
              <a:t>+   -   *   unary -   transpose</a:t>
            </a:r>
          </a:p>
        </p:txBody>
      </p:sp>
      <p:sp>
        <p:nvSpPr>
          <p:cNvPr id="18" name="bullet18"/>
          <p:cNvSpPr txBox="1"/>
          <p:nvPr/>
        </p:nvSpPr>
        <p:spPr>
          <a:xfrm>
            <a:off x="939800" y="5207000"/>
            <a:ext cx="3810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19" name="text19"/>
          <p:cNvSpPr txBox="1"/>
          <p:nvPr/>
        </p:nvSpPr>
        <p:spPr>
          <a:xfrm>
            <a:off x="1092200" y="51308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00"/>
              </a:lnSpc>
              <a:buNone/>
            </a:pPr>
            <a:r>
              <a:rPr lang="en-US" sz="960" dirty="0">
                <a:solidFill>
                  <a:srgbClr val="C9C9C9"/>
                </a:solidFill>
                <a:latin typeface="Segoe UI"/>
                <a:cs typeface="Segoe UI"/>
              </a:rPr>
              <a:t>literals, identity, zeros, ones</a:t>
            </a:r>
          </a:p>
        </p:txBody>
      </p:sp>
      <p:sp>
        <p:nvSpPr>
          <p:cNvPr id="20" name="bullet20"/>
          <p:cNvSpPr txBox="1"/>
          <p:nvPr/>
        </p:nvSpPr>
        <p:spPr>
          <a:xfrm>
            <a:off x="939800" y="5486400"/>
            <a:ext cx="3810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21" name="text21"/>
          <p:cNvSpPr txBox="1"/>
          <p:nvPr/>
        </p:nvSpPr>
        <p:spPr>
          <a:xfrm>
            <a:off x="1092200" y="54102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00"/>
              </a:lnSpc>
              <a:buNone/>
            </a:pPr>
            <a:r>
              <a:rPr lang="en-US" sz="960" dirty="0">
                <a:solidFill>
                  <a:srgbClr val="C9C9C9"/>
                </a:solidFill>
                <a:latin typeface="Segoe UI"/>
                <a:cs typeface="Segoe UI"/>
              </a:rPr>
              <a:t>declaration, assignment, print</a:t>
            </a:r>
          </a:p>
        </p:txBody>
      </p:sp>
      <p:sp>
        <p:nvSpPr>
          <p:cNvPr id="22" name="text22"/>
          <p:cNvSpPr txBox="1"/>
          <p:nvPr/>
        </p:nvSpPr>
        <p:spPr>
          <a:xfrm>
            <a:off x="939800" y="5740400"/>
            <a:ext cx="4724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00"/>
              </a:lnSpc>
              <a:buNone/>
            </a:pPr>
            <a:r>
              <a:rPr lang="en-US" sz="940" dirty="0" i="1">
                <a:solidFill>
                  <a:srgbClr val="4ADE80"/>
                </a:solidFill>
                <a:latin typeface="Segoe UI"/>
                <a:cs typeface="Segoe UI"/>
              </a:rPr>
              <a:t>No control flow: a deliberate limit on project scope.</a:t>
            </a:r>
          </a:p>
        </p:txBody>
      </p:sp>
      <p:sp>
        <p:nvSpPr>
          <p:cNvPr id="23" name="box23"/>
          <p:cNvSpPr txBox="1"/>
          <p:nvPr/>
        </p:nvSpPr>
        <p:spPr>
          <a:xfrm>
            <a:off x="6273800" y="4089400"/>
            <a:ext cx="5207000" cy="1879600"/>
          </a:xfrm>
          <a:prstGeom prst="roundRect">
            <a:avLst>
              <a:gd name="adj" fmla="val 1400"/>
            </a:avLst>
          </a:prstGeom>
          <a:solidFill>
            <a:srgbClr val="0D0D0D"/>
          </a:solidFill>
          <a:ln w="9525">
            <a:solidFill>
              <a:srgbClr val="242424"/>
            </a:solidFill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24" name="text24"/>
          <p:cNvSpPr txBox="1"/>
          <p:nvPr/>
        </p:nvSpPr>
        <p:spPr>
          <a:xfrm>
            <a:off x="6477000" y="4254500"/>
            <a:ext cx="4800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800" dirty="0" b="1" spc="130" cap="all">
                <a:solidFill>
                  <a:srgbClr val="4ADE80"/>
                </a:solidFill>
                <a:latin typeface="Segoe UI"/>
                <a:cs typeface="Segoe UI"/>
              </a:rPr>
              <a:t>Why no control flow</a:t>
            </a:r>
          </a:p>
        </p:txBody>
      </p:sp>
      <p:sp>
        <p:nvSpPr>
          <p:cNvPr id="25" name="text25"/>
          <p:cNvSpPr txBox="1"/>
          <p:nvPr/>
        </p:nvSpPr>
        <p:spPr>
          <a:xfrm>
            <a:off x="6502400" y="4572000"/>
            <a:ext cx="47498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20"/>
              </a:lnSpc>
              <a:buNone/>
            </a:pPr>
            <a:r>
              <a:rPr lang="en-US" sz="1000" dirty="0">
                <a:solidFill>
                  <a:srgbClr val="C9C9C9"/>
                </a:solidFill>
                <a:latin typeface="Segoe UI"/>
                <a:cs typeface="Segoe UI"/>
              </a:rPr>
              <a:t>With no branches a whole program is a single basic block, so available-expression analysis and liveness are each one linear scan.</a:t>
            </a:r>
          </a:p>
          <a:p>
            <a:pPr algn="l">
              <a:lnSpc>
                <a:spcPts val="1363"/>
              </a:lnSpc>
              <a:spcBef>
                <a:spcPts val="900"/>
              </a:spcBef>
              <a:buNone/>
            </a:pPr>
            <a:r>
              <a:rPr lang="en-US" sz="960" dirty="0">
                <a:solidFill>
                  <a:srgbClr val="8C8C8C"/>
                </a:solidFill>
                <a:latin typeface="Segoe UI"/>
                <a:cs typeface="Segoe UI"/>
              </a:rPr>
              <a:t>CSE and dead-code elimination can be inspected without a control-flow graph. The artifact does not teach inter-block analysis.</a:t>
            </a:r>
          </a:p>
        </p:txBody>
      </p:sp>
      <p:sp>
        <p:nvSpPr>
          <p:cNvPr id="26" name="text26"/>
          <p:cNvSpPr txBox="1"/>
          <p:nvPr/>
        </p:nvSpPr>
        <p:spPr>
          <a:xfrm>
            <a:off x="711200" y="6248400"/>
            <a:ext cx="107696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Consolas"/>
                <a:cs typeface="Consola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drop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3" name="text3"/>
          <p:cNvSpPr txBox="1"/>
          <p:nvPr/>
        </p:nvSpPr>
        <p:spPr>
          <a:xfrm>
            <a:off x="711200" y="5842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200"/>
              </a:lnSpc>
              <a:buNone/>
            </a:pPr>
            <a:r>
              <a:rPr lang="en-US" sz="2800" dirty="0" b="1">
                <a:solidFill>
                  <a:srgbClr val="FFFFFF"/>
                </a:solidFill>
                <a:latin typeface="Georgia"/>
                <a:cs typeface="Georgia"/>
              </a:rPr>
              <a:t>Every phase prints what it produced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711200" y="1168400"/>
            <a:ext cx="10007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8C8C8C"/>
                </a:solidFill>
                <a:latin typeface="Segoe UI"/>
                <a:cs typeface="Segoe UI"/>
              </a:rPr>
              <a:t>One flag per phase, so a reviewer can stop the compiler anywhere and read the artifact. The text below is its real output.</a:t>
            </a:r>
          </a:p>
        </p:txBody>
      </p:sp>
      <p:sp>
        <p:nvSpPr>
          <p:cNvPr id="5" name="rule5"/>
          <p:cNvSpPr txBox="1"/>
          <p:nvPr/>
        </p:nvSpPr>
        <p:spPr>
          <a:xfrm>
            <a:off x="711200" y="1625600"/>
            <a:ext cx="10769600" cy="1270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6" name="text6"/>
          <p:cNvSpPr txBox="1"/>
          <p:nvPr/>
        </p:nvSpPr>
        <p:spPr>
          <a:xfrm>
            <a:off x="711200" y="1905000"/>
            <a:ext cx="3437467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00"/>
              </a:lnSpc>
              <a:buNone/>
            </a:pPr>
            <a:r>
              <a:rPr lang="en-US" sz="900" dirty="0" b="1">
                <a:solidFill>
                  <a:srgbClr val="4ADE80"/>
                </a:solidFill>
                <a:latin typeface="Consolas"/>
                <a:cs typeface="Consolas"/>
              </a:rPr>
              <a:t>--tokens</a:t>
            </a:r>
            <a:r>
              <a:rPr lang="en-US" sz="840" dirty="0">
                <a:solidFill>
                  <a:srgbClr val="8C8C8C"/>
                </a:solidFill>
                <a:latin typeface="Segoe UI"/>
                <a:cs typeface="Segoe UI"/>
              </a:rPr>
              <a:t>   lexical analysis</a:t>
            </a:r>
          </a:p>
        </p:txBody>
      </p:sp>
      <p:sp>
        <p:nvSpPr>
          <p:cNvPr id="7" name="code7"/>
          <p:cNvSpPr txBox="1"/>
          <p:nvPr/>
        </p:nvSpPr>
        <p:spPr>
          <a:xfrm>
            <a:off x="711200" y="2146300"/>
            <a:ext cx="3437467" cy="1574800"/>
          </a:xfrm>
          <a:prstGeom prst="roundRect">
            <a:avLst>
              <a:gd name="adj" fmla="val 1200"/>
            </a:avLst>
          </a:prstGeom>
          <a:solidFill>
            <a:srgbClr val="121212"/>
          </a:solidFill>
          <a:ln>
            <a:noFill/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8" name="text8"/>
          <p:cNvSpPr txBox="1"/>
          <p:nvPr/>
        </p:nvSpPr>
        <p:spPr>
          <a:xfrm>
            <a:off x="711200" y="2146300"/>
            <a:ext cx="3437467" cy="1574800"/>
          </a:xfrm>
          <a:prstGeom prst="rect">
            <a:avLst/>
          </a:prstGeom>
          <a:noFill/>
          <a:ln>
            <a:noFill/>
          </a:ln>
        </p:spPr>
        <p:txBody>
          <a:bodyPr wrap="square" lIns="177800" tIns="139700" rIns="152400" bIns="114300" anchor="t">
            <a:noAutofit/>
          </a:bodyPr>
          <a:lstStyle/>
          <a:p>
            <a:pPr algn="l">
              <a:lnSpc>
                <a:spcPts val="1180"/>
              </a:lnSpc>
              <a:buNone/>
            </a:pPr>
            <a:r>
              <a:rPr lang="en-US" sz="760" dirty="0">
                <a:solidFill>
                  <a:srgbClr val="C9C9C9"/>
                </a:solidFill>
                <a:latin typeface="Consolas"/>
                <a:cs typeface="Consolas"/>
              </a:rPr>
              <a:t>#   TOKEN       LEXEME   LINE:COL</a:t>
            </a:r>
          </a:p>
          <a:p>
            <a:pPr algn="l">
              <a:lnSpc>
                <a:spcPts val="1180"/>
              </a:lnSpc>
              <a:buNone/>
            </a:pPr>
            <a:r>
              <a:rPr lang="en-US" sz="760" dirty="0">
                <a:solidFill>
                  <a:srgbClr val="C9C9C9"/>
                </a:solidFill>
                <a:latin typeface="Consolas"/>
                <a:cs typeface="Consolas"/>
              </a:rPr>
              <a:t>1   MATRIX      matrix   1:1</a:t>
            </a:r>
          </a:p>
          <a:p>
            <a:pPr algn="l">
              <a:lnSpc>
                <a:spcPts val="1180"/>
              </a:lnSpc>
              <a:buNone/>
            </a:pPr>
            <a:r>
              <a:rPr lang="en-US" sz="760" dirty="0">
                <a:solidFill>
                  <a:srgbClr val="C9C9C9"/>
                </a:solidFill>
                <a:latin typeface="Consolas"/>
                <a:cs typeface="Consolas"/>
              </a:rPr>
              <a:t>2   IDENTIFIER  A        1:8</a:t>
            </a:r>
          </a:p>
          <a:p>
            <a:pPr algn="l">
              <a:lnSpc>
                <a:spcPts val="1180"/>
              </a:lnSpc>
              <a:buNone/>
            </a:pPr>
            <a:r>
              <a:rPr lang="en-US" sz="760" dirty="0">
                <a:solidFill>
                  <a:srgbClr val="C9C9C9"/>
                </a:solidFill>
                <a:latin typeface="Consolas"/>
                <a:cs typeface="Consolas"/>
              </a:rPr>
              <a:t>3   LBRACKET    [        1:9</a:t>
            </a:r>
          </a:p>
          <a:p>
            <a:pPr algn="l">
              <a:lnSpc>
                <a:spcPts val="1180"/>
              </a:lnSpc>
              <a:buNone/>
            </a:pPr>
            <a:r>
              <a:rPr lang="en-US" sz="760" dirty="0">
                <a:solidFill>
                  <a:srgbClr val="C9C9C9"/>
                </a:solidFill>
                <a:latin typeface="Consolas"/>
                <a:cs typeface="Consolas"/>
              </a:rPr>
              <a:t>4   NUMBER      2        1:10</a:t>
            </a:r>
          </a:p>
          <a:p>
            <a:pPr algn="l">
              <a:lnSpc>
                <a:spcPts val="1180"/>
              </a:lnSpc>
              <a:buNone/>
            </a:pPr>
            <a:r>
              <a:rPr lang="en-US" sz="760" dirty="0">
                <a:solidFill>
                  <a:srgbClr val="C9C9C9"/>
                </a:solidFill>
                <a:latin typeface="Consolas"/>
                <a:cs typeface="Consolas"/>
              </a:rPr>
              <a:t>5   COMMA       ,        1:11</a:t>
            </a:r>
          </a:p>
          <a:p>
            <a:pPr algn="l">
              <a:lnSpc>
                <a:spcPts val="1180"/>
              </a:lnSpc>
              <a:buNone/>
            </a:pPr>
            <a:r>
              <a:rPr lang="en-US" sz="760" dirty="0">
                <a:solidFill>
                  <a:srgbClr val="C9C9C9"/>
                </a:solidFill>
                <a:latin typeface="Consolas"/>
                <a:cs typeface="Consolas"/>
              </a:rPr>
              <a:t>6   NUMBER      3        1:12</a:t>
            </a:r>
          </a:p>
          <a:p>
            <a:pPr algn="l">
              <a:lnSpc>
                <a:spcPts val="1180"/>
              </a:lnSpc>
              <a:buNone/>
            </a:pPr>
            <a:r>
              <a:rPr lang="en-US" sz="760" dirty="0">
                <a:solidFill>
                  <a:srgbClr val="8C8C8C"/>
                </a:solidFill>
                <a:latin typeface="Consolas"/>
                <a:cs typeface="Consolas"/>
              </a:rPr>
              <a:t>...                   78 tokens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4377267" y="1905000"/>
            <a:ext cx="3437467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00"/>
              </a:lnSpc>
              <a:buNone/>
            </a:pPr>
            <a:r>
              <a:rPr lang="en-US" sz="900" dirty="0" b="1">
                <a:solidFill>
                  <a:srgbClr val="4ADE80"/>
                </a:solidFill>
                <a:latin typeface="Consolas"/>
                <a:cs typeface="Consolas"/>
              </a:rPr>
              <a:t>--ast</a:t>
            </a:r>
            <a:r>
              <a:rPr lang="en-US" sz="840" dirty="0">
                <a:solidFill>
                  <a:srgbClr val="8C8C8C"/>
                </a:solidFill>
                <a:latin typeface="Segoe UI"/>
                <a:cs typeface="Segoe UI"/>
              </a:rPr>
              <a:t>   syntax, shapes attached</a:t>
            </a:r>
          </a:p>
        </p:txBody>
      </p:sp>
      <p:sp>
        <p:nvSpPr>
          <p:cNvPr id="10" name="code10"/>
          <p:cNvSpPr txBox="1"/>
          <p:nvPr/>
        </p:nvSpPr>
        <p:spPr>
          <a:xfrm>
            <a:off x="4377267" y="2146300"/>
            <a:ext cx="3437467" cy="1574800"/>
          </a:xfrm>
          <a:prstGeom prst="roundRect">
            <a:avLst>
              <a:gd name="adj" fmla="val 1200"/>
            </a:avLst>
          </a:prstGeom>
          <a:solidFill>
            <a:srgbClr val="121212"/>
          </a:solidFill>
          <a:ln>
            <a:noFill/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11" name="text11"/>
          <p:cNvSpPr txBox="1"/>
          <p:nvPr/>
        </p:nvSpPr>
        <p:spPr>
          <a:xfrm>
            <a:off x="4377267" y="2146300"/>
            <a:ext cx="3437467" cy="1574800"/>
          </a:xfrm>
          <a:prstGeom prst="rect">
            <a:avLst/>
          </a:prstGeom>
          <a:noFill/>
          <a:ln>
            <a:noFill/>
          </a:ln>
        </p:spPr>
        <p:txBody>
          <a:bodyPr wrap="square" lIns="177800" tIns="139700" rIns="152400" bIns="114300" anchor="t">
            <a:noAutofit/>
          </a:bodyPr>
          <a:lstStyle/>
          <a:p>
            <a:pPr algn="l">
              <a:lnSpc>
                <a:spcPts val="1180"/>
              </a:lnSpc>
              <a:buNone/>
            </a:pPr>
            <a:r>
              <a:rPr lang="en-US" sz="760" dirty="0">
                <a:solidFill>
                  <a:srgbClr val="C9C9C9"/>
                </a:solidFill>
                <a:latin typeface="Consolas"/>
                <a:cs typeface="Consolas"/>
              </a:rPr>
              <a:t>Program  (line 1)</a:t>
            </a:r>
          </a:p>
          <a:p>
            <a:pPr algn="l">
              <a:lnSpc>
                <a:spcPts val="1180"/>
              </a:lnSpc>
              <a:buNone/>
            </a:pPr>
            <a:r>
              <a:rPr lang="en-US" sz="760" dirty="0">
                <a:solidFill>
                  <a:srgbClr val="C9C9C9"/>
                </a:solidFill>
                <a:latin typeface="Consolas"/>
                <a:cs typeface="Consolas"/>
              </a:rPr>
              <a:t>|-- Declare A : Matrix&lt;2x3&gt;</a:t>
            </a:r>
          </a:p>
          <a:p>
            <a:pPr algn="l">
              <a:lnSpc>
                <a:spcPts val="1180"/>
              </a:lnSpc>
              <a:buNone/>
            </a:pPr>
            <a:r>
              <a:rPr lang="en-US" sz="760" dirty="0">
                <a:solidFill>
                  <a:srgbClr val="C9C9C9"/>
                </a:solidFill>
                <a:latin typeface="Consolas"/>
                <a:cs typeface="Consolas"/>
              </a:rPr>
              <a:t>|   `-- MatrixLiteral : &lt;2x3&gt;</a:t>
            </a:r>
          </a:p>
          <a:p>
            <a:pPr algn="l">
              <a:lnSpc>
                <a:spcPts val="1180"/>
              </a:lnSpc>
              <a:buNone/>
            </a:pPr>
            <a:r>
              <a:rPr lang="en-US" sz="760" dirty="0">
                <a:solidFill>
                  <a:srgbClr val="8C8C8C"/>
                </a:solidFill>
                <a:latin typeface="Consolas"/>
                <a:cs typeface="Consolas"/>
              </a:rPr>
              <a:t>|       |-- Row : Matrix&lt;1x3&gt;</a:t>
            </a:r>
          </a:p>
          <a:p>
            <a:pPr algn="l">
              <a:lnSpc>
                <a:spcPts val="1180"/>
              </a:lnSpc>
              <a:buNone/>
            </a:pPr>
            <a:r>
              <a:rPr lang="en-US" sz="760" dirty="0">
                <a:solidFill>
                  <a:srgbClr val="8C8C8C"/>
                </a:solidFill>
                <a:latin typeface="Consolas"/>
                <a:cs typeface="Consolas"/>
              </a:rPr>
              <a:t>|       `-- Row : Matrix&lt;1x3&gt;</a:t>
            </a:r>
          </a:p>
          <a:p>
            <a:pPr algn="l">
              <a:lnSpc>
                <a:spcPts val="1180"/>
              </a:lnSpc>
              <a:buNone/>
            </a:pPr>
            <a:r>
              <a:rPr lang="en-US" sz="760" dirty="0">
                <a:solidFill>
                  <a:srgbClr val="C9C9C9"/>
                </a:solidFill>
                <a:latin typeface="Consolas"/>
                <a:cs typeface="Consolas"/>
              </a:rPr>
              <a:t>|-- Declare B : Matrix&lt;3x4&gt;</a:t>
            </a:r>
          </a:p>
          <a:p>
            <a:pPr algn="l">
              <a:lnSpc>
                <a:spcPts val="1180"/>
              </a:lnSpc>
              <a:buNone/>
            </a:pPr>
            <a:r>
              <a:rPr lang="en-US" sz="760" dirty="0">
                <a:solidFill>
                  <a:srgbClr val="4ADE80"/>
                </a:solidFill>
                <a:latin typeface="Consolas"/>
                <a:cs typeface="Consolas"/>
              </a:rPr>
              <a:t>|-- Declare C : Matrix&lt;2x4&gt;</a:t>
            </a:r>
          </a:p>
          <a:p>
            <a:pPr algn="l">
              <a:lnSpc>
                <a:spcPts val="1180"/>
              </a:lnSpc>
              <a:buNone/>
            </a:pPr>
            <a:r>
              <a:rPr lang="en-US" sz="760" dirty="0">
                <a:solidFill>
                  <a:srgbClr val="4ADE80"/>
                </a:solidFill>
                <a:latin typeface="Consolas"/>
                <a:cs typeface="Consolas"/>
              </a:rPr>
              <a:t>`-- Print : Matrix&lt;2x4&gt;</a:t>
            </a:r>
          </a:p>
        </p:txBody>
      </p:sp>
      <p:sp>
        <p:nvSpPr>
          <p:cNvPr id="12" name="text12"/>
          <p:cNvSpPr txBox="1"/>
          <p:nvPr/>
        </p:nvSpPr>
        <p:spPr>
          <a:xfrm>
            <a:off x="8043333" y="1905000"/>
            <a:ext cx="3437467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00"/>
              </a:lnSpc>
              <a:buNone/>
            </a:pPr>
            <a:r>
              <a:rPr lang="en-US" sz="900" dirty="0" b="1">
                <a:solidFill>
                  <a:srgbClr val="4ADE80"/>
                </a:solidFill>
                <a:latin typeface="Consolas"/>
                <a:cs typeface="Consolas"/>
              </a:rPr>
              <a:t>--symbols</a:t>
            </a:r>
            <a:r>
              <a:rPr lang="en-US" sz="840" dirty="0">
                <a:solidFill>
                  <a:srgbClr val="8C8C8C"/>
                </a:solidFill>
                <a:latin typeface="Segoe UI"/>
                <a:cs typeface="Segoe UI"/>
              </a:rPr>
              <a:t>   symbol table</a:t>
            </a:r>
          </a:p>
        </p:txBody>
      </p:sp>
      <p:sp>
        <p:nvSpPr>
          <p:cNvPr id="13" name="code13"/>
          <p:cNvSpPr txBox="1"/>
          <p:nvPr/>
        </p:nvSpPr>
        <p:spPr>
          <a:xfrm>
            <a:off x="8043333" y="2146300"/>
            <a:ext cx="3437467" cy="1574800"/>
          </a:xfrm>
          <a:prstGeom prst="roundRect">
            <a:avLst>
              <a:gd name="adj" fmla="val 1200"/>
            </a:avLst>
          </a:prstGeom>
          <a:solidFill>
            <a:srgbClr val="121212"/>
          </a:solidFill>
          <a:ln>
            <a:noFill/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14" name="text14"/>
          <p:cNvSpPr txBox="1"/>
          <p:nvPr/>
        </p:nvSpPr>
        <p:spPr>
          <a:xfrm>
            <a:off x="8043333" y="2146300"/>
            <a:ext cx="3437467" cy="1574800"/>
          </a:xfrm>
          <a:prstGeom prst="rect">
            <a:avLst/>
          </a:prstGeom>
          <a:noFill/>
          <a:ln>
            <a:noFill/>
          </a:ln>
        </p:spPr>
        <p:txBody>
          <a:bodyPr wrap="square" lIns="177800" tIns="139700" rIns="152400" bIns="114300" anchor="t">
            <a:noAutofit/>
          </a:bodyPr>
          <a:lstStyle/>
          <a:p>
            <a:pPr algn="l">
              <a:lnSpc>
                <a:spcPts val="1180"/>
              </a:lnSpc>
              <a:buNone/>
            </a:pPr>
            <a:r>
              <a:rPr lang="en-US" sz="760" dirty="0">
                <a:solidFill>
                  <a:srgbClr val="C9C9C9"/>
                </a:solidFill>
                <a:latin typeface="Consolas"/>
                <a:cs typeface="Consolas"/>
              </a:rPr>
              <a:t>+------+--------+------+------+</a:t>
            </a:r>
          </a:p>
          <a:p>
            <a:pPr algn="l">
              <a:lnSpc>
                <a:spcPts val="1180"/>
              </a:lnSpc>
              <a:buNone/>
            </a:pPr>
            <a:r>
              <a:rPr lang="en-US" sz="760" dirty="0">
                <a:solidFill>
                  <a:srgbClr val="C9C9C9"/>
                </a:solidFill>
                <a:latin typeface="Consolas"/>
                <a:cs typeface="Consolas"/>
              </a:rPr>
              <a:t>| Name | Kind   | Rows | Cols |</a:t>
            </a:r>
          </a:p>
          <a:p>
            <a:pPr algn="l">
              <a:lnSpc>
                <a:spcPts val="1180"/>
              </a:lnSpc>
              <a:buNone/>
            </a:pPr>
            <a:r>
              <a:rPr lang="en-US" sz="760" dirty="0">
                <a:solidFill>
                  <a:srgbClr val="C9C9C9"/>
                </a:solidFill>
                <a:latin typeface="Consolas"/>
                <a:cs typeface="Consolas"/>
              </a:rPr>
              <a:t>+------+--------+------+------+</a:t>
            </a:r>
          </a:p>
          <a:p>
            <a:pPr algn="l">
              <a:lnSpc>
                <a:spcPts val="1180"/>
              </a:lnSpc>
              <a:buNone/>
            </a:pPr>
            <a:r>
              <a:rPr lang="en-US" sz="760" dirty="0">
                <a:solidFill>
                  <a:srgbClr val="C9C9C9"/>
                </a:solidFill>
                <a:latin typeface="Consolas"/>
                <a:cs typeface="Consolas"/>
              </a:rPr>
              <a:t>| A    | Matrix |    2 |    3 |</a:t>
            </a:r>
          </a:p>
          <a:p>
            <a:pPr algn="l">
              <a:lnSpc>
                <a:spcPts val="1180"/>
              </a:lnSpc>
              <a:buNone/>
            </a:pPr>
            <a:r>
              <a:rPr lang="en-US" sz="760" dirty="0">
                <a:solidFill>
                  <a:srgbClr val="C9C9C9"/>
                </a:solidFill>
                <a:latin typeface="Consolas"/>
                <a:cs typeface="Consolas"/>
              </a:rPr>
              <a:t>| B    | Matrix |    3 |    4 |</a:t>
            </a:r>
          </a:p>
          <a:p>
            <a:pPr algn="l">
              <a:lnSpc>
                <a:spcPts val="1180"/>
              </a:lnSpc>
              <a:buNone/>
            </a:pPr>
            <a:r>
              <a:rPr lang="en-US" sz="760" dirty="0">
                <a:solidFill>
                  <a:srgbClr val="4ADE80"/>
                </a:solidFill>
                <a:latin typeface="Consolas"/>
                <a:cs typeface="Consolas"/>
              </a:rPr>
              <a:t>| C    | Matrix |    2 |    4 |</a:t>
            </a:r>
          </a:p>
          <a:p>
            <a:pPr algn="l">
              <a:lnSpc>
                <a:spcPts val="1180"/>
              </a:lnSpc>
              <a:buNone/>
            </a:pPr>
            <a:r>
              <a:rPr lang="en-US" sz="760" dirty="0">
                <a:solidFill>
                  <a:srgbClr val="C9C9C9"/>
                </a:solidFill>
                <a:latin typeface="Consolas"/>
                <a:cs typeface="Consolas"/>
              </a:rPr>
              <a:t>+------+--------+------+------+</a:t>
            </a:r>
          </a:p>
          <a:p>
            <a:pPr algn="l">
              <a:lnSpc>
                <a:spcPts val="1180"/>
              </a:lnSpc>
              <a:buNone/>
            </a:pPr>
            <a:r>
              <a:rPr lang="en-US" sz="760" dirty="0">
                <a:solidFill>
                  <a:srgbClr val="4ADE80"/>
                </a:solidFill>
                <a:latin typeface="Consolas"/>
                <a:cs typeface="Consolas"/>
              </a:rPr>
              <a:t>C's shape was never written.</a:t>
            </a:r>
          </a:p>
        </p:txBody>
      </p:sp>
      <p:sp>
        <p:nvSpPr>
          <p:cNvPr id="15" name="text15"/>
          <p:cNvSpPr txBox="1"/>
          <p:nvPr/>
        </p:nvSpPr>
        <p:spPr>
          <a:xfrm>
            <a:off x="711200" y="3911600"/>
            <a:ext cx="3437467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00"/>
              </a:lnSpc>
              <a:buNone/>
            </a:pPr>
            <a:r>
              <a:rPr lang="en-US" sz="900" dirty="0" b="1">
                <a:solidFill>
                  <a:srgbClr val="4ADE80"/>
                </a:solidFill>
                <a:latin typeface="Consolas"/>
                <a:cs typeface="Consolas"/>
              </a:rPr>
              <a:t>--tac</a:t>
            </a:r>
            <a:r>
              <a:rPr lang="en-US" sz="840" dirty="0">
                <a:solidFill>
                  <a:srgbClr val="8C8C8C"/>
                </a:solidFill>
                <a:latin typeface="Segoe UI"/>
                <a:cs typeface="Segoe UI"/>
              </a:rPr>
              <a:t>   intermediate code</a:t>
            </a:r>
          </a:p>
        </p:txBody>
      </p:sp>
      <p:sp>
        <p:nvSpPr>
          <p:cNvPr id="16" name="code16"/>
          <p:cNvSpPr txBox="1"/>
          <p:nvPr/>
        </p:nvSpPr>
        <p:spPr>
          <a:xfrm>
            <a:off x="711200" y="4152900"/>
            <a:ext cx="3437467" cy="1574800"/>
          </a:xfrm>
          <a:prstGeom prst="roundRect">
            <a:avLst>
              <a:gd name="adj" fmla="val 1200"/>
            </a:avLst>
          </a:prstGeom>
          <a:solidFill>
            <a:srgbClr val="121212"/>
          </a:solidFill>
          <a:ln>
            <a:noFill/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17" name="text17"/>
          <p:cNvSpPr txBox="1"/>
          <p:nvPr/>
        </p:nvSpPr>
        <p:spPr>
          <a:xfrm>
            <a:off x="711200" y="4152900"/>
            <a:ext cx="3437467" cy="1574800"/>
          </a:xfrm>
          <a:prstGeom prst="rect">
            <a:avLst/>
          </a:prstGeom>
          <a:noFill/>
          <a:ln>
            <a:noFill/>
          </a:ln>
        </p:spPr>
        <p:txBody>
          <a:bodyPr wrap="square" lIns="177800" tIns="139700" rIns="152400" bIns="114300" anchor="t">
            <a:noAutofit/>
          </a:bodyPr>
          <a:lstStyle/>
          <a:p>
            <a:pPr algn="l">
              <a:lnSpc>
                <a:spcPts val="1180"/>
              </a:lnSpc>
              <a:buNone/>
            </a:pPr>
            <a:r>
              <a:rPr lang="en-US" sz="760" dirty="0">
                <a:solidFill>
                  <a:srgbClr val="C9C9C9"/>
                </a:solidFill>
                <a:latin typeface="Consolas"/>
                <a:cs typeface="Consolas"/>
              </a:rPr>
              <a:t>1  A = #0            Matrix&lt;2x3&gt;</a:t>
            </a:r>
          </a:p>
          <a:p>
            <a:pPr algn="l">
              <a:lnSpc>
                <a:spcPts val="1180"/>
              </a:lnSpc>
              <a:buNone/>
            </a:pPr>
            <a:r>
              <a:rPr lang="en-US" sz="760" dirty="0">
                <a:solidFill>
                  <a:srgbClr val="C9C9C9"/>
                </a:solidFill>
                <a:latin typeface="Consolas"/>
                <a:cs typeface="Consolas"/>
              </a:rPr>
              <a:t>2  B = #1            Matrix&lt;3x4&gt;</a:t>
            </a:r>
          </a:p>
          <a:p>
            <a:pPr algn="l">
              <a:lnSpc>
                <a:spcPts val="1180"/>
              </a:lnSpc>
              <a:buNone/>
            </a:pPr>
            <a:r>
              <a:rPr lang="en-US" sz="760" dirty="0">
                <a:solidFill>
                  <a:srgbClr val="4ADE80"/>
                </a:solidFill>
                <a:latin typeface="Consolas"/>
                <a:cs typeface="Consolas"/>
              </a:rPr>
              <a:t>3  t1 = A * B        Matrix&lt;2x4&gt;</a:t>
            </a:r>
          </a:p>
          <a:p>
            <a:pPr algn="l">
              <a:lnSpc>
                <a:spcPts val="1180"/>
              </a:lnSpc>
              <a:buNone/>
            </a:pPr>
            <a:r>
              <a:rPr lang="en-US" sz="760" dirty="0">
                <a:solidFill>
                  <a:srgbClr val="C9C9C9"/>
                </a:solidFill>
                <a:latin typeface="Consolas"/>
                <a:cs typeface="Consolas"/>
              </a:rPr>
              <a:t>4  C = t1            Matrix&lt;2x4&gt;</a:t>
            </a:r>
          </a:p>
          <a:p>
            <a:pPr algn="l">
              <a:lnSpc>
                <a:spcPts val="1180"/>
              </a:lnSpc>
              <a:buNone/>
            </a:pPr>
            <a:r>
              <a:rPr lang="en-US" sz="760" dirty="0">
                <a:solidFill>
                  <a:srgbClr val="C9C9C9"/>
                </a:solidFill>
                <a:latin typeface="Consolas"/>
                <a:cs typeface="Consolas"/>
              </a:rPr>
              <a:t>5  print C           Matrix&lt;2x4&gt;</a:t>
            </a:r>
          </a:p>
          <a:p>
            <a:pPr algn="l">
              <a:lnSpc>
                <a:spcPts val="1180"/>
              </a:lnSpc>
              <a:buNone/>
            </a:pPr>
            <a:r>
              <a:rPr lang="en-US" sz="760" dirty="0">
                <a:solidFill>
                  <a:srgbClr val="C9C9C9"/>
                </a:solidFill>
                <a:latin typeface="Consolas"/>
                <a:cs typeface="Consolas"/>
              </a:rPr>
              <a:t> </a:t>
            </a:r>
          </a:p>
          <a:p>
            <a:pPr algn="l">
              <a:lnSpc>
                <a:spcPts val="1180"/>
              </a:lnSpc>
              <a:buNone/>
            </a:pPr>
            <a:r>
              <a:rPr lang="en-US" sz="760" dirty="0">
                <a:solidFill>
                  <a:srgbClr val="C9C9C9"/>
                </a:solidFill>
                <a:latin typeface="Consolas"/>
                <a:cs typeface="Consolas"/>
              </a:rPr>
              <a:t>5 instruction(s).</a:t>
            </a:r>
          </a:p>
          <a:p>
            <a:pPr algn="l">
              <a:lnSpc>
                <a:spcPts val="1180"/>
              </a:lnSpc>
              <a:buNone/>
            </a:pPr>
            <a:r>
              <a:rPr lang="en-US" sz="760" dirty="0">
                <a:solidFill>
                  <a:srgbClr val="4ADE80"/>
                </a:solidFill>
                <a:latin typeface="Consolas"/>
                <a:cs typeface="Consolas"/>
              </a:rPr>
              <a:t>every temporary carries a shape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4377267" y="3911600"/>
            <a:ext cx="3437467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00"/>
              </a:lnSpc>
              <a:buNone/>
            </a:pPr>
            <a:r>
              <a:rPr lang="en-US" sz="900" dirty="0" b="1">
                <a:solidFill>
                  <a:srgbClr val="4ADE80"/>
                </a:solidFill>
                <a:latin typeface="Consolas"/>
                <a:cs typeface="Consolas"/>
              </a:rPr>
              <a:t>--target</a:t>
            </a:r>
            <a:r>
              <a:rPr lang="en-US" sz="840" dirty="0">
                <a:solidFill>
                  <a:srgbClr val="8C8C8C"/>
                </a:solidFill>
                <a:latin typeface="Segoe UI"/>
                <a:cs typeface="Segoe UI"/>
              </a:rPr>
              <a:t>   target code</a:t>
            </a:r>
          </a:p>
        </p:txBody>
      </p:sp>
      <p:sp>
        <p:nvSpPr>
          <p:cNvPr id="19" name="code19"/>
          <p:cNvSpPr txBox="1"/>
          <p:nvPr/>
        </p:nvSpPr>
        <p:spPr>
          <a:xfrm>
            <a:off x="4377267" y="4152900"/>
            <a:ext cx="3437467" cy="1574800"/>
          </a:xfrm>
          <a:prstGeom prst="roundRect">
            <a:avLst>
              <a:gd name="adj" fmla="val 1200"/>
            </a:avLst>
          </a:prstGeom>
          <a:solidFill>
            <a:srgbClr val="121212"/>
          </a:solidFill>
          <a:ln>
            <a:noFill/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20" name="text20"/>
          <p:cNvSpPr txBox="1"/>
          <p:nvPr/>
        </p:nvSpPr>
        <p:spPr>
          <a:xfrm>
            <a:off x="4377267" y="4152900"/>
            <a:ext cx="3437467" cy="1574800"/>
          </a:xfrm>
          <a:prstGeom prst="rect">
            <a:avLst/>
          </a:prstGeom>
          <a:noFill/>
          <a:ln>
            <a:noFill/>
          </a:ln>
        </p:spPr>
        <p:txBody>
          <a:bodyPr wrap="square" lIns="177800" tIns="139700" rIns="152400" bIns="114300" anchor="t">
            <a:noAutofit/>
          </a:bodyPr>
          <a:lstStyle/>
          <a:p>
            <a:pPr algn="l">
              <a:lnSpc>
                <a:spcPts val="1180"/>
              </a:lnSpc>
              <a:buNone/>
            </a:pPr>
            <a:r>
              <a:rPr lang="en-US" sz="760" dirty="0">
                <a:solidFill>
                  <a:srgbClr val="C9C9C9"/>
                </a:solidFill>
                <a:latin typeface="Consolas"/>
                <a:cs typeface="Consolas"/>
              </a:rPr>
              <a:t>0  PUSH_MATRIX   #0</a:t>
            </a:r>
          </a:p>
          <a:p>
            <a:pPr algn="l">
              <a:lnSpc>
                <a:spcPts val="1180"/>
              </a:lnSpc>
              <a:buNone/>
            </a:pPr>
            <a:r>
              <a:rPr lang="en-US" sz="760" dirty="0">
                <a:solidFill>
                  <a:srgbClr val="C9C9C9"/>
                </a:solidFill>
                <a:latin typeface="Consolas"/>
                <a:cs typeface="Consolas"/>
              </a:rPr>
              <a:t>1  STORE_MATRIX  A</a:t>
            </a:r>
          </a:p>
          <a:p>
            <a:pPr algn="l">
              <a:lnSpc>
                <a:spcPts val="1180"/>
              </a:lnSpc>
              <a:buNone/>
            </a:pPr>
            <a:r>
              <a:rPr lang="en-US" sz="760" dirty="0">
                <a:solidFill>
                  <a:srgbClr val="C9C9C9"/>
                </a:solidFill>
                <a:latin typeface="Consolas"/>
                <a:cs typeface="Consolas"/>
              </a:rPr>
              <a:t>2  PUSH_MATRIX   #1</a:t>
            </a:r>
          </a:p>
          <a:p>
            <a:pPr algn="l">
              <a:lnSpc>
                <a:spcPts val="1180"/>
              </a:lnSpc>
              <a:buNone/>
            </a:pPr>
            <a:r>
              <a:rPr lang="en-US" sz="760" dirty="0">
                <a:solidFill>
                  <a:srgbClr val="C9C9C9"/>
                </a:solidFill>
                <a:latin typeface="Consolas"/>
                <a:cs typeface="Consolas"/>
              </a:rPr>
              <a:t>3  STORE_MATRIX  B</a:t>
            </a:r>
          </a:p>
          <a:p>
            <a:pPr algn="l">
              <a:lnSpc>
                <a:spcPts val="1180"/>
              </a:lnSpc>
              <a:buNone/>
            </a:pPr>
            <a:r>
              <a:rPr lang="en-US" sz="760" dirty="0">
                <a:solidFill>
                  <a:srgbClr val="C9C9C9"/>
                </a:solidFill>
                <a:latin typeface="Consolas"/>
                <a:cs typeface="Consolas"/>
              </a:rPr>
              <a:t>4  LOAD_MATRIX   A</a:t>
            </a:r>
          </a:p>
          <a:p>
            <a:pPr algn="l">
              <a:lnSpc>
                <a:spcPts val="1180"/>
              </a:lnSpc>
              <a:buNone/>
            </a:pPr>
            <a:r>
              <a:rPr lang="en-US" sz="760" dirty="0">
                <a:solidFill>
                  <a:srgbClr val="C9C9C9"/>
                </a:solidFill>
                <a:latin typeface="Consolas"/>
                <a:cs typeface="Consolas"/>
              </a:rPr>
              <a:t>5  LOAD_MATRIX   B</a:t>
            </a:r>
          </a:p>
          <a:p>
            <a:pPr algn="l">
              <a:lnSpc>
                <a:spcPts val="1180"/>
              </a:lnSpc>
              <a:buNone/>
            </a:pPr>
            <a:r>
              <a:rPr lang="en-US" sz="760" dirty="0">
                <a:solidFill>
                  <a:srgbClr val="4ADE80"/>
                </a:solidFill>
                <a:latin typeface="Consolas"/>
                <a:cs typeface="Consolas"/>
              </a:rPr>
              <a:t>6  MATMUL</a:t>
            </a:r>
          </a:p>
          <a:p>
            <a:pPr algn="l">
              <a:lnSpc>
                <a:spcPts val="1180"/>
              </a:lnSpc>
              <a:buNone/>
            </a:pPr>
            <a:r>
              <a:rPr lang="en-US" sz="760" dirty="0">
                <a:solidFill>
                  <a:srgbClr val="C9C9C9"/>
                </a:solidFill>
                <a:latin typeface="Consolas"/>
                <a:cs typeface="Consolas"/>
              </a:rPr>
              <a:t>13 instruction(s).</a:t>
            </a:r>
          </a:p>
        </p:txBody>
      </p:sp>
      <p:sp>
        <p:nvSpPr>
          <p:cNvPr id="21" name="text21"/>
          <p:cNvSpPr txBox="1"/>
          <p:nvPr/>
        </p:nvSpPr>
        <p:spPr>
          <a:xfrm>
            <a:off x="8043333" y="3911600"/>
            <a:ext cx="3437467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00"/>
              </a:lnSpc>
              <a:buNone/>
            </a:pPr>
            <a:r>
              <a:rPr lang="en-US" sz="900" dirty="0" b="1">
                <a:solidFill>
                  <a:srgbClr val="4ADE80"/>
                </a:solidFill>
                <a:latin typeface="Consolas"/>
                <a:cs typeface="Consolas"/>
              </a:rPr>
              <a:t>--run</a:t>
            </a:r>
            <a:r>
              <a:rPr lang="en-US" sz="840" dirty="0">
                <a:solidFill>
                  <a:srgbClr val="8C8C8C"/>
                </a:solidFill>
                <a:latin typeface="Segoe UI"/>
                <a:cs typeface="Segoe UI"/>
              </a:rPr>
              <a:t>   execution</a:t>
            </a:r>
          </a:p>
        </p:txBody>
      </p:sp>
      <p:sp>
        <p:nvSpPr>
          <p:cNvPr id="22" name="code22"/>
          <p:cNvSpPr txBox="1"/>
          <p:nvPr/>
        </p:nvSpPr>
        <p:spPr>
          <a:xfrm>
            <a:off x="8043333" y="4152900"/>
            <a:ext cx="3437467" cy="1574800"/>
          </a:xfrm>
          <a:prstGeom prst="roundRect">
            <a:avLst>
              <a:gd name="adj" fmla="val 1200"/>
            </a:avLst>
          </a:prstGeom>
          <a:solidFill>
            <a:srgbClr val="121212"/>
          </a:solidFill>
          <a:ln>
            <a:noFill/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23" name="text23"/>
          <p:cNvSpPr txBox="1"/>
          <p:nvPr/>
        </p:nvSpPr>
        <p:spPr>
          <a:xfrm>
            <a:off x="8043333" y="4152900"/>
            <a:ext cx="3437467" cy="1574800"/>
          </a:xfrm>
          <a:prstGeom prst="rect">
            <a:avLst/>
          </a:prstGeom>
          <a:noFill/>
          <a:ln>
            <a:noFill/>
          </a:ln>
        </p:spPr>
        <p:txBody>
          <a:bodyPr wrap="square" lIns="177800" tIns="139700" rIns="152400" bIns="114300" anchor="t">
            <a:noAutofit/>
          </a:bodyPr>
          <a:lstStyle/>
          <a:p>
            <a:pPr algn="l">
              <a:lnSpc>
                <a:spcPts val="1180"/>
              </a:lnSpc>
              <a:buNone/>
            </a:pPr>
            <a:r>
              <a:rPr lang="en-US" sz="760" dirty="0">
                <a:solidFill>
                  <a:srgbClr val="4ADE80"/>
                </a:solidFill>
                <a:latin typeface="Consolas"/>
                <a:cs typeface="Consolas"/>
              </a:rPr>
              <a:t>C = Matrix&lt;2x4&gt;</a:t>
            </a:r>
          </a:p>
          <a:p>
            <a:pPr algn="l">
              <a:lnSpc>
                <a:spcPts val="1180"/>
              </a:lnSpc>
              <a:buNone/>
            </a:pPr>
            <a:r>
              <a:rPr lang="en-US" sz="760" dirty="0">
                <a:solidFill>
                  <a:srgbClr val="C9C9C9"/>
                </a:solidFill>
                <a:latin typeface="Consolas"/>
                <a:cs typeface="Consolas"/>
              </a:rPr>
              <a:t>  [  38  44  50  56 ]</a:t>
            </a:r>
          </a:p>
          <a:p>
            <a:pPr algn="l">
              <a:lnSpc>
                <a:spcPts val="1180"/>
              </a:lnSpc>
              <a:buNone/>
            </a:pPr>
            <a:r>
              <a:rPr lang="en-US" sz="760" dirty="0">
                <a:solidFill>
                  <a:srgbClr val="C9C9C9"/>
                </a:solidFill>
                <a:latin typeface="Consolas"/>
                <a:cs typeface="Consolas"/>
              </a:rPr>
              <a:t>  [  83  98 113 128 ]</a:t>
            </a:r>
          </a:p>
          <a:p>
            <a:pPr algn="l">
              <a:lnSpc>
                <a:spcPts val="1180"/>
              </a:lnSpc>
              <a:buNone/>
            </a:pPr>
            <a:r>
              <a:rPr lang="en-US" sz="760" dirty="0">
                <a:solidFill>
                  <a:srgbClr val="C9C9C9"/>
                </a:solidFill>
                <a:latin typeface="Consolas"/>
                <a:cs typeface="Consolas"/>
              </a:rPr>
              <a:t> </a:t>
            </a:r>
          </a:p>
          <a:p>
            <a:pPr algn="l">
              <a:lnSpc>
                <a:spcPts val="1180"/>
              </a:lnSpc>
              <a:buNone/>
            </a:pPr>
            <a:r>
              <a:rPr lang="en-US" sz="760" dirty="0">
                <a:solidFill>
                  <a:srgbClr val="C9C9C9"/>
                </a:solidFill>
                <a:latin typeface="Consolas"/>
                <a:cs typeface="Consolas"/>
              </a:rPr>
              <a:t>ACCEPTED</a:t>
            </a:r>
          </a:p>
          <a:p>
            <a:pPr algn="l">
              <a:lnSpc>
                <a:spcPts val="1180"/>
              </a:lnSpc>
              <a:buNone/>
            </a:pPr>
            <a:r>
              <a:rPr lang="en-US" sz="760" dirty="0">
                <a:solidFill>
                  <a:srgbClr val="C9C9C9"/>
                </a:solidFill>
                <a:latin typeface="Consolas"/>
                <a:cs typeface="Consolas"/>
              </a:rPr>
              <a:t>  (0 error(s), 0 warning(s))</a:t>
            </a:r>
          </a:p>
          <a:p>
            <a:pPr algn="l">
              <a:lnSpc>
                <a:spcPts val="1180"/>
              </a:lnSpc>
              <a:buNone/>
            </a:pPr>
            <a:r>
              <a:rPr lang="en-US" sz="760" dirty="0">
                <a:solidFill>
                  <a:srgbClr val="C9C9C9"/>
                </a:solidFill>
                <a:latin typeface="Consolas"/>
                <a:cs typeface="Consolas"/>
              </a:rPr>
              <a:t> </a:t>
            </a:r>
          </a:p>
          <a:p>
            <a:pPr algn="l">
              <a:lnSpc>
                <a:spcPts val="1180"/>
              </a:lnSpc>
              <a:buNone/>
            </a:pPr>
            <a:r>
              <a:rPr lang="en-US" sz="760" dirty="0">
                <a:solidFill>
                  <a:srgbClr val="4ADE80"/>
                </a:solidFill>
                <a:latin typeface="Consolas"/>
                <a:cs typeface="Consolas"/>
              </a:rPr>
              <a:t>38 = 1*1 + 2*5 + 3*9</a:t>
            </a:r>
          </a:p>
        </p:txBody>
      </p:sp>
      <p:sp>
        <p:nvSpPr>
          <p:cNvPr id="24" name="text24"/>
          <p:cNvSpPr txBox="1"/>
          <p:nvPr/>
        </p:nvSpPr>
        <p:spPr>
          <a:xfrm>
            <a:off x="711200" y="6248400"/>
            <a:ext cx="107696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Consolas"/>
                <a:cs typeface="Consola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drop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3" name="text3"/>
          <p:cNvSpPr txBox="1"/>
          <p:nvPr/>
        </p:nvSpPr>
        <p:spPr>
          <a:xfrm>
            <a:off x="711200" y="5842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200"/>
              </a:lnSpc>
              <a:buNone/>
            </a:pPr>
            <a:r>
              <a:rPr lang="en-US" sz="2800" dirty="0" b="1">
                <a:solidFill>
                  <a:srgbClr val="FFFFFF"/>
                </a:solidFill>
                <a:latin typeface="Georgia"/>
                <a:cs typeface="Georgia"/>
              </a:rPr>
              <a:t>A shape is also a cost model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711200" y="1168400"/>
            <a:ext cx="10007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8C8C8C"/>
                </a:solidFill>
                <a:latin typeface="Segoe UI"/>
                <a:cs typeface="Segoe UI"/>
              </a:rPr>
              <a:t>The conventional dense-product model counts m p (2n-1) scalar operations. This is a static arithmetic objective, not a measurement of VM runtime.</a:t>
            </a:r>
          </a:p>
        </p:txBody>
      </p:sp>
      <p:sp>
        <p:nvSpPr>
          <p:cNvPr id="5" name="rule5"/>
          <p:cNvSpPr txBox="1"/>
          <p:nvPr/>
        </p:nvSpPr>
        <p:spPr>
          <a:xfrm>
            <a:off x="711200" y="1625600"/>
            <a:ext cx="10769600" cy="1270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6" name="text6"/>
          <p:cNvSpPr txBox="1"/>
          <p:nvPr/>
        </p:nvSpPr>
        <p:spPr>
          <a:xfrm>
            <a:off x="711200" y="1981200"/>
            <a:ext cx="30480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5400"/>
              </a:lnSpc>
              <a:buNone/>
            </a:pPr>
            <a:r>
              <a:rPr lang="en-US" sz="5200" dirty="0" b="1">
                <a:solidFill>
                  <a:srgbClr val="4ADE80"/>
                </a:solidFill>
                <a:latin typeface="Georgia"/>
                <a:cs typeface="Georgia"/>
              </a:rPr>
              <a:t>98.0%</a:t>
            </a:r>
          </a:p>
        </p:txBody>
      </p:sp>
      <p:sp>
        <p:nvSpPr>
          <p:cNvPr id="7" name="text7"/>
          <p:cNvSpPr txBox="1"/>
          <p:nvPr/>
        </p:nvSpPr>
        <p:spPr>
          <a:xfrm>
            <a:off x="711200" y="2743200"/>
            <a:ext cx="3048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Segoe UI"/>
                <a:cs typeface="Segoe UI"/>
              </a:rPr>
              <a:t>of the arithmetic removed from</a:t>
            </a:r>
          </a:p>
          <a:p>
            <a:pPr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Segoe UI"/>
                <a:cs typeface="Segoe UI"/>
              </a:rPr>
              <a:t>one three-matrix chain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711200" y="3581400"/>
            <a:ext cx="30480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50"/>
              </a:lnSpc>
              <a:buNone/>
            </a:pPr>
            <a:r>
              <a:rPr lang="en-US" sz="1000" dirty="0">
                <a:solidFill>
                  <a:srgbClr val="EF4444"/>
                </a:solidFill>
                <a:latin typeface="Segoe UI"/>
                <a:cs typeface="Segoe UI"/>
              </a:rPr>
              <a:t>The instruction count did not move. Four before, four after.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4165600" y="1651000"/>
            <a:ext cx="73152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00"/>
              </a:lnSpc>
              <a:buNone/>
            </a:pPr>
            <a:r>
              <a:rPr lang="en-US" sz="800" dirty="0" b="1" spc="130" cap="all">
                <a:solidFill>
                  <a:srgbClr val="4ADE80"/>
                </a:solidFill>
                <a:latin typeface="Segoe UI"/>
                <a:cs typeface="Segoe UI"/>
              </a:rPr>
              <a:t>One chain, two bracketings</a:t>
            </a:r>
          </a:p>
        </p:txBody>
      </p:sp>
      <p:sp>
        <p:nvSpPr>
          <p:cNvPr id="10" name="code10"/>
          <p:cNvSpPr txBox="1"/>
          <p:nvPr/>
        </p:nvSpPr>
        <p:spPr>
          <a:xfrm>
            <a:off x="4165600" y="1905000"/>
            <a:ext cx="7315200" cy="2260600"/>
          </a:xfrm>
          <a:prstGeom prst="roundRect">
            <a:avLst>
              <a:gd name="adj" fmla="val 1200"/>
            </a:avLst>
          </a:prstGeom>
          <a:solidFill>
            <a:srgbClr val="121212"/>
          </a:solidFill>
          <a:ln>
            <a:noFill/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11" name="text11"/>
          <p:cNvSpPr txBox="1"/>
          <p:nvPr/>
        </p:nvSpPr>
        <p:spPr>
          <a:xfrm>
            <a:off x="4165600" y="1905000"/>
            <a:ext cx="7315200" cy="2260600"/>
          </a:xfrm>
          <a:prstGeom prst="rect">
            <a:avLst/>
          </a:prstGeom>
          <a:noFill/>
          <a:ln>
            <a:noFill/>
          </a:ln>
        </p:spPr>
        <p:txBody>
          <a:bodyPr wrap="square" lIns="177800" tIns="139700" rIns="152400" bIns="114300" anchor="t">
            <a:noAutofit/>
          </a:bodyPr>
          <a:lstStyle/>
          <a:p>
            <a:pPr algn="l">
              <a:lnSpc>
                <a:spcPts val="1520"/>
              </a:lnSpc>
              <a:buNone/>
            </a:pPr>
            <a:r>
              <a:rPr lang="en-US" sz="900" dirty="0">
                <a:solidFill>
                  <a:srgbClr val="C9C9C9"/>
                </a:solidFill>
                <a:latin typeface="Consolas"/>
                <a:cs typeface="Consolas"/>
              </a:rPr>
              <a:t>matrix R = A * B * C;     A 100x2   B 2x100   C 100x2</a:t>
            </a:r>
          </a:p>
          <a:p>
            <a:pPr algn="l">
              <a:lnSpc>
                <a:spcPts val="1520"/>
              </a:lnSpc>
              <a:buNone/>
            </a:pPr>
            <a:r>
              <a:rPr lang="en-US" sz="900" dirty="0">
                <a:solidFill>
                  <a:srgbClr val="C9C9C9"/>
                </a:solidFill>
                <a:latin typeface="Consolas"/>
                <a:cs typeface="Consolas"/>
              </a:rPr>
              <a:t> </a:t>
            </a:r>
          </a:p>
          <a:p>
            <a:pPr algn="l">
              <a:lnSpc>
                <a:spcPts val="1520"/>
              </a:lnSpc>
              <a:buNone/>
            </a:pPr>
            <a:r>
              <a:rPr lang="en-US" sz="900" dirty="0">
                <a:solidFill>
                  <a:srgbClr val="EF4444"/>
                </a:solidFill>
                <a:latin typeface="Consolas"/>
                <a:cs typeface="Consolas"/>
              </a:rPr>
              <a:t>(A * B) * C    builds a 100x100 intermediate</a:t>
            </a:r>
          </a:p>
          <a:p>
            <a:pPr algn="l">
              <a:lnSpc>
                <a:spcPts val="1520"/>
              </a:lnSpc>
              <a:buNone/>
            </a:pPr>
            <a:r>
              <a:rPr lang="en-US" sz="900" dirty="0">
                <a:solidFill>
                  <a:srgbClr val="EF4444"/>
                </a:solidFill>
                <a:latin typeface="Consolas"/>
                <a:cs typeface="Consolas"/>
              </a:rPr>
              <a:t>               69,800 FLOP</a:t>
            </a:r>
          </a:p>
          <a:p>
            <a:pPr algn="l">
              <a:lnSpc>
                <a:spcPts val="152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onsolas"/>
                <a:cs typeface="Consolas"/>
              </a:rPr>
              <a:t>A * (B * C)    builds a 2x2 intermediate</a:t>
            </a:r>
          </a:p>
          <a:p>
            <a:pPr algn="l">
              <a:lnSpc>
                <a:spcPts val="1520"/>
              </a:lnSpc>
              <a:buNone/>
            </a:pPr>
            <a:r>
              <a:rPr lang="en-US" sz="900" dirty="0">
                <a:solidFill>
                  <a:srgbClr val="4ADE80"/>
                </a:solidFill>
                <a:latin typeface="Consolas"/>
                <a:cs typeface="Consolas"/>
              </a:rPr>
              <a:t>                1,396 FLOP</a:t>
            </a:r>
          </a:p>
          <a:p>
            <a:pPr algn="l">
              <a:lnSpc>
                <a:spcPts val="1520"/>
              </a:lnSpc>
              <a:buNone/>
            </a:pPr>
            <a:r>
              <a:rPr lang="en-US" sz="900" dirty="0">
                <a:solidFill>
                  <a:srgbClr val="C9C9C9"/>
                </a:solidFill>
                <a:latin typeface="Consolas"/>
                <a:cs typeface="Consolas"/>
              </a:rPr>
              <a:t> </a:t>
            </a:r>
          </a:p>
          <a:p>
            <a:pPr algn="l">
              <a:lnSpc>
                <a:spcPts val="152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Consolas"/>
                <a:cs typeface="Consolas"/>
              </a:rPr>
              <a:t>Over real numbers multiplication is associative; floating-point</a:t>
            </a:r>
          </a:p>
          <a:p>
            <a:pPr algn="l">
              <a:lnSpc>
                <a:spcPts val="152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Consolas"/>
                <a:cs typeface="Consolas"/>
              </a:rPr>
              <a:t>output can change. Reassociation requires --fp-algebraic.</a:t>
            </a:r>
          </a:p>
        </p:txBody>
      </p:sp>
      <p:sp>
        <p:nvSpPr>
          <p:cNvPr id="12" name="box12"/>
          <p:cNvSpPr txBox="1"/>
          <p:nvPr/>
        </p:nvSpPr>
        <p:spPr>
          <a:xfrm>
            <a:off x="711200" y="4521200"/>
            <a:ext cx="5156200" cy="1447800"/>
          </a:xfrm>
          <a:prstGeom prst="roundRect">
            <a:avLst>
              <a:gd name="adj" fmla="val 1400"/>
            </a:avLst>
          </a:prstGeom>
          <a:solidFill>
            <a:srgbClr val="0D0D0D"/>
          </a:solidFill>
          <a:ln w="9525">
            <a:solidFill>
              <a:srgbClr val="242424"/>
            </a:solidFill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13" name="text13"/>
          <p:cNvSpPr txBox="1"/>
          <p:nvPr/>
        </p:nvSpPr>
        <p:spPr>
          <a:xfrm>
            <a:off x="914400" y="4686300"/>
            <a:ext cx="47498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800" dirty="0" b="1" spc="130" cap="all">
                <a:solidFill>
                  <a:srgbClr val="4ADE80"/>
                </a:solidFill>
                <a:latin typeface="Segoe UI"/>
                <a:cs typeface="Segoe UI"/>
              </a:rPr>
              <a:t>Why an instruction count cannot see it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939800" y="5003800"/>
            <a:ext cx="47244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91"/>
              </a:lnSpc>
              <a:buNone/>
            </a:pPr>
            <a:r>
              <a:rPr lang="en-US" sz="980" dirty="0">
                <a:solidFill>
                  <a:srgbClr val="C9C9C9"/>
                </a:solidFill>
                <a:latin typeface="Segoe UI"/>
                <a:cs typeface="Segoe UI"/>
              </a:rPr>
              <a:t>A chain of k matrices needs exactly k-1 products under every bracketing.</a:t>
            </a:r>
          </a:p>
          <a:p>
            <a:pPr algn="l">
              <a:lnSpc>
                <a:spcPts val="1391"/>
              </a:lnSpc>
              <a:spcBef>
                <a:spcPts val="900"/>
              </a:spcBef>
              <a:buNone/>
            </a:pPr>
            <a:r>
              <a:rPr lang="en-US" sz="980" dirty="0">
                <a:solidFill>
                  <a:srgbClr val="4ADE80"/>
                </a:solidFill>
                <a:latin typeface="Segoe UI"/>
                <a:cs typeface="Segoe UI"/>
              </a:rPr>
              <a:t>So re-bracketing never changes the instruction count at all.</a:t>
            </a:r>
          </a:p>
        </p:txBody>
      </p:sp>
      <p:sp>
        <p:nvSpPr>
          <p:cNvPr id="15" name="box15"/>
          <p:cNvSpPr txBox="1"/>
          <p:nvPr/>
        </p:nvSpPr>
        <p:spPr>
          <a:xfrm>
            <a:off x="6273800" y="4521200"/>
            <a:ext cx="5207000" cy="1447800"/>
          </a:xfrm>
          <a:prstGeom prst="roundRect">
            <a:avLst>
              <a:gd name="adj" fmla="val 1400"/>
            </a:avLst>
          </a:prstGeom>
          <a:solidFill>
            <a:srgbClr val="0D0D0D"/>
          </a:solidFill>
          <a:ln w="9525">
            <a:solidFill>
              <a:srgbClr val="242424"/>
            </a:solidFill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16" name="text16"/>
          <p:cNvSpPr txBox="1"/>
          <p:nvPr/>
        </p:nvSpPr>
        <p:spPr>
          <a:xfrm>
            <a:off x="6477000" y="4686300"/>
            <a:ext cx="4800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800" dirty="0" b="1" spc="130" cap="all">
                <a:solidFill>
                  <a:srgbClr val="4ADE80"/>
                </a:solidFill>
                <a:latin typeface="Segoe UI"/>
                <a:cs typeface="Segoe UI"/>
              </a:rPr>
              <a:t>The algorithm is the textbook one</a:t>
            </a:r>
          </a:p>
        </p:txBody>
      </p:sp>
      <p:sp>
        <p:nvSpPr>
          <p:cNvPr id="17" name="text17"/>
          <p:cNvSpPr txBox="1"/>
          <p:nvPr/>
        </p:nvSpPr>
        <p:spPr>
          <a:xfrm>
            <a:off x="6502400" y="5003800"/>
            <a:ext cx="4749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91"/>
              </a:lnSpc>
              <a:buNone/>
            </a:pPr>
            <a:r>
              <a:rPr lang="en-US" sz="980" dirty="0">
                <a:solidFill>
                  <a:srgbClr val="C9C9C9"/>
                </a:solidFill>
                <a:latin typeface="Segoe UI"/>
                <a:cs typeface="Segoe UI"/>
              </a:rPr>
              <a:t>The standard O(k^3) dynamic program over the chain, the same one an algorithms course teaches.</a:t>
            </a:r>
          </a:p>
          <a:p>
            <a:pPr algn="l">
              <a:lnSpc>
                <a:spcPts val="1391"/>
              </a:lnSpc>
              <a:spcBef>
                <a:spcPts val="900"/>
              </a:spcBef>
              <a:buNone/>
            </a:pPr>
            <a:r>
              <a:rPr lang="en-US" sz="980" dirty="0">
                <a:solidFill>
                  <a:srgbClr val="8C8C8C"/>
                </a:solidFill>
                <a:latin typeface="Segoe UI"/>
                <a:cs typeface="Segoe UI"/>
              </a:rPr>
              <a:t>The teaching artifact connects this established algorithm to shape checking and numerical contracts.</a:t>
            </a:r>
          </a:p>
        </p:txBody>
      </p:sp>
      <p:sp>
        <p:nvSpPr>
          <p:cNvPr id="18" name="text18"/>
          <p:cNvSpPr txBox="1"/>
          <p:nvPr/>
        </p:nvSpPr>
        <p:spPr>
          <a:xfrm>
            <a:off x="711200" y="6248400"/>
            <a:ext cx="107696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Consolas"/>
                <a:cs typeface="Consola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drop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3" name="text3"/>
          <p:cNvSpPr txBox="1"/>
          <p:nvPr/>
        </p:nvSpPr>
        <p:spPr>
          <a:xfrm>
            <a:off x="711200" y="5842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200"/>
              </a:lnSpc>
              <a:buNone/>
            </a:pPr>
            <a:r>
              <a:rPr lang="en-US" sz="2800" dirty="0" b="1">
                <a:solidFill>
                  <a:srgbClr val="FFFFFF"/>
                </a:solidFill>
                <a:latin typeface="Georgia"/>
                <a:cs typeface="Georgia"/>
              </a:rPr>
              <a:t>Two metrics, same programs, different answers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711200" y="1168400"/>
            <a:ext cx="10007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8C8C8C"/>
                </a:solidFill>
                <a:latin typeface="Segoe UI"/>
                <a:cs typeface="Segoe UI"/>
              </a:rPr>
              <a:t>400 development programs across two seeds. Cost uses algebraic mode; execution uses strict mode. The paper reports the separate ten-seed evaluation.</a:t>
            </a:r>
          </a:p>
        </p:txBody>
      </p:sp>
      <p:sp>
        <p:nvSpPr>
          <p:cNvPr id="5" name="rule5"/>
          <p:cNvSpPr txBox="1"/>
          <p:nvPr/>
        </p:nvSpPr>
        <p:spPr>
          <a:xfrm>
            <a:off x="711200" y="1625600"/>
            <a:ext cx="10769600" cy="1270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6" name="box6"/>
          <p:cNvSpPr txBox="1"/>
          <p:nvPr/>
        </p:nvSpPr>
        <p:spPr>
          <a:xfrm>
            <a:off x="711200" y="1905000"/>
            <a:ext cx="10769600" cy="2006600"/>
          </a:xfrm>
          <a:prstGeom prst="roundRect">
            <a:avLst>
              <a:gd name="adj" fmla="val 1400"/>
            </a:avLst>
          </a:prstGeom>
          <a:solidFill>
            <a:srgbClr val="0D0D0D"/>
          </a:solidFill>
          <a:ln w="9525">
            <a:solidFill>
              <a:srgbClr val="242424"/>
            </a:solidFill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7" name="text7"/>
          <p:cNvSpPr txBox="1"/>
          <p:nvPr/>
        </p:nvSpPr>
        <p:spPr>
          <a:xfrm>
            <a:off x="914400" y="2070100"/>
            <a:ext cx="103632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800" dirty="0" b="1" spc="130" cap="all">
                <a:solidFill>
                  <a:srgbClr val="4ADE80"/>
                </a:solidFill>
                <a:latin typeface="Segoe UI"/>
                <a:cs typeface="Segoe UI"/>
              </a:rPr>
              <a:t>Median reduction per program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914400" y="2070100"/>
            <a:ext cx="103632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1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Segoe UI"/>
                <a:cs typeface="Segoe UI"/>
              </a:rPr>
              <a:t>bar = interquartile range      tick = median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939800" y="2463800"/>
            <a:ext cx="2286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00"/>
              </a:lnSpc>
              <a:buNone/>
            </a:pPr>
            <a:r>
              <a:rPr lang="en-US" sz="980" dirty="0">
                <a:solidFill>
                  <a:srgbClr val="C9C9C9"/>
                </a:solidFill>
                <a:latin typeface="Segoe UI"/>
                <a:cs typeface="Segoe UI"/>
              </a:rPr>
              <a:t>arithmetic removed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939800" y="2717800"/>
            <a:ext cx="2286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Segoe UI"/>
                <a:cs typeface="Segoe UI"/>
              </a:rPr>
              <a:t>IQR 2.5 to 81.7</a:t>
            </a:r>
          </a:p>
        </p:txBody>
      </p:sp>
      <p:sp>
        <p:nvSpPr>
          <p:cNvPr id="11" name="bar-bg11"/>
          <p:cNvSpPr txBox="1"/>
          <p:nvPr/>
        </p:nvSpPr>
        <p:spPr>
          <a:xfrm>
            <a:off x="3302000" y="2692400"/>
            <a:ext cx="6223000" cy="16510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12" name="iqr12"/>
          <p:cNvSpPr txBox="1"/>
          <p:nvPr/>
        </p:nvSpPr>
        <p:spPr>
          <a:xfrm>
            <a:off x="3460534" y="2692400"/>
            <a:ext cx="4923919" cy="165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13" name="median13"/>
          <p:cNvSpPr txBox="1"/>
          <p:nvPr/>
        </p:nvSpPr>
        <p:spPr>
          <a:xfrm>
            <a:off x="6306162" y="2641600"/>
            <a:ext cx="3175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14" name="text14"/>
          <p:cNvSpPr txBox="1"/>
          <p:nvPr/>
        </p:nvSpPr>
        <p:spPr>
          <a:xfrm>
            <a:off x="9702800" y="2628900"/>
            <a:ext cx="1092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en-US" sz="1500" dirty="0" b="1">
                <a:solidFill>
                  <a:srgbClr val="4ADE80"/>
                </a:solidFill>
                <a:latin typeface="Georgia"/>
                <a:cs typeface="Georgia"/>
              </a:rPr>
              <a:t>48.5%</a:t>
            </a:r>
          </a:p>
        </p:txBody>
      </p:sp>
      <p:sp>
        <p:nvSpPr>
          <p:cNvPr id="15" name="text15"/>
          <p:cNvSpPr txBox="1"/>
          <p:nvPr/>
        </p:nvSpPr>
        <p:spPr>
          <a:xfrm>
            <a:off x="939800" y="3149600"/>
            <a:ext cx="2286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00"/>
              </a:lnSpc>
              <a:buNone/>
            </a:pPr>
            <a:r>
              <a:rPr lang="en-US" sz="980" dirty="0">
                <a:solidFill>
                  <a:srgbClr val="C9C9C9"/>
                </a:solidFill>
                <a:latin typeface="Segoe UI"/>
                <a:cs typeface="Segoe UI"/>
              </a:rPr>
              <a:t>instructions removed</a:t>
            </a:r>
          </a:p>
        </p:txBody>
      </p:sp>
      <p:sp>
        <p:nvSpPr>
          <p:cNvPr id="16" name="text16"/>
          <p:cNvSpPr txBox="1"/>
          <p:nvPr/>
        </p:nvSpPr>
        <p:spPr>
          <a:xfrm>
            <a:off x="939800" y="3403600"/>
            <a:ext cx="2286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Segoe UI"/>
                <a:cs typeface="Segoe UI"/>
              </a:rPr>
              <a:t>IQR 0.0 to 9.1</a:t>
            </a:r>
          </a:p>
        </p:txBody>
      </p:sp>
      <p:sp>
        <p:nvSpPr>
          <p:cNvPr id="17" name="bar-bg17"/>
          <p:cNvSpPr txBox="1"/>
          <p:nvPr/>
        </p:nvSpPr>
        <p:spPr>
          <a:xfrm>
            <a:off x="3302000" y="3378200"/>
            <a:ext cx="6223000" cy="16510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18" name="iqr18"/>
          <p:cNvSpPr txBox="1"/>
          <p:nvPr/>
        </p:nvSpPr>
        <p:spPr>
          <a:xfrm>
            <a:off x="3302000" y="3378200"/>
            <a:ext cx="565727" cy="165100"/>
          </a:xfrm>
          <a:prstGeom prst="rect">
            <a:avLst/>
          </a:prstGeom>
          <a:solidFill>
            <a:srgbClr val="4A1F1F"/>
          </a:solidFill>
          <a:ln>
            <a:noFill/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19" name="median19"/>
          <p:cNvSpPr txBox="1"/>
          <p:nvPr/>
        </p:nvSpPr>
        <p:spPr>
          <a:xfrm>
            <a:off x="3631847" y="3327400"/>
            <a:ext cx="31750" cy="266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20" name="text20"/>
          <p:cNvSpPr txBox="1"/>
          <p:nvPr/>
        </p:nvSpPr>
        <p:spPr>
          <a:xfrm>
            <a:off x="9702800" y="3314700"/>
            <a:ext cx="1092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en-US" sz="1500" dirty="0" b="1">
                <a:solidFill>
                  <a:srgbClr val="EF4444"/>
                </a:solidFill>
                <a:latin typeface="Georgia"/>
                <a:cs typeface="Georgia"/>
              </a:rPr>
              <a:t>5.6%</a:t>
            </a:r>
          </a:p>
        </p:txBody>
      </p:sp>
      <p:sp>
        <p:nvSpPr>
          <p:cNvPr id="21" name="text21"/>
          <p:cNvSpPr txBox="1"/>
          <p:nvPr/>
        </p:nvSpPr>
        <p:spPr>
          <a:xfrm>
            <a:off x="3302000" y="37338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Consolas"/>
                <a:cs typeface="Consolas"/>
              </a:rPr>
              <a:t>0%</a:t>
            </a:r>
          </a:p>
        </p:txBody>
      </p:sp>
      <p:sp>
        <p:nvSpPr>
          <p:cNvPr id="22" name="text22"/>
          <p:cNvSpPr txBox="1"/>
          <p:nvPr/>
        </p:nvSpPr>
        <p:spPr>
          <a:xfrm>
            <a:off x="8763000" y="3733800"/>
            <a:ext cx="762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1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Consolas"/>
                <a:cs typeface="Consolas"/>
              </a:rPr>
              <a:t>100%</a:t>
            </a:r>
          </a:p>
        </p:txBody>
      </p:sp>
      <p:sp>
        <p:nvSpPr>
          <p:cNvPr id="23" name="text23"/>
          <p:cNvSpPr txBox="1"/>
          <p:nvPr/>
        </p:nvSpPr>
        <p:spPr>
          <a:xfrm>
            <a:off x="711200" y="4165600"/>
            <a:ext cx="29972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200"/>
              </a:lnSpc>
              <a:buNone/>
            </a:pPr>
            <a:r>
              <a:rPr lang="en-US" sz="4000" dirty="0" b="1">
                <a:solidFill>
                  <a:srgbClr val="A78BFA"/>
                </a:solidFill>
                <a:latin typeface="Georgia"/>
                <a:cs typeface="Georgia"/>
              </a:rPr>
              <a:t>79.8%</a:t>
            </a:r>
          </a:p>
        </p:txBody>
      </p:sp>
      <p:sp>
        <p:nvSpPr>
          <p:cNvPr id="24" name="text24"/>
          <p:cNvSpPr txBox="1"/>
          <p:nvPr/>
        </p:nvSpPr>
        <p:spPr>
          <a:xfrm>
            <a:off x="711200" y="4775200"/>
            <a:ext cx="29972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Segoe UI"/>
                <a:cs typeface="Segoe UI"/>
              </a:rPr>
              <a:t>of programs had a chain worth</a:t>
            </a:r>
          </a:p>
          <a:p>
            <a:pPr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Segoe UI"/>
                <a:cs typeface="Segoe UI"/>
              </a:rPr>
              <a:t>re-bracketing (319 of 400)</a:t>
            </a:r>
          </a:p>
        </p:txBody>
      </p:sp>
      <p:sp>
        <p:nvSpPr>
          <p:cNvPr id="25" name="text25"/>
          <p:cNvSpPr txBox="1"/>
          <p:nvPr/>
        </p:nvSpPr>
        <p:spPr>
          <a:xfrm>
            <a:off x="3911600" y="4165600"/>
            <a:ext cx="29972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200"/>
              </a:lnSpc>
              <a:buNone/>
            </a:pPr>
            <a:r>
              <a:rPr lang="en-US" sz="4000" dirty="0" b="1">
                <a:solidFill>
                  <a:srgbClr val="A78BFA"/>
                </a:solidFill>
                <a:latin typeface="Georgia"/>
                <a:cs typeface="Georgia"/>
              </a:rPr>
              <a:t>60.1%</a:t>
            </a:r>
          </a:p>
        </p:txBody>
      </p:sp>
      <p:sp>
        <p:nvSpPr>
          <p:cNvPr id="26" name="text26"/>
          <p:cNvSpPr txBox="1"/>
          <p:nvPr/>
        </p:nvSpPr>
        <p:spPr>
          <a:xfrm>
            <a:off x="3911600" y="4775200"/>
            <a:ext cx="29972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Segoe UI"/>
                <a:cs typeface="Segoe UI"/>
              </a:rPr>
              <a:t>median arithmetic saved on</a:t>
            </a:r>
          </a:p>
          <a:p>
            <a:pPr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Segoe UI"/>
                <a:cs typeface="Segoe UI"/>
              </a:rPr>
              <a:t>those programs</a:t>
            </a:r>
          </a:p>
        </p:txBody>
      </p:sp>
      <p:sp>
        <p:nvSpPr>
          <p:cNvPr id="27" name="text27"/>
          <p:cNvSpPr txBox="1"/>
          <p:nvPr/>
        </p:nvSpPr>
        <p:spPr>
          <a:xfrm>
            <a:off x="7112000" y="4165600"/>
            <a:ext cx="3810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200"/>
              </a:lnSpc>
              <a:buNone/>
            </a:pPr>
            <a:r>
              <a:rPr lang="en-US" sz="4000" dirty="0" b="1">
                <a:solidFill>
                  <a:srgbClr val="4ADE80"/>
                </a:solidFill>
                <a:latin typeface="Georgia"/>
                <a:cs typeface="Georgia"/>
              </a:rPr>
              <a:t>400/400</a:t>
            </a:r>
          </a:p>
        </p:txBody>
      </p:sp>
      <p:sp>
        <p:nvSpPr>
          <p:cNvPr id="28" name="text28"/>
          <p:cNvSpPr txBox="1"/>
          <p:nvPr/>
        </p:nvSpPr>
        <p:spPr>
          <a:xfrm>
            <a:off x="7112000" y="4775200"/>
            <a:ext cx="381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Segoe UI"/>
                <a:cs typeface="Segoe UI"/>
              </a:rPr>
              <a:t>strict programs printed identical bytes</a:t>
            </a:r>
          </a:p>
          <a:p>
            <a:pPr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Segoe UI"/>
                <a:cs typeface="Segoe UI"/>
              </a:rPr>
              <a:t>with the optimizer and without</a:t>
            </a:r>
          </a:p>
        </p:txBody>
      </p:sp>
      <p:sp>
        <p:nvSpPr>
          <p:cNvPr id="29" name="rule29"/>
          <p:cNvSpPr txBox="1"/>
          <p:nvPr/>
        </p:nvSpPr>
        <p:spPr>
          <a:xfrm>
            <a:off x="711200" y="5689600"/>
            <a:ext cx="10769600" cy="1270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30" name="text30"/>
          <p:cNvSpPr txBox="1"/>
          <p:nvPr/>
        </p:nvSpPr>
        <p:spPr>
          <a:xfrm>
            <a:off x="711200" y="5842000"/>
            <a:ext cx="10769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  <a:buNone/>
            </a:pPr>
            <a:r>
              <a:rPr lang="en-US" sz="960" dirty="0" b="1">
                <a:solidFill>
                  <a:srgbClr val="4ADE80"/>
                </a:solidFill>
                <a:latin typeface="Segoe UI"/>
                <a:cs typeface="Segoe UI"/>
              </a:rPr>
              <a:t>Development seeds.   </a:t>
            </a:r>
            <a:r>
              <a:rPr lang="en-US" sz="960" dirty="0">
                <a:solidFill>
                  <a:srgbClr val="8C8C8C"/>
                </a:solidFill>
                <a:latin typeface="Segoe UI"/>
                <a:cs typeface="Segoe UI"/>
              </a:rPr>
              <a:t>Taken separately the two seeds give 47.3% and 49.7% of the arithmetic against 5.3% and 5.9% of the instructions.</a:t>
            </a:r>
          </a:p>
        </p:txBody>
      </p:sp>
      <p:sp>
        <p:nvSpPr>
          <p:cNvPr id="31" name="text31"/>
          <p:cNvSpPr txBox="1"/>
          <p:nvPr/>
        </p:nvSpPr>
        <p:spPr>
          <a:xfrm>
            <a:off x="711200" y="6248400"/>
            <a:ext cx="107696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Consolas"/>
                <a:cs typeface="Consola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drop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3" name="text3"/>
          <p:cNvSpPr txBox="1"/>
          <p:nvPr/>
        </p:nvSpPr>
        <p:spPr>
          <a:xfrm>
            <a:off x="711200" y="5842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200"/>
              </a:lnSpc>
              <a:buNone/>
            </a:pPr>
            <a:r>
              <a:rPr lang="en-US" sz="2800" dirty="0" b="1">
                <a:solidFill>
                  <a:srgbClr val="FFFFFF"/>
                </a:solidFill>
                <a:latin typeface="Georgia"/>
                <a:cs typeface="Georgia"/>
              </a:rPr>
              <a:t>The corpus found a bug we had not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711200" y="1168400"/>
            <a:ext cx="10007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8C8C8C"/>
                </a:solidFill>
                <a:latin typeface="Segoe UI"/>
                <a:cs typeface="Segoe UI"/>
              </a:rPr>
              <a:t>The first differential run did not come back clean, and that is the part worth reporting.</a:t>
            </a:r>
          </a:p>
        </p:txBody>
      </p:sp>
      <p:sp>
        <p:nvSpPr>
          <p:cNvPr id="5" name="rule5"/>
          <p:cNvSpPr txBox="1"/>
          <p:nvPr/>
        </p:nvSpPr>
        <p:spPr>
          <a:xfrm>
            <a:off x="711200" y="1625600"/>
            <a:ext cx="10769600" cy="1270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6" name="code6"/>
          <p:cNvSpPr txBox="1"/>
          <p:nvPr/>
        </p:nvSpPr>
        <p:spPr>
          <a:xfrm>
            <a:off x="711200" y="1905000"/>
            <a:ext cx="5461000" cy="1676400"/>
          </a:xfrm>
          <a:prstGeom prst="roundRect">
            <a:avLst>
              <a:gd name="adj" fmla="val 1200"/>
            </a:avLst>
          </a:prstGeom>
          <a:solidFill>
            <a:srgbClr val="121212"/>
          </a:solidFill>
          <a:ln>
            <a:noFill/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7" name="text7"/>
          <p:cNvSpPr txBox="1"/>
          <p:nvPr/>
        </p:nvSpPr>
        <p:spPr>
          <a:xfrm>
            <a:off x="711200" y="1905000"/>
            <a:ext cx="5461000" cy="1676400"/>
          </a:xfrm>
          <a:prstGeom prst="rect">
            <a:avLst/>
          </a:prstGeom>
          <a:noFill/>
          <a:ln>
            <a:noFill/>
          </a:ln>
        </p:spPr>
        <p:txBody>
          <a:bodyPr wrap="square" lIns="177800" tIns="139700" rIns="152400" bIns="114300" anchor="t">
            <a:noAutofit/>
          </a:bodyPr>
          <a:lstStyle/>
          <a:p>
            <a:pPr algn="l">
              <a:lnSpc>
                <a:spcPts val="1440"/>
              </a:lnSpc>
              <a:buNone/>
            </a:pPr>
            <a:r>
              <a:rPr lang="en-US" sz="960" dirty="0">
                <a:solidFill>
                  <a:srgbClr val="8C8C8C"/>
                </a:solidFill>
                <a:latin typeface="Consolas"/>
                <a:cs typeface="Consolas"/>
              </a:rPr>
              <a:t>unoptimized           optimized</a:t>
            </a:r>
          </a:p>
          <a:p>
            <a:pPr algn="l">
              <a:lnSpc>
                <a:spcPts val="1440"/>
              </a:lnSpc>
              <a:buNone/>
            </a:pPr>
            <a:r>
              <a:rPr lang="en-US" sz="960" dirty="0">
                <a:solidFill>
                  <a:srgbClr val="C9C9C9"/>
                </a:solidFill>
                <a:latin typeface="Consolas"/>
                <a:cs typeface="Consolas"/>
              </a:rPr>
              <a:t>R = Matrix&lt;1x1&gt;       R = Matrix&lt;1x1&gt;</a:t>
            </a:r>
          </a:p>
          <a:p>
            <a:pPr algn="l">
              <a:lnSpc>
                <a:spcPts val="1440"/>
              </a:lnSpc>
              <a:buNone/>
            </a:pPr>
            <a:r>
              <a:rPr lang="en-US" sz="960" dirty="0">
                <a:solidFill>
                  <a:srgbClr val="EF4444"/>
                </a:solidFill>
                <a:latin typeface="Consolas"/>
                <a:cs typeface="Consolas"/>
              </a:rPr>
              <a:t>  [ 0 ]                 [ -0 ]</a:t>
            </a:r>
          </a:p>
          <a:p>
            <a:pPr algn="l">
              <a:lnSpc>
                <a:spcPts val="1440"/>
              </a:lnSpc>
              <a:buNone/>
            </a:pPr>
            <a:r>
              <a:rPr lang="en-US" sz="960" dirty="0">
                <a:solidFill>
                  <a:srgbClr val="C9C9C9"/>
                </a:solidFill>
                <a:latin typeface="Consolas"/>
                <a:cs typeface="Consolas"/>
              </a:rPr>
              <a:t> </a:t>
            </a:r>
          </a:p>
          <a:p>
            <a:pPr algn="l">
              <a:lnSpc>
                <a:spcPts val="1440"/>
              </a:lnSpc>
              <a:buNone/>
            </a:pPr>
            <a:r>
              <a:rPr lang="en-US" sz="960" dirty="0">
                <a:solidFill>
                  <a:srgbClr val="8C8C8C"/>
                </a:solidFill>
                <a:latin typeface="Consolas"/>
                <a:cs typeface="Consolas"/>
              </a:rPr>
              <a:t>the rewrite that did it:</a:t>
            </a:r>
          </a:p>
          <a:p>
            <a:pPr algn="l">
              <a:lnSpc>
                <a:spcPts val="1440"/>
              </a:lnSpc>
              <a:buNone/>
            </a:pPr>
            <a:r>
              <a:rPr lang="en-US" sz="960" dirty="0">
                <a:solidFill>
                  <a:srgbClr val="4ADE80"/>
                </a:solidFill>
                <a:latin typeface="Consolas"/>
                <a:cs typeface="Consolas"/>
              </a:rPr>
              <a:t>    0 - x    =&gt;    -x</a:t>
            </a:r>
          </a:p>
        </p:txBody>
      </p:sp>
      <p:sp>
        <p:nvSpPr>
          <p:cNvPr id="8" name="box8"/>
          <p:cNvSpPr txBox="1"/>
          <p:nvPr/>
        </p:nvSpPr>
        <p:spPr>
          <a:xfrm>
            <a:off x="6578600" y="1905000"/>
            <a:ext cx="4902200" cy="1676400"/>
          </a:xfrm>
          <a:prstGeom prst="roundRect">
            <a:avLst>
              <a:gd name="adj" fmla="val 1400"/>
            </a:avLst>
          </a:prstGeom>
          <a:solidFill>
            <a:srgbClr val="0D0D0D"/>
          </a:solidFill>
          <a:ln w="9525">
            <a:solidFill>
              <a:srgbClr val="242424"/>
            </a:solidFill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9" name="text9"/>
          <p:cNvSpPr txBox="1"/>
          <p:nvPr/>
        </p:nvSpPr>
        <p:spPr>
          <a:xfrm>
            <a:off x="6781800" y="2070100"/>
            <a:ext cx="44958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800" dirty="0" b="1" spc="130" cap="all">
                <a:solidFill>
                  <a:srgbClr val="EF4444"/>
                </a:solidFill>
                <a:latin typeface="Segoe UI"/>
                <a:cs typeface="Segoe UI"/>
              </a:rPr>
              <a:t>Why it is wrong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6781800" y="2362200"/>
            <a:ext cx="4495800" cy="1117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C9C9C9"/>
                </a:solidFill>
                <a:latin typeface="Segoe UI"/>
                <a:cs typeface="Segoe UI"/>
              </a:rPr>
              <a:t>True over the reals. Not observationally equivalent in IEEE-754: +0 minus +0 is +0, but negating +0 gives -0, and the two print differently.</a:t>
            </a:r>
          </a:p>
        </p:txBody>
      </p:sp>
      <p:sp>
        <p:nvSpPr>
          <p:cNvPr id="11" name="rule11"/>
          <p:cNvSpPr txBox="1"/>
          <p:nvPr/>
        </p:nvSpPr>
        <p:spPr>
          <a:xfrm>
            <a:off x="711200" y="4038600"/>
            <a:ext cx="10769600" cy="1270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12" name="text12"/>
          <p:cNvSpPr txBox="1"/>
          <p:nvPr/>
        </p:nvSpPr>
        <p:spPr>
          <a:xfrm>
            <a:off x="711200" y="4267200"/>
            <a:ext cx="51308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91"/>
              </a:lnSpc>
              <a:buNone/>
            </a:pPr>
            <a:r>
              <a:rPr lang="en-US" sz="1050" dirty="0" b="1">
                <a:solidFill>
                  <a:srgbClr val="EF4444"/>
                </a:solidFill>
                <a:latin typeface="Segoe UI"/>
                <a:cs typeface="Segoe UI"/>
              </a:rPr>
              <a:t>Not a finding about floating point.</a:t>
            </a:r>
          </a:p>
          <a:p>
            <a:pPr algn="l">
              <a:lnSpc>
                <a:spcPts val="1420"/>
              </a:lnSpc>
              <a:spcBef>
                <a:spcPts val="900"/>
              </a:spcBef>
              <a:buNone/>
            </a:pPr>
            <a:r>
              <a:rPr lang="en-US" sz="1000" dirty="0">
                <a:solidFill>
                  <a:srgbClr val="8C8C8C"/>
                </a:solidFill>
                <a:latin typeface="Segoe UI"/>
                <a:cs typeface="Segoe UI"/>
              </a:rPr>
              <a:t>That algebraic identities valid over the reals are unsound in floating point is textbook, and production compilers gate exactly these rewrites behind fast-math.</a:t>
            </a:r>
          </a:p>
        </p:txBody>
      </p:sp>
      <p:sp>
        <p:nvSpPr>
          <p:cNvPr id="13" name="text13"/>
          <p:cNvSpPr txBox="1"/>
          <p:nvPr/>
        </p:nvSpPr>
        <p:spPr>
          <a:xfrm>
            <a:off x="6350000" y="4267200"/>
            <a:ext cx="51308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91"/>
              </a:lnSpc>
              <a:buNone/>
            </a:pPr>
            <a:r>
              <a:rPr lang="en-US" sz="1050" dirty="0" b="1">
                <a:solidFill>
                  <a:srgbClr val="4ADE80"/>
                </a:solidFill>
                <a:latin typeface="Segoe UI"/>
                <a:cs typeface="Segoe UI"/>
              </a:rPr>
              <a:t>A regression target for the artifact.</a:t>
            </a:r>
          </a:p>
          <a:p>
            <a:pPr algn="l">
              <a:lnSpc>
                <a:spcPts val="1420"/>
              </a:lnSpc>
              <a:spcBef>
                <a:spcPts val="900"/>
              </a:spcBef>
              <a:buNone/>
            </a:pPr>
            <a:r>
              <a:rPr lang="en-US" sz="1000" dirty="0">
                <a:solidFill>
                  <a:srgbClr val="8C8C8C"/>
                </a:solidFill>
                <a:latin typeface="Segoe UI"/>
                <a:cs typeface="Segoe UI"/>
              </a:rPr>
              <a:t>Generated comparisons motivated explicit strict and algebraic contracts. Fifteen numerical fixtures now check signed zeros, overflow, reassociation and mutable names.</a:t>
            </a:r>
          </a:p>
        </p:txBody>
      </p:sp>
      <p:sp>
        <p:nvSpPr>
          <p:cNvPr id="14" name="text14"/>
          <p:cNvSpPr txBox="1"/>
          <p:nvPr/>
        </p:nvSpPr>
        <p:spPr>
          <a:xfrm>
            <a:off x="711200" y="5461000"/>
            <a:ext cx="107696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  <a:buNone/>
            </a:pPr>
            <a:r>
              <a:rPr lang="en-US" sz="1000" dirty="0" i="1">
                <a:solidFill>
                  <a:srgbClr val="C9C9C9"/>
                </a:solidFill>
                <a:latin typeface="Segoe UI"/>
                <a:cs typeface="Segoe UI"/>
              </a:rPr>
              <a:t>The rewrite was removed. It saved no arithmetic anyway: a negation costs what a subtraction from zero costs.</a:t>
            </a:r>
          </a:p>
        </p:txBody>
      </p:sp>
      <p:sp>
        <p:nvSpPr>
          <p:cNvPr id="15" name="text15"/>
          <p:cNvSpPr txBox="1"/>
          <p:nvPr/>
        </p:nvSpPr>
        <p:spPr>
          <a:xfrm>
            <a:off x="711200" y="6248400"/>
            <a:ext cx="107696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00"/>
              </a:lnSpc>
              <a:buNone/>
            </a:pPr>
            <a:r>
              <a:rPr lang="en-US" sz="900" dirty="0">
                <a:solidFill>
                  <a:srgbClr val="8C8C8C"/>
                </a:solidFill>
                <a:latin typeface="Consolas"/>
                <a:cs typeface="Consola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drop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3" name="text3"/>
          <p:cNvSpPr txBox="1"/>
          <p:nvPr/>
        </p:nvSpPr>
        <p:spPr>
          <a:xfrm>
            <a:off x="711200" y="584200"/>
            <a:ext cx="10769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200"/>
              </a:lnSpc>
              <a:buNone/>
            </a:pPr>
            <a:r>
              <a:rPr lang="en-US" sz="2800" dirty="0" b="1">
                <a:solidFill>
                  <a:srgbClr val="FFFFFF"/>
                </a:solidFill>
                <a:latin typeface="Georgia"/>
                <a:cs typeface="Georgia"/>
              </a:rPr>
              <a:t>The source language is a curricular decision</a:t>
            </a:r>
          </a:p>
        </p:txBody>
      </p:sp>
      <p:sp>
        <p:nvSpPr>
          <p:cNvPr id="4" name="text4"/>
          <p:cNvSpPr txBox="1"/>
          <p:nvPr/>
        </p:nvSpPr>
        <p:spPr>
          <a:xfrm>
            <a:off x="711200" y="1168400"/>
            <a:ext cx="10007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8C8C8C"/>
                </a:solidFill>
                <a:latin typeface="Segoe UI"/>
                <a:cs typeface="Segoe UI"/>
              </a:rPr>
              <a:t>MatrixLang connects shape checking, modeled cost and rewrite legality. Its proposed exercises have not been evaluated with students.</a:t>
            </a:r>
          </a:p>
        </p:txBody>
      </p:sp>
      <p:sp>
        <p:nvSpPr>
          <p:cNvPr id="5" name="rule5"/>
          <p:cNvSpPr txBox="1"/>
          <p:nvPr/>
        </p:nvSpPr>
        <p:spPr>
          <a:xfrm>
            <a:off x="711200" y="1625600"/>
            <a:ext cx="10769600" cy="1270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6" name="box6"/>
          <p:cNvSpPr txBox="1"/>
          <p:nvPr/>
        </p:nvSpPr>
        <p:spPr>
          <a:xfrm>
            <a:off x="711200" y="1905000"/>
            <a:ext cx="5156200" cy="2616200"/>
          </a:xfrm>
          <a:prstGeom prst="roundRect">
            <a:avLst>
              <a:gd name="adj" fmla="val 1400"/>
            </a:avLst>
          </a:prstGeom>
          <a:solidFill>
            <a:srgbClr val="0D0D0D"/>
          </a:solidFill>
          <a:ln w="9525">
            <a:solidFill>
              <a:srgbClr val="242424"/>
            </a:solidFill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7" name="text7"/>
          <p:cNvSpPr txBox="1"/>
          <p:nvPr/>
        </p:nvSpPr>
        <p:spPr>
          <a:xfrm>
            <a:off x="914400" y="2070100"/>
            <a:ext cx="47498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800" dirty="0" b="1" spc="130" cap="all">
                <a:solidFill>
                  <a:srgbClr val="4ADE80"/>
                </a:solidFill>
                <a:latin typeface="Segoe UI"/>
                <a:cs typeface="Segoe UI"/>
              </a:rPr>
              <a:t>What the domain bought</a:t>
            </a:r>
          </a:p>
        </p:txBody>
      </p:sp>
      <p:sp>
        <p:nvSpPr>
          <p:cNvPr id="8" name="text8"/>
          <p:cNvSpPr txBox="1"/>
          <p:nvPr/>
        </p:nvSpPr>
        <p:spPr>
          <a:xfrm>
            <a:off x="939800" y="2413000"/>
            <a:ext cx="4724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  <a:buNone/>
            </a:pPr>
            <a:r>
              <a:rPr lang="en-US" sz="1000" dirty="0" b="1">
                <a:solidFill>
                  <a:srgbClr val="4ADE80"/>
                </a:solidFill>
                <a:latin typeface="Segoe UI"/>
                <a:cs typeface="Segoe UI"/>
              </a:rPr>
              <a:t>Semantic analysis</a:t>
            </a:r>
          </a:p>
          <a:p>
            <a:pPr algn="l">
              <a:lnSpc>
                <a:spcPts val="1240"/>
              </a:lnSpc>
              <a:buNone/>
            </a:pPr>
            <a:r>
              <a:rPr lang="en-US" sz="940" dirty="0">
                <a:solidFill>
                  <a:srgbClr val="8C8C8C"/>
                </a:solidFill>
                <a:latin typeface="Segoe UI"/>
                <a:cs typeface="Segoe UI"/>
              </a:rPr>
              <a:t>became shape inference and dimension checking</a:t>
            </a:r>
          </a:p>
        </p:txBody>
      </p:sp>
      <p:sp>
        <p:nvSpPr>
          <p:cNvPr id="9" name="text9"/>
          <p:cNvSpPr txBox="1"/>
          <p:nvPr/>
        </p:nvSpPr>
        <p:spPr>
          <a:xfrm>
            <a:off x="939800" y="2997200"/>
            <a:ext cx="4724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  <a:buNone/>
            </a:pPr>
            <a:r>
              <a:rPr lang="en-US" sz="1000" dirty="0" b="1">
                <a:solidFill>
                  <a:srgbClr val="4ADE80"/>
                </a:solidFill>
                <a:latin typeface="Segoe UI"/>
                <a:cs typeface="Segoe UI"/>
              </a:rPr>
              <a:t>Code generation</a:t>
            </a:r>
          </a:p>
          <a:p>
            <a:pPr algn="l">
              <a:lnSpc>
                <a:spcPts val="1240"/>
              </a:lnSpc>
              <a:buNone/>
            </a:pPr>
            <a:r>
              <a:rPr lang="en-US" sz="940" dirty="0">
                <a:solidFill>
                  <a:srgbClr val="8C8C8C"/>
                </a:solidFill>
                <a:latin typeface="Segoe UI"/>
                <a:cs typeface="Segoe UI"/>
              </a:rPr>
              <a:t>gained instruction selection from inferred types</a:t>
            </a:r>
          </a:p>
        </p:txBody>
      </p:sp>
      <p:sp>
        <p:nvSpPr>
          <p:cNvPr id="10" name="text10"/>
          <p:cNvSpPr txBox="1"/>
          <p:nvPr/>
        </p:nvSpPr>
        <p:spPr>
          <a:xfrm>
            <a:off x="939800" y="3581400"/>
            <a:ext cx="4724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  <a:buNone/>
            </a:pPr>
            <a:r>
              <a:rPr lang="en-US" sz="1000" dirty="0" b="1">
                <a:solidFill>
                  <a:srgbClr val="4ADE80"/>
                </a:solidFill>
                <a:latin typeface="Segoe UI"/>
                <a:cs typeface="Segoe UI"/>
              </a:rPr>
              <a:t>Optimization</a:t>
            </a:r>
          </a:p>
          <a:p>
            <a:pPr algn="l">
              <a:lnSpc>
                <a:spcPts val="1240"/>
              </a:lnSpc>
              <a:buNone/>
            </a:pPr>
            <a:r>
              <a:rPr lang="en-US" sz="940" dirty="0">
                <a:solidFill>
                  <a:srgbClr val="8C8C8C"/>
                </a:solidFill>
                <a:latin typeface="Segoe UI"/>
                <a:cs typeface="Segoe UI"/>
              </a:rPr>
              <a:t>gained transformations and a way to score them</a:t>
            </a:r>
          </a:p>
        </p:txBody>
      </p:sp>
      <p:sp>
        <p:nvSpPr>
          <p:cNvPr id="11" name="text11"/>
          <p:cNvSpPr txBox="1"/>
          <p:nvPr/>
        </p:nvSpPr>
        <p:spPr>
          <a:xfrm>
            <a:off x="939800" y="4267200"/>
            <a:ext cx="4724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EF4444"/>
                </a:solidFill>
                <a:latin typeface="Segoe UI"/>
                <a:cs typeface="Segoe UI"/>
              </a:rPr>
              <a:t>It costs control-flow graphs and dataflow analysis.</a:t>
            </a:r>
          </a:p>
        </p:txBody>
      </p:sp>
      <p:sp>
        <p:nvSpPr>
          <p:cNvPr id="12" name="box12"/>
          <p:cNvSpPr txBox="1"/>
          <p:nvPr/>
        </p:nvSpPr>
        <p:spPr>
          <a:xfrm>
            <a:off x="6273800" y="1905000"/>
            <a:ext cx="5207000" cy="2616200"/>
          </a:xfrm>
          <a:prstGeom prst="roundRect">
            <a:avLst>
              <a:gd name="adj" fmla="val 1400"/>
            </a:avLst>
          </a:prstGeom>
          <a:solidFill>
            <a:srgbClr val="0D0D0D"/>
          </a:solidFill>
          <a:ln w="9525">
            <a:solidFill>
              <a:srgbClr val="242424"/>
            </a:solidFill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13" name="text13"/>
          <p:cNvSpPr txBox="1"/>
          <p:nvPr/>
        </p:nvSpPr>
        <p:spPr>
          <a:xfrm>
            <a:off x="6477000" y="2070100"/>
            <a:ext cx="48006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800" dirty="0" b="1" spc="130" cap="all">
                <a:solidFill>
                  <a:srgbClr val="EF4444"/>
                </a:solidFill>
                <a:latin typeface="Segoe UI"/>
                <a:cs typeface="Segoe UI"/>
              </a:rPr>
              <a:t>What we do not claim</a:t>
            </a:r>
          </a:p>
        </p:txBody>
      </p:sp>
      <p:sp>
        <p:nvSpPr>
          <p:cNvPr id="14" name="negation14"/>
          <p:cNvSpPr txBox="1"/>
          <p:nvPr/>
        </p:nvSpPr>
        <p:spPr>
          <a:xfrm>
            <a:off x="6502400" y="2552700"/>
            <a:ext cx="114300" cy="20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15" name="text15"/>
          <p:cNvSpPr txBox="1"/>
          <p:nvPr/>
        </p:nvSpPr>
        <p:spPr>
          <a:xfrm>
            <a:off x="6705600" y="2463800"/>
            <a:ext cx="4292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40"/>
              </a:lnSpc>
              <a:buNone/>
            </a:pPr>
            <a:r>
              <a:rPr lang="en-US" sz="940" dirty="0">
                <a:solidFill>
                  <a:srgbClr val="C9C9C9"/>
                </a:solidFill>
                <a:latin typeface="Segoe UI"/>
                <a:cs typeface="Segoe UI"/>
              </a:rPr>
              <a:t>That students learn more. It has not been taught yet.</a:t>
            </a:r>
          </a:p>
        </p:txBody>
      </p:sp>
      <p:sp>
        <p:nvSpPr>
          <p:cNvPr id="16" name="negation16"/>
          <p:cNvSpPr txBox="1"/>
          <p:nvPr/>
        </p:nvSpPr>
        <p:spPr>
          <a:xfrm>
            <a:off x="6502400" y="3009900"/>
            <a:ext cx="114300" cy="20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17" name="text17"/>
          <p:cNvSpPr txBox="1"/>
          <p:nvPr/>
        </p:nvSpPr>
        <p:spPr>
          <a:xfrm>
            <a:off x="6705600" y="2921000"/>
            <a:ext cx="4292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40"/>
              </a:lnSpc>
              <a:buNone/>
            </a:pPr>
            <a:r>
              <a:rPr lang="en-US" sz="940" dirty="0">
                <a:solidFill>
                  <a:srgbClr val="C9C9C9"/>
                </a:solidFill>
                <a:latin typeface="Segoe UI"/>
                <a:cs typeface="Segoe UI"/>
              </a:rPr>
              <a:t>That the mechanisms are new. They are not.</a:t>
            </a:r>
          </a:p>
        </p:txBody>
      </p:sp>
      <p:sp>
        <p:nvSpPr>
          <p:cNvPr id="18" name="negation18"/>
          <p:cNvSpPr txBox="1"/>
          <p:nvPr/>
        </p:nvSpPr>
        <p:spPr>
          <a:xfrm>
            <a:off x="6502400" y="3467100"/>
            <a:ext cx="114300" cy="20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19" name="text19"/>
          <p:cNvSpPr txBox="1"/>
          <p:nvPr/>
        </p:nvSpPr>
        <p:spPr>
          <a:xfrm>
            <a:off x="6705600" y="3378200"/>
            <a:ext cx="4292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40"/>
              </a:lnSpc>
              <a:buNone/>
            </a:pPr>
            <a:r>
              <a:rPr lang="en-US" sz="940" dirty="0">
                <a:solidFill>
                  <a:srgbClr val="C9C9C9"/>
                </a:solidFill>
                <a:latin typeface="Segoe UI"/>
                <a:cs typeface="Segoe UI"/>
              </a:rPr>
              <a:t>That the magnitudes generalise. The corpus is ours.</a:t>
            </a:r>
          </a:p>
        </p:txBody>
      </p:sp>
      <p:sp>
        <p:nvSpPr>
          <p:cNvPr id="20" name="negation20"/>
          <p:cNvSpPr txBox="1"/>
          <p:nvPr/>
        </p:nvSpPr>
        <p:spPr>
          <a:xfrm>
            <a:off x="6502400" y="3924300"/>
            <a:ext cx="114300" cy="20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21" name="text21"/>
          <p:cNvSpPr txBox="1"/>
          <p:nvPr/>
        </p:nvSpPr>
        <p:spPr>
          <a:xfrm>
            <a:off x="6705600" y="3835400"/>
            <a:ext cx="4292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40"/>
              </a:lnSpc>
              <a:buNone/>
            </a:pPr>
            <a:r>
              <a:rPr lang="en-US" sz="940" dirty="0">
                <a:solidFill>
                  <a:srgbClr val="C9C9C9"/>
                </a:solidFill>
                <a:latin typeface="Segoe UI"/>
                <a:cs typeface="Segoe UI"/>
              </a:rPr>
              <a:t>That three repositories are a sample.</a:t>
            </a:r>
          </a:p>
        </p:txBody>
      </p:sp>
      <p:sp>
        <p:nvSpPr>
          <p:cNvPr id="22" name="rule22"/>
          <p:cNvSpPr txBox="1"/>
          <p:nvPr/>
        </p:nvSpPr>
        <p:spPr>
          <a:xfrm>
            <a:off x="711200" y="4851400"/>
            <a:ext cx="609600" cy="254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23" name="text23"/>
          <p:cNvSpPr txBox="1"/>
          <p:nvPr/>
        </p:nvSpPr>
        <p:spPr>
          <a:xfrm>
            <a:off x="711200" y="5054600"/>
            <a:ext cx="102616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C9C9C9"/>
                </a:solidFill>
                <a:latin typeface="Segoe UI"/>
                <a:cs typeface="Segoe UI"/>
              </a:rPr>
              <a:t>Use both metrics and state the numerical contract. Shape and expression controls show where chain savings disappear; exact output comparisons show where algebraic transformations change behavior.</a:t>
            </a:r>
          </a:p>
        </p:txBody>
      </p:sp>
      <p:sp>
        <p:nvSpPr>
          <p:cNvPr id="24" name="rule24"/>
          <p:cNvSpPr txBox="1"/>
          <p:nvPr/>
        </p:nvSpPr>
        <p:spPr>
          <a:xfrm>
            <a:off x="711200" y="5969000"/>
            <a:ext cx="10769600" cy="12700"/>
          </a:xfrm>
          <a:prstGeom prst="rect">
            <a:avLst/>
          </a:prstGeom>
          <a:solidFill>
            <a:srgbClr val="242424"/>
          </a:solidFill>
          <a:ln>
            <a:noFill/>
          </a:ln>
        </p:spPr>
        <p:txBody>
          <a:bodyPr wrap="square" lIns="101600" tIns="76200" rIns="101600" bIns="76200" anchor="t">
            <a:noAutofit/>
          </a:bodyPr>
          <a:lstStyle/>
          <a:p>
            <a:endParaRPr lang="en-US"/>
          </a:p>
        </p:txBody>
      </p:sp>
      <p:sp>
        <p:nvSpPr>
          <p:cNvPr id="25" name="text25"/>
          <p:cNvSpPr txBox="1"/>
          <p:nvPr/>
        </p:nvSpPr>
        <p:spPr>
          <a:xfrm>
            <a:off x="711200" y="6121400"/>
            <a:ext cx="660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8C8C8C"/>
                </a:solidFill>
                <a:latin typeface="Segoe UI"/>
                <a:cs typeface="Segoe UI"/>
              </a:rPr>
              <a:t>Paper, compiler, generator, measurements and demo</a:t>
            </a:r>
          </a:p>
        </p:txBody>
      </p:sp>
      <p:sp>
        <p:nvSpPr>
          <p:cNvPr id="26" name="text26"/>
          <p:cNvSpPr txBox="1"/>
          <p:nvPr/>
        </p:nvSpPr>
        <p:spPr>
          <a:xfrm>
            <a:off x="711200" y="6121400"/>
            <a:ext cx="1076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200"/>
              </a:lnSpc>
              <a:buNone/>
            </a:pPr>
            <a:r>
              <a:rPr lang="en-US" sz="960" dirty="0">
                <a:solidFill>
                  <a:srgbClr val="6E9BFF"/>
                </a:solidFill>
                <a:latin typeface="Consolas"/>
                <a:cs typeface="Consolas"/>
                <a:hlinkClick r:id="rId2"/>
              </a:rPr>
              <a:t>github.com/aswanth-07/matrixlang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trixLang">
  <a:themeElements>
    <a:clrScheme name="MatrixLang">
      <a:dk1>
        <a:srgbClr val="000000"/>
      </a:dk1>
      <a:lt1>
        <a:srgbClr val="FFFFFF"/>
      </a:lt1>
      <a:dk2>
        <a:srgbClr val="121212"/>
      </a:dk2>
      <a:lt2>
        <a:srgbClr val="C9C9C9"/>
      </a:lt2>
      <a:accent1>
        <a:srgbClr val="4ADE80"/>
      </a:accent1>
      <a:accent2>
        <a:srgbClr val="EF4444"/>
      </a:accent2>
      <a:accent3>
        <a:srgbClr val="A78BFA"/>
      </a:accent3>
      <a:accent4>
        <a:srgbClr val="8C8C8C"/>
      </a:accent4>
      <a:accent5>
        <a:srgbClr val="242424"/>
      </a:accent5>
      <a:accent6>
        <a:srgbClr val="0D0D0D"/>
      </a:accent6>
      <a:hlink>
        <a:srgbClr val="6E9BFF"/>
      </a:hlink>
      <a:folHlink>
        <a:srgbClr val="6E9BFF"/>
      </a:folHlink>
    </a:clrScheme>
    <a:fontScheme name="MatrixLang">
      <a:majorFont>
        <a:latin typeface="Georgia"/>
        <a:ea typeface=""/>
        <a:cs typeface=""/>
      </a:majorFont>
      <a:minorFont>
        <a:latin typeface="Segoe UI"/>
        <a:ea typeface=""/>
        <a:cs typeface=""/>
      </a:minorFont>
    </a:fontScheme>
    <a:fmtScheme name="MatrixLang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9</Slides>
  <TitlesOfParts>
    <vt:vector size="1" baseType="lpstr">
      <vt:lpstr>MatrixLang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MatrixLang</dc:title>
  <dc:creator>A Aswanth Raj</dc:creator>
  <cp:lastModifiedBy>A Aswanth Raj</cp:lastModifiedBy>
</cp:coreProperties>
</file>