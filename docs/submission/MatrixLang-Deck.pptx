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E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762000"/>
            <a:ext cx="6604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60" cap="all">
                <a:solidFill>
                  <a:srgbClr val="E0A94A"/>
                </a:solidFill>
                <a:latin typeface="Segoe UI"/>
                <a:cs typeface="Segoe UI"/>
              </a:rPr>
              <a:t>Compiler Design Laboratory   ·   Experience report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33400" y="1041400"/>
            <a:ext cx="71120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000"/>
              </a:lnSpc>
              <a:buNone/>
            </a:pPr>
            <a:r>
              <a:rPr lang="en-US" sz="4400" dirty="0" b="1">
                <a:solidFill>
                  <a:srgbClr val="EFEAE0"/>
                </a:solidFill>
                <a:latin typeface="Georgia"/>
                <a:cs typeface="Georgia"/>
              </a:rPr>
              <a:t>Shapes in the</a:t>
            </a:r>
          </a:p>
          <a:p>
            <a:pPr algn="l">
              <a:lnSpc>
                <a:spcPts val="5000"/>
              </a:lnSpc>
              <a:buNone/>
            </a:pPr>
            <a:r>
              <a:rPr lang="en-US" sz="4400" dirty="0" b="1">
                <a:solidFill>
                  <a:srgbClr val="E0A94A"/>
                </a:solidFill>
                <a:latin typeface="Georgia"/>
                <a:cs typeface="Georgia"/>
              </a:rPr>
              <a:t>Type System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533400" y="2489200"/>
            <a:ext cx="736600" cy="381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533400" y="2692400"/>
            <a:ext cx="6858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FEAE0"/>
                </a:solidFill>
                <a:latin typeface="Georgia"/>
                <a:cs typeface="Georgia"/>
              </a:rPr>
              <a:t>A matrix language that lets a compiler course reach optimization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533400" y="3403600"/>
            <a:ext cx="660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Put matrix shapes in the type system and the compiler can cost a program before it runs. Semantic analysis, optimization and code generation all gain something to do.</a:t>
            </a:r>
          </a:p>
        </p:txBody>
      </p:sp>
      <p:sp>
        <p:nvSpPr>
          <p:cNvPr id="8" name="rule8"/>
          <p:cNvSpPr txBox="1"/>
          <p:nvPr/>
        </p:nvSpPr>
        <p:spPr>
          <a:xfrm>
            <a:off x="533400" y="4445000"/>
            <a:ext cx="66040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533400" y="4648200"/>
            <a:ext cx="3175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62C6A8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533400" y="5232400"/>
            <a:ext cx="317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of the arithmetic removed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by the optimizer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3860800" y="4648200"/>
            <a:ext cx="3175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E2705F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3860800" y="5232400"/>
            <a:ext cx="317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what an instruction count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would have reported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533400" y="59182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 i="1">
                <a:solidFill>
                  <a:srgbClr val="E0A94A"/>
                </a:solidFill>
                <a:latin typeface="Segoe UI"/>
                <a:cs typeface="Segoe UI"/>
              </a:rPr>
              <a:t>Same optimizer. Same 400 programs. Different question.</a:t>
            </a:r>
          </a:p>
        </p:txBody>
      </p:sp>
      <p:sp>
        <p:nvSpPr>
          <p:cNvPr id="14" name="panel14"/>
          <p:cNvSpPr txBox="1"/>
          <p:nvPr/>
        </p:nvSpPr>
        <p:spPr>
          <a:xfrm>
            <a:off x="7772400" y="762000"/>
            <a:ext cx="3886200" cy="5334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8001000" y="990600"/>
            <a:ext cx="3429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Presented by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8001000" y="1219200"/>
            <a:ext cx="342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000"/>
              </a:lnSpc>
              <a:buNone/>
            </a:pPr>
            <a:r>
              <a:rPr lang="en-US" sz="1700" dirty="0" b="1">
                <a:solidFill>
                  <a:srgbClr val="EFEAE0"/>
                </a:solidFill>
                <a:latin typeface="Georgia"/>
                <a:cs typeface="Georgia"/>
              </a:rPr>
              <a:t>A Aswanth Raj</a:t>
            </a:r>
          </a:p>
        </p:txBody>
      </p:sp>
      <p:sp>
        <p:nvSpPr>
          <p:cNvPr id="17" name="rule17"/>
          <p:cNvSpPr txBox="1"/>
          <p:nvPr/>
        </p:nvSpPr>
        <p:spPr>
          <a:xfrm>
            <a:off x="8001000" y="1651000"/>
            <a:ext cx="508000" cy="1905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code18"/>
          <p:cNvSpPr txBox="1"/>
          <p:nvPr/>
        </p:nvSpPr>
        <p:spPr>
          <a:xfrm>
            <a:off x="8001000" y="1879600"/>
            <a:ext cx="3429000" cy="20574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8001000" y="1879600"/>
            <a:ext cx="3429000" cy="20574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A[100,2];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B[2,100];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C[100,2];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62C6A8"/>
                </a:solidFill>
                <a:latin typeface="Consolas"/>
                <a:cs typeface="Consolas"/>
              </a:rPr>
              <a:t>matrix R = A * B * C;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print(R);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the compiler picks the bracketing,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because it knows all three shapes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before anything runs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8001000" y="4140200"/>
            <a:ext cx="3429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50" dirty="0" b="1">
                <a:solidFill>
                  <a:srgbClr val="E2705F"/>
                </a:solidFill>
                <a:latin typeface="Consolas"/>
                <a:cs typeface="Consolas"/>
              </a:rPr>
              <a:t>69,800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  FLOP as written</a:t>
            </a:r>
          </a:p>
          <a:p>
            <a:pPr algn="l">
              <a:lnSpc>
                <a:spcPts val="1400"/>
              </a:lnSpc>
              <a:spcBef>
                <a:spcPts val="400"/>
              </a:spcBef>
              <a:buNone/>
            </a:pPr>
            <a:r>
              <a:rPr lang="en-US" sz="1150" dirty="0" b="1">
                <a:solidFill>
                  <a:srgbClr val="62C6A8"/>
                </a:solidFill>
                <a:latin typeface="Consolas"/>
                <a:cs typeface="Consolas"/>
              </a:rPr>
              <a:t> 1,396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  FLOP as compiled</a:t>
            </a:r>
          </a:p>
          <a:p>
            <a:pPr algn="l">
              <a:lnSpc>
                <a:spcPts val="1200"/>
              </a:lnSpc>
              <a:spcBef>
                <a:spcPts val="1000"/>
              </a:spcBef>
              <a:buNone/>
            </a:pPr>
            <a:r>
              <a:rPr lang="en-US" sz="880" dirty="0" i="1">
                <a:solidFill>
                  <a:srgbClr val="E0A94A"/>
                </a:solidFill>
                <a:latin typeface="Segoe UI"/>
                <a:cs typeface="Segoe UI"/>
              </a:rPr>
              <a:t>The instruction count is 4 either way, which is why the usual metric reports nothing.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8001000" y="5511800"/>
            <a:ext cx="3429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5E706A"/>
                </a:solidFill>
                <a:latin typeface="Consolas"/>
                <a:cs typeface="Consolas"/>
              </a:rPr>
              <a:t>make · make test · make demo1 demo2 demo3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5E706A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ic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tic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tic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tic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ic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ic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tic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tic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558800"/>
            <a:ext cx="91694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20">
                <a:solidFill>
                  <a:srgbClr val="E0A94A"/>
                </a:solidFill>
                <a:latin typeface="Segoe UI"/>
                <a:cs typeface="Segoe UI"/>
              </a:rPr>
              <a:t>02</a:t>
            </a:r>
            <a:r>
              <a:rPr lang="en-US" sz="800" dirty="0" b="1" spc="140" cap="all">
                <a:solidFill>
                  <a:srgbClr val="5E706A"/>
                </a:solidFill>
                <a:latin typeface="Segoe UI"/>
                <a:cs typeface="Segoe UI"/>
              </a:rPr>
              <a:t>   ·   The problem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489200" y="7620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EFEAE0"/>
                </a:solidFill>
                <a:latin typeface="Georgia"/>
                <a:cs typeface="Georgia"/>
              </a:rPr>
              <a:t>Where a C-subset project stops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1219200"/>
            <a:ext cx="9169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We measured three public compiler-design course projects. Not one of them contains an optimizer.</a:t>
            </a:r>
          </a:p>
        </p:txBody>
      </p:sp>
      <p:sp>
        <p:nvSpPr>
          <p:cNvPr id="23" name="rule23"/>
          <p:cNvSpPr txBox="1"/>
          <p:nvPr/>
        </p:nvSpPr>
        <p:spPr>
          <a:xfrm>
            <a:off x="2489200" y="16510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2489200" y="19558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E2705F"/>
                </a:solidFill>
                <a:latin typeface="Georgia"/>
                <a:cs typeface="Georgia"/>
              </a:rPr>
              <a:t>0 of 3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2489200" y="254000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baselines with an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optimization phase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5029200" y="19558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E2705F"/>
                </a:solidFill>
                <a:latin typeface="Georgia"/>
                <a:cs typeface="Georgia"/>
              </a:rPr>
              <a:t>0 of 3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5029200" y="254000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baselines that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execute anything</a:t>
            </a:r>
          </a:p>
        </p:txBody>
      </p:sp>
      <p:sp>
        <p:nvSpPr>
          <p:cNvPr id="28" name="panel28"/>
          <p:cNvSpPr txBox="1"/>
          <p:nvPr/>
        </p:nvSpPr>
        <p:spPr>
          <a:xfrm>
            <a:off x="2489200" y="3048000"/>
            <a:ext cx="4953000" cy="26416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9" name="text29"/>
          <p:cNvSpPr txBox="1"/>
          <p:nvPr/>
        </p:nvSpPr>
        <p:spPr>
          <a:xfrm>
            <a:off x="2667000" y="3175000"/>
            <a:ext cx="459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Why those phases stay empty</a:t>
            </a:r>
          </a:p>
        </p:txBody>
      </p:sp>
      <p:sp>
        <p:nvSpPr>
          <p:cNvPr id="30" name="text30"/>
          <p:cNvSpPr txBox="1"/>
          <p:nvPr/>
        </p:nvSpPr>
        <p:spPr>
          <a:xfrm>
            <a:off x="2667000" y="3454400"/>
            <a:ext cx="45974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69"/>
              </a:lnSpc>
              <a:buNone/>
            </a:pPr>
            <a:r>
              <a:rPr lang="en-US" sz="919" dirty="0">
                <a:solidFill>
                  <a:srgbClr val="EFEAE0"/>
                </a:solidFill>
                <a:latin typeface="Segoe UI"/>
                <a:cs typeface="Segoe UI"/>
              </a:rPr>
              <a:t>A subset of C has two numeric types, so its type system is an enumeration with two members.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Semantic analysis becomes a comparison of two tags. An optimizer over it has constant folding and the scalar identities, and no way to tell a cheap expression from an expensive one.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The baselines are not badly built. They reach lexical analysis, parsing and the symbol table, and then run out of anything for the later phases to be about.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E0A94A"/>
                </a:solidFill>
                <a:latin typeface="Segoe UI"/>
                <a:cs typeface="Segoe UI"/>
              </a:rPr>
              <a:t>The two phases the syllabus calls the centre of the subject are the two with the least to do.</a:t>
            </a:r>
          </a:p>
        </p:txBody>
      </p:sp>
      <p:sp>
        <p:nvSpPr>
          <p:cNvPr id="31" name="panel31"/>
          <p:cNvSpPr txBox="1"/>
          <p:nvPr/>
        </p:nvSpPr>
        <p:spPr>
          <a:xfrm>
            <a:off x="7645400" y="1879600"/>
            <a:ext cx="4013200" cy="3810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7823200" y="2006600"/>
            <a:ext cx="3657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Phases present, of eight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7823200" y="2336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EFEAE0"/>
                </a:solidFill>
                <a:latin typeface="Segoe UI"/>
                <a:cs typeface="Segoe UI"/>
              </a:rPr>
              <a:t>MatrixLang</a:t>
            </a:r>
          </a:p>
        </p:txBody>
      </p:sp>
      <p:sp>
        <p:nvSpPr>
          <p:cNvPr id="34" name="bar-bg34"/>
          <p:cNvSpPr txBox="1"/>
          <p:nvPr/>
        </p:nvSpPr>
        <p:spPr>
          <a:xfrm>
            <a:off x="9017000" y="2362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5" name="bar35"/>
          <p:cNvSpPr txBox="1"/>
          <p:nvPr/>
        </p:nvSpPr>
        <p:spPr>
          <a:xfrm>
            <a:off x="9017000" y="2362200"/>
            <a:ext cx="1828800" cy="114300"/>
          </a:xfrm>
          <a:prstGeom prst="rect">
            <a:avLst/>
          </a:prstGeom>
          <a:solidFill>
            <a:srgbClr val="62C6A8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10972800" y="2336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EFEAE0"/>
                </a:solidFill>
                <a:latin typeface="Consolas"/>
                <a:cs typeface="Consolas"/>
              </a:rPr>
              <a:t>8/8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7823200" y="2717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 1</a:t>
            </a:r>
          </a:p>
        </p:txBody>
      </p:sp>
      <p:sp>
        <p:nvSpPr>
          <p:cNvPr id="38" name="bar-bg38"/>
          <p:cNvSpPr txBox="1"/>
          <p:nvPr/>
        </p:nvSpPr>
        <p:spPr>
          <a:xfrm>
            <a:off x="9017000" y="2743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bar39"/>
          <p:cNvSpPr txBox="1"/>
          <p:nvPr/>
        </p:nvSpPr>
        <p:spPr>
          <a:xfrm>
            <a:off x="9017000" y="2743200"/>
            <a:ext cx="1143000" cy="1143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0" name="text40"/>
          <p:cNvSpPr txBox="1"/>
          <p:nvPr/>
        </p:nvSpPr>
        <p:spPr>
          <a:xfrm>
            <a:off x="10972800" y="2717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9BAAA3"/>
                </a:solidFill>
                <a:latin typeface="Consolas"/>
                <a:cs typeface="Consolas"/>
              </a:rPr>
              <a:t>5/8</a:t>
            </a:r>
          </a:p>
        </p:txBody>
      </p:sp>
      <p:sp>
        <p:nvSpPr>
          <p:cNvPr id="41" name="text41"/>
          <p:cNvSpPr txBox="1"/>
          <p:nvPr/>
        </p:nvSpPr>
        <p:spPr>
          <a:xfrm>
            <a:off x="7823200" y="3098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 2</a:t>
            </a:r>
          </a:p>
        </p:txBody>
      </p:sp>
      <p:sp>
        <p:nvSpPr>
          <p:cNvPr id="42" name="bar-bg42"/>
          <p:cNvSpPr txBox="1"/>
          <p:nvPr/>
        </p:nvSpPr>
        <p:spPr>
          <a:xfrm>
            <a:off x="9017000" y="3124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3" name="bar43"/>
          <p:cNvSpPr txBox="1"/>
          <p:nvPr/>
        </p:nvSpPr>
        <p:spPr>
          <a:xfrm>
            <a:off x="9017000" y="3124200"/>
            <a:ext cx="685800" cy="1143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text44"/>
          <p:cNvSpPr txBox="1"/>
          <p:nvPr/>
        </p:nvSpPr>
        <p:spPr>
          <a:xfrm>
            <a:off x="10972800" y="3098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9BAAA3"/>
                </a:solidFill>
                <a:latin typeface="Consolas"/>
                <a:cs typeface="Consolas"/>
              </a:rPr>
              <a:t>3/8</a:t>
            </a:r>
          </a:p>
        </p:txBody>
      </p:sp>
      <p:sp>
        <p:nvSpPr>
          <p:cNvPr id="45" name="text45"/>
          <p:cNvSpPr txBox="1"/>
          <p:nvPr/>
        </p:nvSpPr>
        <p:spPr>
          <a:xfrm>
            <a:off x="7823200" y="3479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 3</a:t>
            </a:r>
          </a:p>
        </p:txBody>
      </p:sp>
      <p:sp>
        <p:nvSpPr>
          <p:cNvPr id="46" name="bar-bg46"/>
          <p:cNvSpPr txBox="1"/>
          <p:nvPr/>
        </p:nvSpPr>
        <p:spPr>
          <a:xfrm>
            <a:off x="9017000" y="3505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7" name="bar47"/>
          <p:cNvSpPr txBox="1"/>
          <p:nvPr/>
        </p:nvSpPr>
        <p:spPr>
          <a:xfrm>
            <a:off x="9017000" y="3505200"/>
            <a:ext cx="1371600" cy="1143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8" name="text48"/>
          <p:cNvSpPr txBox="1"/>
          <p:nvPr/>
        </p:nvSpPr>
        <p:spPr>
          <a:xfrm>
            <a:off x="10972800" y="3479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9BAAA3"/>
                </a:solidFill>
                <a:latin typeface="Consolas"/>
                <a:cs typeface="Consolas"/>
              </a:rPr>
              <a:t>6/8</a:t>
            </a:r>
          </a:p>
        </p:txBody>
      </p:sp>
      <p:sp>
        <p:nvSpPr>
          <p:cNvPr id="49" name="rule49"/>
          <p:cNvSpPr txBox="1"/>
          <p:nvPr/>
        </p:nvSpPr>
        <p:spPr>
          <a:xfrm>
            <a:off x="7823200" y="3937000"/>
            <a:ext cx="36576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0" name="text50"/>
          <p:cNvSpPr txBox="1"/>
          <p:nvPr/>
        </p:nvSpPr>
        <p:spPr>
          <a:xfrm>
            <a:off x="7823200" y="4114800"/>
            <a:ext cx="3657600" cy="147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86"/>
              </a:lnSpc>
              <a:buNone/>
            </a:pPr>
            <a:r>
              <a:rPr lang="en-US" sz="860" dirty="0" b="1">
                <a:solidFill>
                  <a:srgbClr val="E0A94A"/>
                </a:solidFill>
                <a:latin typeface="Segoe UI"/>
                <a:cs typeface="Segoe UI"/>
              </a:rPr>
              <a:t>How a phase is counted</a:t>
            </a:r>
          </a:p>
          <a:p>
            <a:pPr algn="l">
              <a:lnSpc>
                <a:spcPts val="1186"/>
              </a:lnSpc>
              <a:spcBef>
                <a:spcPts val="700"/>
              </a:spcBef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A file is attributed to a phase by its path and name, and a phase counts as present on a single case-insensitive match of any of its markers. The rule is deliberately generous: it can only overstate a baseline, and it still finds no optimizer in any of them.</a:t>
            </a:r>
          </a:p>
        </p:txBody>
      </p:sp>
      <p:sp>
        <p:nvSpPr>
          <p:cNvPr id="51" name="rule51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2" name="text52"/>
          <p:cNvSpPr txBox="1"/>
          <p:nvPr/>
        </p:nvSpPr>
        <p:spPr>
          <a:xfrm>
            <a:off x="2489200" y="6388100"/>
            <a:ext cx="9169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750" dirty="0">
                <a:solidFill>
                  <a:srgbClr val="E2705F"/>
                </a:solidFill>
                <a:latin typeface="Segoe UI"/>
                <a:cs typeface="Segoe UI"/>
              </a:rPr>
              <a:t>▪   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Three repositories, chosen by their description before their contents were read. Each reduced to its most complete 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5E706A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ic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tic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tic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tic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ic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ic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tic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tic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558800"/>
            <a:ext cx="91694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20">
                <a:solidFill>
                  <a:srgbClr val="E0A94A"/>
                </a:solidFill>
                <a:latin typeface="Segoe UI"/>
                <a:cs typeface="Segoe UI"/>
              </a:rPr>
              <a:t>03</a:t>
            </a:r>
            <a:r>
              <a:rPr lang="en-US" sz="800" dirty="0" b="1" spc="140" cap="all">
                <a:solidFill>
                  <a:srgbClr val="5E706A"/>
                </a:solidFill>
                <a:latin typeface="Segoe UI"/>
                <a:cs typeface="Segoe UI"/>
              </a:rPr>
              <a:t>   ·   The language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489200" y="7620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EFEAE0"/>
                </a:solidFill>
                <a:latin typeface="Georgia"/>
                <a:cs typeface="Georgia"/>
              </a:rPr>
              <a:t>A type carries its shape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1219200"/>
            <a:ext cx="9169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Not matrix, but Matrix&lt;2x3&gt;. Two matrices of different shapes are values of different types.</a:t>
            </a:r>
          </a:p>
        </p:txBody>
      </p:sp>
      <p:sp>
        <p:nvSpPr>
          <p:cNvPr id="23" name="rule23"/>
          <p:cNvSpPr txBox="1"/>
          <p:nvPr/>
        </p:nvSpPr>
        <p:spPr>
          <a:xfrm>
            <a:off x="2489200" y="16510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code24"/>
          <p:cNvSpPr txBox="1"/>
          <p:nvPr/>
        </p:nvSpPr>
        <p:spPr>
          <a:xfrm>
            <a:off x="2489200" y="1879600"/>
            <a:ext cx="5029200" cy="16764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2489200" y="1879600"/>
            <a:ext cx="5029200" cy="16764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matrix A[2,3] = {{1, 2, 3},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                 {4, 5, 6}};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matrix B[3,4];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62C6A8"/>
                </a:solidFill>
                <a:latin typeface="Consolas"/>
                <a:cs typeface="Consolas"/>
              </a:rPr>
              <a:t>matrix C = A * B;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62C6A8"/>
                </a:solidFill>
                <a:latin typeface="Consolas"/>
                <a:cs typeface="Consolas"/>
              </a:rPr>
              <a:t>    → C : Matrix&lt;2x4&gt;, inferred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print(C);</a:t>
            </a:r>
          </a:p>
        </p:txBody>
      </p:sp>
      <p:sp>
        <p:nvSpPr>
          <p:cNvPr id="26" name="panel26"/>
          <p:cNvSpPr txBox="1"/>
          <p:nvPr/>
        </p:nvSpPr>
        <p:spPr>
          <a:xfrm>
            <a:off x="7721600" y="1879600"/>
            <a:ext cx="3937000" cy="16764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7" name="text27"/>
          <p:cNvSpPr txBox="1"/>
          <p:nvPr/>
        </p:nvSpPr>
        <p:spPr>
          <a:xfrm>
            <a:off x="7899400" y="2006600"/>
            <a:ext cx="3581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2705F"/>
                </a:solidFill>
                <a:latin typeface="Segoe UI"/>
                <a:cs typeface="Segoe UI"/>
              </a:rPr>
              <a:t>Rejected before anything runs</a:t>
            </a:r>
          </a:p>
        </p:txBody>
      </p:sp>
      <p:sp>
        <p:nvSpPr>
          <p:cNvPr id="28" name="code28"/>
          <p:cNvSpPr txBox="1"/>
          <p:nvPr/>
        </p:nvSpPr>
        <p:spPr>
          <a:xfrm>
            <a:off x="7874000" y="2260600"/>
            <a:ext cx="3632200" cy="11684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9" name="text29"/>
          <p:cNvSpPr txBox="1"/>
          <p:nvPr/>
        </p:nvSpPr>
        <p:spPr>
          <a:xfrm>
            <a:off x="7874000" y="2260600"/>
            <a:ext cx="3632200" cy="11684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cannot multiply Matrix&lt;2x3&gt;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               by Matrix&lt;5x4&gt;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 left  : A -&gt; Matrix&lt;2x3&gt;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 right : B -&gt; Matrix&lt;5x4&gt;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0A94A"/>
                </a:solidFill>
                <a:latin typeface="Consolas"/>
                <a:cs typeface="Consolas"/>
              </a:rPr>
              <a:t>  rule  : cols(left) = rows(right)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0A94A"/>
                </a:solidFill>
                <a:latin typeface="Consolas"/>
                <a:cs typeface="Consolas"/>
              </a:rPr>
              <a:t>  found : 3 != 5</a:t>
            </a:r>
          </a:p>
        </p:txBody>
      </p:sp>
      <p:sp>
        <p:nvSpPr>
          <p:cNvPr id="30" name="panel30"/>
          <p:cNvSpPr txBox="1"/>
          <p:nvPr/>
        </p:nvSpPr>
        <p:spPr>
          <a:xfrm>
            <a:off x="2489200" y="3759200"/>
            <a:ext cx="3276600" cy="19304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text31"/>
          <p:cNvSpPr txBox="1"/>
          <p:nvPr/>
        </p:nvSpPr>
        <p:spPr>
          <a:xfrm>
            <a:off x="2667000" y="3886200"/>
            <a:ext cx="292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What the language has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2667000" y="41656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650" dirty="0">
                <a:solidFill>
                  <a:srgbClr val="E0A94A"/>
                </a:solidFill>
                <a:latin typeface="Segoe UI"/>
                <a:cs typeface="Segoe UI"/>
              </a:rPr>
              <a:t>▪  </a:t>
            </a: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scalar and matrix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2667000" y="44196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650" dirty="0">
                <a:solidFill>
                  <a:srgbClr val="E0A94A"/>
                </a:solidFill>
                <a:latin typeface="Segoe UI"/>
                <a:cs typeface="Segoe UI"/>
              </a:rPr>
              <a:t>▪  </a:t>
            </a: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+  -  *  unary -  transpose</a:t>
            </a:r>
          </a:p>
        </p:txBody>
      </p:sp>
      <p:sp>
        <p:nvSpPr>
          <p:cNvPr id="34" name="text34"/>
          <p:cNvSpPr txBox="1"/>
          <p:nvPr/>
        </p:nvSpPr>
        <p:spPr>
          <a:xfrm>
            <a:off x="2667000" y="46736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650" dirty="0">
                <a:solidFill>
                  <a:srgbClr val="E0A94A"/>
                </a:solidFill>
                <a:latin typeface="Segoe UI"/>
                <a:cs typeface="Segoe UI"/>
              </a:rPr>
              <a:t>▪  </a:t>
            </a: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literals, identity, zeros, ones</a:t>
            </a:r>
          </a:p>
        </p:txBody>
      </p:sp>
      <p:sp>
        <p:nvSpPr>
          <p:cNvPr id="35" name="text35"/>
          <p:cNvSpPr txBox="1"/>
          <p:nvPr/>
        </p:nvSpPr>
        <p:spPr>
          <a:xfrm>
            <a:off x="2667000" y="49276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650" dirty="0">
                <a:solidFill>
                  <a:srgbClr val="E0A94A"/>
                </a:solidFill>
                <a:latin typeface="Segoe UI"/>
                <a:cs typeface="Segoe UI"/>
              </a:rPr>
              <a:t>▪  </a:t>
            </a: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declaration, assignment, print</a:t>
            </a:r>
          </a:p>
        </p:txBody>
      </p:sp>
      <p:sp>
        <p:nvSpPr>
          <p:cNvPr id="36" name="text36"/>
          <p:cNvSpPr txBox="1"/>
          <p:nvPr/>
        </p:nvSpPr>
        <p:spPr>
          <a:xfrm>
            <a:off x="2667000" y="5232400"/>
            <a:ext cx="2946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i="1">
                <a:solidFill>
                  <a:srgbClr val="E0A94A"/>
                </a:solidFill>
                <a:latin typeface="Segoe UI"/>
                <a:cs typeface="Segoe UI"/>
              </a:rPr>
              <a:t>No control flow. That is the enabling decision, not a gap.</a:t>
            </a:r>
          </a:p>
        </p:txBody>
      </p:sp>
      <p:sp>
        <p:nvSpPr>
          <p:cNvPr id="37" name="panel37"/>
          <p:cNvSpPr txBox="1"/>
          <p:nvPr/>
        </p:nvSpPr>
        <p:spPr>
          <a:xfrm>
            <a:off x="5969000" y="3759200"/>
            <a:ext cx="5689600" cy="19304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text38"/>
          <p:cNvSpPr txBox="1"/>
          <p:nvPr/>
        </p:nvSpPr>
        <p:spPr>
          <a:xfrm>
            <a:off x="6146800" y="3886200"/>
            <a:ext cx="5334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Why no control flow</a:t>
            </a:r>
          </a:p>
        </p:txBody>
      </p:sp>
      <p:sp>
        <p:nvSpPr>
          <p:cNvPr id="39" name="text39"/>
          <p:cNvSpPr txBox="1"/>
          <p:nvPr/>
        </p:nvSpPr>
        <p:spPr>
          <a:xfrm>
            <a:off x="6146800" y="4165600"/>
            <a:ext cx="53340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69"/>
              </a:lnSpc>
              <a:buNone/>
            </a:pPr>
            <a:r>
              <a:rPr lang="en-US" sz="919" dirty="0">
                <a:solidFill>
                  <a:srgbClr val="EFEAE0"/>
                </a:solidFill>
                <a:latin typeface="Segoe UI"/>
                <a:cs typeface="Segoe UI"/>
              </a:rPr>
              <a:t>With no branches a whole program is a single basic block. Available-expression analysis and liveness are each one linear scan.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A course reaches working common-subexpression elimination and dead-code elimination without first building a control-flow graph, which is where a semester usually runs out.</a:t>
            </a:r>
          </a:p>
        </p:txBody>
      </p:sp>
      <p:sp>
        <p:nvSpPr>
          <p:cNvPr id="40" name="rule40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1" name="text41"/>
          <p:cNvSpPr txBox="1"/>
          <p:nvPr/>
        </p:nvSpPr>
        <p:spPr>
          <a:xfrm>
            <a:off x="2489200" y="6388100"/>
            <a:ext cx="9169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750" dirty="0">
                <a:solidFill>
                  <a:srgbClr val="E0A94A"/>
                </a:solidFill>
                <a:latin typeface="Segoe UI"/>
                <a:cs typeface="Segoe UI"/>
              </a:rPr>
              <a:t>▪   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Every shape rule lives in one file, read by both the semantic analyser and the code generator.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5E706A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ic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tic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tic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tic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ic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ic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tic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tic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558800"/>
            <a:ext cx="91694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20">
                <a:solidFill>
                  <a:srgbClr val="E0A94A"/>
                </a:solidFill>
                <a:latin typeface="Segoe UI"/>
                <a:cs typeface="Segoe UI"/>
              </a:rPr>
              <a:t>04</a:t>
            </a:r>
            <a:r>
              <a:rPr lang="en-US" sz="800" dirty="0" b="1" spc="140" cap="all">
                <a:solidFill>
                  <a:srgbClr val="5E706A"/>
                </a:solidFill>
                <a:latin typeface="Segoe UI"/>
                <a:cs typeface="Segoe UI"/>
              </a:rPr>
              <a:t>   ·   End to end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489200" y="7620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EFEAE0"/>
                </a:solidFill>
                <a:latin typeface="Georgia"/>
                <a:cs typeface="Georgia"/>
              </a:rPr>
              <a:t>Every phase prints what it produced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1219200"/>
            <a:ext cx="9169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One flag per phase, so a reviewer can stop the compiler anywhere and read the artifact. The text below is its output.</a:t>
            </a:r>
          </a:p>
        </p:txBody>
      </p:sp>
      <p:sp>
        <p:nvSpPr>
          <p:cNvPr id="23" name="rule23"/>
          <p:cNvSpPr txBox="1"/>
          <p:nvPr/>
        </p:nvSpPr>
        <p:spPr>
          <a:xfrm>
            <a:off x="2489200" y="16510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2489200" y="18796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--tokens</a:t>
            </a: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   the lexer, one row per token</a:t>
            </a:r>
          </a:p>
        </p:txBody>
      </p:sp>
      <p:sp>
        <p:nvSpPr>
          <p:cNvPr id="25" name="code25"/>
          <p:cNvSpPr txBox="1"/>
          <p:nvPr/>
        </p:nvSpPr>
        <p:spPr>
          <a:xfrm>
            <a:off x="2489200" y="21082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2489200" y="21082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#   TOKEN       LEXEME   LINE:COL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   MATRIX      matrix   1:1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2   IDENTIFIER  A        1:8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3   LBRACKET    [        1:9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4   NUMBER      2        1:10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  COMMA       ,        1:11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6   NUMBER      3        1:12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7   RBRACKET    ]        1:13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...                   78 tokens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5604933" y="18796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--ast</a:t>
            </a: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   the parse, with shapes attached</a:t>
            </a:r>
          </a:p>
        </p:txBody>
      </p:sp>
      <p:sp>
        <p:nvSpPr>
          <p:cNvPr id="28" name="code28"/>
          <p:cNvSpPr txBox="1"/>
          <p:nvPr/>
        </p:nvSpPr>
        <p:spPr>
          <a:xfrm>
            <a:off x="5604933" y="21082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9" name="text29"/>
          <p:cNvSpPr txBox="1"/>
          <p:nvPr/>
        </p:nvSpPr>
        <p:spPr>
          <a:xfrm>
            <a:off x="5604933" y="21082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Program  (line 1)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|-- Declare A : Matrix&lt;2x3&gt;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  `-- MatrixLiteral : Matrix&lt;2x3&gt;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|       |-- Row : Matrix&lt;1x3&gt;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|       `-- Row : Matrix&lt;1x3&gt;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|-- Declare B : Matrix&lt;3x4&gt;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|-- Declare C :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|   `-- BinaryOp * :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`-- Print :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30" name="text30"/>
          <p:cNvSpPr txBox="1"/>
          <p:nvPr/>
        </p:nvSpPr>
        <p:spPr>
          <a:xfrm>
            <a:off x="8720667" y="18796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--symbols</a:t>
            </a: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   one row per name, shape included</a:t>
            </a:r>
          </a:p>
        </p:txBody>
      </p:sp>
      <p:sp>
        <p:nvSpPr>
          <p:cNvPr id="31" name="code31"/>
          <p:cNvSpPr txBox="1"/>
          <p:nvPr/>
        </p:nvSpPr>
        <p:spPr>
          <a:xfrm>
            <a:off x="8720667" y="21082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8720667" y="21082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Name | Kind   | Rows | Cols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A    | Matrix |    2 |    3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B    | Matrix |    3 |    4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| C    | Matrix |    2 |    4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3 symbol(s).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C's shape was never written down;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it was inferred from A and B.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2489200" y="39751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--tac</a:t>
            </a: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   three-address code, still typed</a:t>
            </a:r>
          </a:p>
        </p:txBody>
      </p:sp>
      <p:sp>
        <p:nvSpPr>
          <p:cNvPr id="34" name="code34"/>
          <p:cNvSpPr txBox="1"/>
          <p:nvPr/>
        </p:nvSpPr>
        <p:spPr>
          <a:xfrm>
            <a:off x="2489200" y="42037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5" name="text35"/>
          <p:cNvSpPr txBox="1"/>
          <p:nvPr/>
        </p:nvSpPr>
        <p:spPr>
          <a:xfrm>
            <a:off x="2489200" y="42037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  A = #0            Matrix&lt;2x3&gt;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2  B = #1            Matrix&lt;3x4&gt;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3  t1 = A * B       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4  C = t1           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 print C          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instruction(s).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every temporary carries its shape,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which is what the optimizer costs.</a:t>
            </a:r>
          </a:p>
        </p:txBody>
      </p:sp>
      <p:sp>
        <p:nvSpPr>
          <p:cNvPr id="36" name="text36"/>
          <p:cNvSpPr txBox="1"/>
          <p:nvPr/>
        </p:nvSpPr>
        <p:spPr>
          <a:xfrm>
            <a:off x="5604933" y="39751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--target</a:t>
            </a: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   stack machine, selected by shape</a:t>
            </a:r>
          </a:p>
        </p:txBody>
      </p:sp>
      <p:sp>
        <p:nvSpPr>
          <p:cNvPr id="37" name="code37"/>
          <p:cNvSpPr txBox="1"/>
          <p:nvPr/>
        </p:nvSpPr>
        <p:spPr>
          <a:xfrm>
            <a:off x="5604933" y="42037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text38"/>
          <p:cNvSpPr txBox="1"/>
          <p:nvPr/>
        </p:nvSpPr>
        <p:spPr>
          <a:xfrm>
            <a:off x="5604933" y="42037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0  PUSH_MATRIX   #0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  STORE_MATRIX  A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2  PUSH_MATRIX   #1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3  STORE_MATRIX  B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4  LOAD_MATRIX   A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 LOAD_MATRIX   B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6  MATMUL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7  STORE_MATRIX  t1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...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13 instruction(s).</a:t>
            </a:r>
          </a:p>
        </p:txBody>
      </p:sp>
      <p:sp>
        <p:nvSpPr>
          <p:cNvPr id="39" name="text39"/>
          <p:cNvSpPr txBox="1"/>
          <p:nvPr/>
        </p:nvSpPr>
        <p:spPr>
          <a:xfrm>
            <a:off x="8720667" y="39751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--run</a:t>
            </a: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   the VM, printing the result</a:t>
            </a:r>
          </a:p>
        </p:txBody>
      </p:sp>
      <p:sp>
        <p:nvSpPr>
          <p:cNvPr id="40" name="code40"/>
          <p:cNvSpPr txBox="1"/>
          <p:nvPr/>
        </p:nvSpPr>
        <p:spPr>
          <a:xfrm>
            <a:off x="8720667" y="42037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1" name="text41"/>
          <p:cNvSpPr txBox="1"/>
          <p:nvPr/>
        </p:nvSpPr>
        <p:spPr>
          <a:xfrm>
            <a:off x="8720667" y="42037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C =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 [  38  44  50  56 ]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 [  83  98 113 128 ]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ACCEPTED (0 error(s), 0 warning(s))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38 = 1*1 + 2*5 + 3*9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the shapes were checked long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before any number was touched</a:t>
            </a:r>
          </a:p>
        </p:txBody>
      </p:sp>
      <p:sp>
        <p:nvSpPr>
          <p:cNvPr id="42" name="rule42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3" name="text43"/>
          <p:cNvSpPr txBox="1"/>
          <p:nvPr/>
        </p:nvSpPr>
        <p:spPr>
          <a:xfrm>
            <a:off x="2489200" y="6388100"/>
            <a:ext cx="9169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750" dirty="0">
                <a:solidFill>
                  <a:srgbClr val="E0A94A"/>
                </a:solidFill>
                <a:latin typeface="Segoe UI"/>
                <a:cs typeface="Segoe UI"/>
              </a:rPr>
              <a:t>▪   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make demo1 demo2 demo3 runs one demonstration per project review, straight from the source tree.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5E706A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ic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tic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tic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tic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ic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ic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tic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tic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558800"/>
            <a:ext cx="91694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20">
                <a:solidFill>
                  <a:srgbClr val="E0A94A"/>
                </a:solidFill>
                <a:latin typeface="Segoe UI"/>
                <a:cs typeface="Segoe UI"/>
              </a:rPr>
              <a:t>05</a:t>
            </a:r>
            <a:r>
              <a:rPr lang="en-US" sz="800" dirty="0" b="1" spc="140" cap="all">
                <a:solidFill>
                  <a:srgbClr val="5E706A"/>
                </a:solidFill>
                <a:latin typeface="Segoe UI"/>
                <a:cs typeface="Segoe UI"/>
              </a:rPr>
              <a:t>   ·   The idea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489200" y="7620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EFEAE0"/>
                </a:solidFill>
                <a:latin typeface="Georgia"/>
                <a:cs typeface="Georgia"/>
              </a:rPr>
              <a:t>A shape is also a cost model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1219200"/>
            <a:ext cx="9169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Multiplying an m x n by an n x p matrix performs m p (2n-1) operations. Every term is a shape, and every shape is in the type.</a:t>
            </a:r>
          </a:p>
        </p:txBody>
      </p:sp>
      <p:sp>
        <p:nvSpPr>
          <p:cNvPr id="23" name="rule23"/>
          <p:cNvSpPr txBox="1"/>
          <p:nvPr/>
        </p:nvSpPr>
        <p:spPr>
          <a:xfrm>
            <a:off x="2489200" y="16510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2489200" y="1981200"/>
            <a:ext cx="2540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600"/>
              </a:lnSpc>
              <a:buNone/>
            </a:pPr>
            <a:r>
              <a:rPr lang="en-US" sz="4400" dirty="0" b="1">
                <a:solidFill>
                  <a:srgbClr val="62C6A8"/>
                </a:solidFill>
                <a:latin typeface="Georgia"/>
                <a:cs typeface="Georgia"/>
              </a:rPr>
              <a:t>98.0%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2489200" y="26162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of the arithmetic removed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from one three-matrix chain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2489200" y="3352800"/>
            <a:ext cx="2717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E2705F"/>
                </a:solidFill>
                <a:latin typeface="Segoe UI"/>
                <a:cs typeface="Segoe UI"/>
              </a:rPr>
              <a:t>The instruction count did not move. Four before, four after.</a:t>
            </a:r>
          </a:p>
        </p:txBody>
      </p:sp>
      <p:sp>
        <p:nvSpPr>
          <p:cNvPr id="27" name="panel27"/>
          <p:cNvSpPr txBox="1"/>
          <p:nvPr/>
        </p:nvSpPr>
        <p:spPr>
          <a:xfrm>
            <a:off x="5334000" y="1879600"/>
            <a:ext cx="6324600" cy="2159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5511800" y="2006600"/>
            <a:ext cx="5969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One chain, two bracketings</a:t>
            </a:r>
          </a:p>
        </p:txBody>
      </p:sp>
      <p:sp>
        <p:nvSpPr>
          <p:cNvPr id="29" name="code29"/>
          <p:cNvSpPr txBox="1"/>
          <p:nvPr/>
        </p:nvSpPr>
        <p:spPr>
          <a:xfrm>
            <a:off x="5511800" y="2260600"/>
            <a:ext cx="5969000" cy="15748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text30"/>
          <p:cNvSpPr txBox="1"/>
          <p:nvPr/>
        </p:nvSpPr>
        <p:spPr>
          <a:xfrm>
            <a:off x="5511800" y="2260600"/>
            <a:ext cx="5969000" cy="15748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R = A * B * C;    A 100x2  B 2x100  C 100x2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(A * B) * C   builds a 100x100 intermediate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              69,800 FLOP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62C6A8"/>
                </a:solidFill>
                <a:latin typeface="Consolas"/>
                <a:cs typeface="Consolas"/>
              </a:rPr>
              <a:t>A * (B * C)   builds a 2x2 intermediate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62C6A8"/>
                </a:solidFill>
                <a:latin typeface="Consolas"/>
                <a:cs typeface="Consolas"/>
              </a:rPr>
              <a:t>               1,396 FLOP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'*' is left associative, so the source asked for the first.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The compiler emitted the second, into the same four slots.</a:t>
            </a:r>
          </a:p>
        </p:txBody>
      </p:sp>
      <p:sp>
        <p:nvSpPr>
          <p:cNvPr id="31" name="panel31"/>
          <p:cNvSpPr txBox="1"/>
          <p:nvPr/>
        </p:nvSpPr>
        <p:spPr>
          <a:xfrm>
            <a:off x="2489200" y="4241800"/>
            <a:ext cx="3810000" cy="1473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2667000" y="4368800"/>
            <a:ext cx="3454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Why an instruction count cannot see it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2667000" y="4648200"/>
            <a:ext cx="34798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1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A chain of k matrices needs exactly k-1 products under every bracketing.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E0A94A"/>
                </a:solidFill>
                <a:latin typeface="Segoe UI"/>
                <a:cs typeface="Segoe UI"/>
              </a:rPr>
              <a:t>So re-bracketing never changes the instruction count. It is invisible to the metric course projects report.</a:t>
            </a:r>
          </a:p>
        </p:txBody>
      </p:sp>
      <p:sp>
        <p:nvSpPr>
          <p:cNvPr id="34" name="panel34"/>
          <p:cNvSpPr txBox="1"/>
          <p:nvPr/>
        </p:nvSpPr>
        <p:spPr>
          <a:xfrm>
            <a:off x="6502400" y="4241800"/>
            <a:ext cx="5156200" cy="1473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5" name="text35"/>
          <p:cNvSpPr txBox="1"/>
          <p:nvPr/>
        </p:nvSpPr>
        <p:spPr>
          <a:xfrm>
            <a:off x="6680200" y="43688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The algorithm is the textbook one</a:t>
            </a:r>
          </a:p>
        </p:txBody>
      </p:sp>
      <p:sp>
        <p:nvSpPr>
          <p:cNvPr id="36" name="text36"/>
          <p:cNvSpPr txBox="1"/>
          <p:nvPr/>
        </p:nvSpPr>
        <p:spPr>
          <a:xfrm>
            <a:off x="6680200" y="4648200"/>
            <a:ext cx="4800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1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The standard O(k^3) dynamic program over the chain, the same one an algorithms course teaches.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What is new is not the algorithm. It is that a student compiler holds the information needed to run it.</a:t>
            </a:r>
          </a:p>
        </p:txBody>
      </p:sp>
      <p:sp>
        <p:nvSpPr>
          <p:cNvPr id="37" name="rule37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text38"/>
          <p:cNvSpPr txBox="1"/>
          <p:nvPr/>
        </p:nvSpPr>
        <p:spPr>
          <a:xfrm>
            <a:off x="2489200" y="6388100"/>
            <a:ext cx="9169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750" dirty="0">
                <a:solidFill>
                  <a:srgbClr val="E0A94A"/>
                </a:solidFill>
                <a:latin typeface="Segoe UI"/>
                <a:cs typeface="Segoe UI"/>
              </a:rPr>
              <a:t>▪   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Linnea and LGen do this at research quality. Here the dynamic program is 21 lines of C, inside a 328-line 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5E706A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ic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tic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tic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tic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ic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ic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tic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tic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558800"/>
            <a:ext cx="91694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20">
                <a:solidFill>
                  <a:srgbClr val="E0A94A"/>
                </a:solidFill>
                <a:latin typeface="Segoe UI"/>
                <a:cs typeface="Segoe UI"/>
              </a:rPr>
              <a:t>06</a:t>
            </a:r>
            <a:r>
              <a:rPr lang="en-US" sz="800" dirty="0" b="1" spc="140" cap="all">
                <a:solidFill>
                  <a:srgbClr val="5E706A"/>
                </a:solidFill>
                <a:latin typeface="Segoe UI"/>
                <a:cs typeface="Segoe UI"/>
              </a:rPr>
              <a:t>   ·   The measurement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489200" y="7620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EFEAE0"/>
                </a:solidFill>
                <a:latin typeface="Georgia"/>
                <a:cs typeface="Georgia"/>
              </a:rPr>
              <a:t>Two metrics, same programs, different answers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1219200"/>
            <a:ext cx="9169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400 programs from a generator, two seeds. The corpus was not written by whoever wrote the optimizer.</a:t>
            </a:r>
          </a:p>
        </p:txBody>
      </p:sp>
      <p:sp>
        <p:nvSpPr>
          <p:cNvPr id="23" name="rule23"/>
          <p:cNvSpPr txBox="1"/>
          <p:nvPr/>
        </p:nvSpPr>
        <p:spPr>
          <a:xfrm>
            <a:off x="2489200" y="16510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panel24"/>
          <p:cNvSpPr txBox="1"/>
          <p:nvPr/>
        </p:nvSpPr>
        <p:spPr>
          <a:xfrm>
            <a:off x="2489200" y="1879600"/>
            <a:ext cx="9169400" cy="1905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2667000" y="2006600"/>
            <a:ext cx="8813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Median reduction per program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2667000" y="2006600"/>
            <a:ext cx="8813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00"/>
              </a:lnSpc>
              <a:buNone/>
            </a:pPr>
            <a:r>
              <a:rPr lang="en-US" sz="740" dirty="0">
                <a:solidFill>
                  <a:srgbClr val="5E706A"/>
                </a:solidFill>
                <a:latin typeface="Segoe UI"/>
                <a:cs typeface="Segoe UI"/>
              </a:rPr>
              <a:t>bar = interquartile range   ·   tick = median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2692400" y="233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arithmetic removed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2692400" y="25781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IQR 2.5 to 81.7</a:t>
            </a:r>
          </a:p>
        </p:txBody>
      </p:sp>
      <p:sp>
        <p:nvSpPr>
          <p:cNvPr id="29" name="bar-bg29"/>
          <p:cNvSpPr txBox="1"/>
          <p:nvPr/>
        </p:nvSpPr>
        <p:spPr>
          <a:xfrm>
            <a:off x="4851400" y="2552700"/>
            <a:ext cx="53340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iqr30"/>
          <p:cNvSpPr txBox="1"/>
          <p:nvPr/>
        </p:nvSpPr>
        <p:spPr>
          <a:xfrm>
            <a:off x="4987286" y="2552700"/>
            <a:ext cx="4220502" cy="152400"/>
          </a:xfrm>
          <a:prstGeom prst="rect">
            <a:avLst/>
          </a:prstGeom>
          <a:solidFill>
            <a:srgbClr val="62C6A8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median31"/>
          <p:cNvSpPr txBox="1"/>
          <p:nvPr/>
        </p:nvSpPr>
        <p:spPr>
          <a:xfrm>
            <a:off x="7424128" y="2501900"/>
            <a:ext cx="31750" cy="254000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10337800" y="250190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300" dirty="0" b="1">
                <a:solidFill>
                  <a:srgbClr val="62C6A8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2692400" y="2997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instructions removed</a:t>
            </a:r>
          </a:p>
        </p:txBody>
      </p:sp>
      <p:sp>
        <p:nvSpPr>
          <p:cNvPr id="34" name="text34"/>
          <p:cNvSpPr txBox="1"/>
          <p:nvPr/>
        </p:nvSpPr>
        <p:spPr>
          <a:xfrm>
            <a:off x="2692400" y="32385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5E706A"/>
                </a:solidFill>
                <a:latin typeface="Segoe UI"/>
                <a:cs typeface="Segoe UI"/>
              </a:rPr>
              <a:t>IQR 0.0 to 9.1</a:t>
            </a:r>
          </a:p>
        </p:txBody>
      </p:sp>
      <p:sp>
        <p:nvSpPr>
          <p:cNvPr id="35" name="bar-bg35"/>
          <p:cNvSpPr txBox="1"/>
          <p:nvPr/>
        </p:nvSpPr>
        <p:spPr>
          <a:xfrm>
            <a:off x="4851400" y="3213100"/>
            <a:ext cx="53340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iqr36"/>
          <p:cNvSpPr txBox="1"/>
          <p:nvPr/>
        </p:nvSpPr>
        <p:spPr>
          <a:xfrm>
            <a:off x="4851400" y="3213100"/>
            <a:ext cx="484909" cy="152400"/>
          </a:xfrm>
          <a:prstGeom prst="rect">
            <a:avLst/>
          </a:prstGeom>
          <a:solidFill>
            <a:srgbClr val="6E3A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7" name="median37"/>
          <p:cNvSpPr txBox="1"/>
          <p:nvPr/>
        </p:nvSpPr>
        <p:spPr>
          <a:xfrm>
            <a:off x="5131858" y="3162300"/>
            <a:ext cx="31750" cy="254000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text38"/>
          <p:cNvSpPr txBox="1"/>
          <p:nvPr/>
        </p:nvSpPr>
        <p:spPr>
          <a:xfrm>
            <a:off x="10337800" y="316230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300" dirty="0" b="1">
                <a:solidFill>
                  <a:srgbClr val="E2705F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39" name="text39"/>
          <p:cNvSpPr txBox="1"/>
          <p:nvPr/>
        </p:nvSpPr>
        <p:spPr>
          <a:xfrm>
            <a:off x="4851400" y="365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40" dirty="0">
                <a:solidFill>
                  <a:srgbClr val="5E706A"/>
                </a:solidFill>
                <a:latin typeface="Consolas"/>
                <a:cs typeface="Consolas"/>
              </a:rPr>
              <a:t>0%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9423400" y="365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00"/>
              </a:lnSpc>
              <a:buNone/>
            </a:pPr>
            <a:r>
              <a:rPr lang="en-US" sz="740" dirty="0">
                <a:solidFill>
                  <a:srgbClr val="5E706A"/>
                </a:solidFill>
                <a:latin typeface="Consolas"/>
                <a:cs typeface="Consolas"/>
              </a:rPr>
              <a:t>100%</a:t>
            </a:r>
          </a:p>
        </p:txBody>
      </p:sp>
      <p:sp>
        <p:nvSpPr>
          <p:cNvPr id="41" name="text41"/>
          <p:cNvSpPr txBox="1"/>
          <p:nvPr/>
        </p:nvSpPr>
        <p:spPr>
          <a:xfrm>
            <a:off x="2489200" y="3987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000"/>
              </a:lnSpc>
              <a:buNone/>
            </a:pPr>
            <a:r>
              <a:rPr lang="en-US" sz="3800" dirty="0" b="1">
                <a:solidFill>
                  <a:srgbClr val="E0A94A"/>
                </a:solidFill>
                <a:latin typeface="Georgia"/>
                <a:cs typeface="Georgia"/>
              </a:rPr>
              <a:t>79.8%</a:t>
            </a:r>
          </a:p>
        </p:txBody>
      </p:sp>
      <p:sp>
        <p:nvSpPr>
          <p:cNvPr id="42" name="text42"/>
          <p:cNvSpPr txBox="1"/>
          <p:nvPr/>
        </p:nvSpPr>
        <p:spPr>
          <a:xfrm>
            <a:off x="2489200" y="4546600"/>
            <a:ext cx="24892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of programs had a chain worth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re-bracketing (319 of 400)</a:t>
            </a:r>
          </a:p>
        </p:txBody>
      </p:sp>
      <p:sp>
        <p:nvSpPr>
          <p:cNvPr id="43" name="text43"/>
          <p:cNvSpPr txBox="1"/>
          <p:nvPr/>
        </p:nvSpPr>
        <p:spPr>
          <a:xfrm>
            <a:off x="5156200" y="39878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000"/>
              </a:lnSpc>
              <a:buNone/>
            </a:pPr>
            <a:r>
              <a:rPr lang="en-US" sz="3800" dirty="0" b="1">
                <a:solidFill>
                  <a:srgbClr val="E0A94A"/>
                </a:solidFill>
                <a:latin typeface="Georgia"/>
                <a:cs typeface="Georgia"/>
              </a:rPr>
              <a:t>60.1%</a:t>
            </a:r>
          </a:p>
        </p:txBody>
      </p:sp>
      <p:sp>
        <p:nvSpPr>
          <p:cNvPr id="44" name="text44"/>
          <p:cNvSpPr txBox="1"/>
          <p:nvPr/>
        </p:nvSpPr>
        <p:spPr>
          <a:xfrm>
            <a:off x="5156200" y="4546600"/>
            <a:ext cx="24892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median arithmetic saved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on those programs</a:t>
            </a:r>
          </a:p>
        </p:txBody>
      </p:sp>
      <p:sp>
        <p:nvSpPr>
          <p:cNvPr id="45" name="text45"/>
          <p:cNvSpPr txBox="1"/>
          <p:nvPr/>
        </p:nvSpPr>
        <p:spPr>
          <a:xfrm>
            <a:off x="7823200" y="3987800"/>
            <a:ext cx="3175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000"/>
              </a:lnSpc>
              <a:buNone/>
            </a:pPr>
            <a:r>
              <a:rPr lang="en-US" sz="3800" dirty="0" b="1">
                <a:solidFill>
                  <a:srgbClr val="62C6A8"/>
                </a:solidFill>
                <a:latin typeface="Georgia"/>
                <a:cs typeface="Georgia"/>
              </a:rPr>
              <a:t>400/400</a:t>
            </a:r>
          </a:p>
        </p:txBody>
      </p:sp>
      <p:sp>
        <p:nvSpPr>
          <p:cNvPr id="46" name="text46"/>
          <p:cNvSpPr txBox="1"/>
          <p:nvPr/>
        </p:nvSpPr>
        <p:spPr>
          <a:xfrm>
            <a:off x="7823200" y="4546600"/>
            <a:ext cx="317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programs printed the same bytes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with the optimizer and without</a:t>
            </a:r>
          </a:p>
        </p:txBody>
      </p:sp>
      <p:sp>
        <p:nvSpPr>
          <p:cNvPr id="47" name="panel47"/>
          <p:cNvSpPr txBox="1"/>
          <p:nvPr/>
        </p:nvSpPr>
        <p:spPr>
          <a:xfrm>
            <a:off x="2489200" y="5384800"/>
            <a:ext cx="9169400" cy="685800"/>
          </a:xfrm>
          <a:prstGeom prst="roundRect">
            <a:avLst>
              <a:gd name="adj" fmla="val 22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8" name="text48"/>
          <p:cNvSpPr txBox="1"/>
          <p:nvPr/>
        </p:nvSpPr>
        <p:spPr>
          <a:xfrm>
            <a:off x="2743200" y="5384800"/>
            <a:ext cx="8661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50"/>
              </a:lnSpc>
              <a:buNone/>
            </a:pPr>
            <a:r>
              <a:rPr lang="en-US" sz="900" dirty="0" b="1">
                <a:solidFill>
                  <a:srgbClr val="E0A94A"/>
                </a:solidFill>
                <a:latin typeface="Segoe UI"/>
                <a:cs typeface="Segoe UI"/>
              </a:rPr>
              <a:t>Not one lucky corpus.  </a:t>
            </a: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Taken separately the two seeds give 47.3% and 49.7% of the arithmetic against 5.3% and 5.9% of the instructions. The gap between the metrics is the stable part.</a:t>
            </a:r>
          </a:p>
        </p:txBody>
      </p:sp>
      <p:sp>
        <p:nvSpPr>
          <p:cNvPr id="49" name="rule49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0" name="text50"/>
          <p:cNvSpPr txBox="1"/>
          <p:nvPr/>
        </p:nvSpPr>
        <p:spPr>
          <a:xfrm>
            <a:off x="2489200" y="6388100"/>
            <a:ext cx="9169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750" dirty="0">
                <a:solidFill>
                  <a:srgbClr val="E0A94A"/>
                </a:solidFill>
                <a:latin typeface="Segoe UI"/>
                <a:cs typeface="Segoe UI"/>
              </a:rPr>
              <a:t>▪   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Roughly a fifth of programs are left alone. An optimizer that always reports an improvement is measuring nothing.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5E706A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ic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tic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tic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tic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ic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ic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tic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5E706A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tic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558800"/>
            <a:ext cx="91694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20">
                <a:solidFill>
                  <a:srgbClr val="E0A94A"/>
                </a:solidFill>
                <a:latin typeface="Segoe UI"/>
                <a:cs typeface="Segoe UI"/>
              </a:rPr>
              <a:t>07</a:t>
            </a:r>
            <a:r>
              <a:rPr lang="en-US" sz="800" dirty="0" b="1" spc="140" cap="all">
                <a:solidFill>
                  <a:srgbClr val="5E706A"/>
                </a:solidFill>
                <a:latin typeface="Segoe UI"/>
                <a:cs typeface="Segoe UI"/>
              </a:rPr>
              <a:t>   ·   What the testing found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489200" y="7620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EFEAE0"/>
                </a:solidFill>
                <a:latin typeface="Georgia"/>
                <a:cs typeface="Georgia"/>
              </a:rPr>
              <a:t>The corpus found a bug we had not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1219200"/>
            <a:ext cx="9169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The first differential run did not come back clean, and that is the part worth reporting.</a:t>
            </a:r>
          </a:p>
        </p:txBody>
      </p:sp>
      <p:sp>
        <p:nvSpPr>
          <p:cNvPr id="23" name="rule23"/>
          <p:cNvSpPr txBox="1"/>
          <p:nvPr/>
        </p:nvSpPr>
        <p:spPr>
          <a:xfrm>
            <a:off x="2489200" y="16510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code24"/>
          <p:cNvSpPr txBox="1"/>
          <p:nvPr/>
        </p:nvSpPr>
        <p:spPr>
          <a:xfrm>
            <a:off x="2489200" y="1879600"/>
            <a:ext cx="5461000" cy="14732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2489200" y="1879600"/>
            <a:ext cx="5461000" cy="14732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9BAAA3"/>
                </a:solidFill>
                <a:latin typeface="Consolas"/>
                <a:cs typeface="Consolas"/>
              </a:rPr>
              <a:t>unoptimized          optimized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Consolas"/>
                <a:cs typeface="Consolas"/>
              </a:rPr>
              <a:t>R = Matrix&lt;1x1&gt;      R = Matrix&lt;1x1&gt;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2705F"/>
                </a:solidFill>
                <a:latin typeface="Consolas"/>
                <a:cs typeface="Consolas"/>
              </a:rPr>
              <a:t>  [ 0 ]                [ -0 ]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9BAAA3"/>
                </a:solidFill>
                <a:latin typeface="Consolas"/>
                <a:cs typeface="Consolas"/>
              </a:rPr>
              <a:t>the rewrite that did it: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0A94A"/>
                </a:solidFill>
                <a:latin typeface="Consolas"/>
                <a:cs typeface="Consolas"/>
              </a:rPr>
              <a:t>    0 - x   =&gt;   -x</a:t>
            </a:r>
          </a:p>
        </p:txBody>
      </p:sp>
      <p:sp>
        <p:nvSpPr>
          <p:cNvPr id="26" name="panel26"/>
          <p:cNvSpPr txBox="1"/>
          <p:nvPr/>
        </p:nvSpPr>
        <p:spPr>
          <a:xfrm>
            <a:off x="8153400" y="1879600"/>
            <a:ext cx="3505200" cy="1473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7" name="text27"/>
          <p:cNvSpPr txBox="1"/>
          <p:nvPr/>
        </p:nvSpPr>
        <p:spPr>
          <a:xfrm>
            <a:off x="8331200" y="2006600"/>
            <a:ext cx="3149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2705F"/>
                </a:solidFill>
                <a:latin typeface="Segoe UI"/>
                <a:cs typeface="Segoe UI"/>
              </a:rPr>
              <a:t>Why it is wrong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8331200" y="2260600"/>
            <a:ext cx="314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5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True over the reals. Not observationally equivalent in IEEE-754: +0 minus +0 is +0, but negating +0 gives -0, and the two print differently.</a:t>
            </a:r>
          </a:p>
        </p:txBody>
      </p:sp>
      <p:sp>
        <p:nvSpPr>
          <p:cNvPr id="29" name="panel29"/>
          <p:cNvSpPr txBox="1"/>
          <p:nvPr/>
        </p:nvSpPr>
        <p:spPr>
          <a:xfrm>
            <a:off x="2489200" y="3810000"/>
            <a:ext cx="9169400" cy="1905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text30"/>
          <p:cNvSpPr txBox="1"/>
          <p:nvPr/>
        </p:nvSpPr>
        <p:spPr>
          <a:xfrm>
            <a:off x="2667000" y="3937000"/>
            <a:ext cx="8813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What we take from it</a:t>
            </a:r>
          </a:p>
        </p:txBody>
      </p:sp>
      <p:sp>
        <p:nvSpPr>
          <p:cNvPr id="31" name="text31"/>
          <p:cNvSpPr txBox="1"/>
          <p:nvPr/>
        </p:nvSpPr>
        <p:spPr>
          <a:xfrm>
            <a:off x="2692400" y="4216400"/>
            <a:ext cx="42799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97"/>
              </a:lnSpc>
              <a:buNone/>
            </a:pPr>
            <a:r>
              <a:rPr lang="en-US" sz="940" dirty="0" b="1">
                <a:solidFill>
                  <a:srgbClr val="E0A94A"/>
                </a:solidFill>
                <a:latin typeface="Segoe UI"/>
                <a:cs typeface="Segoe UI"/>
              </a:rPr>
              <a:t>Not a finding about floating point.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That algebraic identities valid over the reals are unsound in floating point is textbook, and production compilers gate exactly these rewrites behind fast-math.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7175500" y="4216400"/>
            <a:ext cx="42799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97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A finding about what a course can afford.</a:t>
            </a:r>
          </a:p>
          <a:p>
            <a:pPr algn="l">
              <a:lnSpc>
                <a:spcPts val="1241"/>
              </a:lnSpc>
              <a:spcBef>
                <a:spcPts val="7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A generator and a loop comparing two runs, which is a weekend of work, found a defect in a student-scale optimizer that reading the code had not, on an input nobody chose.</a:t>
            </a:r>
          </a:p>
        </p:txBody>
      </p:sp>
      <p:sp>
        <p:nvSpPr>
          <p:cNvPr id="33" name="rule33"/>
          <p:cNvSpPr txBox="1"/>
          <p:nvPr/>
        </p:nvSpPr>
        <p:spPr>
          <a:xfrm>
            <a:off x="2692400" y="5257800"/>
            <a:ext cx="87630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4" name="text34"/>
          <p:cNvSpPr txBox="1"/>
          <p:nvPr/>
        </p:nvSpPr>
        <p:spPr>
          <a:xfrm>
            <a:off x="2692400" y="5384800"/>
            <a:ext cx="876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80" dirty="0" i="1">
                <a:solidFill>
                  <a:srgbClr val="EFEAE0"/>
                </a:solidFill>
                <a:latin typeface="Segoe UI"/>
                <a:cs typeface="Segoe UI"/>
              </a:rPr>
              <a:t>The rewrite was removed. It saved no arithmetic anyway: a negation costs what a subtraction from zero costs.</a:t>
            </a:r>
          </a:p>
        </p:txBody>
      </p:sp>
      <p:sp>
        <p:nvSpPr>
          <p:cNvPr id="35" name="rule35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2489200" y="6388100"/>
            <a:ext cx="9169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750" dirty="0">
                <a:solidFill>
                  <a:srgbClr val="62C6A8"/>
                </a:solidFill>
                <a:latin typeface="Segoe UI"/>
                <a:cs typeface="Segoe UI"/>
              </a:rPr>
              <a:t>▪   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Over the hand-written examples the same check passes, and passing there shows only that the check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5E706A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ic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tic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tic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tic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ic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ic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tic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tic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558800"/>
            <a:ext cx="91694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20">
                <a:solidFill>
                  <a:srgbClr val="E0A94A"/>
                </a:solidFill>
                <a:latin typeface="Segoe UI"/>
                <a:cs typeface="Segoe UI"/>
              </a:rPr>
              <a:t>08</a:t>
            </a:r>
            <a:r>
              <a:rPr lang="en-US" sz="800" dirty="0" b="1" spc="140" cap="all">
                <a:solidFill>
                  <a:srgbClr val="5E706A"/>
                </a:solidFill>
                <a:latin typeface="Segoe UI"/>
                <a:cs typeface="Segoe UI"/>
              </a:rPr>
              <a:t>   ·   What it means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489200" y="7620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EFEAE0"/>
                </a:solidFill>
                <a:latin typeface="Georgia"/>
                <a:cs typeface="Georgia"/>
              </a:rPr>
              <a:t>The source language is a curricular decision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1219200"/>
            <a:ext cx="9169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It decides which phases can carry real work. That is the claim, and it is the one we can evidence.</a:t>
            </a:r>
          </a:p>
        </p:txBody>
      </p:sp>
      <p:sp>
        <p:nvSpPr>
          <p:cNvPr id="23" name="rule23"/>
          <p:cNvSpPr txBox="1"/>
          <p:nvPr/>
        </p:nvSpPr>
        <p:spPr>
          <a:xfrm>
            <a:off x="2489200" y="16510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panel24"/>
          <p:cNvSpPr txBox="1"/>
          <p:nvPr/>
        </p:nvSpPr>
        <p:spPr>
          <a:xfrm>
            <a:off x="2489200" y="1879600"/>
            <a:ext cx="4445000" cy="2489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2667000" y="2006600"/>
            <a:ext cx="408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What the domain bought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2667000" y="2311400"/>
            <a:ext cx="4089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Semantic analysis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became shape inference and dimension checking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2667000" y="2921000"/>
            <a:ext cx="4089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Code generation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gained instruction selection from inferred types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2667000" y="3530600"/>
            <a:ext cx="4089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Optimization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gained transformations and a way to score them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2667000" y="4140200"/>
            <a:ext cx="408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E2705F"/>
                </a:solidFill>
                <a:latin typeface="Segoe UI"/>
                <a:cs typeface="Segoe UI"/>
              </a:rPr>
              <a:t>It costs control-flow graphs and dataflow analysis.</a:t>
            </a:r>
          </a:p>
        </p:txBody>
      </p:sp>
      <p:sp>
        <p:nvSpPr>
          <p:cNvPr id="30" name="panel30"/>
          <p:cNvSpPr txBox="1"/>
          <p:nvPr/>
        </p:nvSpPr>
        <p:spPr>
          <a:xfrm>
            <a:off x="7137400" y="1879600"/>
            <a:ext cx="4521200" cy="2489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text31"/>
          <p:cNvSpPr txBox="1"/>
          <p:nvPr/>
        </p:nvSpPr>
        <p:spPr>
          <a:xfrm>
            <a:off x="7315200" y="2006600"/>
            <a:ext cx="416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2705F"/>
                </a:solidFill>
                <a:latin typeface="Segoe UI"/>
                <a:cs typeface="Segoe UI"/>
              </a:rPr>
              <a:t>What we do not claim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7315200" y="2311400"/>
            <a:ext cx="4089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50" dirty="0" b="1">
                <a:solidFill>
                  <a:srgbClr val="E2705F"/>
                </a:solidFill>
                <a:latin typeface="Segoe UI"/>
                <a:cs typeface="Segoe UI"/>
              </a:rPr>
              <a:t>✗  </a:t>
            </a: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students learn more. It has not been taught yet.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7315200" y="2743200"/>
            <a:ext cx="4089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50" dirty="0" b="1">
                <a:solidFill>
                  <a:srgbClr val="E2705F"/>
                </a:solidFill>
                <a:latin typeface="Segoe UI"/>
                <a:cs typeface="Segoe UI"/>
              </a:rPr>
              <a:t>✗  </a:t>
            </a: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the mechanisms are new. They are not.</a:t>
            </a:r>
          </a:p>
        </p:txBody>
      </p:sp>
      <p:sp>
        <p:nvSpPr>
          <p:cNvPr id="34" name="text34"/>
          <p:cNvSpPr txBox="1"/>
          <p:nvPr/>
        </p:nvSpPr>
        <p:spPr>
          <a:xfrm>
            <a:off x="7315200" y="3175000"/>
            <a:ext cx="4089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50" dirty="0" b="1">
                <a:solidFill>
                  <a:srgbClr val="E2705F"/>
                </a:solidFill>
                <a:latin typeface="Segoe UI"/>
                <a:cs typeface="Segoe UI"/>
              </a:rPr>
              <a:t>✗  </a:t>
            </a: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the magnitudes generalise. The corpus is ours.</a:t>
            </a:r>
          </a:p>
        </p:txBody>
      </p:sp>
      <p:sp>
        <p:nvSpPr>
          <p:cNvPr id="35" name="text35"/>
          <p:cNvSpPr txBox="1"/>
          <p:nvPr/>
        </p:nvSpPr>
        <p:spPr>
          <a:xfrm>
            <a:off x="7315200" y="3606800"/>
            <a:ext cx="4089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50" dirty="0" b="1">
                <a:solidFill>
                  <a:srgbClr val="E2705F"/>
                </a:solidFill>
                <a:latin typeface="Segoe UI"/>
                <a:cs typeface="Segoe UI"/>
              </a:rPr>
              <a:t>✗  </a:t>
            </a: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three repositories are a sample.</a:t>
            </a:r>
          </a:p>
        </p:txBody>
      </p:sp>
      <p:sp>
        <p:nvSpPr>
          <p:cNvPr id="36" name="panel36"/>
          <p:cNvSpPr txBox="1"/>
          <p:nvPr/>
        </p:nvSpPr>
        <p:spPr>
          <a:xfrm>
            <a:off x="2489200" y="4572000"/>
            <a:ext cx="9169400" cy="965200"/>
          </a:xfrm>
          <a:prstGeom prst="roundRect">
            <a:avLst>
              <a:gd name="adj" fmla="val 22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7" name="tick37"/>
          <p:cNvSpPr txBox="1"/>
          <p:nvPr/>
        </p:nvSpPr>
        <p:spPr>
          <a:xfrm>
            <a:off x="2514600" y="4673600"/>
            <a:ext cx="44450" cy="7620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text38"/>
          <p:cNvSpPr txBox="1"/>
          <p:nvPr/>
        </p:nvSpPr>
        <p:spPr>
          <a:xfrm>
            <a:off x="2768600" y="4572000"/>
            <a:ext cx="86360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EFEAE0"/>
                </a:solidFill>
                <a:latin typeface="Segoe UI"/>
                <a:cs typeface="Segoe UI"/>
              </a:rPr>
              <a:t>Whatever the domain, if the type system carries enough to cost a program statically, a student's optimizer can be scored on the work it removes rather than the lines it removes. The two are not close.</a:t>
            </a:r>
          </a:p>
        </p:txBody>
      </p:sp>
      <p:sp>
        <p:nvSpPr>
          <p:cNvPr id="39" name="rule39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0" name="text40"/>
          <p:cNvSpPr txBox="1"/>
          <p:nvPr/>
        </p:nvSpPr>
        <p:spPr>
          <a:xfrm>
            <a:off x="2489200" y="6388100"/>
            <a:ext cx="9169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750" dirty="0">
                <a:solidFill>
                  <a:srgbClr val="E0A94A"/>
                </a:solidFill>
                <a:latin typeface="Segoe UI"/>
                <a:cs typeface="Segoe UI"/>
              </a:rPr>
              <a:t>▪   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Paper, compiler, generator and measurement scripts are in the repository. Next: teach it, and find 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rixLang">
  <a:themeElements>
    <a:clrScheme name="MatrixLang">
      <a:dk1>
        <a:srgbClr val="14261F"/>
      </a:dk1>
      <a:lt1>
        <a:srgbClr val="FFFFFF"/>
      </a:lt1>
      <a:dk2>
        <a:srgbClr val="3F4F49"/>
      </a:dk2>
      <a:lt2>
        <a:srgbClr val="FAF7F2"/>
      </a:lt2>
      <a:accent1>
        <a:srgbClr val="0E7C6B"/>
      </a:accent1>
      <a:accent2>
        <a:srgbClr val="B4690E"/>
      </a:accent2>
      <a:accent3>
        <a:srgbClr val="9E2B3F"/>
      </a:accent3>
      <a:accent4>
        <a:srgbClr val="7C8B85"/>
      </a:accent4>
      <a:accent5>
        <a:srgbClr val="E3DDD2"/>
      </a:accent5>
      <a:accent6>
        <a:srgbClr val="16221E"/>
      </a:accent6>
      <a:hlink>
        <a:srgbClr val="0E7C6B"/>
      </a:hlink>
      <a:folHlink>
        <a:srgbClr val="7C8B85"/>
      </a:folHlink>
    </a:clrScheme>
    <a:fontScheme name="MatrixLang">
      <a:majorFont>
        <a:latin typeface="Georgia"/>
        <a:ea typeface=""/>
        <a:cs typeface=""/>
      </a:majorFont>
      <a:minorFont>
        <a:latin typeface="Segoe UI"/>
        <a:ea typeface=""/>
        <a:cs typeface=""/>
      </a:minorFont>
    </a:fontScheme>
    <a:fmtScheme name="MatrixLa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</Slides>
  <TitlesOfParts>
    <vt:vector size="1" baseType="lpstr">
      <vt:lpstr>MatrixLang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MatrixLang</dc:title>
  <dc:creator>A Aswanth Raj</dc:creator>
  <cp:lastModifiedBy>A Aswanth Raj</cp:lastModifiedBy>
</cp:coreProperties>
</file>