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81530e2-7647-1d4e-676a-6aa417adf2aa}">
          <p14:sldIdLst>
            <p14:sldId id="256"/>
            <p14:sldId id="257"/>
            <p14:sldId id="258"/>
          </p14:sldIdLst>
        </p14:section>
        <p14:section name="Approach" id="{fa01999a-de2d-1996-8046-c9cd4e184c43}">
          <p14:sldIdLst>
            <p14:sldId id="259"/>
            <p14:sldId id="260"/>
            <p14:sldId id="261"/>
          </p14:sldIdLst>
        </p14:section>
        <p14:section name="Results" id="{4a3b923a-1a1e-0a19-47e4-7aa1e6daa7b5}">
          <p14:sldIdLst>
            <p14:sldId id="262"/>
            <p14:sldId id="263"/>
            <p14:sldId id="264"/>
          </p14:sldIdLst>
        </p14:section>
        <p14:section name="Conclusion" id="{69900a46-4b25-59b3-ccbf-9611971af20e}">
          <p14:sldIdLst>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ExactReduce (strict bits)</c:v>
                </c:pt>
              </c:strCache>
            </c:strRef>
          </c:tx>
          <c:spPr>
            <a:solidFill>
              <a:srgbClr val="F5B83D"/>
            </a:solidFill>
            <a:effectLst/>
          </c:spPr>
          <c:invertIfNegative val="0"/>
          <c:dLbls>
            <c:numFmt formatCode="0.0" sourceLinked="0"/>
            <c:txPr>
              <a:bodyPr/>
              <a:lstStyle/>
              <a:p>
                <a:pPr>
                  <a:defRPr b="0" i="0" strike="noStrike" sz="1000" u="none">
                    <a:solidFill>
                      <a:srgbClr val="E8E1D3"/>
                    </a:solidFill>
                    <a:latin typeface="+mn-lt"/>
                  </a:defRPr>
                </a:pPr>
              </a:p>
            </c:txPr>
            <c:showLegendKey val="0"/>
            <c:showVal val="1"/>
            <c:showCatName val="0"/>
            <c:showSerName val="0"/>
            <c:showPercent val="0"/>
            <c:showBubbleSize val="0"/>
            <c:showLeaderLines val="0"/>
          </c:dLbls>
          <c:cat>
            <c:multiLvlStrRef>
              <c:f>Sheet1!$A$2:$A$10</c:f>
              <c:multiLvlStrCache>
                <c:ptCount val="9"/>
                <c:lvl>
                  <c:pt idx="0">
                    <c:v>Pixel sum</c:v>
                  </c:pt>
                  <c:pt idx="1">
                    <c:v>Sum sq.</c:v>
                  </c:pt>
                  <c:pt idx="2">
                    <c:v>Gram</c:v>
                  </c:pt>
                  <c:pt idx="3">
                    <c:v>int8 model</c:v>
                  </c:pt>
                  <c:pt idx="4">
                    <c:v>Degrees</c:v>
                  </c:pt>
                  <c:pt idx="5">
                    <c:v>2-walks</c:v>
                  </c:pt>
                  <c:pt idx="6">
                    <c:v>GEMM</c:v>
                  </c:pt>
                  <c:pt idx="7">
                    <c:v>Energy</c:v>
                  </c:pt>
                  <c:pt idx="8">
                    <c:v>int32 sum</c:v>
                  </c:pt>
                </c:lvl>
              </c:multiLvlStrCache>
            </c:multiLvlStrRef>
          </c:cat>
          <c:val>
            <c:numRef>
              <c:f>Sheet1!$B$2:$B$10</c:f>
              <c:numCache>
                <c:formatCode>General</c:formatCode>
                <c:ptCount val="9"/>
                <c:pt idx="0">
                  <c:v>6.5</c:v>
                </c:pt>
                <c:pt idx="1">
                  <c:v>6.31</c:v>
                </c:pt>
                <c:pt idx="2">
                  <c:v>5.42</c:v>
                </c:pt>
                <c:pt idx="3">
                  <c:v>9.71</c:v>
                </c:pt>
                <c:pt idx="4">
                  <c:v>9.19</c:v>
                </c:pt>
                <c:pt idx="5">
                  <c:v>5.69</c:v>
                </c:pt>
                <c:pt idx="6">
                  <c:v>5.09</c:v>
                </c:pt>
                <c:pt idx="7">
                  <c:v>9.15</c:v>
                </c:pt>
                <c:pt idx="8">
                  <c:v>8.36</c:v>
                </c:pt>
              </c:numCache>
            </c:numRef>
          </c:val>
        </c:ser>
        <c:ser>
          <c:idx val="1"/>
          <c:order val="1"/>
          <c:tx>
            <c:strRef>
              <c:f>Sheet1!$C$1</c:f>
              <c:strCache>
                <c:ptCount val="1"/>
                <c:pt idx="0">
                  <c:v>-ffast-math</c:v>
                </c:pt>
              </c:strCache>
            </c:strRef>
          </c:tx>
          <c:spPr>
            <a:solidFill>
              <a:srgbClr val="5C5C63"/>
            </a:solidFill>
            <a:effectLst/>
          </c:spPr>
          <c:invertIfNegative val="0"/>
          <c:dLbls>
            <c:numFmt formatCode="0.0" sourceLinked="0"/>
            <c:txPr>
              <a:bodyPr/>
              <a:lstStyle/>
              <a:p>
                <a:pPr>
                  <a:defRPr b="0" i="0" strike="noStrike" sz="1000" u="none">
                    <a:solidFill>
                      <a:srgbClr val="E8E1D3"/>
                    </a:solidFill>
                    <a:latin typeface="+mn-lt"/>
                  </a:defRPr>
                </a:pPr>
              </a:p>
            </c:txPr>
            <c:showLegendKey val="0"/>
            <c:showVal val="1"/>
            <c:showCatName val="0"/>
            <c:showSerName val="0"/>
            <c:showPercent val="0"/>
            <c:showBubbleSize val="0"/>
            <c:showLeaderLines val="0"/>
          </c:dLbls>
          <c:cat>
            <c:multiLvlStrRef>
              <c:f>Sheet1!$A$2:$A$10</c:f>
              <c:multiLvlStrCache>
                <c:ptCount val="9"/>
                <c:lvl>
                  <c:pt idx="0">
                    <c:v>Pixel sum</c:v>
                  </c:pt>
                  <c:pt idx="1">
                    <c:v>Sum sq.</c:v>
                  </c:pt>
                  <c:pt idx="2">
                    <c:v>Gram</c:v>
                  </c:pt>
                  <c:pt idx="3">
                    <c:v>int8 model</c:v>
                  </c:pt>
                  <c:pt idx="4">
                    <c:v>Degrees</c:v>
                  </c:pt>
                  <c:pt idx="5">
                    <c:v>2-walks</c:v>
                  </c:pt>
                  <c:pt idx="6">
                    <c:v>GEMM</c:v>
                  </c:pt>
                  <c:pt idx="7">
                    <c:v>Energy</c:v>
                  </c:pt>
                  <c:pt idx="8">
                    <c:v>int32 sum</c:v>
                  </c:pt>
                </c:lvl>
              </c:multiLvlStrCache>
            </c:multiLvlStrRef>
          </c:cat>
          <c:val>
            <c:numRef>
              <c:f>Sheet1!$C$2:$C$10</c:f>
              <c:numCache>
                <c:formatCode>General</c:formatCode>
                <c:ptCount val="9"/>
                <c:pt idx="0">
                  <c:v>6.57</c:v>
                </c:pt>
                <c:pt idx="1">
                  <c:v>6.21</c:v>
                </c:pt>
                <c:pt idx="2">
                  <c:v>5.33</c:v>
                </c:pt>
                <c:pt idx="3">
                  <c:v>10.18</c:v>
                </c:pt>
                <c:pt idx="4">
                  <c:v>9.25</c:v>
                </c:pt>
                <c:pt idx="5">
                  <c:v>5.77</c:v>
                </c:pt>
                <c:pt idx="6">
                  <c:v>5.35</c:v>
                </c:pt>
                <c:pt idx="7">
                  <c:v>9.39</c:v>
                </c:pt>
                <c:pt idx="8">
                  <c:v>8.75</c:v>
                </c:pt>
              </c:numCache>
            </c:numRef>
          </c:val>
        </c:ser>
        <c:dLbls>
          <c:numFmt formatCode="0.0" sourceLinked="0"/>
          <c:txPr>
            <a:bodyPr/>
            <a:lstStyle/>
            <a:p>
              <a:pPr>
                <a:defRPr b="0" i="0" strike="noStrike" sz="1000" u="none">
                  <a:solidFill>
                    <a:srgbClr val="E8E1D3"/>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8F8F8F"/>
                </a:solidFill>
                <a:latin typeface="+mn-lt"/>
              </a:defRPr>
            </a:pPr>
            <a:endParaRPr lang="en-US"/>
          </a:p>
        </c:txPr>
        <c:crossAx val="2094734552"/>
        <c:crosses val="autoZero"/>
        <c:auto val="1"/>
        <c:lblAlgn val="ctr"/>
        <c:noMultiLvlLbl val="1"/>
      </c:catAx>
      <c:valAx>
        <c:axId val="2094734552"/>
        <c:scaling>
          <c:orientation val="minMax"/>
          <c:max val="12"/>
          <c:min val="0"/>
        </c:scaling>
        <c:delete val="0"/>
        <c:axPos val="l"/>
        <c:majorGridlines>
          <c:spPr>
            <a:ln w="9525" cap="flat">
              <a:solidFill>
                <a:srgbClr val="232327"/>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C5C63"/>
                </a:solidFill>
                <a:latin typeface="+mn-lt"/>
              </a:defRPr>
            </a:pPr>
            <a:endParaRPr lang="en-US"/>
          </a:p>
        </c:txPr>
        <c:crossAx val="2094734554"/>
        <c:crosses val="autoZero"/>
        <c:crossBetween val="between"/>
        <c:majorUnit val="3"/>
      </c:valAx>
      <c:spPr>
        <a:noFill/>
        <a:ln>
          <a:noFill/>
        </a:ln>
        <a:effectLst/>
      </c:spPr>
    </c:plotArea>
    <c:legend>
      <c:legendPos val="t"/>
      <c:overlay val="0"/>
      <c:txPr>
        <a:bodyPr/>
        <a:lstStyle/>
        <a:p>
          <a:pPr>
            <a:defRPr sz="1200">
              <a:solidFill>
                <a:srgbClr val="E8E1D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strict</c:v>
                </c:pt>
              </c:strCache>
            </c:strRef>
          </c:tx>
          <c:spPr>
            <a:solidFill>
              <a:srgbClr val="5C5C63"/>
            </a:solidFill>
            <a:effectLst/>
          </c:spPr>
          <c:invertIfNegative val="0"/>
          <c:dLbls>
            <c:numFmt formatCode="0" sourceLinked="0"/>
            <c:txPr>
              <a:bodyPr/>
              <a:lstStyle/>
              <a:p>
                <a:pPr>
                  <a:defRPr b="0" i="0" strike="noStrike" sz="1000" u="none">
                    <a:solidFill>
                      <a:srgbClr val="E8E1D3"/>
                    </a:solidFill>
                    <a:latin typeface="+mn-lt"/>
                  </a:defRPr>
                </a:pPr>
              </a:p>
            </c:txPr>
            <c:showLegendKey val="0"/>
            <c:showVal val="1"/>
            <c:showCatName val="0"/>
            <c:showSerName val="0"/>
            <c:showPercent val="0"/>
            <c:showBubbleSize val="0"/>
            <c:showLeaderLines val="0"/>
          </c:dLbls>
          <c:cat>
            <c:multiLvlStrRef>
              <c:f>Sheet1!$A$2:$A$10</c:f>
              <c:multiLvlStrCache>
                <c:ptCount val="9"/>
                <c:lvl>
                  <c:pt idx="0">
                    <c:v>bool</c:v>
                  </c:pt>
                  <c:pt idx="1">
                    <c:v>uint8</c:v>
                  </c:pt>
                  <c:pt idx="2">
                    <c:v>int8</c:v>
                  </c:pt>
                  <c:pt idx="3">
                    <c:v>int16</c:v>
                  </c:pt>
                  <c:pt idx="4">
                    <c:v>int32</c:v>
                  </c:pt>
                  <c:pt idx="5">
                    <c:v>dyadic</c:v>
                  </c:pt>
                  <c:pt idx="6">
                    <c:v>mixed</c:v>
                  </c:pt>
                  <c:pt idx="7">
                    <c:v>real(1)</c:v>
                  </c:pt>
                  <c:pt idx="8">
                    <c:v>real</c:v>
                  </c:pt>
                </c:lvl>
              </c:multiLvlStrCache>
            </c:multiLvlStrRef>
          </c:cat>
          <c:val>
            <c:numRef>
              <c:f>Sheet1!$B$2:$B$10</c:f>
              <c:numCache>
                <c:formatCode>General</c:formatCode>
                <c:ptCount val="9"/>
                <c:pt idx="0">
                  <c:v>98.8</c:v>
                </c:pt>
                <c:pt idx="1">
                  <c:v>77.8</c:v>
                </c:pt>
                <c:pt idx="2">
                  <c:v>83.6</c:v>
                </c:pt>
                <c:pt idx="3">
                  <c:v>34.4</c:v>
                </c:pt>
                <c:pt idx="4">
                  <c:v>35.8</c:v>
                </c:pt>
                <c:pt idx="5">
                  <c:v>90.2</c:v>
                </c:pt>
                <c:pt idx="6">
                  <c:v>37.9</c:v>
                </c:pt>
                <c:pt idx="7">
                  <c:v>25.9</c:v>
                </c:pt>
                <c:pt idx="8">
                  <c:v>8.4</c:v>
                </c:pt>
              </c:numCache>
            </c:numRef>
          </c:val>
        </c:ser>
        <c:ser>
          <c:idx val="1"/>
          <c:order val="1"/>
          <c:tx>
            <c:strRef>
              <c:f>Sheet1!$C$1</c:f>
              <c:strCache>
                <c:ptCount val="1"/>
                <c:pt idx="0">
                  <c:v>bounded</c:v>
                </c:pt>
              </c:strCache>
            </c:strRef>
          </c:tx>
          <c:spPr>
            <a:solidFill>
              <a:srgbClr val="F5B83D"/>
            </a:solidFill>
            <a:effectLst/>
          </c:spPr>
          <c:invertIfNegative val="0"/>
          <c:dLbls>
            <c:numFmt formatCode="0" sourceLinked="0"/>
            <c:txPr>
              <a:bodyPr/>
              <a:lstStyle/>
              <a:p>
                <a:pPr>
                  <a:defRPr b="0" i="0" strike="noStrike" sz="1000" u="none">
                    <a:solidFill>
                      <a:srgbClr val="E8E1D3"/>
                    </a:solidFill>
                    <a:latin typeface="+mn-lt"/>
                  </a:defRPr>
                </a:pPr>
              </a:p>
            </c:txPr>
            <c:showLegendKey val="0"/>
            <c:showVal val="1"/>
            <c:showCatName val="0"/>
            <c:showSerName val="0"/>
            <c:showPercent val="0"/>
            <c:showBubbleSize val="0"/>
            <c:showLeaderLines val="0"/>
          </c:dLbls>
          <c:cat>
            <c:multiLvlStrRef>
              <c:f>Sheet1!$A$2:$A$10</c:f>
              <c:multiLvlStrCache>
                <c:ptCount val="9"/>
                <c:lvl>
                  <c:pt idx="0">
                    <c:v>bool</c:v>
                  </c:pt>
                  <c:pt idx="1">
                    <c:v>uint8</c:v>
                  </c:pt>
                  <c:pt idx="2">
                    <c:v>int8</c:v>
                  </c:pt>
                  <c:pt idx="3">
                    <c:v>int16</c:v>
                  </c:pt>
                  <c:pt idx="4">
                    <c:v>int32</c:v>
                  </c:pt>
                  <c:pt idx="5">
                    <c:v>dyadic</c:v>
                  </c:pt>
                  <c:pt idx="6">
                    <c:v>mixed</c:v>
                  </c:pt>
                  <c:pt idx="7">
                    <c:v>real(1)</c:v>
                  </c:pt>
                  <c:pt idx="8">
                    <c:v>real</c:v>
                  </c:pt>
                </c:lvl>
              </c:multiLvlStrCache>
            </c:multiLvlStrRef>
          </c:cat>
          <c:val>
            <c:numRef>
              <c:f>Sheet1!$C$2:$C$10</c:f>
              <c:numCache>
                <c:formatCode>General</c:formatCode>
                <c:ptCount val="9"/>
                <c:pt idx="0">
                  <c:v>100</c:v>
                </c:pt>
                <c:pt idx="1">
                  <c:v>100</c:v>
                </c:pt>
                <c:pt idx="2">
                  <c:v>100</c:v>
                </c:pt>
                <c:pt idx="3">
                  <c:v>100</c:v>
                </c:pt>
                <c:pt idx="4">
                  <c:v>100</c:v>
                </c:pt>
                <c:pt idx="5">
                  <c:v>100</c:v>
                </c:pt>
                <c:pt idx="6">
                  <c:v>82.9</c:v>
                </c:pt>
                <c:pt idx="7">
                  <c:v>43.7</c:v>
                </c:pt>
                <c:pt idx="8">
                  <c:v>21.2</c:v>
                </c:pt>
              </c:numCache>
            </c:numRef>
          </c:val>
        </c:ser>
        <c:dLbls>
          <c:numFmt formatCode="0" sourceLinked="0"/>
          <c:txPr>
            <a:bodyPr/>
            <a:lstStyle/>
            <a:p>
              <a:pPr>
                <a:defRPr b="0" i="0" strike="noStrike" sz="1000" u="none">
                  <a:solidFill>
                    <a:srgbClr val="E8E1D3"/>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8F8F8F"/>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232327"/>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C5C63"/>
                </a:solidFill>
                <a:latin typeface="+mn-lt"/>
              </a:defRPr>
            </a:pPr>
            <a:endParaRPr lang="en-US"/>
          </a:p>
        </c:txPr>
        <c:crossAx val="2094734554"/>
        <c:crosses val="autoZero"/>
        <c:crossBetween val="between"/>
        <c:majorUnit val="25"/>
      </c:valAx>
      <c:spPr>
        <a:noFill/>
        <a:ln>
          <a:noFill/>
        </a:ln>
        <a:effectLst/>
      </c:spPr>
    </c:plotArea>
    <c:legend>
      <c:legendPos val="t"/>
      <c:overlay val="0"/>
      <c:txPr>
        <a:bodyPr/>
        <a:lstStyle/>
        <a:p>
          <a:pPr>
            <a:defRPr sz="1200">
              <a:solidFill>
                <a:srgbClr val="E8E1D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Compilers either keep floating-point evaluation order exactly (strict) or drop it wholesale (fast-math). We show that facts about the input values let a compiler prove, rewrite by rewrite, which guarantee is kept, and label every output with it. Two implementations: the MatrixLang compiler and the ExactReduce LLVM pass. Revised manuscript, October 2026.
Source: https://github.com/aswanth-07/matrixlang/blob/main/paper/matrixlang.tex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floating-point operation rounds, so (0.1 + 0.2) + 0.3 = 0.6000000000000001 while 0.1 + (0.2 + 0.3) = 0.6. Strict IEEE compilation therefore never reorders, even when the input values would make reordering exact. -ffast-math grants permissions, but a permission says what the compiler may do, not what the result is. 5-10x is the measured fast-math speedup range over strict Clang 18 on our nine integer-data kernels.
Source: https://github.com/aswanth-07/matrixlang/blob/main/paper/matrixlang.tex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motivating example of the paper. Source order builds a 100x100 intermediate; A(BC) builds a 2x2 one. Strict compilers may not reorder because rounding can change the result. But if A, B and C hold 8-bit integers, every product and partial sum is an integer of at most 29 bits, so both orders give the same bits and even a strict compiler may reorder.
Source: https://github.com/aswanth-07/matrixlang/blob/main/paper/matrixlang.tex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rewrite is classified as bit-identical, bound-preserving or relaxed, from facts about the values. The contract decides which levels may be applied: strict only bit-identical, bounded also bound-preserving, algebraic everything. A declaration of reals in [-1, 1] alone is not enough for bound-preserving, because it admits inexact underflow.
Source: https://github.com/aswanth-07/matrixlang/blob/main/paper/matrixlang.tex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front ends feed the same reasoning. MatrixLang reads declared input domains and checks each input against its domain at load time. ExactReduce derives the facts from integer conversions in ordinary C and, when the length is only known at run time, checks the condition once on loop entry with a strict fallback loop. Facts are a grid (every value a multiple of 2^G) and a magnitude. The obligations come from three results: correctly rounded chains, guarded reductions and bracketing invariance of the error bound. Certificates can be exported and replayed independently in exact arithmetic.
Source: https://github.com/aswanth-07/matrixlang/blob/main/paper/matrixlang.tex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reviewer's counterexample, reproduced through MatrixLang. The bounded check now requires a representable product grid in addition to a magnitude ceiling and slack for accumulated error. This excludes inexact underflow but still allows exact subnormal results. A general real(1) chain is now refused. RQ1 (15,000 programs, 60,000 compilations) and RQ2 (4,800 programs, 57,600 executions) were replayed on a separately built compiler with zero errors. Four regression tests were added.
Source: https://github.com/aswanth-07/matrixlang/blob/main/paper/review-response.md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ExactReduce in the tested Clang 18 pipeline on real MNIST and Cora data plus generated data; medians of five processes with eleven runs each. Every licensed build printed the strict bits. Real-valued sums (a dot product, a binary32 sum) are declined by design. The integer-accumulation route runs at a median 102% of hand-written integer code.
Source: https://github.com/aswanth-07/matrixlang/blob/main/paper/generated/tab-llvm-bench.tex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RQ1, post-repair replay. Recovery is the share of the algebraic contract's modeled arithmetic saving that a contract keeps. Strict already keeps most on small integers because those rewrites are bit-identical. Real-valued domains keep less after the underflow repair; that is deliberate.
Source: https://github.com/aswanth-07/matrixlang/blob/main/paper/generated-review/tab-recovery.tex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RQ2: 4,800 programs x 3 input seeds x 4 arms, post-repair. RQ8: 784 adversarial cases for each licensed and integer-accumulating build: all-maximum, cancelling and odd-maximum inputs at each guard's limit, one past it and twice it. A mutant that admits one extra bit is caught on 10 cases, so the condition cannot be relaxed. Certificates: 221 programs, 660 accepted compilations, 166 bit-identical and 96 bound-preserving records; conditional on the supplied facts.
Source: https://github.com/aswanth-07/matrixlang/blob/main/results/review-revision/certificates/verification.json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RQ9: the pass licensed 23 of 109 floating-point add reductions in audioop, Pillow, SciPy ndimage and PolyBench/C, all behind a guard (16 in audioop, 7 in Pillow; ndimage and PolyBench sum real data and are correctly declined). These are selected code bases, not a general coverage claim. Compile time 138 to 178 ms; text 4,149 to 5,801 bytes. LLVM's reassoc flag permits more than regrouping the same terms, so the theorem is not a proof of the whole pipeline.
Source: https://github.com/aswanth-07/matrixlang/blob/main/paper/generated/tab-llvm-scan.tex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instead of an on/off switch, the compiler proves which guarantee each rewrite keeps and labels every output. Build and test: make &amp;&amp; make test; the LLVM pass needs LLVM/Clang 18: make -C llvm &amp;&amp; make -C llvm test. Repository: https://github.com/aswanth-07/matrixlang
Source: https://github.com/aswanth-07/matrixlang/blob/main/paper/README.md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7863840" cy="21945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881360" cy="320040"/>
          </a:xfrm>
          <a:prstGeom prst="rect">
            <a:avLst/>
          </a:prstGeom>
          <a:noFill/>
          <a:ln/>
        </p:spPr>
        <p:txBody>
          <a:bodyPr wrap="square" rtlCol="0"/>
          <a:lstStyle>
            <a:lvl1pPr algn="l" indent="0" marL="0">
              <a:buNone/>
              <a:defRPr lang="en-US" sz="1200" b="1" spc="400" kern="0" dirty="0">
                <a:solidFill>
                  <a:schemeClr val="accent1"/>
                </a:solidFill>
              </a:defRPr>
            </a:lvl1pPr>
          </a:lstStyle>
          <a:p>
            <a:pPr algn="l" indent="0" marL="0">
              <a:buNone/>
            </a:pPr>
            <a:endParaRPr lang="en-US" sz="1200" dirty="0"/>
          </a:p>
        </p:txBody>
      </p:sp>
      <p:sp>
        <p:nvSpPr>
          <p:cNvPr id="3" name="Text 0"/>
          <p:cNvSpPr/>
          <p:nvPr>
            <p:ph idx="101" type="title" hasCustomPrompt="1"/>
          </p:nvPr>
        </p:nvSpPr>
        <p:spPr>
          <a:xfrm>
            <a:off x="640080" y="731520"/>
            <a:ext cx="10881360" cy="82296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4" name="Text 0"/>
          <p:cNvSpPr/>
          <p:nvPr/>
        </p:nvSpPr>
        <p:spPr>
          <a:xfrm>
            <a:off x="640080" y="6355080"/>
            <a:ext cx="4572000" cy="274320"/>
          </a:xfrm>
          <a:prstGeom prst="rect">
            <a:avLst/>
          </a:prstGeom>
          <a:noFill/>
          <a:ln/>
        </p:spPr>
        <p:txBody>
          <a:bodyPr wrap="square" lIns="0" tIns="0" rIns="0" bIns="0" rtlCol="0" anchor="ctr"/>
          <a:lstStyle/>
          <a:p>
            <a:pPr indent="0" marL="0">
              <a:buNone/>
            </a:pPr>
            <a:r>
              <a:rPr lang="en-US" sz="1000" dirty="0">
                <a:solidFill>
                  <a:schemeClr val="accent6"/>
                </a:solidFill>
              </a:rPr>
              <a:t>github.com/aswanth-07/matrixlang</a:t>
            </a:r>
            <a:endParaRPr lang="en-US" sz="1000" dirty="0"/>
          </a:p>
        </p:txBody>
      </p:sp>
      <p:sp>
        <p:nvSpPr>
          <p:cNvPr id="25" name="Slide Number Placeholder 0"/>
          <p:cNvSpPr>
            <a:spLocks noGrp="1"/>
          </p:cNvSpPr>
          <p:nvPr>
            <p:ph type="sldNum" sz="quarter" idx="4294967295"/>
          </p:nvPr>
        </p:nvSpPr>
        <p:spPr>
          <a:xfrm>
            <a:off x="11064240" y="63550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550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github.com/aswanth-07/matrixlang" TargetMode="External"/><Relationship Id="rId4" Type="http://schemas.openxmlformats.org/officeDocument/2006/relationships/hyperlink" Target="https://github.com/aswanth-07/matrixlang" TargetMode="External"/><Relationship Id="rId1" Type="http://schemas.openxmlformats.org/officeDocument/2006/relationships/image" Target="../media/image-1-1.png"/><Relationship Id="rId3" Type="http://schemas.openxmlformats.org/officeDocument/2006/relationships/image" Target="../media/image-1-2.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hyperlink" Target="https://github.com/aswanth-07/matrixlang" TargetMode="External"/><Relationship Id="rId4" Type="http://schemas.openxmlformats.org/officeDocument/2006/relationships/hyperlink" Target="https://github.com/aswanth-07/matrixlang" TargetMode="External"/><Relationship Id="rId1" Type="http://schemas.openxmlformats.org/officeDocument/2006/relationships/image" Target="../media/image-11-1.png"/><Relationship Id="rId3" Type="http://schemas.openxmlformats.org/officeDocument/2006/relationships/image" Target="../media/image-11-2.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051560"/>
            <a:ext cx="7315200" cy="365760"/>
          </a:xfrm>
          <a:prstGeom prst="rect">
            <a:avLst/>
          </a:prstGeom>
          <a:noFill/>
          <a:ln/>
        </p:spPr>
        <p:txBody>
          <a:bodyPr wrap="square" lIns="0" tIns="0" rIns="0" bIns="0" rtlCol="0" anchor="t"/>
          <a:lstStyle/>
          <a:p>
            <a:pPr indent="0" marL="0">
              <a:buNone/>
            </a:pPr>
            <a:r>
              <a:rPr lang="en-US" sz="1300" b="1" spc="500" kern="0" dirty="0">
                <a:solidFill>
                  <a:schemeClr val="accent1"/>
                </a:solidFill>
              </a:rPr>
              <a:t>MATRIXLANG  ·  EXACTREDUCE</a:t>
            </a:r>
            <a:endParaRPr lang="en-US" sz="1300" dirty="0"/>
          </a:p>
        </p:txBody>
      </p:sp>
      <p:sp>
        <p:nvSpPr>
          <p:cNvPr id="3" name="Text 0"/>
          <p:cNvSpPr/>
          <p:nvPr>
            <p:ph idx="100" type="title" hasCustomPrompt="1"/>
          </p:nvPr>
        </p:nvSpPr>
        <p:spPr>
          <a:xfrm>
            <a:off x="731520" y="1463040"/>
            <a:ext cx="7863840" cy="2194560"/>
          </a:xfrm>
          <a:prstGeom prst="rect">
            <a:avLst/>
          </a:prstGeom>
          <a:noFill/>
          <a:ln/>
        </p:spPr>
        <p:txBody>
          <a:bodyPr wrap="square" lIns="0" tIns="0" rIns="0" bIns="0" rtlCol="0" anchor="b"/>
          <a:lstStyle/>
          <a:p>
            <a:pPr algn="l" indent="0" marL="0">
              <a:buNone/>
            </a:pPr>
            <a:r>
              <a:rPr lang="en-US" sz="4400" b="1" dirty="0">
                <a:solidFill>
                  <a:schemeClr val="bg1"/>
                </a:solidFill>
              </a:rPr>
              <a:t>Proof-Guided Floating‑Point Optimization</a:t>
            </a:r>
            <a:endParaRPr lang="en-US" sz="4400" dirty="0"/>
          </a:p>
        </p:txBody>
      </p:sp>
      <p:sp>
        <p:nvSpPr>
          <p:cNvPr id="4" name="Text 2"/>
          <p:cNvSpPr txBox="1"/>
          <p:nvPr/>
        </p:nvSpPr>
        <p:spPr>
          <a:xfrm>
            <a:off x="731520" y="3794760"/>
            <a:ext cx="7315200" cy="457200"/>
          </a:xfrm>
          <a:prstGeom prst="rect">
            <a:avLst/>
          </a:prstGeom>
          <a:noFill/>
          <a:ln/>
        </p:spPr>
        <p:txBody>
          <a:bodyPr wrap="square" lIns="0" tIns="0" rIns="0" bIns="0" rtlCol="0" anchor="t"/>
          <a:lstStyle/>
          <a:p>
            <a:pPr indent="0" marL="0">
              <a:buNone/>
            </a:pPr>
            <a:r>
              <a:rPr lang="en-US" sz="2000" i="1" dirty="0">
                <a:solidFill>
                  <a:schemeClr val="bg2"/>
                </a:solidFill>
              </a:rPr>
              <a:t>Exact Reassociation, Error Bounds, and Compiler Certificates</a:t>
            </a:r>
            <a:endParaRPr lang="en-US" sz="2000" dirty="0"/>
          </a:p>
        </p:txBody>
      </p:sp>
      <p:sp>
        <p:nvSpPr>
          <p:cNvPr id="5" name="Text 3"/>
          <p:cNvSpPr txBox="1"/>
          <p:nvPr/>
        </p:nvSpPr>
        <p:spPr>
          <a:xfrm>
            <a:off x="731520" y="4892040"/>
            <a:ext cx="7315200" cy="731520"/>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A Aswanth Raj   ·   Dr. Ranjithkumar S</a:t>
            </a:r>
            <a:endParaRPr lang="en-US" sz="1600" dirty="0"/>
          </a:p>
          <a:p>
            <a:pPr indent="0" marL="0">
              <a:spcAft>
                <a:spcPts val="400"/>
              </a:spcAft>
              <a:buNone/>
            </a:pPr>
            <a:r>
              <a:rPr lang="en-US" sz="1600" dirty="0">
                <a:solidFill>
                  <a:schemeClr val="accent4"/>
                </a:solidFill>
              </a:rPr>
              <a:t>School of Computer Science and Engineering, VIT Vellore</a:t>
            </a:r>
            <a:endParaRPr lang="en-US" sz="1600" dirty="0"/>
          </a:p>
        </p:txBody>
      </p:sp>
      <p:sp>
        <p:nvSpPr>
          <p:cNvPr id="6" name="repo card"/>
          <p:cNvSpPr/>
          <p:nvPr/>
        </p:nvSpPr>
        <p:spPr>
          <a:xfrm>
            <a:off x="8869680" y="1554480"/>
            <a:ext cx="2606040" cy="3429000"/>
          </a:xfrm>
          <a:prstGeom prst="roundRect">
            <a:avLst>
              <a:gd name="adj" fmla="val 3509"/>
            </a:avLst>
          </a:prstGeom>
          <a:solidFill>
            <a:schemeClr val="tx1"/>
          </a:solidFill>
          <a:ln w="15875">
            <a:solidFill>
              <a:schemeClr val="accent1"/>
            </a:solidFill>
            <a:prstDash val="solid"/>
          </a:ln>
        </p:spPr>
      </p:sp>
      <p:pic>
        <p:nvPicPr>
          <p:cNvPr id="7" name="Image 0" descr="QR code linking to https://github.com/aswanth-07/matrixlang">
            <a:hlinkClick r:id="rId2" tooltip=""/>
          </p:cNvPr>
          <p:cNvPicPr>
            <a:picLocks noChangeAspect="1"/>
          </p:cNvPicPr>
          <p:nvPr/>
        </p:nvPicPr>
        <p:blipFill>
          <a:blip r:embed="rId1"/>
          <a:stretch>
            <a:fillRect/>
          </a:stretch>
        </p:blipFill>
        <p:spPr>
          <a:xfrm>
            <a:off x="9235440" y="1874520"/>
            <a:ext cx="1874520" cy="1874520"/>
          </a:xfrm>
          <a:prstGeom prst="rect">
            <a:avLst/>
          </a:prstGeom>
        </p:spPr>
      </p:pic>
      <p:pic>
        <p:nvPicPr>
          <p:cNvPr id="8" name="Image 1" descr="preencoded.png">    </p:cNvPr>
          <p:cNvPicPr>
            <a:picLocks noChangeAspect="1"/>
          </p:cNvPicPr>
          <p:nvPr/>
        </p:nvPicPr>
        <p:blipFill>
          <a:blip r:embed="rId3"/>
          <a:stretch>
            <a:fillRect/>
          </a:stretch>
        </p:blipFill>
        <p:spPr>
          <a:xfrm>
            <a:off x="9235440" y="3977640"/>
            <a:ext cx="274320" cy="274320"/>
          </a:xfrm>
          <a:prstGeom prst="rect">
            <a:avLst/>
          </a:prstGeom>
        </p:spPr>
      </p:pic>
      <p:sp>
        <p:nvSpPr>
          <p:cNvPr id="9" name="Text 5"/>
          <p:cNvSpPr txBox="1"/>
          <p:nvPr/>
        </p:nvSpPr>
        <p:spPr>
          <a:xfrm>
            <a:off x="9601200" y="3977640"/>
            <a:ext cx="1737360" cy="274320"/>
          </a:xfrm>
          <a:prstGeom prst="rect">
            <a:avLst/>
          </a:prstGeom>
          <a:noFill/>
          <a:ln/>
        </p:spPr>
        <p:txBody>
          <a:bodyPr wrap="square" lIns="0" tIns="0" rIns="0" bIns="0" rtlCol="0" anchor="ctr"/>
          <a:lstStyle/>
          <a:p>
            <a:pPr indent="0" marL="0">
              <a:buNone/>
            </a:pPr>
            <a:r>
              <a:rPr lang="en-US" sz="1200" b="1" dirty="0">
                <a:solidFill>
                  <a:schemeClr val="accent1"/>
                </a:solidFill>
              </a:rPr>
              <a:t>Code · data · paper</a:t>
            </a:r>
            <a:endParaRPr lang="en-US" sz="1200" dirty="0"/>
          </a:p>
        </p:txBody>
      </p:sp>
      <p:sp>
        <p:nvSpPr>
          <p:cNvPr id="10" name="Text 6"/>
          <p:cNvSpPr txBox="1"/>
          <p:nvPr/>
        </p:nvSpPr>
        <p:spPr>
          <a:xfrm>
            <a:off x="8961120" y="4389120"/>
            <a:ext cx="2423160" cy="274320"/>
          </a:xfrm>
          <a:prstGeom prst="rect">
            <a:avLst/>
          </a:prstGeom>
          <a:noFill/>
          <a:ln/>
        </p:spPr>
        <p:txBody>
          <a:bodyPr wrap="square" lIns="0" tIns="0" rIns="0" bIns="0" rtlCol="0" anchor="t"/>
          <a:lstStyle/>
          <a:p>
            <a:pPr algn="ctr" indent="0" marL="0">
              <a:buNone/>
            </a:pPr>
            <a:r>
              <a:rPr lang="en-US" sz="1050" u="sng" dirty="0">
                <a:solidFill>
                  <a:schemeClr val="bg2"/>
                </a:solidFill>
                <a:hlinkClick r:id="rId4" invalidUrl="" action="" tgtFrame="" tooltip="" history="1" highlightClick="0" endSnd="0">
                  <a:extLst>
                    <a:ext uri="{A12FA001-AC4F-418D-AE19-62706E023703}">
                      <ahyp:hlinkClr xmlns:ahyp="http://schemas.microsoft.com/office/drawing/2018/hyperlinkcolor" val="tx"/>
                    </a:ext>
                  </a:extLst>
                </a:hlinkClick>
              </a:rPr>
              <a:t>github.com/aswanth-07/matrixlang</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881360" cy="320040"/>
          </a:xfrm>
          <a:prstGeom prst="rect">
            <a:avLst/>
          </a:prstGeom>
          <a:noFill/>
          <a:ln/>
        </p:spPr>
        <p:txBody>
          <a:bodyPr wrap="square" rtlCol="0" anchor="ctr"/>
          <a:lstStyle/>
          <a:p>
            <a:pPr algn="l" indent="0" marL="0">
              <a:buNone/>
            </a:pPr>
            <a:r>
              <a:rPr lang="en-US" sz="1200" b="1" spc="400" kern="0" dirty="0">
                <a:solidFill>
                  <a:schemeClr val="accent1"/>
                </a:solidFill>
              </a:rPr>
              <a:t>01  ·  THE PROBLEM</a:t>
            </a:r>
            <a:endParaRPr lang="en-US" sz="1200" dirty="0"/>
          </a:p>
        </p:txBody>
      </p:sp>
      <p:sp>
        <p:nvSpPr>
          <p:cNvPr id="3" name="Text 0"/>
          <p:cNvSpPr/>
          <p:nvPr>
            <p:ph idx="101" type="title" hasCustomPrompt="1"/>
          </p:nvPr>
        </p:nvSpPr>
        <p:spPr>
          <a:xfrm>
            <a:off x="640080" y="731520"/>
            <a:ext cx="10881360" cy="822960"/>
          </a:xfrm>
          <a:prstGeom prst="rect">
            <a:avLst/>
          </a:prstGeom>
          <a:noFill/>
          <a:ln/>
        </p:spPr>
        <p:txBody>
          <a:bodyPr wrap="square" rtlCol="0" anchor="ctr"/>
          <a:lstStyle/>
          <a:p>
            <a:pPr algn="l" indent="0" marL="0">
              <a:buNone/>
            </a:pPr>
            <a:r>
              <a:rPr lang="en-US" sz="3400" b="1" dirty="0">
                <a:solidFill>
                  <a:schemeClr val="bg1"/>
                </a:solidFill>
              </a:rPr>
              <a:t>Compilers make you choose: safe or fast</a:t>
            </a:r>
            <a:endParaRPr lang="en-US" sz="3400" dirty="0"/>
          </a:p>
        </p:txBody>
      </p:sp>
      <p:sp>
        <p:nvSpPr>
          <p:cNvPr id="4" name="STRICT"/>
          <p:cNvSpPr/>
          <p:nvPr/>
        </p:nvSpPr>
        <p:spPr>
          <a:xfrm>
            <a:off x="640080" y="1874520"/>
            <a:ext cx="4114800" cy="4023360"/>
          </a:xfrm>
          <a:prstGeom prst="roundRect">
            <a:avLst>
              <a:gd name="adj" fmla="val 2273"/>
            </a:avLst>
          </a:prstGeom>
          <a:solidFill>
            <a:schemeClr val="tx2"/>
          </a:solidFill>
          <a:ln w="12700">
            <a:solidFill>
              <a:schemeClr val="tx2"/>
            </a:solidFill>
            <a:prstDash val="solid"/>
          </a:ln>
        </p:spPr>
      </p:sp>
      <p:pic>
        <p:nvPicPr>
          <p:cNvPr id="5" name="Image 0" descr="preencoded.png">    </p:cNvPr>
          <p:cNvPicPr>
            <a:picLocks noChangeAspect="1"/>
          </p:cNvPicPr>
          <p:nvPr/>
        </p:nvPicPr>
        <p:blipFill>
          <a:blip r:embed="rId1"/>
          <a:stretch>
            <a:fillRect/>
          </a:stretch>
        </p:blipFill>
        <p:spPr>
          <a:xfrm>
            <a:off x="1051560" y="2240280"/>
            <a:ext cx="411480" cy="411480"/>
          </a:xfrm>
          <a:prstGeom prst="rect">
            <a:avLst/>
          </a:prstGeom>
        </p:spPr>
      </p:pic>
      <p:sp>
        <p:nvSpPr>
          <p:cNvPr id="6" name="Text 3"/>
          <p:cNvSpPr txBox="1"/>
          <p:nvPr/>
        </p:nvSpPr>
        <p:spPr>
          <a:xfrm>
            <a:off x="1600200" y="2240280"/>
            <a:ext cx="2926080" cy="411480"/>
          </a:xfrm>
          <a:prstGeom prst="rect">
            <a:avLst/>
          </a:prstGeom>
          <a:noFill/>
          <a:ln/>
        </p:spPr>
        <p:txBody>
          <a:bodyPr wrap="square" lIns="0" tIns="0" rIns="0" bIns="0" rtlCol="0" anchor="ctr"/>
          <a:lstStyle/>
          <a:p>
            <a:pPr indent="0" marL="0">
              <a:buNone/>
            </a:pPr>
            <a:r>
              <a:rPr lang="en-US" sz="1400" b="1" spc="400" kern="0" dirty="0">
                <a:solidFill>
                  <a:schemeClr val="accent4"/>
                </a:solidFill>
              </a:rPr>
              <a:t>STRICT</a:t>
            </a:r>
            <a:endParaRPr lang="en-US" sz="1400" dirty="0"/>
          </a:p>
        </p:txBody>
      </p:sp>
      <p:sp>
        <p:nvSpPr>
          <p:cNvPr id="7" name="Text 4"/>
          <p:cNvSpPr txBox="1"/>
          <p:nvPr/>
        </p:nvSpPr>
        <p:spPr>
          <a:xfrm>
            <a:off x="1051560" y="2834640"/>
            <a:ext cx="3383280" cy="1463040"/>
          </a:xfrm>
          <a:prstGeom prst="rect">
            <a:avLst/>
          </a:prstGeom>
          <a:noFill/>
          <a:ln/>
        </p:spPr>
        <p:txBody>
          <a:bodyPr wrap="square" lIns="0" tIns="0" rIns="0" bIns="0" rtlCol="0" anchor="t"/>
          <a:lstStyle/>
          <a:p>
            <a:pPr indent="0" marL="0">
              <a:buNone/>
            </a:pPr>
            <a:r>
              <a:rPr lang="en-US" sz="7200" b="1" dirty="0">
                <a:solidFill>
                  <a:schemeClr val="bg1"/>
                </a:solidFill>
                <a:latin typeface="Cambria" pitchFamily="34" charset="0"/>
                <a:ea typeface="Cambria" pitchFamily="34" charset="-122"/>
                <a:cs typeface="Cambria" pitchFamily="34" charset="-120"/>
              </a:rPr>
              <a:t>1×</a:t>
            </a:r>
            <a:endParaRPr lang="en-US" sz="7200" dirty="0"/>
          </a:p>
        </p:txBody>
      </p:sp>
      <p:sp>
        <p:nvSpPr>
          <p:cNvPr id="8" name="Text 5"/>
          <p:cNvSpPr txBox="1"/>
          <p:nvPr/>
        </p:nvSpPr>
        <p:spPr>
          <a:xfrm>
            <a:off x="1051560" y="4526280"/>
            <a:ext cx="3474720" cy="1005840"/>
          </a:xfrm>
          <a:prstGeom prst="rect">
            <a:avLst/>
          </a:prstGeom>
          <a:noFill/>
          <a:ln/>
        </p:spPr>
        <p:txBody>
          <a:bodyPr wrap="square" lIns="0" tIns="0" rIns="0" bIns="0" rtlCol="0" anchor="t"/>
          <a:lstStyle/>
          <a:p>
            <a:pPr indent="0" marL="0">
              <a:buNone/>
            </a:pPr>
            <a:r>
              <a:rPr lang="en-US" sz="1800" dirty="0">
                <a:solidFill>
                  <a:schemeClr val="accent4"/>
                </a:solidFill>
              </a:rPr>
              <a:t>Same bits as the source,</a:t>
            </a:r>
            <a:endParaRPr lang="en-US" sz="1800" dirty="0"/>
          </a:p>
          <a:p>
            <a:pPr indent="0" marL="0">
              <a:buNone/>
            </a:pPr>
            <a:r>
              <a:rPr lang="en-US" sz="1800" dirty="0">
                <a:solidFill>
                  <a:schemeClr val="accent4"/>
                </a:solidFill>
              </a:rPr>
              <a:t>but sums stay sequential</a:t>
            </a:r>
            <a:endParaRPr lang="en-US" sz="1800" dirty="0"/>
          </a:p>
        </p:txBody>
      </p:sp>
      <p:sp>
        <p:nvSpPr>
          <p:cNvPr id="9" name="FAST-MATH"/>
          <p:cNvSpPr/>
          <p:nvPr/>
        </p:nvSpPr>
        <p:spPr>
          <a:xfrm>
            <a:off x="7434072" y="1874520"/>
            <a:ext cx="4114800" cy="4023360"/>
          </a:xfrm>
          <a:prstGeom prst="roundRect">
            <a:avLst>
              <a:gd name="adj" fmla="val 2273"/>
            </a:avLst>
          </a:prstGeom>
          <a:solidFill>
            <a:schemeClr val="tx2"/>
          </a:solidFill>
          <a:ln w="12700">
            <a:solidFill>
              <a:schemeClr val="tx2"/>
            </a:solidFill>
            <a:prstDash val="solid"/>
          </a:ln>
        </p:spPr>
      </p:sp>
      <p:pic>
        <p:nvPicPr>
          <p:cNvPr id="10" name="Image 1" descr="preencoded.png">    </p:cNvPr>
          <p:cNvPicPr>
            <a:picLocks noChangeAspect="1"/>
          </p:cNvPicPr>
          <p:nvPr/>
        </p:nvPicPr>
        <p:blipFill>
          <a:blip r:embed="rId2"/>
          <a:stretch>
            <a:fillRect/>
          </a:stretch>
        </p:blipFill>
        <p:spPr>
          <a:xfrm>
            <a:off x="7845552" y="2240280"/>
            <a:ext cx="411480" cy="411480"/>
          </a:xfrm>
          <a:prstGeom prst="rect">
            <a:avLst/>
          </a:prstGeom>
        </p:spPr>
      </p:pic>
      <p:sp>
        <p:nvSpPr>
          <p:cNvPr id="11" name="Text 7"/>
          <p:cNvSpPr txBox="1"/>
          <p:nvPr/>
        </p:nvSpPr>
        <p:spPr>
          <a:xfrm>
            <a:off x="8394192" y="2240280"/>
            <a:ext cx="2926080" cy="411480"/>
          </a:xfrm>
          <a:prstGeom prst="rect">
            <a:avLst/>
          </a:prstGeom>
          <a:noFill/>
          <a:ln/>
        </p:spPr>
        <p:txBody>
          <a:bodyPr wrap="square" lIns="0" tIns="0" rIns="0" bIns="0" rtlCol="0" anchor="ctr"/>
          <a:lstStyle/>
          <a:p>
            <a:pPr indent="0" marL="0">
              <a:buNone/>
            </a:pPr>
            <a:r>
              <a:rPr lang="en-US" sz="1400" b="1" spc="400" kern="0" dirty="0">
                <a:solidFill>
                  <a:schemeClr val="accent3"/>
                </a:solidFill>
              </a:rPr>
              <a:t>FAST-MATH</a:t>
            </a:r>
            <a:endParaRPr lang="en-US" sz="1400" dirty="0"/>
          </a:p>
        </p:txBody>
      </p:sp>
      <p:sp>
        <p:nvSpPr>
          <p:cNvPr id="12" name="Text 8"/>
          <p:cNvSpPr txBox="1"/>
          <p:nvPr/>
        </p:nvSpPr>
        <p:spPr>
          <a:xfrm>
            <a:off x="7845552" y="2834640"/>
            <a:ext cx="3383280" cy="1463040"/>
          </a:xfrm>
          <a:prstGeom prst="rect">
            <a:avLst/>
          </a:prstGeom>
          <a:noFill/>
          <a:ln/>
        </p:spPr>
        <p:txBody>
          <a:bodyPr wrap="square" lIns="0" tIns="0" rIns="0" bIns="0" rtlCol="0" anchor="t"/>
          <a:lstStyle/>
          <a:p>
            <a:pPr indent="0" marL="0">
              <a:buNone/>
            </a:pPr>
            <a:r>
              <a:rPr lang="en-US" sz="7200" b="1" dirty="0">
                <a:solidFill>
                  <a:schemeClr val="bg1"/>
                </a:solidFill>
                <a:latin typeface="Cambria" pitchFamily="34" charset="0"/>
                <a:ea typeface="Cambria" pitchFamily="34" charset="-122"/>
                <a:cs typeface="Cambria" pitchFamily="34" charset="-120"/>
              </a:rPr>
              <a:t>5–10×</a:t>
            </a:r>
            <a:endParaRPr lang="en-US" sz="7200" dirty="0"/>
          </a:p>
        </p:txBody>
      </p:sp>
      <p:sp>
        <p:nvSpPr>
          <p:cNvPr id="13" name="Text 9"/>
          <p:cNvSpPr txBox="1"/>
          <p:nvPr/>
        </p:nvSpPr>
        <p:spPr>
          <a:xfrm>
            <a:off x="7845552" y="4526280"/>
            <a:ext cx="3474720" cy="1005840"/>
          </a:xfrm>
          <a:prstGeom prst="rect">
            <a:avLst/>
          </a:prstGeom>
          <a:noFill/>
          <a:ln/>
        </p:spPr>
        <p:txBody>
          <a:bodyPr wrap="square" lIns="0" tIns="0" rIns="0" bIns="0" rtlCol="0" anchor="t"/>
          <a:lstStyle/>
          <a:p>
            <a:pPr indent="0" marL="0">
              <a:buNone/>
            </a:pPr>
            <a:r>
              <a:rPr lang="en-US" sz="1800" dirty="0">
                <a:solidFill>
                  <a:schemeClr val="accent4"/>
                </a:solidFill>
              </a:rPr>
              <a:t>Vectorized, but no one knows</a:t>
            </a:r>
            <a:endParaRPr lang="en-US" sz="1800" dirty="0"/>
          </a:p>
          <a:p>
            <a:pPr indent="0" marL="0">
              <a:buNone/>
            </a:pPr>
            <a:r>
              <a:rPr lang="en-US" sz="1800" dirty="0">
                <a:solidFill>
                  <a:schemeClr val="accent4"/>
                </a:solidFill>
              </a:rPr>
              <a:t>which results changed</a:t>
            </a:r>
            <a:endParaRPr lang="en-US" sz="1800" dirty="0"/>
          </a:p>
        </p:txBody>
      </p:sp>
      <p:sp>
        <p:nvSpPr>
          <p:cNvPr id="14" name="Text 10"/>
          <p:cNvSpPr txBox="1"/>
          <p:nvPr/>
        </p:nvSpPr>
        <p:spPr>
          <a:xfrm>
            <a:off x="4937760" y="2743200"/>
            <a:ext cx="2313432" cy="411480"/>
          </a:xfrm>
          <a:prstGeom prst="rect">
            <a:avLst/>
          </a:prstGeom>
          <a:noFill/>
          <a:ln/>
        </p:spPr>
        <p:txBody>
          <a:bodyPr wrap="square" lIns="0" tIns="0" rIns="0" bIns="0" rtlCol="0" anchor="t"/>
          <a:lstStyle/>
          <a:p>
            <a:pPr algn="ctr" indent="0" marL="0">
              <a:buNone/>
            </a:pPr>
            <a:r>
              <a:rPr lang="en-US" sz="1800" dirty="0">
                <a:solidFill>
                  <a:schemeClr val="accent4"/>
                </a:solidFill>
              </a:rPr>
              <a:t>We want</a:t>
            </a:r>
            <a:endParaRPr lang="en-US" sz="1800" dirty="0"/>
          </a:p>
        </p:txBody>
      </p:sp>
      <p:sp>
        <p:nvSpPr>
          <p:cNvPr id="15" name="Text 11"/>
          <p:cNvSpPr txBox="1"/>
          <p:nvPr/>
        </p:nvSpPr>
        <p:spPr>
          <a:xfrm>
            <a:off x="4937760" y="3108960"/>
            <a:ext cx="2313432" cy="914400"/>
          </a:xfrm>
          <a:prstGeom prst="rect">
            <a:avLst/>
          </a:prstGeom>
          <a:noFill/>
          <a:ln/>
        </p:spPr>
        <p:txBody>
          <a:bodyPr wrap="square" lIns="0" tIns="0" rIns="0" bIns="0" rtlCol="0" anchor="t"/>
          <a:lstStyle/>
          <a:p>
            <a:pPr algn="ctr" indent="0" marL="0">
              <a:buNone/>
            </a:pPr>
            <a:r>
              <a:rPr lang="en-US" sz="5400" b="1" dirty="0">
                <a:solidFill>
                  <a:schemeClr val="accent1"/>
                </a:solidFill>
                <a:latin typeface="Cambria" pitchFamily="34" charset="0"/>
                <a:ea typeface="Cambria" pitchFamily="34" charset="-122"/>
                <a:cs typeface="Cambria" pitchFamily="34" charset="-120"/>
              </a:rPr>
              <a:t>both</a:t>
            </a:r>
            <a:endParaRPr lang="en-US" sz="5400" dirty="0"/>
          </a:p>
        </p:txBody>
      </p:sp>
      <p:sp>
        <p:nvSpPr>
          <p:cNvPr id="16" name="Text 12"/>
          <p:cNvSpPr txBox="1"/>
          <p:nvPr/>
        </p:nvSpPr>
        <p:spPr>
          <a:xfrm>
            <a:off x="4937760" y="4114800"/>
            <a:ext cx="2313432" cy="914400"/>
          </a:xfrm>
          <a:prstGeom prst="rect">
            <a:avLst/>
          </a:prstGeom>
          <a:noFill/>
          <a:ln/>
        </p:spPr>
        <p:txBody>
          <a:bodyPr wrap="square" lIns="0" tIns="0" rIns="0" bIns="0" rtlCol="0" anchor="t"/>
          <a:lstStyle/>
          <a:p>
            <a:pPr algn="ctr" indent="0" marL="0">
              <a:buNone/>
            </a:pPr>
            <a:r>
              <a:rPr lang="en-US" sz="1400" dirty="0">
                <a:solidFill>
                  <a:schemeClr val="bg2"/>
                </a:solidFill>
              </a:rPr>
              <a:t>and to know which</a:t>
            </a:r>
            <a:endParaRPr lang="en-US" sz="1400" dirty="0"/>
          </a:p>
          <a:p>
            <a:pPr algn="ctr" indent="0" marL="0">
              <a:buNone/>
            </a:pPr>
            <a:r>
              <a:rPr lang="en-US" sz="1400" dirty="0">
                <a:solidFill>
                  <a:schemeClr val="bg2"/>
                </a:solidFill>
              </a:rPr>
              <a:t>guarantee each output keeps</a:t>
            </a:r>
            <a:endParaRPr lang="en-US" sz="1400" dirty="0"/>
          </a:p>
        </p:txBody>
      </p:sp>
      <p:sp>
        <p:nvSpPr>
          <p:cNvPr id="25" name="Slide Number Placeholder 0"/>
          <p:cNvSpPr>
            <a:spLocks noGrp="1"/>
          </p:cNvSpPr>
          <p:nvPr>
            <p:ph type="sldNum" sz="quarter" idx="4294967295"/>
          </p:nvPr>
        </p:nvSpPr>
        <p:spPr>
          <a:xfrm>
            <a:off x="11064240" y="63550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881360" cy="320040"/>
          </a:xfrm>
          <a:prstGeom prst="rect">
            <a:avLst/>
          </a:prstGeom>
          <a:noFill/>
          <a:ln/>
        </p:spPr>
        <p:txBody>
          <a:bodyPr wrap="square" rtlCol="0" anchor="ctr"/>
          <a:lstStyle/>
          <a:p>
            <a:pPr algn="l" indent="0" marL="0">
              <a:buNone/>
            </a:pPr>
            <a:r>
              <a:rPr lang="en-US" sz="1200" b="1" spc="400" kern="0" dirty="0">
                <a:solidFill>
                  <a:schemeClr val="accent1"/>
                </a:solidFill>
              </a:rPr>
              <a:t>02  ·  THE OPPORTUNITY</a:t>
            </a:r>
            <a:endParaRPr lang="en-US" sz="1200" dirty="0"/>
          </a:p>
        </p:txBody>
      </p:sp>
      <p:sp>
        <p:nvSpPr>
          <p:cNvPr id="3" name="Text 0"/>
          <p:cNvSpPr/>
          <p:nvPr>
            <p:ph idx="101" type="title" hasCustomPrompt="1"/>
          </p:nvPr>
        </p:nvSpPr>
        <p:spPr>
          <a:xfrm>
            <a:off x="640080" y="731520"/>
            <a:ext cx="10881360" cy="822960"/>
          </a:xfrm>
          <a:prstGeom prst="rect">
            <a:avLst/>
          </a:prstGeom>
          <a:noFill/>
          <a:ln/>
        </p:spPr>
        <p:txBody>
          <a:bodyPr wrap="square" rtlCol="0" anchor="ctr"/>
          <a:lstStyle/>
          <a:p>
            <a:pPr algn="l" indent="0" marL="0">
              <a:buNone/>
            </a:pPr>
            <a:r>
              <a:rPr lang="en-US" sz="3400" b="1" dirty="0">
                <a:solidFill>
                  <a:schemeClr val="bg1"/>
                </a:solidFill>
              </a:rPr>
              <a:t>One matrix chain, two orders</a:t>
            </a:r>
            <a:endParaRPr lang="en-US" sz="3400" dirty="0"/>
          </a:p>
        </p:txBody>
      </p:sp>
      <p:sp>
        <p:nvSpPr>
          <p:cNvPr id="4" name="(A · B) · C"/>
          <p:cNvSpPr/>
          <p:nvPr/>
        </p:nvSpPr>
        <p:spPr>
          <a:xfrm>
            <a:off x="640080" y="1783080"/>
            <a:ext cx="5148072" cy="3703320"/>
          </a:xfrm>
          <a:prstGeom prst="roundRect">
            <a:avLst>
              <a:gd name="adj" fmla="val 2469"/>
            </a:avLst>
          </a:prstGeom>
          <a:solidFill>
            <a:schemeClr val="tx2"/>
          </a:solidFill>
          <a:ln w="12700">
            <a:solidFill>
              <a:schemeClr val="tx2"/>
            </a:solidFill>
            <a:prstDash val="solid"/>
          </a:ln>
        </p:spPr>
      </p:sp>
      <p:sp>
        <p:nvSpPr>
          <p:cNvPr id="5" name="Text 3"/>
          <p:cNvSpPr txBox="1"/>
          <p:nvPr/>
        </p:nvSpPr>
        <p:spPr>
          <a:xfrm>
            <a:off x="1051560" y="2057400"/>
            <a:ext cx="4389120" cy="640080"/>
          </a:xfrm>
          <a:prstGeom prst="rect">
            <a:avLst/>
          </a:prstGeom>
          <a:noFill/>
          <a:ln/>
        </p:spPr>
        <p:txBody>
          <a:bodyPr wrap="square" lIns="0" tIns="0" rIns="0" bIns="0" rtlCol="0" anchor="t"/>
          <a:lstStyle/>
          <a:p>
            <a:pPr indent="0" marL="0">
              <a:buNone/>
            </a:pPr>
            <a:r>
              <a:rPr lang="en-US" sz="3200" b="1" dirty="0">
                <a:solidFill>
                  <a:schemeClr val="bg1"/>
                </a:solidFill>
                <a:latin typeface="Cambria" pitchFamily="34" charset="0"/>
                <a:ea typeface="Cambria" pitchFamily="34" charset="-122"/>
                <a:cs typeface="Cambria" pitchFamily="34" charset="-120"/>
              </a:rPr>
              <a:t>(A · B) · C</a:t>
            </a:r>
            <a:endParaRPr lang="en-US" sz="3200" dirty="0"/>
          </a:p>
        </p:txBody>
      </p:sp>
      <p:sp>
        <p:nvSpPr>
          <p:cNvPr id="6" name="Text 4"/>
          <p:cNvSpPr txBox="1"/>
          <p:nvPr/>
        </p:nvSpPr>
        <p:spPr>
          <a:xfrm>
            <a:off x="1051560" y="2834640"/>
            <a:ext cx="2011680" cy="274320"/>
          </a:xfrm>
          <a:prstGeom prst="rect">
            <a:avLst/>
          </a:prstGeom>
          <a:noFill/>
          <a:ln/>
        </p:spPr>
        <p:txBody>
          <a:bodyPr wrap="square" lIns="0" tIns="0" rIns="0" bIns="0" rtlCol="0" anchor="t"/>
          <a:lstStyle/>
          <a:p>
            <a:pPr indent="0" marL="0">
              <a:buNone/>
            </a:pPr>
            <a:r>
              <a:rPr lang="en-US" sz="1200" spc="200" kern="0" dirty="0">
                <a:solidFill>
                  <a:schemeClr val="accent4"/>
                </a:solidFill>
              </a:rPr>
              <a:t>intermediate</a:t>
            </a:r>
            <a:endParaRPr lang="en-US" sz="1200" dirty="0"/>
          </a:p>
        </p:txBody>
      </p:sp>
      <p:sp>
        <p:nvSpPr>
          <p:cNvPr id="7" name="Shape 5"/>
          <p:cNvSpPr/>
          <p:nvPr/>
        </p:nvSpPr>
        <p:spPr>
          <a:xfrm>
            <a:off x="1051560" y="3200400"/>
            <a:ext cx="1600200" cy="1600200"/>
          </a:xfrm>
          <a:prstGeom prst="rect">
            <a:avLst/>
          </a:prstGeom>
          <a:solidFill>
            <a:schemeClr val="accent3">
              <a:alpha val="85000"/>
            </a:schemeClr>
          </a:solidFill>
          <a:ln w="12700">
            <a:solidFill>
              <a:schemeClr val="accent3"/>
            </a:solidFill>
            <a:prstDash val="solid"/>
          </a:ln>
        </p:spPr>
      </p:sp>
      <p:sp>
        <p:nvSpPr>
          <p:cNvPr id="8" name="Text 6"/>
          <p:cNvSpPr txBox="1"/>
          <p:nvPr/>
        </p:nvSpPr>
        <p:spPr>
          <a:xfrm>
            <a:off x="2880360" y="3200400"/>
            <a:ext cx="2286000" cy="365760"/>
          </a:xfrm>
          <a:prstGeom prst="rect">
            <a:avLst/>
          </a:prstGeom>
          <a:noFill/>
          <a:ln/>
        </p:spPr>
        <p:txBody>
          <a:bodyPr wrap="square" lIns="0" tIns="0" rIns="0" bIns="0" rtlCol="0" anchor="t"/>
          <a:lstStyle/>
          <a:p>
            <a:pPr indent="0" marL="0">
              <a:buNone/>
            </a:pPr>
            <a:r>
              <a:rPr lang="en-US" sz="1500" dirty="0">
                <a:solidFill>
                  <a:schemeClr val="bg2"/>
                </a:solidFill>
              </a:rPr>
              <a:t>A·B is 100 × 100</a:t>
            </a:r>
            <a:endParaRPr lang="en-US" sz="1500" dirty="0"/>
          </a:p>
        </p:txBody>
      </p:sp>
      <p:sp>
        <p:nvSpPr>
          <p:cNvPr id="9" name="Text 7"/>
          <p:cNvSpPr txBox="1"/>
          <p:nvPr/>
        </p:nvSpPr>
        <p:spPr>
          <a:xfrm>
            <a:off x="3017520" y="3840480"/>
            <a:ext cx="2560320" cy="868680"/>
          </a:xfrm>
          <a:prstGeom prst="rect">
            <a:avLst/>
          </a:prstGeom>
          <a:noFill/>
          <a:ln/>
        </p:spPr>
        <p:txBody>
          <a:bodyPr wrap="square" lIns="0" tIns="0" rIns="0" bIns="0" rtlCol="0" anchor="t"/>
          <a:lstStyle/>
          <a:p>
            <a:pPr algn="r" indent="0" marL="0">
              <a:buNone/>
            </a:pPr>
            <a:r>
              <a:rPr lang="en-US" sz="4800" b="1" dirty="0">
                <a:solidFill>
                  <a:schemeClr val="accent3"/>
                </a:solidFill>
              </a:rPr>
              <a:t>69,800</a:t>
            </a:r>
            <a:endParaRPr lang="en-US" sz="4800" dirty="0"/>
          </a:p>
        </p:txBody>
      </p:sp>
      <p:sp>
        <p:nvSpPr>
          <p:cNvPr id="10" name="Text 8"/>
          <p:cNvSpPr txBox="1"/>
          <p:nvPr/>
        </p:nvSpPr>
        <p:spPr>
          <a:xfrm>
            <a:off x="3017520" y="4709160"/>
            <a:ext cx="2560320" cy="320040"/>
          </a:xfrm>
          <a:prstGeom prst="rect">
            <a:avLst/>
          </a:prstGeom>
          <a:noFill/>
          <a:ln/>
        </p:spPr>
        <p:txBody>
          <a:bodyPr wrap="square" lIns="0" tIns="0" rIns="0" bIns="0" rtlCol="0" anchor="t"/>
          <a:lstStyle/>
          <a:p>
            <a:pPr algn="r" indent="0" marL="0">
              <a:buNone/>
            </a:pPr>
            <a:r>
              <a:rPr lang="en-US" sz="1400" dirty="0">
                <a:solidFill>
                  <a:schemeClr val="accent4"/>
                </a:solidFill>
              </a:rPr>
              <a:t>scalar operations</a:t>
            </a:r>
            <a:endParaRPr lang="en-US" sz="1400" dirty="0"/>
          </a:p>
        </p:txBody>
      </p:sp>
      <p:sp>
        <p:nvSpPr>
          <p:cNvPr id="11" name="A · (B · C)"/>
          <p:cNvSpPr/>
          <p:nvPr/>
        </p:nvSpPr>
        <p:spPr>
          <a:xfrm>
            <a:off x="6400800" y="1783080"/>
            <a:ext cx="5148072" cy="3703320"/>
          </a:xfrm>
          <a:prstGeom prst="roundRect">
            <a:avLst>
              <a:gd name="adj" fmla="val 2469"/>
            </a:avLst>
          </a:prstGeom>
          <a:solidFill>
            <a:schemeClr val="tx2"/>
          </a:solidFill>
          <a:ln w="12700">
            <a:solidFill>
              <a:schemeClr val="tx2"/>
            </a:solidFill>
            <a:prstDash val="solid"/>
          </a:ln>
        </p:spPr>
      </p:sp>
      <p:sp>
        <p:nvSpPr>
          <p:cNvPr id="12" name="Text 10"/>
          <p:cNvSpPr txBox="1"/>
          <p:nvPr/>
        </p:nvSpPr>
        <p:spPr>
          <a:xfrm>
            <a:off x="6812280" y="2057400"/>
            <a:ext cx="4389120" cy="640080"/>
          </a:xfrm>
          <a:prstGeom prst="rect">
            <a:avLst/>
          </a:prstGeom>
          <a:noFill/>
          <a:ln/>
        </p:spPr>
        <p:txBody>
          <a:bodyPr wrap="square" lIns="0" tIns="0" rIns="0" bIns="0" rtlCol="0" anchor="t"/>
          <a:lstStyle/>
          <a:p>
            <a:pPr indent="0" marL="0">
              <a:buNone/>
            </a:pPr>
            <a:r>
              <a:rPr lang="en-US" sz="3200" b="1" dirty="0">
                <a:solidFill>
                  <a:schemeClr val="bg1"/>
                </a:solidFill>
                <a:latin typeface="Cambria" pitchFamily="34" charset="0"/>
                <a:ea typeface="Cambria" pitchFamily="34" charset="-122"/>
                <a:cs typeface="Cambria" pitchFamily="34" charset="-120"/>
              </a:rPr>
              <a:t>A · (B · C)</a:t>
            </a:r>
            <a:endParaRPr lang="en-US" sz="3200" dirty="0"/>
          </a:p>
        </p:txBody>
      </p:sp>
      <p:sp>
        <p:nvSpPr>
          <p:cNvPr id="13" name="Text 11"/>
          <p:cNvSpPr txBox="1"/>
          <p:nvPr/>
        </p:nvSpPr>
        <p:spPr>
          <a:xfrm>
            <a:off x="6812280" y="2834640"/>
            <a:ext cx="2011680" cy="274320"/>
          </a:xfrm>
          <a:prstGeom prst="rect">
            <a:avLst/>
          </a:prstGeom>
          <a:noFill/>
          <a:ln/>
        </p:spPr>
        <p:txBody>
          <a:bodyPr wrap="square" lIns="0" tIns="0" rIns="0" bIns="0" rtlCol="0" anchor="t"/>
          <a:lstStyle/>
          <a:p>
            <a:pPr indent="0" marL="0">
              <a:buNone/>
            </a:pPr>
            <a:r>
              <a:rPr lang="en-US" sz="1200" spc="200" kern="0" dirty="0">
                <a:solidFill>
                  <a:schemeClr val="accent4"/>
                </a:solidFill>
              </a:rPr>
              <a:t>intermediate</a:t>
            </a:r>
            <a:endParaRPr lang="en-US" sz="1200" dirty="0"/>
          </a:p>
        </p:txBody>
      </p:sp>
      <p:sp>
        <p:nvSpPr>
          <p:cNvPr id="14" name="Shape 12"/>
          <p:cNvSpPr/>
          <p:nvPr/>
        </p:nvSpPr>
        <p:spPr>
          <a:xfrm>
            <a:off x="6812280" y="3200400"/>
            <a:ext cx="201168" cy="201168"/>
          </a:xfrm>
          <a:prstGeom prst="rect">
            <a:avLst/>
          </a:prstGeom>
          <a:solidFill>
            <a:schemeClr val="accent1">
              <a:alpha val="85000"/>
            </a:schemeClr>
          </a:solidFill>
          <a:ln w="12700">
            <a:solidFill>
              <a:schemeClr val="accent1"/>
            </a:solidFill>
            <a:prstDash val="solid"/>
          </a:ln>
        </p:spPr>
      </p:sp>
      <p:sp>
        <p:nvSpPr>
          <p:cNvPr id="15" name="Text 13"/>
          <p:cNvSpPr txBox="1"/>
          <p:nvPr/>
        </p:nvSpPr>
        <p:spPr>
          <a:xfrm>
            <a:off x="7315200" y="3200400"/>
            <a:ext cx="2286000" cy="365760"/>
          </a:xfrm>
          <a:prstGeom prst="rect">
            <a:avLst/>
          </a:prstGeom>
          <a:noFill/>
          <a:ln/>
        </p:spPr>
        <p:txBody>
          <a:bodyPr wrap="square" lIns="0" tIns="0" rIns="0" bIns="0" rtlCol="0" anchor="t"/>
          <a:lstStyle/>
          <a:p>
            <a:pPr indent="0" marL="0">
              <a:buNone/>
            </a:pPr>
            <a:r>
              <a:rPr lang="en-US" sz="1500" dirty="0">
                <a:solidFill>
                  <a:schemeClr val="bg2"/>
                </a:solidFill>
              </a:rPr>
              <a:t>B·C is 2 × 2</a:t>
            </a:r>
            <a:endParaRPr lang="en-US" sz="1500" dirty="0"/>
          </a:p>
        </p:txBody>
      </p:sp>
      <p:sp>
        <p:nvSpPr>
          <p:cNvPr id="16" name="Text 14"/>
          <p:cNvSpPr txBox="1"/>
          <p:nvPr/>
        </p:nvSpPr>
        <p:spPr>
          <a:xfrm>
            <a:off x="8778240" y="3840480"/>
            <a:ext cx="2560320" cy="868680"/>
          </a:xfrm>
          <a:prstGeom prst="rect">
            <a:avLst/>
          </a:prstGeom>
          <a:noFill/>
          <a:ln/>
        </p:spPr>
        <p:txBody>
          <a:bodyPr wrap="square" lIns="0" tIns="0" rIns="0" bIns="0" rtlCol="0" anchor="t"/>
          <a:lstStyle/>
          <a:p>
            <a:pPr algn="r" indent="0" marL="0">
              <a:buNone/>
            </a:pPr>
            <a:r>
              <a:rPr lang="en-US" sz="4800" b="1" dirty="0">
                <a:solidFill>
                  <a:schemeClr val="accent1"/>
                </a:solidFill>
              </a:rPr>
              <a:t>1,396</a:t>
            </a:r>
            <a:endParaRPr lang="en-US" sz="4800" dirty="0"/>
          </a:p>
        </p:txBody>
      </p:sp>
      <p:sp>
        <p:nvSpPr>
          <p:cNvPr id="17" name="Text 15"/>
          <p:cNvSpPr txBox="1"/>
          <p:nvPr/>
        </p:nvSpPr>
        <p:spPr>
          <a:xfrm>
            <a:off x="8778240" y="4709160"/>
            <a:ext cx="2560320" cy="320040"/>
          </a:xfrm>
          <a:prstGeom prst="rect">
            <a:avLst/>
          </a:prstGeom>
          <a:noFill/>
          <a:ln/>
        </p:spPr>
        <p:txBody>
          <a:bodyPr wrap="square" lIns="0" tIns="0" rIns="0" bIns="0" rtlCol="0" anchor="t"/>
          <a:lstStyle/>
          <a:p>
            <a:pPr algn="r" indent="0" marL="0">
              <a:buNone/>
            </a:pPr>
            <a:r>
              <a:rPr lang="en-US" sz="1400" dirty="0">
                <a:solidFill>
                  <a:schemeClr val="accent4"/>
                </a:solidFill>
              </a:rPr>
              <a:t>scalar operations</a:t>
            </a:r>
            <a:endParaRPr lang="en-US" sz="1400" dirty="0"/>
          </a:p>
        </p:txBody>
      </p:sp>
      <p:sp>
        <p:nvSpPr>
          <p:cNvPr id="18" name="Text 16"/>
          <p:cNvSpPr txBox="1"/>
          <p:nvPr/>
        </p:nvSpPr>
        <p:spPr>
          <a:xfrm>
            <a:off x="640080" y="5760720"/>
            <a:ext cx="10881360" cy="365760"/>
          </a:xfrm>
          <a:prstGeom prst="rect">
            <a:avLst/>
          </a:prstGeom>
          <a:noFill/>
          <a:ln/>
        </p:spPr>
        <p:txBody>
          <a:bodyPr wrap="square" lIns="0" tIns="0" rIns="0" bIns="0" rtlCol="0" anchor="t"/>
          <a:lstStyle/>
          <a:p>
            <a:pPr indent="0" marL="0">
              <a:buNone/>
            </a:pPr>
            <a:r>
              <a:rPr lang="en-US" sz="1500" dirty="0">
                <a:solidFill>
                  <a:schemeClr val="accent4"/>
                </a:solidFill>
              </a:rPr>
              <a:t>A, C are 100 × 2, B is 2 × 100.  </a:t>
            </a:r>
            <a:pPr indent="0" marL="0">
              <a:buNone/>
            </a:pPr>
            <a:r>
              <a:rPr lang="en-US" sz="1500" b="1" dirty="0">
                <a:solidFill>
                  <a:schemeClr val="bg2"/>
                </a:solidFill>
              </a:rPr>
              <a:t>The reorder is 50× cheaper. Is it allowed? That depends on the values, not the program text.</a:t>
            </a:r>
            <a:endParaRPr lang="en-US" sz="1500" dirty="0"/>
          </a:p>
        </p:txBody>
      </p:sp>
      <p:sp>
        <p:nvSpPr>
          <p:cNvPr id="25" name="Slide Number Placeholder 0"/>
          <p:cNvSpPr>
            <a:spLocks noGrp="1"/>
          </p:cNvSpPr>
          <p:nvPr>
            <p:ph type="sldNum" sz="quarter" idx="4294967295"/>
          </p:nvPr>
        </p:nvSpPr>
        <p:spPr>
          <a:xfrm>
            <a:off x="11064240" y="63550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881360" cy="320040"/>
          </a:xfrm>
          <a:prstGeom prst="rect">
            <a:avLst/>
          </a:prstGeom>
          <a:noFill/>
          <a:ln/>
        </p:spPr>
        <p:txBody>
          <a:bodyPr wrap="square" rtlCol="0" anchor="ctr"/>
          <a:lstStyle/>
          <a:p>
            <a:pPr algn="l" indent="0" marL="0">
              <a:buNone/>
            </a:pPr>
            <a:r>
              <a:rPr lang="en-US" sz="1200" b="1" spc="400" kern="0" dirty="0">
                <a:solidFill>
                  <a:schemeClr val="accent1"/>
                </a:solidFill>
              </a:rPr>
              <a:t>03  ·  THE IDEA</a:t>
            </a:r>
            <a:endParaRPr lang="en-US" sz="1200" dirty="0"/>
          </a:p>
        </p:txBody>
      </p:sp>
      <p:sp>
        <p:nvSpPr>
          <p:cNvPr id="3" name="Text 0"/>
          <p:cNvSpPr/>
          <p:nvPr>
            <p:ph idx="101" type="title" hasCustomPrompt="1"/>
          </p:nvPr>
        </p:nvSpPr>
        <p:spPr>
          <a:xfrm>
            <a:off x="640080" y="731520"/>
            <a:ext cx="10881360" cy="822960"/>
          </a:xfrm>
          <a:prstGeom prst="rect">
            <a:avLst/>
          </a:prstGeom>
          <a:noFill/>
          <a:ln/>
        </p:spPr>
        <p:txBody>
          <a:bodyPr wrap="square" rtlCol="0" anchor="ctr"/>
          <a:lstStyle/>
          <a:p>
            <a:pPr algn="l" indent="0" marL="0">
              <a:buNone/>
            </a:pPr>
            <a:r>
              <a:rPr lang="en-US" sz="3400" b="1" dirty="0">
                <a:solidFill>
                  <a:schemeClr val="bg1"/>
                </a:solidFill>
              </a:rPr>
              <a:t>Three guarantees, three contracts</a:t>
            </a:r>
            <a:endParaRPr lang="en-US" sz="3400" dirty="0"/>
          </a:p>
        </p:txBody>
      </p:sp>
      <p:sp>
        <p:nvSpPr>
          <p:cNvPr id="4" name="Text 2"/>
          <p:cNvSpPr txBox="1"/>
          <p:nvPr/>
        </p:nvSpPr>
        <p:spPr>
          <a:xfrm>
            <a:off x="2926080" y="1783080"/>
            <a:ext cx="2834640" cy="365760"/>
          </a:xfrm>
          <a:prstGeom prst="rect">
            <a:avLst/>
          </a:prstGeom>
          <a:noFill/>
          <a:ln/>
        </p:spPr>
        <p:txBody>
          <a:bodyPr wrap="square" lIns="0" tIns="0" rIns="0" bIns="0" rtlCol="0" anchor="t"/>
          <a:lstStyle/>
          <a:p>
            <a:pPr algn="ctr" indent="0" marL="0">
              <a:buNone/>
            </a:pPr>
            <a:r>
              <a:rPr lang="en-US" sz="2000" b="1" dirty="0">
                <a:solidFill>
                  <a:schemeClr val="accent1"/>
                </a:solidFill>
              </a:rPr>
              <a:t>Bit-identical</a:t>
            </a:r>
            <a:endParaRPr lang="en-US" sz="2000" dirty="0"/>
          </a:p>
        </p:txBody>
      </p:sp>
      <p:sp>
        <p:nvSpPr>
          <p:cNvPr id="5" name="Text 3"/>
          <p:cNvSpPr txBox="1"/>
          <p:nvPr/>
        </p:nvSpPr>
        <p:spPr>
          <a:xfrm>
            <a:off x="2926080" y="2148840"/>
            <a:ext cx="2834640" cy="274320"/>
          </a:xfrm>
          <a:prstGeom prst="rect">
            <a:avLst/>
          </a:prstGeom>
          <a:noFill/>
          <a:ln/>
        </p:spPr>
        <p:txBody>
          <a:bodyPr wrap="square" lIns="0" tIns="0" rIns="0" bIns="0" rtlCol="0" anchor="t"/>
          <a:lstStyle/>
          <a:p>
            <a:pPr algn="ctr" indent="0" marL="0">
              <a:buNone/>
            </a:pPr>
            <a:r>
              <a:rPr lang="en-US" sz="1400" dirty="0">
                <a:solidFill>
                  <a:schemeClr val="bg1"/>
                </a:solidFill>
              </a:rPr>
              <a:t>same bits</a:t>
            </a:r>
            <a:endParaRPr lang="en-US" sz="1400" dirty="0"/>
          </a:p>
        </p:txBody>
      </p:sp>
      <p:sp>
        <p:nvSpPr>
          <p:cNvPr id="6" name="Text 4"/>
          <p:cNvSpPr txBox="1"/>
          <p:nvPr/>
        </p:nvSpPr>
        <p:spPr>
          <a:xfrm>
            <a:off x="2926080" y="2423160"/>
            <a:ext cx="2834640" cy="274320"/>
          </a:xfrm>
          <a:prstGeom prst="rect">
            <a:avLst/>
          </a:prstGeom>
          <a:noFill/>
          <a:ln/>
        </p:spPr>
        <p:txBody>
          <a:bodyPr wrap="square" lIns="0" tIns="0" rIns="0" bIns="0" rtlCol="0" anchor="t"/>
          <a:lstStyle/>
          <a:p>
            <a:pPr algn="ctr" indent="0" marL="0">
              <a:buNone/>
            </a:pPr>
            <a:r>
              <a:rPr lang="en-US" sz="1200" i="1" dirty="0">
                <a:solidFill>
                  <a:schemeClr val="accent4"/>
                </a:solidFill>
              </a:rPr>
              <a:t>e.g. 8-bit integers</a:t>
            </a:r>
            <a:endParaRPr lang="en-US" sz="1200" dirty="0"/>
          </a:p>
        </p:txBody>
      </p:sp>
      <p:sp>
        <p:nvSpPr>
          <p:cNvPr id="7" name="Text 5"/>
          <p:cNvSpPr txBox="1"/>
          <p:nvPr/>
        </p:nvSpPr>
        <p:spPr>
          <a:xfrm>
            <a:off x="5870448" y="1783080"/>
            <a:ext cx="2834640" cy="365760"/>
          </a:xfrm>
          <a:prstGeom prst="rect">
            <a:avLst/>
          </a:prstGeom>
          <a:noFill/>
          <a:ln/>
        </p:spPr>
        <p:txBody>
          <a:bodyPr wrap="square" lIns="0" tIns="0" rIns="0" bIns="0" rtlCol="0" anchor="t"/>
          <a:lstStyle/>
          <a:p>
            <a:pPr algn="ctr" indent="0" marL="0">
              <a:buNone/>
            </a:pPr>
            <a:r>
              <a:rPr lang="en-US" sz="2000" b="1" dirty="0">
                <a:solidFill>
                  <a:schemeClr val="bg2"/>
                </a:solidFill>
              </a:rPr>
              <a:t>Bound-preserving</a:t>
            </a:r>
            <a:endParaRPr lang="en-US" sz="2000" dirty="0"/>
          </a:p>
        </p:txBody>
      </p:sp>
      <p:sp>
        <p:nvSpPr>
          <p:cNvPr id="8" name="Text 6"/>
          <p:cNvSpPr txBox="1"/>
          <p:nvPr/>
        </p:nvSpPr>
        <p:spPr>
          <a:xfrm>
            <a:off x="5870448" y="2148840"/>
            <a:ext cx="2834640" cy="274320"/>
          </a:xfrm>
          <a:prstGeom prst="rect">
            <a:avLst/>
          </a:prstGeom>
          <a:noFill/>
          <a:ln/>
        </p:spPr>
        <p:txBody>
          <a:bodyPr wrap="square" lIns="0" tIns="0" rIns="0" bIns="0" rtlCol="0" anchor="t"/>
          <a:lstStyle/>
          <a:p>
            <a:pPr algn="ctr" indent="0" marL="0">
              <a:buNone/>
            </a:pPr>
            <a:r>
              <a:rPr lang="en-US" sz="1400" dirty="0">
                <a:solidFill>
                  <a:schemeClr val="bg1"/>
                </a:solidFill>
              </a:rPr>
              <a:t>same error bound</a:t>
            </a:r>
            <a:endParaRPr lang="en-US" sz="1400" dirty="0"/>
          </a:p>
        </p:txBody>
      </p:sp>
      <p:sp>
        <p:nvSpPr>
          <p:cNvPr id="9" name="Text 7"/>
          <p:cNvSpPr txBox="1"/>
          <p:nvPr/>
        </p:nvSpPr>
        <p:spPr>
          <a:xfrm>
            <a:off x="5870448" y="2423160"/>
            <a:ext cx="2834640" cy="274320"/>
          </a:xfrm>
          <a:prstGeom prst="rect">
            <a:avLst/>
          </a:prstGeom>
          <a:noFill/>
          <a:ln/>
        </p:spPr>
        <p:txBody>
          <a:bodyPr wrap="square" lIns="0" tIns="0" rIns="0" bIns="0" rtlCol="0" anchor="t"/>
          <a:lstStyle/>
          <a:p>
            <a:pPr algn="ctr" indent="0" marL="0">
              <a:buNone/>
            </a:pPr>
            <a:r>
              <a:rPr lang="en-US" sz="1200" i="1" dirty="0">
                <a:solidFill>
                  <a:schemeClr val="accent4"/>
                </a:solidFill>
              </a:rPr>
              <a:t>e.g. larger integers</a:t>
            </a:r>
            <a:endParaRPr lang="en-US" sz="1200" dirty="0"/>
          </a:p>
        </p:txBody>
      </p:sp>
      <p:sp>
        <p:nvSpPr>
          <p:cNvPr id="10" name="Text 8"/>
          <p:cNvSpPr txBox="1"/>
          <p:nvPr/>
        </p:nvSpPr>
        <p:spPr>
          <a:xfrm>
            <a:off x="8814816" y="1783080"/>
            <a:ext cx="2834640" cy="365760"/>
          </a:xfrm>
          <a:prstGeom prst="rect">
            <a:avLst/>
          </a:prstGeom>
          <a:noFill/>
          <a:ln/>
        </p:spPr>
        <p:txBody>
          <a:bodyPr wrap="square" lIns="0" tIns="0" rIns="0" bIns="0" rtlCol="0" anchor="t"/>
          <a:lstStyle/>
          <a:p>
            <a:pPr algn="ctr" indent="0" marL="0">
              <a:buNone/>
            </a:pPr>
            <a:r>
              <a:rPr lang="en-US" sz="2000" b="1" dirty="0">
                <a:solidFill>
                  <a:schemeClr val="accent3"/>
                </a:solidFill>
              </a:rPr>
              <a:t>Relaxed</a:t>
            </a:r>
            <a:endParaRPr lang="en-US" sz="2000" dirty="0"/>
          </a:p>
        </p:txBody>
      </p:sp>
      <p:sp>
        <p:nvSpPr>
          <p:cNvPr id="11" name="Text 9"/>
          <p:cNvSpPr txBox="1"/>
          <p:nvPr/>
        </p:nvSpPr>
        <p:spPr>
          <a:xfrm>
            <a:off x="8814816" y="2148840"/>
            <a:ext cx="2834640" cy="274320"/>
          </a:xfrm>
          <a:prstGeom prst="rect">
            <a:avLst/>
          </a:prstGeom>
          <a:noFill/>
          <a:ln/>
        </p:spPr>
        <p:txBody>
          <a:bodyPr wrap="square" lIns="0" tIns="0" rIns="0" bIns="0" rtlCol="0" anchor="t"/>
          <a:lstStyle/>
          <a:p>
            <a:pPr algn="ctr" indent="0" marL="0">
              <a:buNone/>
            </a:pPr>
            <a:r>
              <a:rPr lang="en-US" sz="1400" dirty="0">
                <a:solidFill>
                  <a:schemeClr val="bg1"/>
                </a:solidFill>
              </a:rPr>
              <a:t>true over the reals only</a:t>
            </a:r>
            <a:endParaRPr lang="en-US" sz="1400" dirty="0"/>
          </a:p>
        </p:txBody>
      </p:sp>
      <p:sp>
        <p:nvSpPr>
          <p:cNvPr id="12" name="Text 10"/>
          <p:cNvSpPr txBox="1"/>
          <p:nvPr/>
        </p:nvSpPr>
        <p:spPr>
          <a:xfrm>
            <a:off x="8814816" y="2423160"/>
            <a:ext cx="2834640" cy="274320"/>
          </a:xfrm>
          <a:prstGeom prst="rect">
            <a:avLst/>
          </a:prstGeom>
          <a:noFill/>
          <a:ln/>
        </p:spPr>
        <p:txBody>
          <a:bodyPr wrap="square" lIns="0" tIns="0" rIns="0" bIns="0" rtlCol="0" anchor="t"/>
          <a:lstStyle/>
          <a:p>
            <a:pPr algn="ctr" indent="0" marL="0">
              <a:buNone/>
            </a:pPr>
            <a:r>
              <a:rPr lang="en-US" sz="1200" i="1" dirty="0">
                <a:solidFill>
                  <a:schemeClr val="accent4"/>
                </a:solidFill>
              </a:rPr>
              <a:t>e.g. unbounded reals</a:t>
            </a:r>
            <a:endParaRPr lang="en-US" sz="1200" dirty="0"/>
          </a:p>
        </p:txBody>
      </p:sp>
      <p:sp>
        <p:nvSpPr>
          <p:cNvPr id="13" name="Text 11"/>
          <p:cNvSpPr txBox="1"/>
          <p:nvPr/>
        </p:nvSpPr>
        <p:spPr>
          <a:xfrm>
            <a:off x="640080" y="2898648"/>
            <a:ext cx="2103120" cy="41148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Strict</a:t>
            </a:r>
            <a:endParaRPr lang="en-US" sz="2200" dirty="0"/>
          </a:p>
        </p:txBody>
      </p:sp>
      <p:sp>
        <p:nvSpPr>
          <p:cNvPr id="14" name="Text 12"/>
          <p:cNvSpPr txBox="1"/>
          <p:nvPr/>
        </p:nvSpPr>
        <p:spPr>
          <a:xfrm>
            <a:off x="640080" y="3291840"/>
            <a:ext cx="2103120" cy="274320"/>
          </a:xfrm>
          <a:prstGeom prst="rect">
            <a:avLst/>
          </a:prstGeom>
          <a:noFill/>
          <a:ln/>
        </p:spPr>
        <p:txBody>
          <a:bodyPr wrap="square" lIns="0" tIns="0" rIns="0" bIns="0" rtlCol="0" anchor="t"/>
          <a:lstStyle/>
          <a:p>
            <a:pPr indent="0" marL="0">
              <a:buNone/>
            </a:pPr>
            <a:r>
              <a:rPr lang="en-US" sz="1200" dirty="0">
                <a:solidFill>
                  <a:schemeClr val="accent4"/>
                </a:solidFill>
              </a:rPr>
              <a:t>default</a:t>
            </a:r>
            <a:endParaRPr lang="en-US" sz="1200" dirty="0"/>
          </a:p>
        </p:txBody>
      </p:sp>
      <p:sp>
        <p:nvSpPr>
          <p:cNvPr id="15" name="Shape 13"/>
          <p:cNvSpPr/>
          <p:nvPr/>
        </p:nvSpPr>
        <p:spPr>
          <a:xfrm>
            <a:off x="2926080" y="2788920"/>
            <a:ext cx="2834640" cy="868680"/>
          </a:xfrm>
          <a:prstGeom prst="roundRect">
            <a:avLst>
              <a:gd name="adj" fmla="val 8421"/>
            </a:avLst>
          </a:prstGeom>
          <a:solidFill>
            <a:schemeClr val="accent1">
              <a:alpha val="18000"/>
            </a:schemeClr>
          </a:solidFill>
          <a:ln w="15875">
            <a:solidFill>
              <a:schemeClr val="accent1"/>
            </a:solidFill>
            <a:prstDash val="solid"/>
          </a:ln>
        </p:spPr>
      </p:sp>
      <p:sp>
        <p:nvSpPr>
          <p:cNvPr id="16" name="Text 14"/>
          <p:cNvSpPr txBox="1"/>
          <p:nvPr/>
        </p:nvSpPr>
        <p:spPr>
          <a:xfrm>
            <a:off x="2926080" y="2788920"/>
            <a:ext cx="2834640" cy="868680"/>
          </a:xfrm>
          <a:prstGeom prst="rect">
            <a:avLst/>
          </a:prstGeom>
          <a:noFill/>
          <a:ln/>
        </p:spPr>
        <p:txBody>
          <a:bodyPr wrap="square" lIns="0" tIns="0" rIns="0" bIns="0" rtlCol="0" anchor="ctr"/>
          <a:lstStyle/>
          <a:p>
            <a:pPr algn="ctr" indent="0" marL="0">
              <a:buNone/>
            </a:pPr>
            <a:r>
              <a:rPr lang="en-US" sz="1600" b="1" dirty="0">
                <a:solidFill>
                  <a:schemeClr val="accent1"/>
                </a:solidFill>
              </a:rPr>
              <a:t>admitted</a:t>
            </a:r>
            <a:endParaRPr lang="en-US" sz="1600" dirty="0"/>
          </a:p>
        </p:txBody>
      </p:sp>
      <p:sp>
        <p:nvSpPr>
          <p:cNvPr id="17" name="Shape 15"/>
          <p:cNvSpPr/>
          <p:nvPr/>
        </p:nvSpPr>
        <p:spPr>
          <a:xfrm>
            <a:off x="5870448" y="2788920"/>
            <a:ext cx="2834640" cy="868680"/>
          </a:xfrm>
          <a:prstGeom prst="roundRect">
            <a:avLst>
              <a:gd name="adj" fmla="val 8421"/>
            </a:avLst>
          </a:prstGeom>
          <a:solidFill>
            <a:schemeClr val="tx1"/>
          </a:solidFill>
          <a:ln w="12700">
            <a:solidFill>
              <a:schemeClr val="accent5"/>
            </a:solidFill>
            <a:prstDash val="dash"/>
          </a:ln>
        </p:spPr>
      </p:sp>
      <p:sp>
        <p:nvSpPr>
          <p:cNvPr id="18" name="Text 16"/>
          <p:cNvSpPr txBox="1"/>
          <p:nvPr/>
        </p:nvSpPr>
        <p:spPr>
          <a:xfrm>
            <a:off x="5870448" y="2788920"/>
            <a:ext cx="2834640" cy="868680"/>
          </a:xfrm>
          <a:prstGeom prst="rect">
            <a:avLst/>
          </a:prstGeom>
          <a:noFill/>
          <a:ln/>
        </p:spPr>
        <p:txBody>
          <a:bodyPr wrap="square" lIns="0" tIns="0" rIns="0" bIns="0" rtlCol="0" anchor="ctr"/>
          <a:lstStyle/>
          <a:p>
            <a:pPr algn="ctr" indent="0" marL="0">
              <a:buNone/>
            </a:pPr>
            <a:r>
              <a:rPr lang="en-US" sz="1800" dirty="0">
                <a:solidFill>
                  <a:schemeClr val="accent6"/>
                </a:solidFill>
              </a:rPr>
              <a:t>—</a:t>
            </a:r>
            <a:endParaRPr lang="en-US" sz="1800" dirty="0"/>
          </a:p>
        </p:txBody>
      </p:sp>
      <p:sp>
        <p:nvSpPr>
          <p:cNvPr id="19" name="Shape 17"/>
          <p:cNvSpPr/>
          <p:nvPr/>
        </p:nvSpPr>
        <p:spPr>
          <a:xfrm>
            <a:off x="8814816" y="2788920"/>
            <a:ext cx="2834640" cy="868680"/>
          </a:xfrm>
          <a:prstGeom prst="roundRect">
            <a:avLst>
              <a:gd name="adj" fmla="val 8421"/>
            </a:avLst>
          </a:prstGeom>
          <a:solidFill>
            <a:schemeClr val="tx1"/>
          </a:solidFill>
          <a:ln w="12700">
            <a:solidFill>
              <a:schemeClr val="accent5"/>
            </a:solidFill>
            <a:prstDash val="dash"/>
          </a:ln>
        </p:spPr>
      </p:sp>
      <p:sp>
        <p:nvSpPr>
          <p:cNvPr id="20" name="Text 18"/>
          <p:cNvSpPr txBox="1"/>
          <p:nvPr/>
        </p:nvSpPr>
        <p:spPr>
          <a:xfrm>
            <a:off x="8814816" y="2788920"/>
            <a:ext cx="2834640" cy="868680"/>
          </a:xfrm>
          <a:prstGeom prst="rect">
            <a:avLst/>
          </a:prstGeom>
          <a:noFill/>
          <a:ln/>
        </p:spPr>
        <p:txBody>
          <a:bodyPr wrap="square" lIns="0" tIns="0" rIns="0" bIns="0" rtlCol="0" anchor="ctr"/>
          <a:lstStyle/>
          <a:p>
            <a:pPr algn="ctr" indent="0" marL="0">
              <a:buNone/>
            </a:pPr>
            <a:r>
              <a:rPr lang="en-US" sz="1800" dirty="0">
                <a:solidFill>
                  <a:schemeClr val="accent6"/>
                </a:solidFill>
              </a:rPr>
              <a:t>—</a:t>
            </a:r>
            <a:endParaRPr lang="en-US" sz="1800" dirty="0"/>
          </a:p>
        </p:txBody>
      </p:sp>
      <p:sp>
        <p:nvSpPr>
          <p:cNvPr id="21" name="Text 19"/>
          <p:cNvSpPr txBox="1"/>
          <p:nvPr/>
        </p:nvSpPr>
        <p:spPr>
          <a:xfrm>
            <a:off x="640080" y="3877056"/>
            <a:ext cx="2103120" cy="41148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Bounded</a:t>
            </a:r>
            <a:endParaRPr lang="en-US" sz="2200" dirty="0"/>
          </a:p>
        </p:txBody>
      </p:sp>
      <p:sp>
        <p:nvSpPr>
          <p:cNvPr id="22" name="Shape 20"/>
          <p:cNvSpPr/>
          <p:nvPr/>
        </p:nvSpPr>
        <p:spPr>
          <a:xfrm>
            <a:off x="2926080" y="3767328"/>
            <a:ext cx="2834640" cy="868680"/>
          </a:xfrm>
          <a:prstGeom prst="roundRect">
            <a:avLst>
              <a:gd name="adj" fmla="val 8421"/>
            </a:avLst>
          </a:prstGeom>
          <a:solidFill>
            <a:schemeClr val="accent1">
              <a:alpha val="18000"/>
            </a:schemeClr>
          </a:solidFill>
          <a:ln w="15875">
            <a:solidFill>
              <a:schemeClr val="accent1"/>
            </a:solidFill>
            <a:prstDash val="solid"/>
          </a:ln>
        </p:spPr>
      </p:sp>
      <p:sp>
        <p:nvSpPr>
          <p:cNvPr id="23" name="Text 21"/>
          <p:cNvSpPr txBox="1"/>
          <p:nvPr/>
        </p:nvSpPr>
        <p:spPr>
          <a:xfrm>
            <a:off x="2926080" y="3767328"/>
            <a:ext cx="2834640" cy="868680"/>
          </a:xfrm>
          <a:prstGeom prst="rect">
            <a:avLst/>
          </a:prstGeom>
          <a:noFill/>
          <a:ln/>
        </p:spPr>
        <p:txBody>
          <a:bodyPr wrap="square" lIns="0" tIns="0" rIns="0" bIns="0" rtlCol="0" anchor="ctr"/>
          <a:lstStyle/>
          <a:p>
            <a:pPr algn="ctr" indent="0" marL="0">
              <a:buNone/>
            </a:pPr>
            <a:r>
              <a:rPr lang="en-US" sz="1600" b="1" dirty="0">
                <a:solidFill>
                  <a:schemeClr val="accent1"/>
                </a:solidFill>
              </a:rPr>
              <a:t>admitted</a:t>
            </a:r>
            <a:endParaRPr lang="en-US" sz="1600" dirty="0"/>
          </a:p>
        </p:txBody>
      </p:sp>
      <p:sp>
        <p:nvSpPr>
          <p:cNvPr id="24" name="Shape 22"/>
          <p:cNvSpPr/>
          <p:nvPr/>
        </p:nvSpPr>
        <p:spPr>
          <a:xfrm>
            <a:off x="5870448" y="3767328"/>
            <a:ext cx="2834640" cy="868680"/>
          </a:xfrm>
          <a:prstGeom prst="roundRect">
            <a:avLst>
              <a:gd name="adj" fmla="val 8421"/>
            </a:avLst>
          </a:prstGeom>
          <a:solidFill>
            <a:schemeClr val="bg2">
              <a:alpha val="18000"/>
            </a:schemeClr>
          </a:solidFill>
          <a:ln w="15875">
            <a:solidFill>
              <a:schemeClr val="bg2"/>
            </a:solidFill>
            <a:prstDash val="solid"/>
          </a:ln>
        </p:spPr>
      </p:sp>
      <p:sp>
        <p:nvSpPr>
          <p:cNvPr id="25" name="Text 23"/>
          <p:cNvSpPr txBox="1"/>
          <p:nvPr/>
        </p:nvSpPr>
        <p:spPr>
          <a:xfrm>
            <a:off x="5870448" y="3767328"/>
            <a:ext cx="2834640" cy="868680"/>
          </a:xfrm>
          <a:prstGeom prst="rect">
            <a:avLst/>
          </a:prstGeom>
          <a:noFill/>
          <a:ln/>
        </p:spPr>
        <p:txBody>
          <a:bodyPr wrap="square" lIns="0" tIns="0" rIns="0" bIns="0" rtlCol="0" anchor="ctr"/>
          <a:lstStyle/>
          <a:p>
            <a:pPr algn="ctr" indent="0" marL="0">
              <a:buNone/>
            </a:pPr>
            <a:r>
              <a:rPr lang="en-US" sz="1600" b="1" dirty="0">
                <a:solidFill>
                  <a:schemeClr val="bg2"/>
                </a:solidFill>
              </a:rPr>
              <a:t>admitted</a:t>
            </a:r>
            <a:endParaRPr lang="en-US" sz="1600" dirty="0"/>
          </a:p>
        </p:txBody>
      </p:sp>
      <p:sp>
        <p:nvSpPr>
          <p:cNvPr id="26" name="Shape 24"/>
          <p:cNvSpPr/>
          <p:nvPr/>
        </p:nvSpPr>
        <p:spPr>
          <a:xfrm>
            <a:off x="8814816" y="3767328"/>
            <a:ext cx="2834640" cy="868680"/>
          </a:xfrm>
          <a:prstGeom prst="roundRect">
            <a:avLst>
              <a:gd name="adj" fmla="val 8421"/>
            </a:avLst>
          </a:prstGeom>
          <a:solidFill>
            <a:schemeClr val="tx1"/>
          </a:solidFill>
          <a:ln w="12700">
            <a:solidFill>
              <a:schemeClr val="accent5"/>
            </a:solidFill>
            <a:prstDash val="dash"/>
          </a:ln>
        </p:spPr>
      </p:sp>
      <p:sp>
        <p:nvSpPr>
          <p:cNvPr id="27" name="Text 25"/>
          <p:cNvSpPr txBox="1"/>
          <p:nvPr/>
        </p:nvSpPr>
        <p:spPr>
          <a:xfrm>
            <a:off x="8814816" y="3767328"/>
            <a:ext cx="2834640" cy="868680"/>
          </a:xfrm>
          <a:prstGeom prst="rect">
            <a:avLst/>
          </a:prstGeom>
          <a:noFill/>
          <a:ln/>
        </p:spPr>
        <p:txBody>
          <a:bodyPr wrap="square" lIns="0" tIns="0" rIns="0" bIns="0" rtlCol="0" anchor="ctr"/>
          <a:lstStyle/>
          <a:p>
            <a:pPr algn="ctr" indent="0" marL="0">
              <a:buNone/>
            </a:pPr>
            <a:r>
              <a:rPr lang="en-US" sz="1800" dirty="0">
                <a:solidFill>
                  <a:schemeClr val="accent6"/>
                </a:solidFill>
              </a:rPr>
              <a:t>—</a:t>
            </a:r>
            <a:endParaRPr lang="en-US" sz="1800" dirty="0"/>
          </a:p>
        </p:txBody>
      </p:sp>
      <p:sp>
        <p:nvSpPr>
          <p:cNvPr id="28" name="Text 26"/>
          <p:cNvSpPr txBox="1"/>
          <p:nvPr/>
        </p:nvSpPr>
        <p:spPr>
          <a:xfrm>
            <a:off x="640080" y="4855464"/>
            <a:ext cx="2103120" cy="41148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Algebraic</a:t>
            </a:r>
            <a:endParaRPr lang="en-US" sz="2200" dirty="0"/>
          </a:p>
        </p:txBody>
      </p:sp>
      <p:sp>
        <p:nvSpPr>
          <p:cNvPr id="29" name="Text 27"/>
          <p:cNvSpPr txBox="1"/>
          <p:nvPr/>
        </p:nvSpPr>
        <p:spPr>
          <a:xfrm>
            <a:off x="640080" y="5248656"/>
            <a:ext cx="2103120" cy="274320"/>
          </a:xfrm>
          <a:prstGeom prst="rect">
            <a:avLst/>
          </a:prstGeom>
          <a:noFill/>
          <a:ln/>
        </p:spPr>
        <p:txBody>
          <a:bodyPr wrap="square" lIns="0" tIns="0" rIns="0" bIns="0" rtlCol="0" anchor="t"/>
          <a:lstStyle/>
          <a:p>
            <a:pPr indent="0" marL="0">
              <a:buNone/>
            </a:pPr>
            <a:r>
              <a:rPr lang="en-US" sz="1200" dirty="0">
                <a:solidFill>
                  <a:schemeClr val="accent4"/>
                </a:solidFill>
              </a:rPr>
              <a:t>≈ fast-math</a:t>
            </a:r>
            <a:endParaRPr lang="en-US" sz="1200" dirty="0"/>
          </a:p>
        </p:txBody>
      </p:sp>
      <p:sp>
        <p:nvSpPr>
          <p:cNvPr id="30" name="Shape 28"/>
          <p:cNvSpPr/>
          <p:nvPr/>
        </p:nvSpPr>
        <p:spPr>
          <a:xfrm>
            <a:off x="2926080" y="4745736"/>
            <a:ext cx="2834640" cy="868680"/>
          </a:xfrm>
          <a:prstGeom prst="roundRect">
            <a:avLst>
              <a:gd name="adj" fmla="val 8421"/>
            </a:avLst>
          </a:prstGeom>
          <a:solidFill>
            <a:schemeClr val="accent1">
              <a:alpha val="18000"/>
            </a:schemeClr>
          </a:solidFill>
          <a:ln w="15875">
            <a:solidFill>
              <a:schemeClr val="accent1"/>
            </a:solidFill>
            <a:prstDash val="solid"/>
          </a:ln>
        </p:spPr>
      </p:sp>
      <p:sp>
        <p:nvSpPr>
          <p:cNvPr id="31" name="Text 29"/>
          <p:cNvSpPr txBox="1"/>
          <p:nvPr/>
        </p:nvSpPr>
        <p:spPr>
          <a:xfrm>
            <a:off x="2926080" y="4745736"/>
            <a:ext cx="2834640" cy="868680"/>
          </a:xfrm>
          <a:prstGeom prst="rect">
            <a:avLst/>
          </a:prstGeom>
          <a:noFill/>
          <a:ln/>
        </p:spPr>
        <p:txBody>
          <a:bodyPr wrap="square" lIns="0" tIns="0" rIns="0" bIns="0" rtlCol="0" anchor="ctr"/>
          <a:lstStyle/>
          <a:p>
            <a:pPr algn="ctr" indent="0" marL="0">
              <a:buNone/>
            </a:pPr>
            <a:r>
              <a:rPr lang="en-US" sz="1600" b="1" dirty="0">
                <a:solidFill>
                  <a:schemeClr val="accent1"/>
                </a:solidFill>
              </a:rPr>
              <a:t>admitted</a:t>
            </a:r>
            <a:endParaRPr lang="en-US" sz="1600" dirty="0"/>
          </a:p>
        </p:txBody>
      </p:sp>
      <p:sp>
        <p:nvSpPr>
          <p:cNvPr id="32" name="Shape 30"/>
          <p:cNvSpPr/>
          <p:nvPr/>
        </p:nvSpPr>
        <p:spPr>
          <a:xfrm>
            <a:off x="5870448" y="4745736"/>
            <a:ext cx="2834640" cy="868680"/>
          </a:xfrm>
          <a:prstGeom prst="roundRect">
            <a:avLst>
              <a:gd name="adj" fmla="val 8421"/>
            </a:avLst>
          </a:prstGeom>
          <a:solidFill>
            <a:schemeClr val="bg2">
              <a:alpha val="18000"/>
            </a:schemeClr>
          </a:solidFill>
          <a:ln w="15875">
            <a:solidFill>
              <a:schemeClr val="bg2"/>
            </a:solidFill>
            <a:prstDash val="solid"/>
          </a:ln>
        </p:spPr>
      </p:sp>
      <p:sp>
        <p:nvSpPr>
          <p:cNvPr id="33" name="Text 31"/>
          <p:cNvSpPr txBox="1"/>
          <p:nvPr/>
        </p:nvSpPr>
        <p:spPr>
          <a:xfrm>
            <a:off x="5870448" y="4745736"/>
            <a:ext cx="2834640" cy="868680"/>
          </a:xfrm>
          <a:prstGeom prst="rect">
            <a:avLst/>
          </a:prstGeom>
          <a:noFill/>
          <a:ln/>
        </p:spPr>
        <p:txBody>
          <a:bodyPr wrap="square" lIns="0" tIns="0" rIns="0" bIns="0" rtlCol="0" anchor="ctr"/>
          <a:lstStyle/>
          <a:p>
            <a:pPr algn="ctr" indent="0" marL="0">
              <a:buNone/>
            </a:pPr>
            <a:r>
              <a:rPr lang="en-US" sz="1600" b="1" dirty="0">
                <a:solidFill>
                  <a:schemeClr val="bg2"/>
                </a:solidFill>
              </a:rPr>
              <a:t>admitted</a:t>
            </a:r>
            <a:endParaRPr lang="en-US" sz="1600" dirty="0"/>
          </a:p>
        </p:txBody>
      </p:sp>
      <p:sp>
        <p:nvSpPr>
          <p:cNvPr id="34" name="Shape 32"/>
          <p:cNvSpPr/>
          <p:nvPr/>
        </p:nvSpPr>
        <p:spPr>
          <a:xfrm>
            <a:off x="8814816" y="4745736"/>
            <a:ext cx="2834640" cy="868680"/>
          </a:xfrm>
          <a:prstGeom prst="roundRect">
            <a:avLst>
              <a:gd name="adj" fmla="val 8421"/>
            </a:avLst>
          </a:prstGeom>
          <a:solidFill>
            <a:schemeClr val="accent3">
              <a:alpha val="18000"/>
            </a:schemeClr>
          </a:solidFill>
          <a:ln w="15875">
            <a:solidFill>
              <a:schemeClr val="accent3"/>
            </a:solidFill>
            <a:prstDash val="solid"/>
          </a:ln>
        </p:spPr>
      </p:sp>
      <p:sp>
        <p:nvSpPr>
          <p:cNvPr id="35" name="Text 33"/>
          <p:cNvSpPr txBox="1"/>
          <p:nvPr/>
        </p:nvSpPr>
        <p:spPr>
          <a:xfrm>
            <a:off x="8814816" y="4745736"/>
            <a:ext cx="2834640" cy="868680"/>
          </a:xfrm>
          <a:prstGeom prst="rect">
            <a:avLst/>
          </a:prstGeom>
          <a:noFill/>
          <a:ln/>
        </p:spPr>
        <p:txBody>
          <a:bodyPr wrap="square" lIns="0" tIns="0" rIns="0" bIns="0" rtlCol="0" anchor="ctr"/>
          <a:lstStyle/>
          <a:p>
            <a:pPr algn="ctr" indent="0" marL="0">
              <a:buNone/>
            </a:pPr>
            <a:r>
              <a:rPr lang="en-US" sz="1600" b="1" dirty="0">
                <a:solidFill>
                  <a:schemeClr val="accent3"/>
                </a:solidFill>
              </a:rPr>
              <a:t>admitted</a:t>
            </a:r>
            <a:endParaRPr lang="en-US" sz="1600" dirty="0"/>
          </a:p>
        </p:txBody>
      </p:sp>
      <p:sp>
        <p:nvSpPr>
          <p:cNvPr id="36" name="Text 34"/>
          <p:cNvSpPr txBox="1"/>
          <p:nvPr/>
        </p:nvSpPr>
        <p:spPr>
          <a:xfrm>
            <a:off x="640080" y="5806440"/>
            <a:ext cx="10881360" cy="365760"/>
          </a:xfrm>
          <a:prstGeom prst="rect">
            <a:avLst/>
          </a:prstGeom>
          <a:noFill/>
          <a:ln/>
        </p:spPr>
        <p:txBody>
          <a:bodyPr wrap="square" lIns="0" tIns="0" rIns="0" bIns="0" rtlCol="0" anchor="t"/>
          <a:lstStyle/>
          <a:p>
            <a:pPr indent="0" marL="0">
              <a:buNone/>
            </a:pPr>
            <a:r>
              <a:rPr lang="en-US" sz="1600" i="1" dirty="0">
                <a:solidFill>
                  <a:schemeClr val="bg2"/>
                </a:solidFill>
              </a:rPr>
              <a:t>Each output is labelled with the weakest guarantee among the rewrites that reach it.</a:t>
            </a:r>
            <a:endParaRPr lang="en-US" sz="1600" dirty="0"/>
          </a:p>
        </p:txBody>
      </p:sp>
      <p:sp>
        <p:nvSpPr>
          <p:cNvPr id="25" name="Slide Number Placeholder 0"/>
          <p:cNvSpPr>
            <a:spLocks noGrp="1"/>
          </p:cNvSpPr>
          <p:nvPr>
            <p:ph type="sldNum" sz="quarter" idx="4294967295"/>
          </p:nvPr>
        </p:nvSpPr>
        <p:spPr>
          <a:xfrm>
            <a:off x="11064240" y="63550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881360" cy="320040"/>
          </a:xfrm>
          <a:prstGeom prst="rect">
            <a:avLst/>
          </a:prstGeom>
          <a:noFill/>
          <a:ln/>
        </p:spPr>
        <p:txBody>
          <a:bodyPr wrap="square" rtlCol="0" anchor="ctr"/>
          <a:lstStyle/>
          <a:p>
            <a:pPr algn="l" indent="0" marL="0">
              <a:buNone/>
            </a:pPr>
            <a:r>
              <a:rPr lang="en-US" sz="1200" b="1" spc="400" kern="0" dirty="0">
                <a:solidFill>
                  <a:schemeClr val="accent1"/>
                </a:solidFill>
              </a:rPr>
              <a:t>04  ·  HOW IT WORKS</a:t>
            </a:r>
            <a:endParaRPr lang="en-US" sz="1200" dirty="0"/>
          </a:p>
        </p:txBody>
      </p:sp>
      <p:sp>
        <p:nvSpPr>
          <p:cNvPr id="3" name="Text 0"/>
          <p:cNvSpPr/>
          <p:nvPr>
            <p:ph idx="101" type="title" hasCustomPrompt="1"/>
          </p:nvPr>
        </p:nvSpPr>
        <p:spPr>
          <a:xfrm>
            <a:off x="640080" y="731520"/>
            <a:ext cx="10881360" cy="822960"/>
          </a:xfrm>
          <a:prstGeom prst="rect">
            <a:avLst/>
          </a:prstGeom>
          <a:noFill/>
          <a:ln/>
        </p:spPr>
        <p:txBody>
          <a:bodyPr wrap="square" rtlCol="0" anchor="ctr"/>
          <a:lstStyle/>
          <a:p>
            <a:pPr algn="l" indent="0" marL="0">
              <a:buNone/>
            </a:pPr>
            <a:r>
              <a:rPr lang="en-US" sz="3400" b="1" dirty="0">
                <a:solidFill>
                  <a:schemeClr val="bg1"/>
                </a:solidFill>
              </a:rPr>
              <a:t>From value facts to certified outputs</a:t>
            </a:r>
            <a:endParaRPr lang="en-US" sz="3400" dirty="0"/>
          </a:p>
        </p:txBody>
      </p:sp>
      <p:sp>
        <p:nvSpPr>
          <p:cNvPr id="4" name="MatrixLang"/>
          <p:cNvSpPr/>
          <p:nvPr/>
        </p:nvSpPr>
        <p:spPr>
          <a:xfrm>
            <a:off x="640080" y="1874520"/>
            <a:ext cx="2651760" cy="1508760"/>
          </a:xfrm>
          <a:prstGeom prst="roundRect">
            <a:avLst>
              <a:gd name="adj" fmla="val 6061"/>
            </a:avLst>
          </a:prstGeom>
          <a:solidFill>
            <a:schemeClr val="tx2"/>
          </a:solidFill>
          <a:ln w="12700">
            <a:solidFill>
              <a:schemeClr val="tx2"/>
            </a:solidFill>
            <a:prstDash val="solid"/>
          </a:ln>
        </p:spPr>
      </p:sp>
      <p:sp>
        <p:nvSpPr>
          <p:cNvPr id="5" name="Text 3"/>
          <p:cNvSpPr txBox="1"/>
          <p:nvPr/>
        </p:nvSpPr>
        <p:spPr>
          <a:xfrm>
            <a:off x="868680" y="2057400"/>
            <a:ext cx="2286000" cy="365760"/>
          </a:xfrm>
          <a:prstGeom prst="rect">
            <a:avLst/>
          </a:prstGeom>
          <a:noFill/>
          <a:ln/>
        </p:spPr>
        <p:txBody>
          <a:bodyPr wrap="square" lIns="0" tIns="0" rIns="0" bIns="0" rtlCol="0" anchor="t"/>
          <a:lstStyle/>
          <a:p>
            <a:pPr indent="0" marL="0">
              <a:buNone/>
            </a:pPr>
            <a:r>
              <a:rPr lang="en-US" sz="1800" b="1" dirty="0">
                <a:solidFill>
                  <a:schemeClr val="accent1"/>
                </a:solidFill>
              </a:rPr>
              <a:t>MatrixLang</a:t>
            </a:r>
            <a:endParaRPr lang="en-US" sz="1800" dirty="0"/>
          </a:p>
        </p:txBody>
      </p:sp>
      <p:sp>
        <p:nvSpPr>
          <p:cNvPr id="6" name="Text 4"/>
          <p:cNvSpPr txBox="1"/>
          <p:nvPr/>
        </p:nvSpPr>
        <p:spPr>
          <a:xfrm>
            <a:off x="868680" y="2468880"/>
            <a:ext cx="2286000" cy="274320"/>
          </a:xfrm>
          <a:prstGeom prst="rect">
            <a:avLst/>
          </a:prstGeom>
          <a:noFill/>
          <a:ln/>
        </p:spPr>
        <p:txBody>
          <a:bodyPr wrap="square" lIns="0" tIns="0" rIns="0" bIns="0" rtlCol="0" anchor="t"/>
          <a:lstStyle/>
          <a:p>
            <a:pPr indent="0" marL="0">
              <a:buNone/>
            </a:pPr>
            <a:r>
              <a:rPr lang="en-US" sz="1300" dirty="0">
                <a:solidFill>
                  <a:schemeClr val="bg1"/>
                </a:solidFill>
              </a:rPr>
              <a:t>declared input domains</a:t>
            </a:r>
            <a:endParaRPr lang="en-US" sz="1300" dirty="0"/>
          </a:p>
        </p:txBody>
      </p:sp>
      <p:sp>
        <p:nvSpPr>
          <p:cNvPr id="7" name="Text 5"/>
          <p:cNvSpPr txBox="1"/>
          <p:nvPr/>
        </p:nvSpPr>
        <p:spPr>
          <a:xfrm>
            <a:off x="868680" y="2788920"/>
            <a:ext cx="2286000" cy="457200"/>
          </a:xfrm>
          <a:prstGeom prst="rect">
            <a:avLst/>
          </a:prstGeom>
          <a:noFill/>
          <a:ln/>
        </p:spPr>
        <p:txBody>
          <a:bodyPr wrap="square" lIns="0" tIns="0" rIns="0" bIns="0" rtlCol="0" anchor="t"/>
          <a:lstStyle/>
          <a:p>
            <a:pPr indent="0" marL="0">
              <a:buNone/>
            </a:pPr>
            <a:r>
              <a:rPr lang="en-US" sz="1200" dirty="0">
                <a:solidFill>
                  <a:schemeClr val="accent4"/>
                </a:solidFill>
                <a:latin typeface="Courier New" pitchFamily="34" charset="0"/>
                <a:ea typeface="Courier New" pitchFamily="34" charset="-122"/>
                <a:cs typeface="Courier New" pitchFamily="34" charset="-120"/>
              </a:rPr>
              <a:t>input(int8), input(real(1))</a:t>
            </a:r>
            <a:endParaRPr lang="en-US" sz="1200" dirty="0"/>
          </a:p>
        </p:txBody>
      </p:sp>
      <p:sp>
        <p:nvSpPr>
          <p:cNvPr id="8" name="ExactReduce"/>
          <p:cNvSpPr/>
          <p:nvPr/>
        </p:nvSpPr>
        <p:spPr>
          <a:xfrm>
            <a:off x="640080" y="4206240"/>
            <a:ext cx="2651760" cy="1508760"/>
          </a:xfrm>
          <a:prstGeom prst="roundRect">
            <a:avLst>
              <a:gd name="adj" fmla="val 6061"/>
            </a:avLst>
          </a:prstGeom>
          <a:solidFill>
            <a:schemeClr val="tx2"/>
          </a:solidFill>
          <a:ln w="12700">
            <a:solidFill>
              <a:schemeClr val="tx2"/>
            </a:solidFill>
            <a:prstDash val="solid"/>
          </a:ln>
        </p:spPr>
      </p:sp>
      <p:sp>
        <p:nvSpPr>
          <p:cNvPr id="9" name="Text 7"/>
          <p:cNvSpPr txBox="1"/>
          <p:nvPr/>
        </p:nvSpPr>
        <p:spPr>
          <a:xfrm>
            <a:off x="868680" y="4389120"/>
            <a:ext cx="2286000" cy="365760"/>
          </a:xfrm>
          <a:prstGeom prst="rect">
            <a:avLst/>
          </a:prstGeom>
          <a:noFill/>
          <a:ln/>
        </p:spPr>
        <p:txBody>
          <a:bodyPr wrap="square" lIns="0" tIns="0" rIns="0" bIns="0" rtlCol="0" anchor="t"/>
          <a:lstStyle/>
          <a:p>
            <a:pPr indent="0" marL="0">
              <a:buNone/>
            </a:pPr>
            <a:r>
              <a:rPr lang="en-US" sz="1800" b="1" dirty="0">
                <a:solidFill>
                  <a:schemeClr val="accent1"/>
                </a:solidFill>
              </a:rPr>
              <a:t>ExactReduce</a:t>
            </a:r>
            <a:endParaRPr lang="en-US" sz="1800" dirty="0"/>
          </a:p>
        </p:txBody>
      </p:sp>
      <p:sp>
        <p:nvSpPr>
          <p:cNvPr id="10" name="Text 8"/>
          <p:cNvSpPr txBox="1"/>
          <p:nvPr/>
        </p:nvSpPr>
        <p:spPr>
          <a:xfrm>
            <a:off x="868680" y="4800600"/>
            <a:ext cx="2286000" cy="274320"/>
          </a:xfrm>
          <a:prstGeom prst="rect">
            <a:avLst/>
          </a:prstGeom>
          <a:noFill/>
          <a:ln/>
        </p:spPr>
        <p:txBody>
          <a:bodyPr wrap="square" lIns="0" tIns="0" rIns="0" bIns="0" rtlCol="0" anchor="t"/>
          <a:lstStyle/>
          <a:p>
            <a:pPr indent="0" marL="0">
              <a:buNone/>
            </a:pPr>
            <a:r>
              <a:rPr lang="en-US" sz="1300" dirty="0">
                <a:solidFill>
                  <a:schemeClr val="bg1"/>
                </a:solidFill>
              </a:rPr>
              <a:t>LLVM 18 pass on plain C</a:t>
            </a:r>
            <a:endParaRPr lang="en-US" sz="1300" dirty="0"/>
          </a:p>
        </p:txBody>
      </p:sp>
      <p:sp>
        <p:nvSpPr>
          <p:cNvPr id="11" name="Text 9"/>
          <p:cNvSpPr txBox="1"/>
          <p:nvPr/>
        </p:nvSpPr>
        <p:spPr>
          <a:xfrm>
            <a:off x="868680" y="5120640"/>
            <a:ext cx="2286000" cy="457200"/>
          </a:xfrm>
          <a:prstGeom prst="rect">
            <a:avLst/>
          </a:prstGeom>
          <a:noFill/>
          <a:ln/>
        </p:spPr>
        <p:txBody>
          <a:bodyPr wrap="square" lIns="0" tIns="0" rIns="0" bIns="0" rtlCol="0" anchor="t"/>
          <a:lstStyle/>
          <a:p>
            <a:pPr indent="0" marL="0">
              <a:buNone/>
            </a:pPr>
            <a:r>
              <a:rPr lang="en-US" sz="1200" dirty="0">
                <a:solidFill>
                  <a:schemeClr val="accent4"/>
                </a:solidFill>
                <a:latin typeface="Courier New" pitchFamily="34" charset="0"/>
                <a:ea typeface="Courier New" pitchFamily="34" charset="-122"/>
                <a:cs typeface="Courier New" pitchFamily="34" charset="-120"/>
              </a:rPr>
              <a:t>integer → double conversions</a:t>
            </a:r>
            <a:endParaRPr lang="en-US" sz="1200" dirty="0"/>
          </a:p>
        </p:txBody>
      </p:sp>
      <p:sp>
        <p:nvSpPr>
          <p:cNvPr id="12" name="Shape 10"/>
          <p:cNvSpPr/>
          <p:nvPr/>
        </p:nvSpPr>
        <p:spPr>
          <a:xfrm>
            <a:off x="3291840" y="2633472"/>
            <a:ext cx="640080" cy="1024128"/>
          </a:xfrm>
          <a:prstGeom prst="line">
            <a:avLst/>
          </a:prstGeom>
          <a:noFill/>
          <a:ln w="19050">
            <a:solidFill>
              <a:schemeClr val="accent6"/>
            </a:solidFill>
            <a:prstDash val="solid"/>
            <a:tailEnd type="triangle"/>
          </a:ln>
        </p:spPr>
      </p:sp>
      <p:sp>
        <p:nvSpPr>
          <p:cNvPr id="13" name="Shape 11"/>
          <p:cNvSpPr/>
          <p:nvPr/>
        </p:nvSpPr>
        <p:spPr>
          <a:xfrm flipV="1">
            <a:off x="3291840" y="3931920"/>
            <a:ext cx="640080" cy="1024128"/>
          </a:xfrm>
          <a:prstGeom prst="line">
            <a:avLst/>
          </a:prstGeom>
          <a:noFill/>
          <a:ln w="19050">
            <a:solidFill>
              <a:schemeClr val="accent6"/>
            </a:solidFill>
            <a:prstDash val="solid"/>
            <a:tailEnd type="triangle"/>
          </a:ln>
        </p:spPr>
      </p:sp>
      <p:sp>
        <p:nvSpPr>
          <p:cNvPr id="14" name="Shape 12"/>
          <p:cNvSpPr/>
          <p:nvPr/>
        </p:nvSpPr>
        <p:spPr>
          <a:xfrm>
            <a:off x="3977640" y="3172968"/>
            <a:ext cx="1243584" cy="1243584"/>
          </a:xfrm>
          <a:prstGeom prst="ellipse">
            <a:avLst/>
          </a:prstGeom>
          <a:solidFill>
            <a:schemeClr val="tx2"/>
          </a:solidFill>
          <a:ln w="19050">
            <a:solidFill>
              <a:schemeClr val="accent1"/>
            </a:solidFill>
            <a:prstDash val="solid"/>
          </a:ln>
        </p:spPr>
      </p:sp>
      <p:sp>
        <p:nvSpPr>
          <p:cNvPr id="15" name="Text 13"/>
          <p:cNvSpPr txBox="1"/>
          <p:nvPr/>
        </p:nvSpPr>
        <p:spPr>
          <a:xfrm>
            <a:off x="3977640" y="3172968"/>
            <a:ext cx="1243584" cy="1243584"/>
          </a:xfrm>
          <a:prstGeom prst="rect">
            <a:avLst/>
          </a:prstGeom>
          <a:noFill/>
          <a:ln/>
        </p:spPr>
        <p:txBody>
          <a:bodyPr wrap="square" lIns="0" tIns="0" rIns="0" bIns="0" rtlCol="0" anchor="ctr"/>
          <a:lstStyle/>
          <a:p>
            <a:pPr algn="ctr" indent="0" marL="0">
              <a:buNone/>
            </a:pPr>
            <a:r>
              <a:rPr lang="en-US" sz="3000" b="1" dirty="0">
                <a:solidFill>
                  <a:schemeClr val="accent1"/>
                </a:solidFill>
                <a:latin typeface="Cambria" pitchFamily="34" charset="0"/>
                <a:ea typeface="Cambria" pitchFamily="34" charset="-122"/>
                <a:cs typeface="Cambria" pitchFamily="34" charset="-120"/>
              </a:rPr>
              <a:t>1</a:t>
            </a:r>
            <a:endParaRPr lang="en-US" sz="3000" dirty="0"/>
          </a:p>
        </p:txBody>
      </p:sp>
      <p:sp>
        <p:nvSpPr>
          <p:cNvPr id="16" name="Text 14"/>
          <p:cNvSpPr txBox="1"/>
          <p:nvPr/>
        </p:nvSpPr>
        <p:spPr>
          <a:xfrm>
            <a:off x="3657600" y="4526280"/>
            <a:ext cx="1883664" cy="365760"/>
          </a:xfrm>
          <a:prstGeom prst="rect">
            <a:avLst/>
          </a:prstGeom>
          <a:noFill/>
          <a:ln/>
        </p:spPr>
        <p:txBody>
          <a:bodyPr wrap="square" lIns="0" tIns="0" rIns="0" bIns="0" rtlCol="0" anchor="t"/>
          <a:lstStyle/>
          <a:p>
            <a:pPr algn="ctr" indent="0" marL="0">
              <a:buNone/>
            </a:pPr>
            <a:r>
              <a:rPr lang="en-US" sz="1700" b="1" dirty="0">
                <a:solidFill>
                  <a:schemeClr val="bg1"/>
                </a:solidFill>
              </a:rPr>
              <a:t>Facts</a:t>
            </a:r>
            <a:endParaRPr lang="en-US" sz="1700" dirty="0"/>
          </a:p>
        </p:txBody>
      </p:sp>
      <p:sp>
        <p:nvSpPr>
          <p:cNvPr id="17" name="Text 15"/>
          <p:cNvSpPr txBox="1"/>
          <p:nvPr/>
        </p:nvSpPr>
        <p:spPr>
          <a:xfrm>
            <a:off x="3657600" y="4892040"/>
            <a:ext cx="1883664" cy="640080"/>
          </a:xfrm>
          <a:prstGeom prst="rect">
            <a:avLst/>
          </a:prstGeom>
          <a:noFill/>
          <a:ln/>
        </p:spPr>
        <p:txBody>
          <a:bodyPr wrap="square" lIns="0" tIns="0" rIns="0" bIns="0" rtlCol="0" anchor="t"/>
          <a:lstStyle/>
          <a:p>
            <a:pPr algn="ctr" indent="0" marL="0">
              <a:buNone/>
            </a:pPr>
            <a:r>
              <a:rPr lang="en-US" sz="1250" dirty="0">
                <a:solidFill>
                  <a:schemeClr val="accent4"/>
                </a:solidFill>
              </a:rPr>
              <a:t>grid + magnitude</a:t>
            </a:r>
            <a:endParaRPr lang="en-US" sz="1250" dirty="0"/>
          </a:p>
          <a:p>
            <a:pPr algn="ctr" indent="0" marL="0">
              <a:buNone/>
            </a:pPr>
            <a:r>
              <a:rPr lang="en-US" sz="1250" dirty="0">
                <a:solidFill>
                  <a:schemeClr val="accent4"/>
                </a:solidFill>
              </a:rPr>
              <a:t>of every value</a:t>
            </a:r>
            <a:endParaRPr lang="en-US" sz="1250" dirty="0"/>
          </a:p>
        </p:txBody>
      </p:sp>
      <p:sp>
        <p:nvSpPr>
          <p:cNvPr id="18" name="Shape 16"/>
          <p:cNvSpPr/>
          <p:nvPr/>
        </p:nvSpPr>
        <p:spPr>
          <a:xfrm>
            <a:off x="5285232" y="3794760"/>
            <a:ext cx="457200" cy="914"/>
          </a:xfrm>
          <a:prstGeom prst="line">
            <a:avLst/>
          </a:prstGeom>
          <a:noFill/>
          <a:ln w="19050">
            <a:solidFill>
              <a:schemeClr val="accent6"/>
            </a:solidFill>
            <a:prstDash val="solid"/>
            <a:tailEnd type="triangle"/>
          </a:ln>
        </p:spPr>
      </p:sp>
      <p:sp>
        <p:nvSpPr>
          <p:cNvPr id="19" name="Shape 17"/>
          <p:cNvSpPr/>
          <p:nvPr/>
        </p:nvSpPr>
        <p:spPr>
          <a:xfrm>
            <a:off x="5943600" y="3172968"/>
            <a:ext cx="1243584" cy="1243584"/>
          </a:xfrm>
          <a:prstGeom prst="ellipse">
            <a:avLst/>
          </a:prstGeom>
          <a:solidFill>
            <a:schemeClr val="tx2"/>
          </a:solidFill>
          <a:ln w="19050">
            <a:solidFill>
              <a:schemeClr val="accent1"/>
            </a:solidFill>
            <a:prstDash val="solid"/>
          </a:ln>
        </p:spPr>
      </p:sp>
      <p:sp>
        <p:nvSpPr>
          <p:cNvPr id="20" name="Text 18"/>
          <p:cNvSpPr txBox="1"/>
          <p:nvPr/>
        </p:nvSpPr>
        <p:spPr>
          <a:xfrm>
            <a:off x="5943600" y="3172968"/>
            <a:ext cx="1243584" cy="1243584"/>
          </a:xfrm>
          <a:prstGeom prst="rect">
            <a:avLst/>
          </a:prstGeom>
          <a:noFill/>
          <a:ln/>
        </p:spPr>
        <p:txBody>
          <a:bodyPr wrap="square" lIns="0" tIns="0" rIns="0" bIns="0" rtlCol="0" anchor="ctr"/>
          <a:lstStyle/>
          <a:p>
            <a:pPr algn="ctr" indent="0" marL="0">
              <a:buNone/>
            </a:pPr>
            <a:r>
              <a:rPr lang="en-US" sz="3000" b="1" dirty="0">
                <a:solidFill>
                  <a:schemeClr val="accent1"/>
                </a:solidFill>
                <a:latin typeface="Cambria" pitchFamily="34" charset="0"/>
                <a:ea typeface="Cambria" pitchFamily="34" charset="-122"/>
                <a:cs typeface="Cambria" pitchFamily="34" charset="-120"/>
              </a:rPr>
              <a:t>2</a:t>
            </a:r>
            <a:endParaRPr lang="en-US" sz="3000" dirty="0"/>
          </a:p>
        </p:txBody>
      </p:sp>
      <p:sp>
        <p:nvSpPr>
          <p:cNvPr id="21" name="Text 19"/>
          <p:cNvSpPr txBox="1"/>
          <p:nvPr/>
        </p:nvSpPr>
        <p:spPr>
          <a:xfrm>
            <a:off x="5623560" y="4526280"/>
            <a:ext cx="1883664" cy="365760"/>
          </a:xfrm>
          <a:prstGeom prst="rect">
            <a:avLst/>
          </a:prstGeom>
          <a:noFill/>
          <a:ln/>
        </p:spPr>
        <p:txBody>
          <a:bodyPr wrap="square" lIns="0" tIns="0" rIns="0" bIns="0" rtlCol="0" anchor="t"/>
          <a:lstStyle/>
          <a:p>
            <a:pPr algn="ctr" indent="0" marL="0">
              <a:buNone/>
            </a:pPr>
            <a:r>
              <a:rPr lang="en-US" sz="1700" b="1" dirty="0">
                <a:solidFill>
                  <a:schemeClr val="bg1"/>
                </a:solidFill>
              </a:rPr>
              <a:t>Obligations</a:t>
            </a:r>
            <a:endParaRPr lang="en-US" sz="1700" dirty="0"/>
          </a:p>
        </p:txBody>
      </p:sp>
      <p:sp>
        <p:nvSpPr>
          <p:cNvPr id="22" name="Text 20"/>
          <p:cNvSpPr txBox="1"/>
          <p:nvPr/>
        </p:nvSpPr>
        <p:spPr>
          <a:xfrm>
            <a:off x="5623560" y="4892040"/>
            <a:ext cx="1883664" cy="640080"/>
          </a:xfrm>
          <a:prstGeom prst="rect">
            <a:avLst/>
          </a:prstGeom>
          <a:noFill/>
          <a:ln/>
        </p:spPr>
        <p:txBody>
          <a:bodyPr wrap="square" lIns="0" tIns="0" rIns="0" bIns="0" rtlCol="0" anchor="t"/>
          <a:lstStyle/>
          <a:p>
            <a:pPr algn="ctr" indent="0" marL="0">
              <a:buNone/>
            </a:pPr>
            <a:r>
              <a:rPr lang="en-US" sz="1250" dirty="0">
                <a:solidFill>
                  <a:schemeClr val="accent4"/>
                </a:solidFill>
              </a:rPr>
              <a:t>exact in 53 bits?</a:t>
            </a:r>
            <a:endParaRPr lang="en-US" sz="1250" dirty="0"/>
          </a:p>
          <a:p>
            <a:pPr algn="ctr" indent="0" marL="0">
              <a:buNone/>
            </a:pPr>
            <a:r>
              <a:rPr lang="en-US" sz="1250" dirty="0">
                <a:solidFill>
                  <a:schemeClr val="accent4"/>
                </a:solidFill>
              </a:rPr>
              <a:t>bound still holds?</a:t>
            </a:r>
            <a:endParaRPr lang="en-US" sz="1250" dirty="0"/>
          </a:p>
        </p:txBody>
      </p:sp>
      <p:sp>
        <p:nvSpPr>
          <p:cNvPr id="23" name="Shape 21"/>
          <p:cNvSpPr/>
          <p:nvPr/>
        </p:nvSpPr>
        <p:spPr>
          <a:xfrm>
            <a:off x="7251192" y="3794760"/>
            <a:ext cx="457200" cy="914"/>
          </a:xfrm>
          <a:prstGeom prst="line">
            <a:avLst/>
          </a:prstGeom>
          <a:noFill/>
          <a:ln w="19050">
            <a:solidFill>
              <a:schemeClr val="accent6"/>
            </a:solidFill>
            <a:prstDash val="solid"/>
            <a:tailEnd type="triangle"/>
          </a:ln>
        </p:spPr>
      </p:sp>
      <p:sp>
        <p:nvSpPr>
          <p:cNvPr id="24" name="Shape 22"/>
          <p:cNvSpPr/>
          <p:nvPr/>
        </p:nvSpPr>
        <p:spPr>
          <a:xfrm>
            <a:off x="7909560" y="3172968"/>
            <a:ext cx="1243584" cy="1243584"/>
          </a:xfrm>
          <a:prstGeom prst="ellipse">
            <a:avLst/>
          </a:prstGeom>
          <a:solidFill>
            <a:schemeClr val="tx2"/>
          </a:solidFill>
          <a:ln w="19050">
            <a:solidFill>
              <a:schemeClr val="accent1"/>
            </a:solidFill>
            <a:prstDash val="solid"/>
          </a:ln>
        </p:spPr>
      </p:sp>
      <p:sp>
        <p:nvSpPr>
          <p:cNvPr id="25" name="Text 23"/>
          <p:cNvSpPr txBox="1"/>
          <p:nvPr/>
        </p:nvSpPr>
        <p:spPr>
          <a:xfrm>
            <a:off x="7909560" y="3172968"/>
            <a:ext cx="1243584" cy="1243584"/>
          </a:xfrm>
          <a:prstGeom prst="rect">
            <a:avLst/>
          </a:prstGeom>
          <a:noFill/>
          <a:ln/>
        </p:spPr>
        <p:txBody>
          <a:bodyPr wrap="square" lIns="0" tIns="0" rIns="0" bIns="0" rtlCol="0" anchor="ctr"/>
          <a:lstStyle/>
          <a:p>
            <a:pPr algn="ctr" indent="0" marL="0">
              <a:buNone/>
            </a:pPr>
            <a:r>
              <a:rPr lang="en-US" sz="3000" b="1" dirty="0">
                <a:solidFill>
                  <a:schemeClr val="accent1"/>
                </a:solidFill>
                <a:latin typeface="Cambria" pitchFamily="34" charset="0"/>
                <a:ea typeface="Cambria" pitchFamily="34" charset="-122"/>
                <a:cs typeface="Cambria" pitchFamily="34" charset="-120"/>
              </a:rPr>
              <a:t>3</a:t>
            </a:r>
            <a:endParaRPr lang="en-US" sz="3000" dirty="0"/>
          </a:p>
        </p:txBody>
      </p:sp>
      <p:sp>
        <p:nvSpPr>
          <p:cNvPr id="26" name="Text 24"/>
          <p:cNvSpPr txBox="1"/>
          <p:nvPr/>
        </p:nvSpPr>
        <p:spPr>
          <a:xfrm>
            <a:off x="7589520" y="4526280"/>
            <a:ext cx="1883664" cy="365760"/>
          </a:xfrm>
          <a:prstGeom prst="rect">
            <a:avLst/>
          </a:prstGeom>
          <a:noFill/>
          <a:ln/>
        </p:spPr>
        <p:txBody>
          <a:bodyPr wrap="square" lIns="0" tIns="0" rIns="0" bIns="0" rtlCol="0" anchor="t"/>
          <a:lstStyle/>
          <a:p>
            <a:pPr algn="ctr" indent="0" marL="0">
              <a:buNone/>
            </a:pPr>
            <a:r>
              <a:rPr lang="en-US" sz="1700" b="1" dirty="0">
                <a:solidFill>
                  <a:schemeClr val="bg1"/>
                </a:solidFill>
              </a:rPr>
              <a:t>Contract</a:t>
            </a:r>
            <a:endParaRPr lang="en-US" sz="1700" dirty="0"/>
          </a:p>
        </p:txBody>
      </p:sp>
      <p:sp>
        <p:nvSpPr>
          <p:cNvPr id="27" name="Text 25"/>
          <p:cNvSpPr txBox="1"/>
          <p:nvPr/>
        </p:nvSpPr>
        <p:spPr>
          <a:xfrm>
            <a:off x="7589520" y="4892040"/>
            <a:ext cx="1883664" cy="640080"/>
          </a:xfrm>
          <a:prstGeom prst="rect">
            <a:avLst/>
          </a:prstGeom>
          <a:noFill/>
          <a:ln/>
        </p:spPr>
        <p:txBody>
          <a:bodyPr wrap="square" lIns="0" tIns="0" rIns="0" bIns="0" rtlCol="0" anchor="t"/>
          <a:lstStyle/>
          <a:p>
            <a:pPr algn="ctr" indent="0" marL="0">
              <a:buNone/>
            </a:pPr>
            <a:r>
              <a:rPr lang="en-US" sz="1250" dirty="0">
                <a:solidFill>
                  <a:schemeClr val="accent4"/>
                </a:solidFill>
              </a:rPr>
              <a:t>is this level</a:t>
            </a:r>
            <a:endParaRPr lang="en-US" sz="1250" dirty="0"/>
          </a:p>
          <a:p>
            <a:pPr algn="ctr" indent="0" marL="0">
              <a:buNone/>
            </a:pPr>
            <a:r>
              <a:rPr lang="en-US" sz="1250" dirty="0">
                <a:solidFill>
                  <a:schemeClr val="accent4"/>
                </a:solidFill>
              </a:rPr>
              <a:t>admitted?</a:t>
            </a:r>
            <a:endParaRPr lang="en-US" sz="1250" dirty="0"/>
          </a:p>
        </p:txBody>
      </p:sp>
      <p:sp>
        <p:nvSpPr>
          <p:cNvPr id="28" name="Shape 26"/>
          <p:cNvSpPr/>
          <p:nvPr/>
        </p:nvSpPr>
        <p:spPr>
          <a:xfrm flipV="1">
            <a:off x="9235440" y="2633472"/>
            <a:ext cx="365760" cy="1024128"/>
          </a:xfrm>
          <a:prstGeom prst="line">
            <a:avLst/>
          </a:prstGeom>
          <a:noFill/>
          <a:ln w="19050">
            <a:solidFill>
              <a:schemeClr val="accent1"/>
            </a:solidFill>
            <a:prstDash val="solid"/>
            <a:tailEnd type="triangle"/>
          </a:ln>
        </p:spPr>
      </p:sp>
      <p:sp>
        <p:nvSpPr>
          <p:cNvPr id="29" name="Shape 27"/>
          <p:cNvSpPr/>
          <p:nvPr/>
        </p:nvSpPr>
        <p:spPr>
          <a:xfrm>
            <a:off x="9235440" y="3931920"/>
            <a:ext cx="365760" cy="1024128"/>
          </a:xfrm>
          <a:prstGeom prst="line">
            <a:avLst/>
          </a:prstGeom>
          <a:noFill/>
          <a:ln w="19050">
            <a:solidFill>
              <a:schemeClr val="accent6"/>
            </a:solidFill>
            <a:prstDash val="solid"/>
            <a:tailEnd type="triangle"/>
          </a:ln>
        </p:spPr>
      </p:sp>
      <p:sp>
        <p:nvSpPr>
          <p:cNvPr id="30" name="Rewrite + certificate"/>
          <p:cNvSpPr/>
          <p:nvPr/>
        </p:nvSpPr>
        <p:spPr>
          <a:xfrm>
            <a:off x="9601200" y="1874520"/>
            <a:ext cx="1965960" cy="1508760"/>
          </a:xfrm>
          <a:prstGeom prst="roundRect">
            <a:avLst>
              <a:gd name="adj" fmla="val 6061"/>
            </a:avLst>
          </a:prstGeom>
          <a:solidFill>
            <a:schemeClr val="tx2"/>
          </a:solidFill>
          <a:ln w="12700">
            <a:solidFill>
              <a:schemeClr val="accent1"/>
            </a:solidFill>
            <a:prstDash val="solid"/>
          </a:ln>
        </p:spPr>
      </p:sp>
      <p:sp>
        <p:nvSpPr>
          <p:cNvPr id="31" name="Text 29"/>
          <p:cNvSpPr txBox="1"/>
          <p:nvPr/>
        </p:nvSpPr>
        <p:spPr>
          <a:xfrm>
            <a:off x="9784080" y="2057400"/>
            <a:ext cx="1645920" cy="685800"/>
          </a:xfrm>
          <a:prstGeom prst="rect">
            <a:avLst/>
          </a:prstGeom>
          <a:noFill/>
          <a:ln/>
        </p:spPr>
        <p:txBody>
          <a:bodyPr wrap="square" lIns="0" tIns="0" rIns="0" bIns="0" rtlCol="0" anchor="t"/>
          <a:lstStyle/>
          <a:p>
            <a:pPr indent="0" marL="0">
              <a:buNone/>
            </a:pPr>
            <a:r>
              <a:rPr lang="en-US" sz="1600" b="1" dirty="0">
                <a:solidFill>
                  <a:schemeClr val="accent1"/>
                </a:solidFill>
              </a:rPr>
              <a:t>Rewrite + certificate</a:t>
            </a:r>
            <a:endParaRPr lang="en-US" sz="1600" dirty="0"/>
          </a:p>
        </p:txBody>
      </p:sp>
      <p:sp>
        <p:nvSpPr>
          <p:cNvPr id="32" name="Text 30"/>
          <p:cNvSpPr txBox="1"/>
          <p:nvPr/>
        </p:nvSpPr>
        <p:spPr>
          <a:xfrm>
            <a:off x="9784080" y="2743200"/>
            <a:ext cx="1645920" cy="548640"/>
          </a:xfrm>
          <a:prstGeom prst="rect">
            <a:avLst/>
          </a:prstGeom>
          <a:noFill/>
          <a:ln/>
        </p:spPr>
        <p:txBody>
          <a:bodyPr wrap="square" lIns="0" tIns="0" rIns="0" bIns="0" rtlCol="0" anchor="t"/>
          <a:lstStyle/>
          <a:p>
            <a:pPr indent="0" marL="0">
              <a:buNone/>
            </a:pPr>
            <a:r>
              <a:rPr lang="en-US" sz="1200" dirty="0">
                <a:solidFill>
                  <a:schemeClr val="accent4"/>
                </a:solidFill>
              </a:rPr>
              <a:t>reorder, vectorize, label output</a:t>
            </a:r>
            <a:endParaRPr lang="en-US" sz="1200" dirty="0"/>
          </a:p>
        </p:txBody>
      </p:sp>
      <p:sp>
        <p:nvSpPr>
          <p:cNvPr id="33" name="Keep source order"/>
          <p:cNvSpPr/>
          <p:nvPr/>
        </p:nvSpPr>
        <p:spPr>
          <a:xfrm>
            <a:off x="9601200" y="4206240"/>
            <a:ext cx="1965960" cy="1508760"/>
          </a:xfrm>
          <a:prstGeom prst="roundRect">
            <a:avLst>
              <a:gd name="adj" fmla="val 6061"/>
            </a:avLst>
          </a:prstGeom>
          <a:solidFill>
            <a:schemeClr val="tx2"/>
          </a:solidFill>
          <a:ln w="12700">
            <a:solidFill>
              <a:schemeClr val="accent5"/>
            </a:solidFill>
            <a:prstDash val="solid"/>
          </a:ln>
        </p:spPr>
      </p:sp>
      <p:sp>
        <p:nvSpPr>
          <p:cNvPr id="34" name="Text 32"/>
          <p:cNvSpPr txBox="1"/>
          <p:nvPr/>
        </p:nvSpPr>
        <p:spPr>
          <a:xfrm>
            <a:off x="9784080" y="4389120"/>
            <a:ext cx="1645920" cy="685800"/>
          </a:xfrm>
          <a:prstGeom prst="rect">
            <a:avLst/>
          </a:prstGeom>
          <a:noFill/>
          <a:ln/>
        </p:spPr>
        <p:txBody>
          <a:bodyPr wrap="square" lIns="0" tIns="0" rIns="0" bIns="0" rtlCol="0" anchor="t"/>
          <a:lstStyle/>
          <a:p>
            <a:pPr indent="0" marL="0">
              <a:buNone/>
            </a:pPr>
            <a:r>
              <a:rPr lang="en-US" sz="1600" b="1" dirty="0">
                <a:solidFill>
                  <a:schemeClr val="accent4"/>
                </a:solidFill>
              </a:rPr>
              <a:t>Keep source order</a:t>
            </a:r>
            <a:endParaRPr lang="en-US" sz="1600" dirty="0"/>
          </a:p>
        </p:txBody>
      </p:sp>
      <p:sp>
        <p:nvSpPr>
          <p:cNvPr id="35" name="Text 33"/>
          <p:cNvSpPr txBox="1"/>
          <p:nvPr/>
        </p:nvSpPr>
        <p:spPr>
          <a:xfrm>
            <a:off x="9784080" y="5074920"/>
            <a:ext cx="1645920" cy="548640"/>
          </a:xfrm>
          <a:prstGeom prst="rect">
            <a:avLst/>
          </a:prstGeom>
          <a:noFill/>
          <a:ln/>
        </p:spPr>
        <p:txBody>
          <a:bodyPr wrap="square" lIns="0" tIns="0" rIns="0" bIns="0" rtlCol="0" anchor="t"/>
          <a:lstStyle/>
          <a:p>
            <a:pPr indent="0" marL="0">
              <a:buNone/>
            </a:pPr>
            <a:r>
              <a:rPr lang="en-US" sz="1200" dirty="0">
                <a:solidFill>
                  <a:schemeClr val="accent4"/>
                </a:solidFill>
              </a:rPr>
              <a:t>strict fallback, nothing lost</a:t>
            </a:r>
            <a:endParaRPr lang="en-US" sz="1200" dirty="0"/>
          </a:p>
        </p:txBody>
      </p:sp>
      <p:sp>
        <p:nvSpPr>
          <p:cNvPr id="25" name="Slide Number Placeholder 0"/>
          <p:cNvSpPr>
            <a:spLocks noGrp="1"/>
          </p:cNvSpPr>
          <p:nvPr>
            <p:ph type="sldNum" sz="quarter" idx="4294967295"/>
          </p:nvPr>
        </p:nvSpPr>
        <p:spPr>
          <a:xfrm>
            <a:off x="11064240" y="63550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881360" cy="320040"/>
          </a:xfrm>
          <a:prstGeom prst="rect">
            <a:avLst/>
          </a:prstGeom>
          <a:noFill/>
          <a:ln/>
        </p:spPr>
        <p:txBody>
          <a:bodyPr wrap="square" rtlCol="0" anchor="ctr"/>
          <a:lstStyle/>
          <a:p>
            <a:pPr algn="l" indent="0" marL="0">
              <a:buNone/>
            </a:pPr>
            <a:r>
              <a:rPr lang="en-US" sz="1200" b="1" spc="400" kern="0" dirty="0">
                <a:solidFill>
                  <a:schemeClr val="accent1"/>
                </a:solidFill>
              </a:rPr>
              <a:t>05  ·  WHAT THE REVISION FIXED</a:t>
            </a:r>
            <a:endParaRPr lang="en-US" sz="1200" dirty="0"/>
          </a:p>
        </p:txBody>
      </p:sp>
      <p:sp>
        <p:nvSpPr>
          <p:cNvPr id="3" name="Text 0"/>
          <p:cNvSpPr/>
          <p:nvPr>
            <p:ph idx="101" type="title" hasCustomPrompt="1"/>
          </p:nvPr>
        </p:nvSpPr>
        <p:spPr>
          <a:xfrm>
            <a:off x="640080" y="731520"/>
            <a:ext cx="10881360" cy="822960"/>
          </a:xfrm>
          <a:prstGeom prst="rect">
            <a:avLst/>
          </a:prstGeom>
          <a:noFill/>
          <a:ln/>
        </p:spPr>
        <p:txBody>
          <a:bodyPr wrap="square" rtlCol="0" anchor="ctr"/>
          <a:lstStyle/>
          <a:p>
            <a:pPr algn="l" indent="0" marL="0">
              <a:buNone/>
            </a:pPr>
            <a:r>
              <a:rPr lang="en-US" sz="3400" b="1" dirty="0">
                <a:solidFill>
                  <a:schemeClr val="bg1"/>
                </a:solidFill>
              </a:rPr>
              <a:t>A magnitude bound alone is not enough</a:t>
            </a:r>
            <a:endParaRPr lang="en-US" sz="3400" dirty="0"/>
          </a:p>
        </p:txBody>
      </p:sp>
      <p:sp>
        <p:nvSpPr>
          <p:cNvPr id="4" name="counterexample"/>
          <p:cNvSpPr/>
          <p:nvPr/>
        </p:nvSpPr>
        <p:spPr>
          <a:xfrm>
            <a:off x="640080" y="1783080"/>
            <a:ext cx="5577840" cy="3520440"/>
          </a:xfrm>
          <a:prstGeom prst="roundRect">
            <a:avLst>
              <a:gd name="adj" fmla="val 2597"/>
            </a:avLst>
          </a:prstGeom>
          <a:solidFill>
            <a:schemeClr val="tx2"/>
          </a:solidFill>
          <a:ln w="12700">
            <a:solidFill>
              <a:schemeClr val="tx2"/>
            </a:solidFill>
            <a:prstDash val="solid"/>
          </a:ln>
        </p:spPr>
      </p:sp>
      <p:sp>
        <p:nvSpPr>
          <p:cNvPr id="5" name="Text 3"/>
          <p:cNvSpPr txBox="1"/>
          <p:nvPr/>
        </p:nvSpPr>
        <p:spPr>
          <a:xfrm>
            <a:off x="1005840" y="2057400"/>
            <a:ext cx="4572000" cy="274320"/>
          </a:xfrm>
          <a:prstGeom prst="rect">
            <a:avLst/>
          </a:prstGeom>
          <a:noFill/>
          <a:ln/>
        </p:spPr>
        <p:txBody>
          <a:bodyPr wrap="square" lIns="0" tIns="0" rIns="0" bIns="0" rtlCol="0" anchor="t"/>
          <a:lstStyle/>
          <a:p>
            <a:pPr indent="0" marL="0">
              <a:buNone/>
            </a:pPr>
            <a:r>
              <a:rPr lang="en-US" sz="1200" b="1" spc="400" kern="0" dirty="0">
                <a:solidFill>
                  <a:schemeClr val="accent3"/>
                </a:solidFill>
              </a:rPr>
              <a:t>COUNTEREXAMPLE</a:t>
            </a:r>
            <a:endParaRPr lang="en-US" sz="1200" dirty="0"/>
          </a:p>
        </p:txBody>
      </p:sp>
      <p:sp>
        <p:nvSpPr>
          <p:cNvPr id="6" name="Text 4"/>
          <p:cNvSpPr txBox="1"/>
          <p:nvPr/>
        </p:nvSpPr>
        <p:spPr>
          <a:xfrm>
            <a:off x="1005840" y="2514600"/>
            <a:ext cx="4937760" cy="2011680"/>
          </a:xfrm>
          <a:prstGeom prst="rect">
            <a:avLst/>
          </a:prstGeom>
          <a:noFill/>
          <a:ln/>
        </p:spPr>
        <p:txBody>
          <a:bodyPr wrap="square" lIns="0" tIns="0" rIns="0" bIns="0" rtlCol="0" anchor="t"/>
          <a:lstStyle/>
          <a:p>
            <a:pPr indent="0" marL="0">
              <a:buNone/>
            </a:pPr>
            <a:r>
              <a:rPr lang="en-US" sz="1600" dirty="0">
                <a:solidFill>
                  <a:schemeClr val="accent4"/>
                </a:solidFill>
                <a:latin typeface="Courier New" pitchFamily="34" charset="0"/>
                <a:ea typeface="Courier New" pitchFamily="34" charset="-122"/>
                <a:cs typeface="Courier New" pitchFamily="34" charset="-120"/>
              </a:rPr>
              <a:t>q = 2^-1074  a = 3q  b = ½  c = ¾</a:t>
            </a:r>
            <a:endParaRPr lang="en-US" sz="20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endParaRPr lang="en-US" sz="2000" dirty="0"/>
          </a:p>
          <a:p>
            <a:pPr indent="0" marL="0">
              <a:buNone/>
            </a:pPr>
            <a:r>
              <a:rPr lang="en-US" sz="2000" dirty="0">
                <a:solidFill>
                  <a:schemeClr val="bg1"/>
                </a:solidFill>
                <a:latin typeface="Courier New" pitchFamily="34" charset="0"/>
                <a:ea typeface="Courier New" pitchFamily="34" charset="-122"/>
                <a:cs typeface="Courier New" pitchFamily="34" charset="-120"/>
              </a:rPr>
              <a:t>(a·b)·c  →  2q</a:t>
            </a:r>
            <a:endParaRPr lang="en-US" sz="2000" dirty="0"/>
          </a:p>
          <a:p>
            <a:pPr indent="0" marL="0">
              <a:buNone/>
            </a:pPr>
            <a:r>
              <a:rPr lang="en-US" sz="2000" dirty="0">
                <a:solidFill>
                  <a:schemeClr val="bg1"/>
                </a:solidFill>
                <a:latin typeface="Courier New" pitchFamily="34" charset="0"/>
                <a:ea typeface="Courier New" pitchFamily="34" charset="-122"/>
                <a:cs typeface="Courier New" pitchFamily="34" charset="-120"/>
              </a:rPr>
              <a:t>a·(b·c)  →   q</a:t>
            </a:r>
            <a:endParaRPr lang="en-US" sz="2000" dirty="0"/>
          </a:p>
          <a:p>
            <a:pPr indent="0" marL="0">
              <a:buNone/>
            </a:pPr>
            <a:r>
              <a:rPr lang="en-US" sz="2000" dirty="0">
                <a:solidFill>
                  <a:schemeClr val="accent1"/>
                </a:solidFill>
                <a:latin typeface="Courier New" pitchFamily="34" charset="0"/>
                <a:ea typeface="Courier New" pitchFamily="34" charset="-122"/>
                <a:cs typeface="Courier New" pitchFamily="34" charset="-120"/>
              </a:rPr>
              <a:t>exact    =  9q/8</a:t>
            </a:r>
            <a:endParaRPr lang="en-US" sz="2000" dirty="0"/>
          </a:p>
        </p:txBody>
      </p:sp>
      <p:sp>
        <p:nvSpPr>
          <p:cNvPr id="7" name="Text 5"/>
          <p:cNvSpPr txBox="1"/>
          <p:nvPr/>
        </p:nvSpPr>
        <p:spPr>
          <a:xfrm>
            <a:off x="1005840" y="4526280"/>
            <a:ext cx="4937760" cy="640080"/>
          </a:xfrm>
          <a:prstGeom prst="rect">
            <a:avLst/>
          </a:prstGeom>
          <a:noFill/>
          <a:ln/>
        </p:spPr>
        <p:txBody>
          <a:bodyPr wrap="square" lIns="0" tIns="0" rIns="0" bIns="0" rtlCol="0" anchor="t"/>
          <a:lstStyle/>
          <a:p>
            <a:pPr indent="0" marL="0">
              <a:buNone/>
            </a:pPr>
            <a:r>
              <a:rPr lang="en-US" sz="1300" i="1" dirty="0">
                <a:solidFill>
                  <a:schemeClr val="accent4"/>
                </a:solidFill>
              </a:rPr>
              <a:t>Values inside [−1, 1], yet both orders break the claimed error bound: they underflow inexactly.</a:t>
            </a:r>
            <a:endParaRPr lang="en-US" sz="1300" dirty="0"/>
          </a:p>
        </p:txBody>
      </p:sp>
      <p:sp>
        <p:nvSpPr>
          <p:cNvPr id="8" name="Text 6"/>
          <p:cNvSpPr txBox="1"/>
          <p:nvPr/>
        </p:nvSpPr>
        <p:spPr>
          <a:xfrm>
            <a:off x="6675120" y="1828800"/>
            <a:ext cx="4572000" cy="274320"/>
          </a:xfrm>
          <a:prstGeom prst="rect">
            <a:avLst/>
          </a:prstGeom>
          <a:noFill/>
          <a:ln/>
        </p:spPr>
        <p:txBody>
          <a:bodyPr wrap="square" lIns="0" tIns="0" rIns="0" bIns="0" rtlCol="0" anchor="t"/>
          <a:lstStyle/>
          <a:p>
            <a:pPr indent="0" marL="0">
              <a:buNone/>
            </a:pPr>
            <a:r>
              <a:rPr lang="en-US" sz="1200" b="1" spc="400" kern="0" dirty="0">
                <a:solidFill>
                  <a:schemeClr val="accent1"/>
                </a:solidFill>
              </a:rPr>
              <a:t>FIX</a:t>
            </a:r>
            <a:endParaRPr lang="en-US" sz="1200" dirty="0"/>
          </a:p>
        </p:txBody>
      </p:sp>
      <p:sp>
        <p:nvSpPr>
          <p:cNvPr id="9" name="Text 7"/>
          <p:cNvSpPr txBox="1"/>
          <p:nvPr/>
        </p:nvSpPr>
        <p:spPr>
          <a:xfrm>
            <a:off x="6675120" y="2148840"/>
            <a:ext cx="4846320" cy="914400"/>
          </a:xfrm>
          <a:prstGeom prst="rect">
            <a:avLst/>
          </a:prstGeom>
          <a:noFill/>
          <a:ln/>
        </p:spPr>
        <p:txBody>
          <a:bodyPr wrap="square" lIns="0" tIns="0" rIns="0" bIns="0" rtlCol="0" anchor="t"/>
          <a:lstStyle/>
          <a:p>
            <a:pPr indent="0" marL="0">
              <a:buNone/>
            </a:pPr>
            <a:r>
              <a:rPr lang="en-US" sz="2400" b="1" dirty="0">
                <a:solidFill>
                  <a:schemeClr val="bg1"/>
                </a:solidFill>
                <a:latin typeface="Cambria" pitchFamily="34" charset="0"/>
                <a:ea typeface="Cambria" pitchFamily="34" charset="-122"/>
                <a:cs typeface="Cambria" pitchFamily="34" charset="-120"/>
              </a:rPr>
              <a:t>Also require a representable product grid</a:t>
            </a:r>
            <a:endParaRPr lang="en-US" sz="2400" dirty="0"/>
          </a:p>
        </p:txBody>
      </p:sp>
      <p:sp>
        <p:nvSpPr>
          <p:cNvPr id="10" name="Text 8"/>
          <p:cNvSpPr txBox="1"/>
          <p:nvPr/>
        </p:nvSpPr>
        <p:spPr>
          <a:xfrm>
            <a:off x="6675120" y="3337560"/>
            <a:ext cx="1828800" cy="731520"/>
          </a:xfrm>
          <a:prstGeom prst="rect">
            <a:avLst/>
          </a:prstGeom>
          <a:noFill/>
          <a:ln/>
        </p:spPr>
        <p:txBody>
          <a:bodyPr wrap="square" lIns="0" tIns="0" rIns="0" bIns="0" rtlCol="0" anchor="ctr"/>
          <a:lstStyle/>
          <a:p>
            <a:pPr indent="0" marL="0">
              <a:buNone/>
            </a:pPr>
            <a:r>
              <a:rPr lang="en-US" sz="3600" b="1" dirty="0">
                <a:solidFill>
                  <a:schemeClr val="accent1"/>
                </a:solidFill>
              </a:rPr>
              <a:t>100%</a:t>
            </a:r>
            <a:endParaRPr lang="en-US" sz="3600" dirty="0"/>
          </a:p>
        </p:txBody>
      </p:sp>
      <p:sp>
        <p:nvSpPr>
          <p:cNvPr id="11" name="Text 9"/>
          <p:cNvSpPr txBox="1"/>
          <p:nvPr/>
        </p:nvSpPr>
        <p:spPr>
          <a:xfrm>
            <a:off x="8595360" y="3337560"/>
            <a:ext cx="2926080" cy="731520"/>
          </a:xfrm>
          <a:prstGeom prst="rect">
            <a:avLst/>
          </a:prstGeom>
          <a:noFill/>
          <a:ln/>
        </p:spPr>
        <p:txBody>
          <a:bodyPr wrap="square" lIns="0" tIns="0" rIns="0" bIns="0" rtlCol="0" anchor="ctr"/>
          <a:lstStyle/>
          <a:p>
            <a:pPr indent="0" marL="0">
              <a:buNone/>
            </a:pPr>
            <a:r>
              <a:rPr lang="en-US" sz="1400" dirty="0">
                <a:solidFill>
                  <a:schemeClr val="bg2"/>
                </a:solidFill>
              </a:rPr>
              <a:t>of the optimization kept on integer data: unchanged</a:t>
            </a:r>
            <a:endParaRPr lang="en-US" sz="1400" dirty="0"/>
          </a:p>
        </p:txBody>
      </p:sp>
      <p:sp>
        <p:nvSpPr>
          <p:cNvPr id="12" name="Text 10"/>
          <p:cNvSpPr txBox="1"/>
          <p:nvPr/>
        </p:nvSpPr>
        <p:spPr>
          <a:xfrm>
            <a:off x="6675120" y="4343400"/>
            <a:ext cx="1828800" cy="731520"/>
          </a:xfrm>
          <a:prstGeom prst="rect">
            <a:avLst/>
          </a:prstGeom>
          <a:noFill/>
          <a:ln/>
        </p:spPr>
        <p:txBody>
          <a:bodyPr wrap="square" lIns="0" tIns="0" rIns="0" bIns="0" rtlCol="0" anchor="ctr"/>
          <a:lstStyle/>
          <a:p>
            <a:pPr indent="0" marL="0">
              <a:buNone/>
            </a:pPr>
            <a:r>
              <a:rPr lang="en-US" sz="3600" b="1" dirty="0">
                <a:solidFill>
                  <a:schemeClr val="accent3"/>
                </a:solidFill>
              </a:rPr>
              <a:t>43.7%</a:t>
            </a:r>
            <a:endParaRPr lang="en-US" sz="3600" dirty="0"/>
          </a:p>
        </p:txBody>
      </p:sp>
      <p:sp>
        <p:nvSpPr>
          <p:cNvPr id="13" name="Text 11"/>
          <p:cNvSpPr txBox="1"/>
          <p:nvPr/>
        </p:nvSpPr>
        <p:spPr>
          <a:xfrm>
            <a:off x="8595360" y="4343400"/>
            <a:ext cx="2926080" cy="731520"/>
          </a:xfrm>
          <a:prstGeom prst="rect">
            <a:avLst/>
          </a:prstGeom>
          <a:noFill/>
          <a:ln/>
        </p:spPr>
        <p:txBody>
          <a:bodyPr wrap="square" lIns="0" tIns="0" rIns="0" bIns="0" rtlCol="0" anchor="ctr"/>
          <a:lstStyle/>
          <a:p>
            <a:pPr indent="0" marL="0">
              <a:buNone/>
            </a:pPr>
            <a:r>
              <a:rPr lang="en-US" sz="1400" dirty="0">
                <a:solidFill>
                  <a:schemeClr val="bg2"/>
                </a:solidFill>
              </a:rPr>
              <a:t>kept on real(1) data: the conservative price</a:t>
            </a:r>
            <a:endParaRPr lang="en-US" sz="1400" dirty="0"/>
          </a:p>
        </p:txBody>
      </p:sp>
      <p:sp>
        <p:nvSpPr>
          <p:cNvPr id="14" name="Text 12"/>
          <p:cNvSpPr txBox="1"/>
          <p:nvPr/>
        </p:nvSpPr>
        <p:spPr>
          <a:xfrm>
            <a:off x="640080" y="5715000"/>
            <a:ext cx="10881360" cy="365760"/>
          </a:xfrm>
          <a:prstGeom prst="rect">
            <a:avLst/>
          </a:prstGeom>
          <a:noFill/>
          <a:ln/>
        </p:spPr>
        <p:txBody>
          <a:bodyPr wrap="square" lIns="0" tIns="0" rIns="0" bIns="0" rtlCol="0" anchor="t"/>
          <a:lstStyle/>
          <a:p>
            <a:pPr indent="0" marL="0">
              <a:buNone/>
            </a:pPr>
            <a:r>
              <a:rPr lang="en-US" sz="1500" dirty="0">
                <a:solidFill>
                  <a:schemeClr val="bg2"/>
                </a:solidFill>
              </a:rPr>
              <a:t>All 15,000 + 4,800 study programs replayed after the fix: zero failures.</a:t>
            </a:r>
            <a:endParaRPr lang="en-US" sz="1500" dirty="0"/>
          </a:p>
        </p:txBody>
      </p:sp>
      <p:sp>
        <p:nvSpPr>
          <p:cNvPr id="25" name="Slide Number Placeholder 0"/>
          <p:cNvSpPr>
            <a:spLocks noGrp="1"/>
          </p:cNvSpPr>
          <p:nvPr>
            <p:ph type="sldNum" sz="quarter" idx="4294967295"/>
          </p:nvPr>
        </p:nvSpPr>
        <p:spPr>
          <a:xfrm>
            <a:off x="11064240" y="63550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881360" cy="320040"/>
          </a:xfrm>
          <a:prstGeom prst="rect">
            <a:avLst/>
          </a:prstGeom>
          <a:noFill/>
          <a:ln/>
        </p:spPr>
        <p:txBody>
          <a:bodyPr wrap="square" rtlCol="0" anchor="ctr"/>
          <a:lstStyle/>
          <a:p>
            <a:pPr algn="l" indent="0" marL="0">
              <a:buNone/>
            </a:pPr>
            <a:r>
              <a:rPr lang="en-US" sz="1200" b="1" spc="400" kern="0" dirty="0">
                <a:solidFill>
                  <a:schemeClr val="accent1"/>
                </a:solidFill>
              </a:rPr>
              <a:t>06  ·  SPEED</a:t>
            </a:r>
            <a:endParaRPr lang="en-US" sz="1200" dirty="0"/>
          </a:p>
        </p:txBody>
      </p:sp>
      <p:sp>
        <p:nvSpPr>
          <p:cNvPr id="3" name="Text 0"/>
          <p:cNvSpPr/>
          <p:nvPr>
            <p:ph idx="101" type="title" hasCustomPrompt="1"/>
          </p:nvPr>
        </p:nvSpPr>
        <p:spPr>
          <a:xfrm>
            <a:off x="640080" y="731520"/>
            <a:ext cx="10881360" cy="822960"/>
          </a:xfrm>
          <a:prstGeom prst="rect">
            <a:avLst/>
          </a:prstGeom>
          <a:noFill/>
          <a:ln/>
        </p:spPr>
        <p:txBody>
          <a:bodyPr wrap="square" rtlCol="0" anchor="ctr"/>
          <a:lstStyle/>
          <a:p>
            <a:pPr algn="l" indent="0" marL="0">
              <a:buNone/>
            </a:pPr>
            <a:r>
              <a:rPr lang="en-US" sz="3400" b="1" dirty="0">
                <a:solidFill>
                  <a:schemeClr val="bg1"/>
                </a:solidFill>
              </a:rPr>
              <a:t>Fast-math speed, strict results</a:t>
            </a:r>
            <a:endParaRPr lang="en-US" sz="3400" dirty="0"/>
          </a:p>
        </p:txBody>
      </p:sp>
      <p:graphicFrame>
        <p:nvGraphicFramePr>
          <p:cNvPr id="4" name="Chart 0" descr=""/>
          <p:cNvGraphicFramePr/>
          <p:nvPr/>
        </p:nvGraphicFramePr>
        <p:xfrm>
          <a:off x="457200" y="1691640"/>
          <a:ext cx="7589520" cy="45262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8503920" y="1828800"/>
            <a:ext cx="3017520" cy="1188720"/>
          </a:xfrm>
          <a:prstGeom prst="rect">
            <a:avLst/>
          </a:prstGeom>
          <a:noFill/>
          <a:ln/>
        </p:spPr>
        <p:txBody>
          <a:bodyPr wrap="square" lIns="0" tIns="0" rIns="0" bIns="0" rtlCol="0" anchor="t"/>
          <a:lstStyle/>
          <a:p>
            <a:pPr indent="0" marL="0">
              <a:buNone/>
            </a:pPr>
            <a:r>
              <a:rPr lang="en-US" sz="7200" b="1" dirty="0">
                <a:solidFill>
                  <a:schemeClr val="accent1"/>
                </a:solidFill>
                <a:latin typeface="Cambria" pitchFamily="34" charset="0"/>
                <a:ea typeface="Cambria" pitchFamily="34" charset="-122"/>
                <a:cs typeface="Cambria" pitchFamily="34" charset="-120"/>
              </a:rPr>
              <a:t>9.71×</a:t>
            </a:r>
            <a:endParaRPr lang="en-US" sz="7200" dirty="0"/>
          </a:p>
        </p:txBody>
      </p:sp>
      <p:sp>
        <p:nvSpPr>
          <p:cNvPr id="6" name="Text 3"/>
          <p:cNvSpPr txBox="1"/>
          <p:nvPr/>
        </p:nvSpPr>
        <p:spPr>
          <a:xfrm>
            <a:off x="8503920" y="3063240"/>
            <a:ext cx="3017520" cy="822960"/>
          </a:xfrm>
          <a:prstGeom prst="rect">
            <a:avLst/>
          </a:prstGeom>
          <a:noFill/>
          <a:ln/>
        </p:spPr>
        <p:txBody>
          <a:bodyPr wrap="square" lIns="0" tIns="0" rIns="0" bIns="0" rtlCol="0" anchor="t"/>
          <a:lstStyle/>
          <a:p>
            <a:pPr indent="0" marL="0">
              <a:buNone/>
            </a:pPr>
            <a:r>
              <a:rPr lang="en-US" sz="1500" dirty="0">
                <a:solidFill>
                  <a:schemeClr val="bg2"/>
                </a:solidFill>
              </a:rPr>
              <a:t>up to, over strict Clang (5.09× at least) on nine integer-data kernels</a:t>
            </a:r>
            <a:endParaRPr lang="en-US" sz="1500" dirty="0"/>
          </a:p>
        </p:txBody>
      </p:sp>
      <p:sp>
        <p:nvSpPr>
          <p:cNvPr id="7" name="Text 4"/>
          <p:cNvSpPr txBox="1"/>
          <p:nvPr/>
        </p:nvSpPr>
        <p:spPr>
          <a:xfrm>
            <a:off x="8503920" y="4114800"/>
            <a:ext cx="3017520" cy="731520"/>
          </a:xfrm>
          <a:prstGeom prst="rect">
            <a:avLst/>
          </a:prstGeom>
          <a:noFill/>
          <a:ln/>
        </p:spPr>
        <p:txBody>
          <a:bodyPr wrap="square" lIns="0" tIns="0" rIns="0" bIns="0" rtlCol="0" anchor="t"/>
          <a:lstStyle/>
          <a:p>
            <a:pPr indent="0" marL="0">
              <a:buNone/>
            </a:pPr>
            <a:r>
              <a:rPr lang="en-US" sz="4000" b="1" dirty="0">
                <a:solidFill>
                  <a:schemeClr val="bg1"/>
                </a:solidFill>
              </a:rPr>
              <a:t>95–102%</a:t>
            </a:r>
            <a:endParaRPr lang="en-US" sz="4000" dirty="0"/>
          </a:p>
        </p:txBody>
      </p:sp>
      <p:sp>
        <p:nvSpPr>
          <p:cNvPr id="8" name="Text 5"/>
          <p:cNvSpPr txBox="1"/>
          <p:nvPr/>
        </p:nvSpPr>
        <p:spPr>
          <a:xfrm>
            <a:off x="8503920" y="4846320"/>
            <a:ext cx="3017520" cy="640080"/>
          </a:xfrm>
          <a:prstGeom prst="rect">
            <a:avLst/>
          </a:prstGeom>
          <a:noFill/>
          <a:ln/>
        </p:spPr>
        <p:txBody>
          <a:bodyPr wrap="square" lIns="0" tIns="0" rIns="0" bIns="0" rtlCol="0" anchor="t"/>
          <a:lstStyle/>
          <a:p>
            <a:pPr indent="0" marL="0">
              <a:buNone/>
            </a:pPr>
            <a:r>
              <a:rPr lang="en-US" sz="1500" dirty="0">
                <a:solidFill>
                  <a:schemeClr val="bg2"/>
                </a:solidFill>
              </a:rPr>
              <a:t>of fast-math's speedup, with exactly the strict result bits</a:t>
            </a:r>
            <a:endParaRPr lang="en-US" sz="1500" dirty="0"/>
          </a:p>
        </p:txBody>
      </p:sp>
      <p:sp>
        <p:nvSpPr>
          <p:cNvPr id="25" name="Slide Number Placeholder 0"/>
          <p:cNvSpPr>
            <a:spLocks noGrp="1"/>
          </p:cNvSpPr>
          <p:nvPr>
            <p:ph type="sldNum" sz="quarter" idx="4294967295"/>
          </p:nvPr>
        </p:nvSpPr>
        <p:spPr>
          <a:xfrm>
            <a:off x="11064240" y="63550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881360" cy="320040"/>
          </a:xfrm>
          <a:prstGeom prst="rect">
            <a:avLst/>
          </a:prstGeom>
          <a:noFill/>
          <a:ln/>
        </p:spPr>
        <p:txBody>
          <a:bodyPr wrap="square" rtlCol="0" anchor="ctr"/>
          <a:lstStyle/>
          <a:p>
            <a:pPr algn="l" indent="0" marL="0">
              <a:buNone/>
            </a:pPr>
            <a:r>
              <a:rPr lang="en-US" sz="1200" b="1" spc="400" kern="0" dirty="0">
                <a:solidFill>
                  <a:schemeClr val="accent1"/>
                </a:solidFill>
              </a:rPr>
              <a:t>07  ·  OPTIMIZATION KEPT</a:t>
            </a:r>
            <a:endParaRPr lang="en-US" sz="1200" dirty="0"/>
          </a:p>
        </p:txBody>
      </p:sp>
      <p:sp>
        <p:nvSpPr>
          <p:cNvPr id="3" name="Text 0"/>
          <p:cNvSpPr/>
          <p:nvPr>
            <p:ph idx="101" type="title" hasCustomPrompt="1"/>
          </p:nvPr>
        </p:nvSpPr>
        <p:spPr>
          <a:xfrm>
            <a:off x="640080" y="731520"/>
            <a:ext cx="10881360" cy="822960"/>
          </a:xfrm>
          <a:prstGeom prst="rect">
            <a:avLst/>
          </a:prstGeom>
          <a:noFill/>
          <a:ln/>
        </p:spPr>
        <p:txBody>
          <a:bodyPr wrap="square" rtlCol="0" anchor="ctr"/>
          <a:lstStyle/>
          <a:p>
            <a:pPr algn="l" indent="0" marL="0">
              <a:buNone/>
            </a:pPr>
            <a:r>
              <a:rPr lang="en-US" sz="3400" b="1" dirty="0">
                <a:solidFill>
                  <a:schemeClr val="bg1"/>
                </a:solidFill>
              </a:rPr>
              <a:t>Bounded mode keeps what strict must skip</a:t>
            </a:r>
            <a:endParaRPr lang="en-US" sz="3400" dirty="0"/>
          </a:p>
        </p:txBody>
      </p:sp>
      <p:graphicFrame>
        <p:nvGraphicFramePr>
          <p:cNvPr id="4" name="Chart 0" descr=""/>
          <p:cNvGraphicFramePr/>
          <p:nvPr/>
        </p:nvGraphicFramePr>
        <p:xfrm>
          <a:off x="457200" y="1691640"/>
          <a:ext cx="7589520" cy="45262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8503920" y="1828800"/>
            <a:ext cx="3017520" cy="1188720"/>
          </a:xfrm>
          <a:prstGeom prst="rect">
            <a:avLst/>
          </a:prstGeom>
          <a:noFill/>
          <a:ln/>
        </p:spPr>
        <p:txBody>
          <a:bodyPr wrap="square" lIns="0" tIns="0" rIns="0" bIns="0" rtlCol="0" anchor="t"/>
          <a:lstStyle/>
          <a:p>
            <a:pPr indent="0" marL="0">
              <a:buNone/>
            </a:pPr>
            <a:r>
              <a:rPr lang="en-US" sz="7200" b="1" dirty="0">
                <a:solidFill>
                  <a:schemeClr val="accent1"/>
                </a:solidFill>
                <a:latin typeface="Cambria" pitchFamily="34" charset="0"/>
                <a:ea typeface="Cambria" pitchFamily="34" charset="-122"/>
                <a:cs typeface="Cambria" pitchFamily="34" charset="-120"/>
              </a:rPr>
              <a:t>100%</a:t>
            </a:r>
            <a:endParaRPr lang="en-US" sz="7200" dirty="0"/>
          </a:p>
        </p:txBody>
      </p:sp>
      <p:sp>
        <p:nvSpPr>
          <p:cNvPr id="6" name="Text 3"/>
          <p:cNvSpPr txBox="1"/>
          <p:nvPr/>
        </p:nvSpPr>
        <p:spPr>
          <a:xfrm>
            <a:off x="8503920" y="3063240"/>
            <a:ext cx="3017520" cy="822960"/>
          </a:xfrm>
          <a:prstGeom prst="rect">
            <a:avLst/>
          </a:prstGeom>
          <a:noFill/>
          <a:ln/>
        </p:spPr>
        <p:txBody>
          <a:bodyPr wrap="square" lIns="0" tIns="0" rIns="0" bIns="0" rtlCol="0" anchor="t"/>
          <a:lstStyle/>
          <a:p>
            <a:pPr indent="0" marL="0">
              <a:buNone/>
            </a:pPr>
            <a:r>
              <a:rPr lang="en-US" sz="1500" dirty="0">
                <a:solidFill>
                  <a:schemeClr val="bg2"/>
                </a:solidFill>
              </a:rPr>
              <a:t>of the full algebraic saving, kept by bounded mode on every integer domain</a:t>
            </a:r>
            <a:endParaRPr lang="en-US" sz="1500" dirty="0"/>
          </a:p>
        </p:txBody>
      </p:sp>
      <p:sp>
        <p:nvSpPr>
          <p:cNvPr id="7" name="Text 4"/>
          <p:cNvSpPr txBox="1"/>
          <p:nvPr/>
        </p:nvSpPr>
        <p:spPr>
          <a:xfrm>
            <a:off x="8503920" y="4114800"/>
            <a:ext cx="3017520" cy="731520"/>
          </a:xfrm>
          <a:prstGeom prst="rect">
            <a:avLst/>
          </a:prstGeom>
          <a:noFill/>
          <a:ln/>
        </p:spPr>
        <p:txBody>
          <a:bodyPr wrap="square" lIns="0" tIns="0" rIns="0" bIns="0" rtlCol="0" anchor="t"/>
          <a:lstStyle/>
          <a:p>
            <a:pPr indent="0" marL="0">
              <a:buNone/>
            </a:pPr>
            <a:r>
              <a:rPr lang="en-US" sz="4000" b="1" dirty="0">
                <a:solidFill>
                  <a:schemeClr val="bg1"/>
                </a:solidFill>
              </a:rPr>
              <a:t>15,000</a:t>
            </a:r>
            <a:endParaRPr lang="en-US" sz="4000" dirty="0"/>
          </a:p>
        </p:txBody>
      </p:sp>
      <p:sp>
        <p:nvSpPr>
          <p:cNvPr id="8" name="Text 5"/>
          <p:cNvSpPr txBox="1"/>
          <p:nvPr/>
        </p:nvSpPr>
        <p:spPr>
          <a:xfrm>
            <a:off x="8503920" y="4846320"/>
            <a:ext cx="3017520" cy="640080"/>
          </a:xfrm>
          <a:prstGeom prst="rect">
            <a:avLst/>
          </a:prstGeom>
          <a:noFill/>
          <a:ln/>
        </p:spPr>
        <p:txBody>
          <a:bodyPr wrap="square" lIns="0" tIns="0" rIns="0" bIns="0" rtlCol="0" anchor="t"/>
          <a:lstStyle/>
          <a:p>
            <a:pPr indent="0" marL="0">
              <a:buNone/>
            </a:pPr>
            <a:r>
              <a:rPr lang="en-US" sz="1500" dirty="0">
                <a:solidFill>
                  <a:schemeClr val="bg2"/>
                </a:solidFill>
              </a:rPr>
              <a:t>generated programs, 60,000 compilations, none failing</a:t>
            </a:r>
            <a:endParaRPr lang="en-US" sz="1500" dirty="0"/>
          </a:p>
        </p:txBody>
      </p:sp>
      <p:sp>
        <p:nvSpPr>
          <p:cNvPr id="25" name="Slide Number Placeholder 0"/>
          <p:cNvSpPr>
            <a:spLocks noGrp="1"/>
          </p:cNvSpPr>
          <p:nvPr>
            <p:ph type="sldNum" sz="quarter" idx="4294967295"/>
          </p:nvPr>
        </p:nvSpPr>
        <p:spPr>
          <a:xfrm>
            <a:off x="11064240" y="63550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881360" cy="320040"/>
          </a:xfrm>
          <a:prstGeom prst="rect">
            <a:avLst/>
          </a:prstGeom>
          <a:noFill/>
          <a:ln/>
        </p:spPr>
        <p:txBody>
          <a:bodyPr wrap="square" rtlCol="0" anchor="ctr"/>
          <a:lstStyle/>
          <a:p>
            <a:pPr algn="l" indent="0" marL="0">
              <a:buNone/>
            </a:pPr>
            <a:r>
              <a:rPr lang="en-US" sz="1200" b="1" spc="400" kern="0" dirty="0">
                <a:solidFill>
                  <a:schemeClr val="accent1"/>
                </a:solidFill>
              </a:rPr>
              <a:t>08  ·  CORRECTNESS</a:t>
            </a:r>
            <a:endParaRPr lang="en-US" sz="1200" dirty="0"/>
          </a:p>
        </p:txBody>
      </p:sp>
      <p:sp>
        <p:nvSpPr>
          <p:cNvPr id="3" name="Text 0"/>
          <p:cNvSpPr/>
          <p:nvPr>
            <p:ph idx="101" type="title" hasCustomPrompt="1"/>
          </p:nvPr>
        </p:nvSpPr>
        <p:spPr>
          <a:xfrm>
            <a:off x="640080" y="731520"/>
            <a:ext cx="10881360" cy="822960"/>
          </a:xfrm>
          <a:prstGeom prst="rect">
            <a:avLst/>
          </a:prstGeom>
          <a:noFill/>
          <a:ln/>
        </p:spPr>
        <p:txBody>
          <a:bodyPr wrap="square" rtlCol="0" anchor="ctr"/>
          <a:lstStyle/>
          <a:p>
            <a:pPr algn="l" indent="0" marL="0">
              <a:buNone/>
            </a:pPr>
            <a:r>
              <a:rPr lang="en-US" sz="3400" b="1" dirty="0">
                <a:solidFill>
                  <a:schemeClr val="bg1"/>
                </a:solidFill>
              </a:rPr>
              <a:t>Checked, not assumed</a:t>
            </a:r>
            <a:endParaRPr lang="en-US" sz="3400" dirty="0"/>
          </a:p>
        </p:txBody>
      </p:sp>
      <p:sp>
        <p:nvSpPr>
          <p:cNvPr id="4" name="check 0"/>
          <p:cNvSpPr/>
          <p:nvPr/>
        </p:nvSpPr>
        <p:spPr>
          <a:xfrm>
            <a:off x="640080" y="1783080"/>
            <a:ext cx="3474720" cy="4160520"/>
          </a:xfrm>
          <a:prstGeom prst="roundRect">
            <a:avLst>
              <a:gd name="adj" fmla="val 2632"/>
            </a:avLst>
          </a:prstGeom>
          <a:solidFill>
            <a:schemeClr val="tx2"/>
          </a:solidFill>
          <a:ln w="12700">
            <a:solidFill>
              <a:schemeClr val="tx2"/>
            </a:solidFill>
            <a:prstDash val="solid"/>
          </a:ln>
        </p:spPr>
      </p:sp>
      <p:sp>
        <p:nvSpPr>
          <p:cNvPr id="5" name="Text 3"/>
          <p:cNvSpPr txBox="1"/>
          <p:nvPr/>
        </p:nvSpPr>
        <p:spPr>
          <a:xfrm>
            <a:off x="1005840" y="2057400"/>
            <a:ext cx="2743200" cy="1920240"/>
          </a:xfrm>
          <a:prstGeom prst="rect">
            <a:avLst/>
          </a:prstGeom>
          <a:noFill/>
          <a:ln/>
        </p:spPr>
        <p:txBody>
          <a:bodyPr wrap="square" lIns="0" tIns="0" rIns="0" bIns="0" rtlCol="0" anchor="t"/>
          <a:lstStyle/>
          <a:p>
            <a:pPr indent="0" marL="0">
              <a:buNone/>
            </a:pPr>
            <a:r>
              <a:rPr lang="en-US" sz="13000" b="1" dirty="0">
                <a:solidFill>
                  <a:schemeClr val="accent1"/>
                </a:solidFill>
                <a:latin typeface="Cambria" pitchFamily="34" charset="0"/>
                <a:ea typeface="Cambria" pitchFamily="34" charset="-122"/>
                <a:cs typeface="Cambria" pitchFamily="34" charset="-120"/>
              </a:rPr>
              <a:t>0</a:t>
            </a:r>
            <a:endParaRPr lang="en-US" sz="13000" dirty="0"/>
          </a:p>
        </p:txBody>
      </p:sp>
      <p:sp>
        <p:nvSpPr>
          <p:cNvPr id="6" name="Text 4"/>
          <p:cNvSpPr txBox="1"/>
          <p:nvPr/>
        </p:nvSpPr>
        <p:spPr>
          <a:xfrm>
            <a:off x="1005840" y="4206240"/>
            <a:ext cx="2743200" cy="685800"/>
          </a:xfrm>
          <a:prstGeom prst="rect">
            <a:avLst/>
          </a:prstGeom>
          <a:noFill/>
          <a:ln/>
        </p:spPr>
        <p:txBody>
          <a:bodyPr wrap="square" lIns="0" tIns="0" rIns="0" bIns="0" rtlCol="0" anchor="t"/>
          <a:lstStyle/>
          <a:p>
            <a:pPr indent="0" marL="0">
              <a:buNone/>
            </a:pPr>
            <a:r>
              <a:rPr lang="en-US" sz="2000" b="1" dirty="0">
                <a:solidFill>
                  <a:schemeClr val="bg1"/>
                </a:solidFill>
              </a:rPr>
              <a:t>wrong outputs in 57,600 runs</a:t>
            </a:r>
            <a:endParaRPr lang="en-US" sz="2000" dirty="0"/>
          </a:p>
        </p:txBody>
      </p:sp>
      <p:sp>
        <p:nvSpPr>
          <p:cNvPr id="7" name="Text 5"/>
          <p:cNvSpPr txBox="1"/>
          <p:nvPr/>
        </p:nvSpPr>
        <p:spPr>
          <a:xfrm>
            <a:off x="1005840" y="4983480"/>
            <a:ext cx="2743200" cy="822960"/>
          </a:xfrm>
          <a:prstGeom prst="rect">
            <a:avLst/>
          </a:prstGeom>
          <a:noFill/>
          <a:ln/>
        </p:spPr>
        <p:txBody>
          <a:bodyPr wrap="square" lIns="0" tIns="0" rIns="0" bIns="0" rtlCol="0" anchor="t"/>
          <a:lstStyle/>
          <a:p>
            <a:pPr indent="0" marL="0">
              <a:buNone/>
            </a:pPr>
            <a:r>
              <a:rPr lang="en-US" sz="1400" dirty="0">
                <a:solidFill>
                  <a:schemeClr val="accent4"/>
                </a:solidFill>
              </a:rPr>
              <a:t>every output certified bit-identical matched the unoptimized program</a:t>
            </a:r>
            <a:endParaRPr lang="en-US" sz="1400" dirty="0"/>
          </a:p>
        </p:txBody>
      </p:sp>
      <p:sp>
        <p:nvSpPr>
          <p:cNvPr id="8" name="check 1"/>
          <p:cNvSpPr/>
          <p:nvPr/>
        </p:nvSpPr>
        <p:spPr>
          <a:xfrm>
            <a:off x="4343400" y="1783080"/>
            <a:ext cx="3474720" cy="4160520"/>
          </a:xfrm>
          <a:prstGeom prst="roundRect">
            <a:avLst>
              <a:gd name="adj" fmla="val 2632"/>
            </a:avLst>
          </a:prstGeom>
          <a:solidFill>
            <a:schemeClr val="tx2"/>
          </a:solidFill>
          <a:ln w="12700">
            <a:solidFill>
              <a:schemeClr val="tx2"/>
            </a:solidFill>
            <a:prstDash val="solid"/>
          </a:ln>
        </p:spPr>
      </p:sp>
      <p:sp>
        <p:nvSpPr>
          <p:cNvPr id="9" name="Text 7"/>
          <p:cNvSpPr txBox="1"/>
          <p:nvPr/>
        </p:nvSpPr>
        <p:spPr>
          <a:xfrm>
            <a:off x="4709160" y="2057400"/>
            <a:ext cx="2743200" cy="1920240"/>
          </a:xfrm>
          <a:prstGeom prst="rect">
            <a:avLst/>
          </a:prstGeom>
          <a:noFill/>
          <a:ln/>
        </p:spPr>
        <p:txBody>
          <a:bodyPr wrap="square" lIns="0" tIns="0" rIns="0" bIns="0" rtlCol="0" anchor="t"/>
          <a:lstStyle/>
          <a:p>
            <a:pPr indent="0" marL="0">
              <a:buNone/>
            </a:pPr>
            <a:r>
              <a:rPr lang="en-US" sz="13000" b="1" dirty="0">
                <a:solidFill>
                  <a:schemeClr val="accent1"/>
                </a:solidFill>
                <a:latin typeface="Cambria" pitchFamily="34" charset="0"/>
                <a:ea typeface="Cambria" pitchFamily="34" charset="-122"/>
                <a:cs typeface="Cambria" pitchFamily="34" charset="-120"/>
              </a:rPr>
              <a:t>0</a:t>
            </a:r>
            <a:endParaRPr lang="en-US" sz="13000" dirty="0"/>
          </a:p>
        </p:txBody>
      </p:sp>
      <p:sp>
        <p:nvSpPr>
          <p:cNvPr id="10" name="Text 8"/>
          <p:cNvSpPr txBox="1"/>
          <p:nvPr/>
        </p:nvSpPr>
        <p:spPr>
          <a:xfrm>
            <a:off x="4709160" y="4206240"/>
            <a:ext cx="2743200" cy="685800"/>
          </a:xfrm>
          <a:prstGeom prst="rect">
            <a:avLst/>
          </a:prstGeom>
          <a:noFill/>
          <a:ln/>
        </p:spPr>
        <p:txBody>
          <a:bodyPr wrap="square" lIns="0" tIns="0" rIns="0" bIns="0" rtlCol="0" anchor="t"/>
          <a:lstStyle/>
          <a:p>
            <a:pPr indent="0" marL="0">
              <a:buNone/>
            </a:pPr>
            <a:r>
              <a:rPr lang="en-US" sz="2000" b="1" dirty="0">
                <a:solidFill>
                  <a:schemeClr val="bg1"/>
                </a:solidFill>
              </a:rPr>
              <a:t>changes in 784 attack cases</a:t>
            </a:r>
            <a:endParaRPr lang="en-US" sz="2000" dirty="0"/>
          </a:p>
        </p:txBody>
      </p:sp>
      <p:sp>
        <p:nvSpPr>
          <p:cNvPr id="11" name="Text 9"/>
          <p:cNvSpPr txBox="1"/>
          <p:nvPr/>
        </p:nvSpPr>
        <p:spPr>
          <a:xfrm>
            <a:off x="4709160" y="4983480"/>
            <a:ext cx="2743200" cy="822960"/>
          </a:xfrm>
          <a:prstGeom prst="rect">
            <a:avLst/>
          </a:prstGeom>
          <a:noFill/>
          <a:ln/>
        </p:spPr>
        <p:txBody>
          <a:bodyPr wrap="square" lIns="0" tIns="0" rIns="0" bIns="0" rtlCol="0" anchor="t"/>
          <a:lstStyle/>
          <a:p>
            <a:pPr indent="0" marL="0">
              <a:buNone/>
            </a:pPr>
            <a:r>
              <a:rPr lang="en-US" sz="1400" dirty="0">
                <a:solidFill>
                  <a:schemeClr val="accent4"/>
                </a:solidFill>
              </a:rPr>
              <a:t>inputs built to break the proof; fast‑math changed 14</a:t>
            </a:r>
            <a:endParaRPr lang="en-US" sz="1400" dirty="0"/>
          </a:p>
        </p:txBody>
      </p:sp>
      <p:sp>
        <p:nvSpPr>
          <p:cNvPr id="12" name="check 2"/>
          <p:cNvSpPr/>
          <p:nvPr/>
        </p:nvSpPr>
        <p:spPr>
          <a:xfrm>
            <a:off x="8046720" y="1783080"/>
            <a:ext cx="3474720" cy="4160520"/>
          </a:xfrm>
          <a:prstGeom prst="roundRect">
            <a:avLst>
              <a:gd name="adj" fmla="val 2632"/>
            </a:avLst>
          </a:prstGeom>
          <a:solidFill>
            <a:schemeClr val="tx2"/>
          </a:solidFill>
          <a:ln w="12700">
            <a:solidFill>
              <a:schemeClr val="tx2"/>
            </a:solidFill>
            <a:prstDash val="solid"/>
          </a:ln>
        </p:spPr>
      </p:sp>
      <p:sp>
        <p:nvSpPr>
          <p:cNvPr id="13" name="Text 11"/>
          <p:cNvSpPr txBox="1"/>
          <p:nvPr/>
        </p:nvSpPr>
        <p:spPr>
          <a:xfrm>
            <a:off x="8412480" y="2057400"/>
            <a:ext cx="2743200" cy="1920240"/>
          </a:xfrm>
          <a:prstGeom prst="rect">
            <a:avLst/>
          </a:prstGeom>
          <a:noFill/>
          <a:ln/>
        </p:spPr>
        <p:txBody>
          <a:bodyPr wrap="square" lIns="0" tIns="0" rIns="0" bIns="0" rtlCol="0" anchor="t"/>
          <a:lstStyle/>
          <a:p>
            <a:pPr indent="0" marL="0">
              <a:buNone/>
            </a:pPr>
            <a:r>
              <a:rPr lang="en-US" sz="13000" b="1" dirty="0">
                <a:solidFill>
                  <a:schemeClr val="accent1"/>
                </a:solidFill>
                <a:latin typeface="Cambria" pitchFamily="34" charset="0"/>
                <a:ea typeface="Cambria" pitchFamily="34" charset="-122"/>
                <a:cs typeface="Cambria" pitchFamily="34" charset="-120"/>
              </a:rPr>
              <a:t>262</a:t>
            </a:r>
            <a:endParaRPr lang="en-US" sz="13000" dirty="0"/>
          </a:p>
        </p:txBody>
      </p:sp>
      <p:sp>
        <p:nvSpPr>
          <p:cNvPr id="14" name="Text 12"/>
          <p:cNvSpPr txBox="1"/>
          <p:nvPr/>
        </p:nvSpPr>
        <p:spPr>
          <a:xfrm>
            <a:off x="8412480" y="4206240"/>
            <a:ext cx="2743200" cy="685800"/>
          </a:xfrm>
          <a:prstGeom prst="rect">
            <a:avLst/>
          </a:prstGeom>
          <a:noFill/>
          <a:ln/>
        </p:spPr>
        <p:txBody>
          <a:bodyPr wrap="square" lIns="0" tIns="0" rIns="0" bIns="0" rtlCol="0" anchor="t"/>
          <a:lstStyle/>
          <a:p>
            <a:pPr indent="0" marL="0">
              <a:buNone/>
            </a:pPr>
            <a:r>
              <a:rPr lang="en-US" sz="2000" b="1" dirty="0">
                <a:solidFill>
                  <a:schemeClr val="bg1"/>
                </a:solidFill>
              </a:rPr>
              <a:t>certificates replayed</a:t>
            </a:r>
            <a:endParaRPr lang="en-US" sz="2000" dirty="0"/>
          </a:p>
        </p:txBody>
      </p:sp>
      <p:sp>
        <p:nvSpPr>
          <p:cNvPr id="15" name="Text 13"/>
          <p:cNvSpPr txBox="1"/>
          <p:nvPr/>
        </p:nvSpPr>
        <p:spPr>
          <a:xfrm>
            <a:off x="8412480" y="4983480"/>
            <a:ext cx="2743200" cy="822960"/>
          </a:xfrm>
          <a:prstGeom prst="rect">
            <a:avLst/>
          </a:prstGeom>
          <a:noFill/>
          <a:ln/>
        </p:spPr>
        <p:txBody>
          <a:bodyPr wrap="square" lIns="0" tIns="0" rIns="0" bIns="0" rtlCol="0" anchor="t"/>
          <a:lstStyle/>
          <a:p>
            <a:pPr indent="0" marL="0">
              <a:buNone/>
            </a:pPr>
            <a:r>
              <a:rPr lang="en-US" sz="1400" dirty="0">
                <a:solidFill>
                  <a:schemeClr val="accent4"/>
                </a:solidFill>
              </a:rPr>
              <a:t>in exact rational arithmetic by a separate checker, 0 failures</a:t>
            </a:r>
            <a:endParaRPr lang="en-US" sz="1400" dirty="0"/>
          </a:p>
        </p:txBody>
      </p:sp>
      <p:sp>
        <p:nvSpPr>
          <p:cNvPr id="25" name="Slide Number Placeholder 0"/>
          <p:cNvSpPr>
            <a:spLocks noGrp="1"/>
          </p:cNvSpPr>
          <p:nvPr>
            <p:ph type="sldNum" sz="quarter" idx="4294967295"/>
          </p:nvPr>
        </p:nvSpPr>
        <p:spPr>
          <a:xfrm>
            <a:off x="11064240" y="63550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881360" cy="320040"/>
          </a:xfrm>
          <a:prstGeom prst="rect">
            <a:avLst/>
          </a:prstGeom>
          <a:noFill/>
          <a:ln/>
        </p:spPr>
        <p:txBody>
          <a:bodyPr wrap="square" rtlCol="0" anchor="ctr"/>
          <a:lstStyle/>
          <a:p>
            <a:pPr algn="l" indent="0" marL="0">
              <a:buNone/>
            </a:pPr>
            <a:r>
              <a:rPr lang="en-US" sz="1200" b="1" spc="400" kern="0" dirty="0">
                <a:solidFill>
                  <a:schemeClr val="accent1"/>
                </a:solidFill>
              </a:rPr>
              <a:t>09  ·  REAL CODE, HONEST SCOPE</a:t>
            </a:r>
            <a:endParaRPr lang="en-US" sz="1200" dirty="0"/>
          </a:p>
        </p:txBody>
      </p:sp>
      <p:sp>
        <p:nvSpPr>
          <p:cNvPr id="3" name="Text 0"/>
          <p:cNvSpPr/>
          <p:nvPr>
            <p:ph idx="101" type="title" hasCustomPrompt="1"/>
          </p:nvPr>
        </p:nvSpPr>
        <p:spPr>
          <a:xfrm>
            <a:off x="640080" y="731520"/>
            <a:ext cx="10881360" cy="822960"/>
          </a:xfrm>
          <a:prstGeom prst="rect">
            <a:avLst/>
          </a:prstGeom>
          <a:noFill/>
          <a:ln/>
        </p:spPr>
        <p:txBody>
          <a:bodyPr wrap="square" rtlCol="0" anchor="ctr"/>
          <a:lstStyle/>
          <a:p>
            <a:pPr algn="l" indent="0" marL="0">
              <a:buNone/>
            </a:pPr>
            <a:r>
              <a:rPr lang="en-US" sz="3400" b="1" dirty="0">
                <a:solidFill>
                  <a:schemeClr val="bg1"/>
                </a:solidFill>
              </a:rPr>
              <a:t>Where it helps, and what it costs</a:t>
            </a:r>
            <a:endParaRPr lang="en-US" sz="3400" dirty="0"/>
          </a:p>
        </p:txBody>
      </p:sp>
      <p:sp>
        <p:nvSpPr>
          <p:cNvPr id="4" name="Text 2"/>
          <p:cNvSpPr txBox="1"/>
          <p:nvPr/>
        </p:nvSpPr>
        <p:spPr>
          <a:xfrm>
            <a:off x="640080" y="1828800"/>
            <a:ext cx="2926080" cy="91440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23 / 109</a:t>
            </a:r>
            <a:endParaRPr lang="en-US" sz="4400" dirty="0"/>
          </a:p>
        </p:txBody>
      </p:sp>
      <p:sp>
        <p:nvSpPr>
          <p:cNvPr id="5" name="Text 3"/>
          <p:cNvSpPr txBox="1"/>
          <p:nvPr/>
        </p:nvSpPr>
        <p:spPr>
          <a:xfrm>
            <a:off x="3657600" y="1828800"/>
            <a:ext cx="2834640" cy="914400"/>
          </a:xfrm>
          <a:prstGeom prst="rect">
            <a:avLst/>
          </a:prstGeom>
          <a:noFill/>
          <a:ln/>
        </p:spPr>
        <p:txBody>
          <a:bodyPr wrap="square" lIns="0" tIns="0" rIns="0" bIns="0" rtlCol="0" anchor="ctr"/>
          <a:lstStyle/>
          <a:p>
            <a:pPr indent="0" marL="0">
              <a:buNone/>
            </a:pPr>
            <a:r>
              <a:rPr lang="en-US" sz="1500" dirty="0">
                <a:solidFill>
                  <a:schemeClr val="bg2"/>
                </a:solidFill>
              </a:rPr>
              <a:t>reductions sped up in four real code bases (CPython audioop, Pillow)</a:t>
            </a:r>
            <a:endParaRPr lang="en-US" sz="1500" dirty="0"/>
          </a:p>
        </p:txBody>
      </p:sp>
      <p:sp>
        <p:nvSpPr>
          <p:cNvPr id="6" name="Text 4"/>
          <p:cNvSpPr txBox="1"/>
          <p:nvPr/>
        </p:nvSpPr>
        <p:spPr>
          <a:xfrm>
            <a:off x="640080" y="3200400"/>
            <a:ext cx="2926080" cy="91440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404 / 404</a:t>
            </a:r>
            <a:endParaRPr lang="en-US" sz="4400" dirty="0"/>
          </a:p>
        </p:txBody>
      </p:sp>
      <p:sp>
        <p:nvSpPr>
          <p:cNvPr id="7" name="Text 5"/>
          <p:cNvSpPr txBox="1"/>
          <p:nvPr/>
        </p:nvSpPr>
        <p:spPr>
          <a:xfrm>
            <a:off x="3657600" y="3200400"/>
            <a:ext cx="2834640" cy="914400"/>
          </a:xfrm>
          <a:prstGeom prst="rect">
            <a:avLst/>
          </a:prstGeom>
          <a:noFill/>
          <a:ln/>
        </p:spPr>
        <p:txBody>
          <a:bodyPr wrap="square" lIns="0" tIns="0" rIns="0" bIns="0" rtlCol="0" anchor="ctr"/>
          <a:lstStyle/>
          <a:p>
            <a:pPr indent="0" marL="0">
              <a:buNone/>
            </a:pPr>
            <a:r>
              <a:rPr lang="en-US" sz="1500" dirty="0">
                <a:solidFill>
                  <a:schemeClr val="bg2"/>
                </a:solidFill>
              </a:rPr>
              <a:t>identical audioop results with and without the pass</a:t>
            </a:r>
            <a:endParaRPr lang="en-US" sz="1500" dirty="0"/>
          </a:p>
        </p:txBody>
      </p:sp>
      <p:sp>
        <p:nvSpPr>
          <p:cNvPr id="8" name="Text 6"/>
          <p:cNvSpPr txBox="1"/>
          <p:nvPr/>
        </p:nvSpPr>
        <p:spPr>
          <a:xfrm>
            <a:off x="640080" y="4572000"/>
            <a:ext cx="2926080" cy="91440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8.05×</a:t>
            </a:r>
            <a:endParaRPr lang="en-US" sz="4400" dirty="0"/>
          </a:p>
        </p:txBody>
      </p:sp>
      <p:sp>
        <p:nvSpPr>
          <p:cNvPr id="9" name="Text 7"/>
          <p:cNvSpPr txBox="1"/>
          <p:nvPr/>
        </p:nvSpPr>
        <p:spPr>
          <a:xfrm>
            <a:off x="3657600" y="4572000"/>
            <a:ext cx="2834640" cy="914400"/>
          </a:xfrm>
          <a:prstGeom prst="rect">
            <a:avLst/>
          </a:prstGeom>
          <a:noFill/>
          <a:ln/>
        </p:spPr>
        <p:txBody>
          <a:bodyPr wrap="square" lIns="0" tIns="0" rIns="0" bIns="0" rtlCol="0" anchor="ctr"/>
          <a:lstStyle/>
          <a:p>
            <a:pPr indent="0" marL="0">
              <a:buNone/>
            </a:pPr>
            <a:r>
              <a:rPr lang="en-US" sz="1500" dirty="0">
                <a:solidFill>
                  <a:schemeClr val="bg2"/>
                </a:solidFill>
              </a:rPr>
              <a:t>faster average of 8-bit audio samples</a:t>
            </a:r>
            <a:endParaRPr lang="en-US" sz="1500" dirty="0"/>
          </a:p>
        </p:txBody>
      </p:sp>
      <p:sp>
        <p:nvSpPr>
          <p:cNvPr id="10" name="limits"/>
          <p:cNvSpPr/>
          <p:nvPr/>
        </p:nvSpPr>
        <p:spPr>
          <a:xfrm>
            <a:off x="6949440" y="1783080"/>
            <a:ext cx="4617720" cy="4206240"/>
          </a:xfrm>
          <a:prstGeom prst="roundRect">
            <a:avLst>
              <a:gd name="adj" fmla="val 2174"/>
            </a:avLst>
          </a:prstGeom>
          <a:solidFill>
            <a:schemeClr val="tx2"/>
          </a:solidFill>
          <a:ln w="12700">
            <a:solidFill>
              <a:schemeClr val="tx2"/>
            </a:solidFill>
            <a:prstDash val="solid"/>
          </a:ln>
        </p:spPr>
      </p:sp>
      <p:sp>
        <p:nvSpPr>
          <p:cNvPr id="11" name="Text 9"/>
          <p:cNvSpPr txBox="1"/>
          <p:nvPr/>
        </p:nvSpPr>
        <p:spPr>
          <a:xfrm>
            <a:off x="7315200" y="2057400"/>
            <a:ext cx="3657600" cy="274320"/>
          </a:xfrm>
          <a:prstGeom prst="rect">
            <a:avLst/>
          </a:prstGeom>
          <a:noFill/>
          <a:ln/>
        </p:spPr>
        <p:txBody>
          <a:bodyPr wrap="square" lIns="0" tIns="0" rIns="0" bIns="0" rtlCol="0" anchor="t"/>
          <a:lstStyle/>
          <a:p>
            <a:pPr indent="0" marL="0">
              <a:buNone/>
            </a:pPr>
            <a:r>
              <a:rPr lang="en-US" sz="1200" b="1" spc="400" kern="0" dirty="0">
                <a:solidFill>
                  <a:schemeClr val="accent3"/>
                </a:solidFill>
              </a:rPr>
              <a:t>LIMITS</a:t>
            </a:r>
            <a:endParaRPr lang="en-US" sz="1200" dirty="0"/>
          </a:p>
        </p:txBody>
      </p:sp>
      <p:sp>
        <p:nvSpPr>
          <p:cNvPr id="12" name="Text 10"/>
          <p:cNvSpPr txBox="1"/>
          <p:nvPr/>
        </p:nvSpPr>
        <p:spPr>
          <a:xfrm>
            <a:off x="7315200" y="2560320"/>
            <a:ext cx="4023360" cy="411480"/>
          </a:xfrm>
          <a:prstGeom prst="rect">
            <a:avLst/>
          </a:prstGeom>
          <a:noFill/>
          <a:ln/>
        </p:spPr>
        <p:txBody>
          <a:bodyPr wrap="square" lIns="0" tIns="0" rIns="0" bIns="0" rtlCol="0" anchor="t"/>
          <a:lstStyle/>
          <a:p>
            <a:pPr indent="0" marL="0">
              <a:buNone/>
            </a:pPr>
            <a:r>
              <a:rPr lang="en-US" sz="1700" b="1" dirty="0">
                <a:solidFill>
                  <a:schemeClr val="bg1"/>
                </a:solidFill>
              </a:rPr>
              <a:t>+29% compile time, +40% code size</a:t>
            </a:r>
            <a:endParaRPr lang="en-US" sz="1700" dirty="0"/>
          </a:p>
        </p:txBody>
      </p:sp>
      <p:sp>
        <p:nvSpPr>
          <p:cNvPr id="13" name="Text 11"/>
          <p:cNvSpPr txBox="1"/>
          <p:nvPr/>
        </p:nvSpPr>
        <p:spPr>
          <a:xfrm>
            <a:off x="7315200" y="2971800"/>
            <a:ext cx="4023360" cy="365760"/>
          </a:xfrm>
          <a:prstGeom prst="rect">
            <a:avLst/>
          </a:prstGeom>
          <a:noFill/>
          <a:ln/>
        </p:spPr>
        <p:txBody>
          <a:bodyPr wrap="square" lIns="0" tIns="0" rIns="0" bIns="0" rtlCol="0" anchor="t"/>
          <a:lstStyle/>
          <a:p>
            <a:pPr indent="0" marL="0">
              <a:buNone/>
            </a:pPr>
            <a:r>
              <a:rPr lang="en-US" sz="1400" dirty="0">
                <a:solidFill>
                  <a:schemeClr val="accent4"/>
                </a:solidFill>
              </a:rPr>
              <a:t>from loop versioning</a:t>
            </a:r>
            <a:endParaRPr lang="en-US" sz="1400" dirty="0"/>
          </a:p>
        </p:txBody>
      </p:sp>
      <p:sp>
        <p:nvSpPr>
          <p:cNvPr id="14" name="Text 12"/>
          <p:cNvSpPr txBox="1"/>
          <p:nvPr/>
        </p:nvSpPr>
        <p:spPr>
          <a:xfrm>
            <a:off x="7315200" y="3657600"/>
            <a:ext cx="4023360" cy="411480"/>
          </a:xfrm>
          <a:prstGeom prst="rect">
            <a:avLst/>
          </a:prstGeom>
          <a:noFill/>
          <a:ln/>
        </p:spPr>
        <p:txBody>
          <a:bodyPr wrap="square" lIns="0" tIns="0" rIns="0" bIns="0" rtlCol="0" anchor="t"/>
          <a:lstStyle/>
          <a:p>
            <a:pPr indent="0" marL="0">
              <a:buNone/>
            </a:pPr>
            <a:r>
              <a:rPr lang="en-US" sz="1700" b="1" dirty="0">
                <a:solidFill>
                  <a:schemeClr val="bg1"/>
                </a:solidFill>
              </a:rPr>
              <a:t>Bit-identical speedups need integer data</a:t>
            </a:r>
            <a:endParaRPr lang="en-US" sz="1700" dirty="0"/>
          </a:p>
        </p:txBody>
      </p:sp>
      <p:sp>
        <p:nvSpPr>
          <p:cNvPr id="15" name="Text 13"/>
          <p:cNvSpPr txBox="1"/>
          <p:nvPr/>
        </p:nvSpPr>
        <p:spPr>
          <a:xfrm>
            <a:off x="7315200" y="4069080"/>
            <a:ext cx="4023360" cy="365760"/>
          </a:xfrm>
          <a:prstGeom prst="rect">
            <a:avLst/>
          </a:prstGeom>
          <a:noFill/>
          <a:ln/>
        </p:spPr>
        <p:txBody>
          <a:bodyPr wrap="square" lIns="0" tIns="0" rIns="0" bIns="0" rtlCol="0" anchor="t"/>
          <a:lstStyle/>
          <a:p>
            <a:pPr indent="0" marL="0">
              <a:buNone/>
            </a:pPr>
            <a:r>
              <a:rPr lang="en-US" sz="1400" dirty="0">
                <a:solidFill>
                  <a:schemeClr val="accent4"/>
                </a:solidFill>
              </a:rPr>
              <a:t>real-valued sums are declined</a:t>
            </a:r>
            <a:endParaRPr lang="en-US" sz="1400" dirty="0"/>
          </a:p>
        </p:txBody>
      </p:sp>
      <p:sp>
        <p:nvSpPr>
          <p:cNvPr id="16" name="Text 14"/>
          <p:cNvSpPr txBox="1"/>
          <p:nvPr/>
        </p:nvSpPr>
        <p:spPr>
          <a:xfrm>
            <a:off x="7315200" y="4754880"/>
            <a:ext cx="4023360" cy="411480"/>
          </a:xfrm>
          <a:prstGeom prst="rect">
            <a:avLst/>
          </a:prstGeom>
          <a:noFill/>
          <a:ln/>
        </p:spPr>
        <p:txBody>
          <a:bodyPr wrap="square" lIns="0" tIns="0" rIns="0" bIns="0" rtlCol="0" anchor="t"/>
          <a:lstStyle/>
          <a:p>
            <a:pPr indent="0" marL="0">
              <a:buNone/>
            </a:pPr>
            <a:r>
              <a:rPr lang="en-US" sz="1700" b="1" dirty="0">
                <a:solidFill>
                  <a:schemeClr val="bg1"/>
                </a:solidFill>
              </a:rPr>
              <a:t>The proof covers regrouping only</a:t>
            </a:r>
            <a:endParaRPr lang="en-US" sz="1700" dirty="0"/>
          </a:p>
        </p:txBody>
      </p:sp>
      <p:sp>
        <p:nvSpPr>
          <p:cNvPr id="17" name="Text 15"/>
          <p:cNvSpPr txBox="1"/>
          <p:nvPr/>
        </p:nvSpPr>
        <p:spPr>
          <a:xfrm>
            <a:off x="7315200" y="5166360"/>
            <a:ext cx="4023360" cy="365760"/>
          </a:xfrm>
          <a:prstGeom prst="rect">
            <a:avLst/>
          </a:prstGeom>
          <a:noFill/>
          <a:ln/>
        </p:spPr>
        <p:txBody>
          <a:bodyPr wrap="square" lIns="0" tIns="0" rIns="0" bIns="0" rtlCol="0" anchor="t"/>
          <a:lstStyle/>
          <a:p>
            <a:pPr indent="0" marL="0">
              <a:buNone/>
            </a:pPr>
            <a:r>
              <a:rPr lang="en-US" sz="1400" dirty="0">
                <a:solidFill>
                  <a:schemeClr val="accent4"/>
                </a:solidFill>
              </a:rPr>
              <a:t>the LLVM pass is tested, not verified</a:t>
            </a:r>
            <a:endParaRPr lang="en-US" sz="1400" dirty="0"/>
          </a:p>
        </p:txBody>
      </p:sp>
      <p:sp>
        <p:nvSpPr>
          <p:cNvPr id="25" name="Slide Number Placeholder 0"/>
          <p:cNvSpPr>
            <a:spLocks noGrp="1"/>
          </p:cNvSpPr>
          <p:nvPr>
            <p:ph type="sldNum" sz="quarter" idx="4294967295"/>
          </p:nvPr>
        </p:nvSpPr>
        <p:spPr>
          <a:xfrm>
            <a:off x="11064240" y="63550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731520" y="1051560"/>
            <a:ext cx="7315200" cy="365760"/>
          </a:xfrm>
          <a:prstGeom prst="rect">
            <a:avLst/>
          </a:prstGeom>
          <a:noFill/>
          <a:ln/>
        </p:spPr>
        <p:txBody>
          <a:bodyPr wrap="square" lIns="0" tIns="0" rIns="0" bIns="0" rtlCol="0" anchor="t"/>
          <a:lstStyle/>
          <a:p>
            <a:pPr indent="0" marL="0">
              <a:buNone/>
            </a:pPr>
            <a:r>
              <a:rPr lang="en-US" sz="1300" b="1" spc="500" kern="0" dirty="0">
                <a:solidFill>
                  <a:schemeClr val="accent1"/>
                </a:solidFill>
              </a:rPr>
              <a:t>TAKEAWAY</a:t>
            </a:r>
            <a:endParaRPr lang="en-US" sz="1300" dirty="0"/>
          </a:p>
        </p:txBody>
      </p:sp>
      <p:sp>
        <p:nvSpPr>
          <p:cNvPr id="3" name="Text 0"/>
          <p:cNvSpPr/>
          <p:nvPr>
            <p:ph idx="100" type="title" hasCustomPrompt="1"/>
          </p:nvPr>
        </p:nvSpPr>
        <p:spPr>
          <a:xfrm>
            <a:off x="731520" y="1463040"/>
            <a:ext cx="7863840" cy="2194560"/>
          </a:xfrm>
          <a:prstGeom prst="rect">
            <a:avLst/>
          </a:prstGeom>
          <a:noFill/>
          <a:ln/>
        </p:spPr>
        <p:txBody>
          <a:bodyPr wrap="square" lIns="0" tIns="0" rIns="0" bIns="0" rtlCol="0" anchor="b"/>
          <a:lstStyle/>
          <a:p>
            <a:pPr algn="l" indent="0" marL="0">
              <a:buNone/>
            </a:pPr>
            <a:r>
              <a:rPr lang="en-US" sz="4400" b="1" dirty="0">
                <a:solidFill>
                  <a:schemeClr val="bg1"/>
                </a:solidFill>
              </a:rPr>
              <a:t>Fast exactly where it is provably safe</a:t>
            </a:r>
            <a:endParaRPr lang="en-US" sz="4400" dirty="0"/>
          </a:p>
        </p:txBody>
      </p:sp>
      <p:sp>
        <p:nvSpPr>
          <p:cNvPr id="4" name="Text 2"/>
          <p:cNvSpPr txBox="1"/>
          <p:nvPr/>
        </p:nvSpPr>
        <p:spPr>
          <a:xfrm>
            <a:off x="731520" y="3794760"/>
            <a:ext cx="7315200" cy="457200"/>
          </a:xfrm>
          <a:prstGeom prst="rect">
            <a:avLst/>
          </a:prstGeom>
          <a:noFill/>
          <a:ln/>
        </p:spPr>
        <p:txBody>
          <a:bodyPr wrap="square" lIns="0" tIns="0" rIns="0" bIns="0" rtlCol="0" anchor="t"/>
          <a:lstStyle/>
          <a:p>
            <a:pPr indent="0" marL="0">
              <a:buNone/>
            </a:pPr>
            <a:r>
              <a:rPr lang="en-US" sz="2000" i="1" dirty="0">
                <a:solidFill>
                  <a:schemeClr val="bg2"/>
                </a:solidFill>
              </a:rPr>
              <a:t>A guarantee for every rewrite, a certificate for every output.</a:t>
            </a:r>
            <a:endParaRPr lang="en-US" sz="2000" dirty="0"/>
          </a:p>
        </p:txBody>
      </p:sp>
      <p:sp>
        <p:nvSpPr>
          <p:cNvPr id="5" name="Text 3"/>
          <p:cNvSpPr txBox="1"/>
          <p:nvPr/>
        </p:nvSpPr>
        <p:spPr>
          <a:xfrm>
            <a:off x="731520" y="4892040"/>
            <a:ext cx="7315200" cy="548640"/>
          </a:xfrm>
          <a:prstGeom prst="rect">
            <a:avLst/>
          </a:prstGeom>
          <a:noFill/>
          <a:ln/>
        </p:spPr>
        <p:txBody>
          <a:bodyPr wrap="square" lIns="0" tIns="0" rIns="0" bIns="0" rtlCol="0" anchor="t"/>
          <a:lstStyle/>
          <a:p>
            <a:pPr indent="0" marL="0">
              <a:buNone/>
            </a:pPr>
            <a:r>
              <a:rPr lang="en-US" sz="2400" b="1" dirty="0">
                <a:solidFill>
                  <a:schemeClr val="accent1"/>
                </a:solidFill>
              </a:rPr>
              <a:t>Thank you  ·  Questions?</a:t>
            </a:r>
            <a:endParaRPr lang="en-US" sz="2400" dirty="0"/>
          </a:p>
        </p:txBody>
      </p:sp>
      <p:sp>
        <p:nvSpPr>
          <p:cNvPr id="6" name="repo card"/>
          <p:cNvSpPr/>
          <p:nvPr/>
        </p:nvSpPr>
        <p:spPr>
          <a:xfrm>
            <a:off x="8869680" y="1554480"/>
            <a:ext cx="2606040" cy="3429000"/>
          </a:xfrm>
          <a:prstGeom prst="roundRect">
            <a:avLst>
              <a:gd name="adj" fmla="val 3509"/>
            </a:avLst>
          </a:prstGeom>
          <a:solidFill>
            <a:schemeClr val="tx1"/>
          </a:solidFill>
          <a:ln w="15875">
            <a:solidFill>
              <a:schemeClr val="accent1"/>
            </a:solidFill>
            <a:prstDash val="solid"/>
          </a:ln>
        </p:spPr>
      </p:sp>
      <p:pic>
        <p:nvPicPr>
          <p:cNvPr id="7" name="Image 0" descr="QR code linking to https://github.com/aswanth-07/matrixlang">
            <a:hlinkClick r:id="rId2" tooltip=""/>
          </p:cNvPr>
          <p:cNvPicPr>
            <a:picLocks noChangeAspect="1"/>
          </p:cNvPicPr>
          <p:nvPr/>
        </p:nvPicPr>
        <p:blipFill>
          <a:blip r:embed="rId1"/>
          <a:stretch>
            <a:fillRect/>
          </a:stretch>
        </p:blipFill>
        <p:spPr>
          <a:xfrm>
            <a:off x="9235440" y="1874520"/>
            <a:ext cx="1874520" cy="1874520"/>
          </a:xfrm>
          <a:prstGeom prst="rect">
            <a:avLst/>
          </a:prstGeom>
        </p:spPr>
      </p:pic>
      <p:pic>
        <p:nvPicPr>
          <p:cNvPr id="8" name="Image 1" descr="preencoded.png">    </p:cNvPr>
          <p:cNvPicPr>
            <a:picLocks noChangeAspect="1"/>
          </p:cNvPicPr>
          <p:nvPr/>
        </p:nvPicPr>
        <p:blipFill>
          <a:blip r:embed="rId3"/>
          <a:stretch>
            <a:fillRect/>
          </a:stretch>
        </p:blipFill>
        <p:spPr>
          <a:xfrm>
            <a:off x="9235440" y="3977640"/>
            <a:ext cx="274320" cy="274320"/>
          </a:xfrm>
          <a:prstGeom prst="rect">
            <a:avLst/>
          </a:prstGeom>
        </p:spPr>
      </p:pic>
      <p:sp>
        <p:nvSpPr>
          <p:cNvPr id="9" name="Text 5"/>
          <p:cNvSpPr txBox="1"/>
          <p:nvPr/>
        </p:nvSpPr>
        <p:spPr>
          <a:xfrm>
            <a:off x="9601200" y="3977640"/>
            <a:ext cx="1737360" cy="274320"/>
          </a:xfrm>
          <a:prstGeom prst="rect">
            <a:avLst/>
          </a:prstGeom>
          <a:noFill/>
          <a:ln/>
        </p:spPr>
        <p:txBody>
          <a:bodyPr wrap="square" lIns="0" tIns="0" rIns="0" bIns="0" rtlCol="0" anchor="ctr"/>
          <a:lstStyle/>
          <a:p>
            <a:pPr indent="0" marL="0">
              <a:buNone/>
            </a:pPr>
            <a:r>
              <a:rPr lang="en-US" sz="1200" b="1" dirty="0">
                <a:solidFill>
                  <a:schemeClr val="accent1"/>
                </a:solidFill>
              </a:rPr>
              <a:t>Try it yourself</a:t>
            </a:r>
            <a:endParaRPr lang="en-US" sz="1200" dirty="0"/>
          </a:p>
        </p:txBody>
      </p:sp>
      <p:sp>
        <p:nvSpPr>
          <p:cNvPr id="10" name="Text 6"/>
          <p:cNvSpPr txBox="1"/>
          <p:nvPr/>
        </p:nvSpPr>
        <p:spPr>
          <a:xfrm>
            <a:off x="8961120" y="4389120"/>
            <a:ext cx="2423160" cy="274320"/>
          </a:xfrm>
          <a:prstGeom prst="rect">
            <a:avLst/>
          </a:prstGeom>
          <a:noFill/>
          <a:ln/>
        </p:spPr>
        <p:txBody>
          <a:bodyPr wrap="square" lIns="0" tIns="0" rIns="0" bIns="0" rtlCol="0" anchor="t"/>
          <a:lstStyle/>
          <a:p>
            <a:pPr algn="ctr" indent="0" marL="0">
              <a:buNone/>
            </a:pPr>
            <a:r>
              <a:rPr lang="en-US" sz="1050" u="sng" dirty="0">
                <a:solidFill>
                  <a:schemeClr val="bg2"/>
                </a:solidFill>
                <a:hlinkClick r:id="rId4" invalidUrl="" action="" tgtFrame="" tooltip="" history="1" highlightClick="0" endSnd="0">
                  <a:extLst>
                    <a:ext uri="{A12FA001-AC4F-418D-AE19-62706E023703}">
                      <ahyp:hlinkClr xmlns:ahyp="http://schemas.microsoft.com/office/drawing/2018/hyperlinkcolor" val="tx"/>
                    </a:ext>
                  </a:extLst>
                </a:hlinkClick>
              </a:rPr>
              <a:t>github.com/aswanth-07/matrixlang</a:t>
            </a:r>
            <a:endParaRPr lang="en-US" sz="1050" dirty="0"/>
          </a:p>
        </p:txBody>
      </p:sp>
      <p:sp>
        <p:nvSpPr>
          <p:cNvPr id="11" name="Text 7"/>
          <p:cNvSpPr txBox="1"/>
          <p:nvPr/>
        </p:nvSpPr>
        <p:spPr>
          <a:xfrm>
            <a:off x="8869680" y="5212080"/>
            <a:ext cx="2606040" cy="320040"/>
          </a:xfrm>
          <a:prstGeom prst="rect">
            <a:avLst/>
          </a:prstGeom>
          <a:noFill/>
          <a:ln/>
        </p:spPr>
        <p:txBody>
          <a:bodyPr wrap="square" lIns="0" tIns="0" rIns="0" bIns="0" rtlCol="0" anchor="t"/>
          <a:lstStyle/>
          <a:p>
            <a:pPr algn="ctr" indent="0" marL="0">
              <a:buNone/>
            </a:pPr>
            <a:r>
              <a:rPr lang="en-US" sz="1300" dirty="0">
                <a:solidFill>
                  <a:schemeClr val="accent4"/>
                </a:solidFill>
                <a:latin typeface="Courier New" pitchFamily="34" charset="0"/>
                <a:ea typeface="Courier New" pitchFamily="34" charset="-122"/>
                <a:cs typeface="Courier New" pitchFamily="34" charset="-120"/>
              </a:rPr>
              <a:t>make &amp;&amp; make test</a:t>
            </a:r>
            <a:endParaRPr lang="en-US" sz="1300" dirty="0"/>
          </a:p>
        </p:txBody>
      </p:sp>
    </p:spTree>
  </p:cSld>
  <p:clrMapOvr>
    <a:masterClrMapping/>
  </p:clrMapOvr>
</p:sld>
</file>

<file path=ppt/theme/theme1.xml><?xml version="1.0" encoding="utf-8"?>
<a:theme xmlns:a="http://schemas.openxmlformats.org/drawingml/2006/main" name="Gold on Black">
  <a:themeElements>
    <a:clrScheme name="Gold on Black">
      <a:dk1>
        <a:srgbClr val="0B0B0C"/>
      </a:dk1>
      <a:lt1>
        <a:srgbClr val="FAFAFA"/>
      </a:lt1>
      <a:dk2>
        <a:srgbClr val="17171A"/>
      </a:dk2>
      <a:lt2>
        <a:srgbClr val="E8E1D3"/>
      </a:lt2>
      <a:accent1>
        <a:srgbClr val="F5B83D"/>
      </a:accent1>
      <a:accent2>
        <a:srgbClr val="E8E1D3"/>
      </a:accent2>
      <a:accent3>
        <a:srgbClr val="E5484D"/>
      </a:accent3>
      <a:accent4>
        <a:srgbClr val="8F8F8F"/>
      </a:accent4>
      <a:accent5>
        <a:srgbClr val="2C2C31"/>
      </a:accent5>
      <a:accent6>
        <a:srgbClr val="5C5C63"/>
      </a:accent6>
      <a:hlink>
        <a:srgbClr val="F5B83D"/>
      </a:hlink>
      <a:folHlink>
        <a:srgbClr val="E8E1D3"/>
      </a:folHlink>
    </a:clrScheme>
    <a:fontScheme name="Gold on Blac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Proof-Guided Floating-Point Optimization</dc:title>
  <dc:subject>Exact Reassociation, Error Bounds, and Compiler Certificates</dc:subject>
  <dc:creator>A Aswanth Raj, Dr. Ranjithkumar S</dc:creator>
  <cp:lastModifiedBy>A Aswanth Raj, Dr. Ranjithkumar S</cp:lastModifiedBy>
  <cp:revision>1</cp:revision>
  <dcterms:created xsi:type="dcterms:W3CDTF">2026-10-24T13:30:17Z</dcterms:created>
  <dcterms:modified xsi:type="dcterms:W3CDTF">2026-10-24T13:30:17Z</dcterms:modified>
</cp:coreProperties>
</file>