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34c28cf-eda7-5cf1-58f7-b7ad1baf69d2}">
          <p14:sldIdLst>
            <p14:sldId id="256"/>
            <p14:sldId id="257"/>
            <p14:sldId id="258"/>
          </p14:sldIdLst>
        </p14:section>
        <p14:section name="Approach" id="{57a97e5f-ed0b-ace2-b5c5-896be4024bf8}">
          <p14:sldIdLst>
            <p14:sldId id="259"/>
            <p14:sldId id="260"/>
            <p14:sldId id="261"/>
            <p14:sldId id="262"/>
            <p14:sldId id="263"/>
            <p14:sldId id="264"/>
          </p14:sldIdLst>
        </p14:section>
        <p14:section name="Results" id="{bafa6995-3c1d-1a3a-b636-868b0a9dfc30}">
          <p14:sldIdLst>
            <p14:sldId id="265"/>
            <p14:sldId id="266"/>
            <p14:sldId id="267"/>
            <p14:sldId id="268"/>
          </p14:sldIdLst>
        </p14:section>
        <p14:section name="Conclusion" id="{65e19837-c241-89a5-07a1-58e8ff03df6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3A"/>
                </a:solidFill>
                <a:latin typeface="+mn-lt"/>
              </a:defRPr>
            </a:pPr>
            <a:r>
              <a:rPr sz="1400" b="0" i="0" u="none" strike="noStrike">
                <a:solidFill>
                  <a:srgbClr val="16233A"/>
                </a:solidFill>
                <a:latin typeface="+mn-lt"/>
              </a:rPr>
              <a:t>Share of the algebraic saving recovered (%), post-repair replay</a:t>
            </a:r>
          </a:p>
        </c:rich>
      </c:tx>
      <c:layout/>
      <c:overlay val="0"/>
    </c:title>
    <c:autoTitleDeleted val="0"/>
    <c:plotArea>
      <c:layout/>
      <c:barChart>
        <c:barDir val="col"/>
        <c:grouping val="clustered"/>
        <c:varyColors val="0"/>
        <c:ser>
          <c:idx val="0"/>
          <c:order val="0"/>
          <c:tx>
            <c:strRef>
              <c:f>Sheet1!$B$1</c:f>
              <c:strCache>
                <c:ptCount val="1"/>
                <c:pt idx="0">
                  <c:v>strict</c:v>
                </c:pt>
              </c:strCache>
            </c:strRef>
          </c:tx>
          <c:spPr>
            <a:solidFill>
              <a:srgbClr val="3E6FA3"/>
            </a:solidFill>
            <a:effectLst/>
          </c:spPr>
          <c:invertIfNegative val="0"/>
          <c:dLbls>
            <c:numFmt formatCode="0" sourceLinked="0"/>
            <c:txPr>
              <a:bodyPr/>
              <a:lstStyle/>
              <a:p>
                <a:pPr>
                  <a:defRPr b="0" i="0" strike="noStrike" sz="1000" u="none">
                    <a:solidFill>
                      <a:srgbClr val="44546A"/>
                    </a:solidFill>
                    <a:latin typeface="+mn-lt"/>
                  </a:defRPr>
                </a:pPr>
              </a:p>
            </c:txPr>
            <c:showLegendKey val="0"/>
            <c:showVal val="1"/>
            <c:showCatName val="0"/>
            <c:showSerName val="0"/>
            <c:showPercent val="0"/>
            <c:showBubbleSize val="0"/>
            <c:showLeaderLines val="0"/>
          </c:dLbls>
          <c:cat>
            <c:multiLvlStrRef>
              <c:f>Sheet1!$A$2:$A$11</c:f>
              <c:multiLvlStrCache>
                <c:ptCount val="10"/>
                <c:lvl>
                  <c:pt idx="0">
                    <c:v>bool</c:v>
                  </c:pt>
                  <c:pt idx="1">
                    <c:v>uint8</c:v>
                  </c:pt>
                  <c:pt idx="2">
                    <c:v>int8</c:v>
                  </c:pt>
                  <c:pt idx="3">
                    <c:v>int16</c:v>
                  </c:pt>
                  <c:pt idx="4">
                    <c:v>int32</c:v>
                  </c:pt>
                  <c:pt idx="5">
                    <c:v>dyadic</c:v>
                  </c:pt>
                  <c:pt idx="6">
                    <c:v>broad lit.</c:v>
                  </c:pt>
                  <c:pt idx="7">
                    <c:v>mixed</c:v>
                  </c:pt>
                  <c:pt idx="8">
                    <c:v>real(1)</c:v>
                  </c:pt>
                  <c:pt idx="9">
                    <c:v>real</c:v>
                  </c:pt>
                </c:lvl>
              </c:multiLvlStrCache>
            </c:multiLvlStrRef>
          </c:cat>
          <c:val>
            <c:numRef>
              <c:f>Sheet1!$B$2:$B$11</c:f>
              <c:numCache>
                <c:formatCode>General</c:formatCode>
                <c:ptCount val="10"/>
                <c:pt idx="0">
                  <c:v>98.8</c:v>
                </c:pt>
                <c:pt idx="1">
                  <c:v>77.8</c:v>
                </c:pt>
                <c:pt idx="2">
                  <c:v>83.6</c:v>
                </c:pt>
                <c:pt idx="3">
                  <c:v>34.4</c:v>
                </c:pt>
                <c:pt idx="4">
                  <c:v>35.8</c:v>
                </c:pt>
                <c:pt idx="5">
                  <c:v>90.2</c:v>
                </c:pt>
                <c:pt idx="6">
                  <c:v>27.5</c:v>
                </c:pt>
                <c:pt idx="7">
                  <c:v>37.9</c:v>
                </c:pt>
                <c:pt idx="8">
                  <c:v>25.9</c:v>
                </c:pt>
                <c:pt idx="9">
                  <c:v>8.4</c:v>
                </c:pt>
              </c:numCache>
            </c:numRef>
          </c:val>
        </c:ser>
        <c:ser>
          <c:idx val="1"/>
          <c:order val="1"/>
          <c:tx>
            <c:strRef>
              <c:f>Sheet1!$C$1</c:f>
              <c:strCache>
                <c:ptCount val="1"/>
                <c:pt idx="0">
                  <c:v>bounded</c:v>
                </c:pt>
              </c:strCache>
            </c:strRef>
          </c:tx>
          <c:spPr>
            <a:solidFill>
              <a:srgbClr val="E9A23B"/>
            </a:solidFill>
            <a:effectLst/>
          </c:spPr>
          <c:invertIfNegative val="0"/>
          <c:dLbls>
            <c:numFmt formatCode="0" sourceLinked="0"/>
            <c:txPr>
              <a:bodyPr/>
              <a:lstStyle/>
              <a:p>
                <a:pPr>
                  <a:defRPr b="0" i="0" strike="noStrike" sz="1000" u="none">
                    <a:solidFill>
                      <a:srgbClr val="44546A"/>
                    </a:solidFill>
                    <a:latin typeface="+mn-lt"/>
                  </a:defRPr>
                </a:pPr>
              </a:p>
            </c:txPr>
            <c:showLegendKey val="0"/>
            <c:showVal val="1"/>
            <c:showCatName val="0"/>
            <c:showSerName val="0"/>
            <c:showPercent val="0"/>
            <c:showBubbleSize val="0"/>
            <c:showLeaderLines val="0"/>
          </c:dLbls>
          <c:cat>
            <c:multiLvlStrRef>
              <c:f>Sheet1!$A$2:$A$11</c:f>
              <c:multiLvlStrCache>
                <c:ptCount val="10"/>
                <c:lvl>
                  <c:pt idx="0">
                    <c:v>bool</c:v>
                  </c:pt>
                  <c:pt idx="1">
                    <c:v>uint8</c:v>
                  </c:pt>
                  <c:pt idx="2">
                    <c:v>int8</c:v>
                  </c:pt>
                  <c:pt idx="3">
                    <c:v>int16</c:v>
                  </c:pt>
                  <c:pt idx="4">
                    <c:v>int32</c:v>
                  </c:pt>
                  <c:pt idx="5">
                    <c:v>dyadic</c:v>
                  </c:pt>
                  <c:pt idx="6">
                    <c:v>broad lit.</c:v>
                  </c:pt>
                  <c:pt idx="7">
                    <c:v>mixed</c:v>
                  </c:pt>
                  <c:pt idx="8">
                    <c:v>real(1)</c:v>
                  </c:pt>
                  <c:pt idx="9">
                    <c:v>real</c:v>
                  </c:pt>
                </c:lvl>
              </c:multiLvlStrCache>
            </c:multiLvlStrRef>
          </c:cat>
          <c:val>
            <c:numRef>
              <c:f>Sheet1!$C$2:$C$11</c:f>
              <c:numCache>
                <c:formatCode>General</c:formatCode>
                <c:ptCount val="10"/>
                <c:pt idx="0">
                  <c:v>100</c:v>
                </c:pt>
                <c:pt idx="1">
                  <c:v>100</c:v>
                </c:pt>
                <c:pt idx="2">
                  <c:v>100</c:v>
                </c:pt>
                <c:pt idx="3">
                  <c:v>100</c:v>
                </c:pt>
                <c:pt idx="4">
                  <c:v>100</c:v>
                </c:pt>
                <c:pt idx="5">
                  <c:v>100</c:v>
                </c:pt>
                <c:pt idx="6">
                  <c:v>100</c:v>
                </c:pt>
                <c:pt idx="7">
                  <c:v>82.9</c:v>
                </c:pt>
                <c:pt idx="8">
                  <c:v>43.7</c:v>
                </c:pt>
                <c:pt idx="9">
                  <c:v>21.2</c:v>
                </c:pt>
              </c:numCache>
            </c:numRef>
          </c:val>
        </c:ser>
        <c:dLbls>
          <c:numFmt formatCode="0" sourceLinked="0"/>
          <c:txPr>
            <a:bodyPr/>
            <a:lstStyle/>
            <a:p>
              <a:pPr>
                <a:defRPr b="0" i="0" strike="noStrike" sz="1000" u="none">
                  <a:solidFill>
                    <a:srgbClr val="44546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46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546A"/>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44546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3A"/>
                </a:solidFill>
                <a:latin typeface="+mn-lt"/>
              </a:defRPr>
            </a:pPr>
            <a:r>
              <a:rPr sz="1400" b="0" i="0" u="none" strike="noStrike">
                <a:solidFill>
                  <a:srgbClr val="16233A"/>
                </a:solidFill>
                <a:latin typeface="+mn-lt"/>
              </a:rPr>
              <a:t>Speedup over strict Clang (×), MNIST, Cora and generated data</a:t>
            </a:r>
          </a:p>
        </c:rich>
      </c:tx>
      <c:layout/>
      <c:overlay val="0"/>
    </c:title>
    <c:autoTitleDeleted val="0"/>
    <c:plotArea>
      <c:layout/>
      <c:barChart>
        <c:barDir val="col"/>
        <c:grouping val="clustered"/>
        <c:varyColors val="0"/>
        <c:ser>
          <c:idx val="0"/>
          <c:order val="0"/>
          <c:tx>
            <c:strRef>
              <c:f>Sheet1!$B$1</c:f>
              <c:strCache>
                <c:ptCount val="1"/>
                <c:pt idx="0">
                  <c:v>ExactReduce (strict bits)</c:v>
                </c:pt>
              </c:strCache>
            </c:strRef>
          </c:tx>
          <c:spPr>
            <a:solidFill>
              <a:srgbClr val="1F9D74"/>
            </a:solidFill>
            <a:effectLst/>
          </c:spPr>
          <c:invertIfNegative val="0"/>
          <c:dLbls>
            <c:numFmt formatCode="0.0" sourceLinked="0"/>
            <c:txPr>
              <a:bodyPr/>
              <a:lstStyle/>
              <a:p>
                <a:pPr>
                  <a:defRPr b="0" i="0" strike="noStrike" sz="1000" u="none">
                    <a:solidFill>
                      <a:srgbClr val="44546A"/>
                    </a:solidFill>
                    <a:latin typeface="+mn-lt"/>
                  </a:defRPr>
                </a:pPr>
              </a:p>
            </c:txPr>
            <c:showLegendKey val="0"/>
            <c:showVal val="1"/>
            <c:showCatName val="0"/>
            <c:showSerName val="0"/>
            <c:showPercent val="0"/>
            <c:showBubbleSize val="0"/>
            <c:showLeaderLines val="0"/>
          </c:dLbls>
          <c:cat>
            <c:multiLvlStrRef>
              <c:f>Sheet1!$A$2:$A$10</c:f>
              <c:multiLvlStrCache>
                <c:ptCount val="9"/>
                <c:lvl>
                  <c:pt idx="0">
                    <c:v>Pixel sum</c:v>
                  </c:pt>
                  <c:pt idx="1">
                    <c:v>Sum sq.</c:v>
                  </c:pt>
                  <c:pt idx="2">
                    <c:v>Gram</c:v>
                  </c:pt>
                  <c:pt idx="3">
                    <c:v>int8 model</c:v>
                  </c:pt>
                  <c:pt idx="4">
                    <c:v>Degrees</c:v>
                  </c:pt>
                  <c:pt idx="5">
                    <c:v>2-walks</c:v>
                  </c:pt>
                  <c:pt idx="6">
                    <c:v>GEMM</c:v>
                  </c:pt>
                  <c:pt idx="7">
                    <c:v>Energy</c:v>
                  </c:pt>
                  <c:pt idx="8">
                    <c:v>int32 sum</c:v>
                  </c:pt>
                </c:lvl>
              </c:multiLvlStrCache>
            </c:multiLvlStrRef>
          </c:cat>
          <c:val>
            <c:numRef>
              <c:f>Sheet1!$B$2:$B$10</c:f>
              <c:numCache>
                <c:formatCode>General</c:formatCode>
                <c:ptCount val="9"/>
                <c:pt idx="0">
                  <c:v>6.5</c:v>
                </c:pt>
                <c:pt idx="1">
                  <c:v>6.31</c:v>
                </c:pt>
                <c:pt idx="2">
                  <c:v>5.42</c:v>
                </c:pt>
                <c:pt idx="3">
                  <c:v>9.71</c:v>
                </c:pt>
                <c:pt idx="4">
                  <c:v>9.19</c:v>
                </c:pt>
                <c:pt idx="5">
                  <c:v>5.69</c:v>
                </c:pt>
                <c:pt idx="6">
                  <c:v>5.09</c:v>
                </c:pt>
                <c:pt idx="7">
                  <c:v>9.15</c:v>
                </c:pt>
                <c:pt idx="8">
                  <c:v>8.36</c:v>
                </c:pt>
              </c:numCache>
            </c:numRef>
          </c:val>
        </c:ser>
        <c:ser>
          <c:idx val="1"/>
          <c:order val="1"/>
          <c:tx>
            <c:strRef>
              <c:f>Sheet1!$C$1</c:f>
              <c:strCache>
                <c:ptCount val="1"/>
                <c:pt idx="0">
                  <c:v>-ffast-math</c:v>
                </c:pt>
              </c:strCache>
            </c:strRef>
          </c:tx>
          <c:spPr>
            <a:solidFill>
              <a:srgbClr val="8A9BB0"/>
            </a:solidFill>
            <a:effectLst/>
          </c:spPr>
          <c:invertIfNegative val="0"/>
          <c:dLbls>
            <c:numFmt formatCode="0.0" sourceLinked="0"/>
            <c:txPr>
              <a:bodyPr/>
              <a:lstStyle/>
              <a:p>
                <a:pPr>
                  <a:defRPr b="0" i="0" strike="noStrike" sz="1000" u="none">
                    <a:solidFill>
                      <a:srgbClr val="44546A"/>
                    </a:solidFill>
                    <a:latin typeface="+mn-lt"/>
                  </a:defRPr>
                </a:pPr>
              </a:p>
            </c:txPr>
            <c:showLegendKey val="0"/>
            <c:showVal val="1"/>
            <c:showCatName val="0"/>
            <c:showSerName val="0"/>
            <c:showPercent val="0"/>
            <c:showBubbleSize val="0"/>
            <c:showLeaderLines val="0"/>
          </c:dLbls>
          <c:cat>
            <c:multiLvlStrRef>
              <c:f>Sheet1!$A$2:$A$10</c:f>
              <c:multiLvlStrCache>
                <c:ptCount val="9"/>
                <c:lvl>
                  <c:pt idx="0">
                    <c:v>Pixel sum</c:v>
                  </c:pt>
                  <c:pt idx="1">
                    <c:v>Sum sq.</c:v>
                  </c:pt>
                  <c:pt idx="2">
                    <c:v>Gram</c:v>
                  </c:pt>
                  <c:pt idx="3">
                    <c:v>int8 model</c:v>
                  </c:pt>
                  <c:pt idx="4">
                    <c:v>Degrees</c:v>
                  </c:pt>
                  <c:pt idx="5">
                    <c:v>2-walks</c:v>
                  </c:pt>
                  <c:pt idx="6">
                    <c:v>GEMM</c:v>
                  </c:pt>
                  <c:pt idx="7">
                    <c:v>Energy</c:v>
                  </c:pt>
                  <c:pt idx="8">
                    <c:v>int32 sum</c:v>
                  </c:pt>
                </c:lvl>
              </c:multiLvlStrCache>
            </c:multiLvlStrRef>
          </c:cat>
          <c:val>
            <c:numRef>
              <c:f>Sheet1!$C$2:$C$10</c:f>
              <c:numCache>
                <c:formatCode>General</c:formatCode>
                <c:ptCount val="9"/>
                <c:pt idx="0">
                  <c:v>6.57</c:v>
                </c:pt>
                <c:pt idx="1">
                  <c:v>6.21</c:v>
                </c:pt>
                <c:pt idx="2">
                  <c:v>5.33</c:v>
                </c:pt>
                <c:pt idx="3">
                  <c:v>10.18</c:v>
                </c:pt>
                <c:pt idx="4">
                  <c:v>9.25</c:v>
                </c:pt>
                <c:pt idx="5">
                  <c:v>5.77</c:v>
                </c:pt>
                <c:pt idx="6">
                  <c:v>5.35</c:v>
                </c:pt>
                <c:pt idx="7">
                  <c:v>9.39</c:v>
                </c:pt>
                <c:pt idx="8">
                  <c:v>8.75</c:v>
                </c:pt>
              </c:numCache>
            </c:numRef>
          </c:val>
        </c:ser>
        <c:dLbls>
          <c:numFmt formatCode="0.0" sourceLinked="0"/>
          <c:txPr>
            <a:bodyPr/>
            <a:lstStyle/>
            <a:p>
              <a:pPr>
                <a:defRPr b="0" i="0" strike="noStrike" sz="1000" u="none">
                  <a:solidFill>
                    <a:srgbClr val="44546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46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54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4546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Compilers either keep floating-point evaluation order (strict) or drop it wholesale (fast-math). We show that facts about the input values let a compiler prove, rewrite by rewrite, which guarantee is kept, and attach that guarantee to every output. Two implementations: the MatrixLang compiler and the ExactReduce LLVM pass. Code, data and paper: https://github.com/aswanth-07/matrixlang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Strict compilation keeps order even when the input values would make reordering exact. Fast-math grants permissions, but a permission does not state what the result is: after -fassociative-math a programmer cannot tell which outputs still equal the strict program.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motivating example. Source order costs 69,800 scalar operations, A(BC) 1,396. With 8-bit integers both bracketings compute the same bits, so even a strict compiler may reorder. With larger integers exactness may fail but the error bound is unchanged. A declaration of reals in [-1, 1] alone is insufficient because it admits inexact underflow. Unbounded values: relaxed.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rewrite is classified as bit-identical, bound-preserving or relaxed. The contract selects which levels may be applied: strict only bit-identical, bounded also bound-preserving, algebraic all. A rewrite inherits the level of the facts its proof read, and each output's certificate is the weakest level along its path. RQ2 found the case that makes this inheritance rule necessary.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 of the revised paper, under the repaired admission rule. The program text is the same in every row; only the declared input domain changes. Note the real(1) row: before the underflow repair, bounded mode reordered it; now it is refused.
Source: https://github.com/aswanth-07/matrixlang/blob/main/paper/generated/tab-intro.tex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added in the revision. Facts are grid (every value is a multiple of 2^G) and magnitude. Obligations follow from the theorems on the next slide. The contract admits a rewrite only if its level is allowed. MATRIXC_CERTIFICATE_JSONL exports applied chain obligations for an independent rational checker.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 needs proper sub-chains exact because any bracketing can use them as operands; checking only the whole chain is unsound (zero last operand, overflow to infinity, NaN). Proposition 2 covers non-zero start values and run-time lengths. Theorem 3 is the bound-preserving result; its premises now explicitly exclude overflow and inexact underflow. RQ3 measures tightness.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reviewer's counterexample is valid and runs through MatrixLang in a 2x1, 1x2, 2x1 embedding. The repaired check requires a representable product grid in addition to a magnitude ceiling and explicit slack. RQ1 and RQ2 were replayed in full on a separately built compiler: 15,000 programs and 60,000 compilations; 57,600 arm executions; zero errors and zero bit-identical mismatches. Historical real-domain bounded timings are kept with their interpretation withdrawn.
Source: https://github.com/aswanth-07/matrixlang/blob/main/paper/review-response.md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MatrixLang demonstrates the full idea with declared domains and per-output certificates. ExactReduce brings related checks to ordinary C in a production compiler. Standalone products do not acquire reassoc. New structural IR checks on nine smoke functions confirm declined reductions and products acquire no reassoc, broader fast-math flags are absent and guarded functions keep strict fallbacks.
Source: https://github.com/aswanth-07/matrixlang/blob/main/llvm/README.md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 is the share of the algebraic contract's modeled saving that a contract keeps. Strict already recovers most on small integers (bool 98.8%, int8 83.6%) because those rewrites are bit-identical. Bounded recovers everything on integer and literal domains. Real-valued domains lose recovery after the underflow repair; this is the deliberate, conservative trade.
Source: https://github.com/aswanth-07/matrixlang/blob/main/paper/generated-review/tab-recovery.tex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Clang 18 pipeline on the M2 Xeon, medians of five processes with eleven runs each. Licensed builds printed the strict result bits. A declined real-valued dot product and the binary32 sum are not sped up, by design. The integer-accumulation route was measured on M1 under WSL.
Source: https://github.com/aswanth-07/matrixlang/blob/main/paper/generated/tab-llvm-bench.tex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RQ2: 4,800 programs, three input seeds, four arms. RQ8: 784 stress cases for each licensed and integer-accumulating build, plus 20 integer-width boundary cases. Certificate replay: 221 programs, 660 accepted compilations, 262 records; conditional on the supplied operand facts. Random inputs rarely break an unsound reassociation, which is why the tests are built from the obligations (RQ5).
Source: https://github.com/aswanth-07/matrixlang/blob/main/results/review-revision/certificates/verification.json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selected code bases: audioop, Pillow's imaging core, SciPy ndimage and the 30 PolyBench/C kernels. 16-bit samples gain nothing because the vectorizer speculates a one-byte stride. Most scientific reductions sum real data and are declined; the 23/109 denominator and selection bias are kept.
Source: https://github.com/aswanth-07/matrixlang/blob/main/paper/generated/tab-llvm-scan.tex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Promoted in the revision: 29% more compilation time (138 vs 178 ms over ten compilations) and 40% larger text. Per-function compile attribution was not collected. The paper is a revised local author-review manuscript; nothing has been submitted.
Source: https://github.com/aswanth-07/matrixlang/blob/main/paper/matrixlang.tex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message: compilers can be fast exactly where it is provably safe, and say which guarantee each output keeps. Build the compiler with make &amp;&amp; make test; the LLVM pass needs LLVM/Clang 18 and libomp: make -C llvm &amp;&amp; make -C llvm test. Repository: https://github.com/aswanth-07/matrixlang
Source: https://github.com/aswanth-07/matrixlang/blob/main/paper/README.md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749808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429000"/>
            <a:ext cx="7498080" cy="26517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github.com/aswanth-07/matrixlang</a:t>
            </a:r>
            <a:endParaRPr lang="en-US" sz="1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swanth-07/matrixlang" TargetMode="External"/><Relationship Id="rId4" Type="http://schemas.openxmlformats.org/officeDocument/2006/relationships/hyperlink" Target="https://github.com/aswanth-07/matrixlang"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aswanth-07/matrixlang" TargetMode="External"/><Relationship Id="rId4" Type="http://schemas.openxmlformats.org/officeDocument/2006/relationships/hyperlink" Target="https://github.com/aswanth-07/matrixlang" TargetMode="External"/><Relationship Id="rId1" Type="http://schemas.openxmlformats.org/officeDocument/2006/relationships/image" Target="../media/image-15-1.png"/><Relationship Id="rId3" Type="http://schemas.openxmlformats.org/officeDocument/2006/relationships/image" Target="../media/image-15-2.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spc="300" kern="0" dirty="0">
                <a:solidFill>
                  <a:schemeClr val="accent1"/>
                </a:solidFill>
              </a:rPr>
              <a:t>MATRIXLANG  ·  EXACTREDUCE</a:t>
            </a:r>
            <a:endParaRPr lang="en-US" sz="1400" dirty="0"/>
          </a:p>
        </p:txBody>
      </p:sp>
      <p:sp>
        <p:nvSpPr>
          <p:cNvPr id="3" name="Text 0"/>
          <p:cNvSpPr/>
          <p:nvPr>
            <p:ph idx="100" type="title" hasCustomPrompt="1"/>
          </p:nvPr>
        </p:nvSpPr>
        <p:spPr>
          <a:xfrm>
            <a:off x="731520" y="1417320"/>
            <a:ext cx="7498080" cy="1828800"/>
          </a:xfrm>
          <a:prstGeom prst="rect">
            <a:avLst/>
          </a:prstGeom>
          <a:noFill/>
          <a:ln/>
        </p:spPr>
        <p:txBody>
          <a:bodyPr wrap="square" rtlCol="0" anchor="b"/>
          <a:lstStyle/>
          <a:p>
            <a:pPr algn="l" indent="0" marL="0">
              <a:buNone/>
            </a:pPr>
            <a:r>
              <a:rPr lang="en-US" sz="4000" b="1" dirty="0">
                <a:solidFill>
                  <a:schemeClr val="bg1"/>
                </a:solidFill>
              </a:rPr>
              <a:t>Proof-Guided Floating-Point Optimization</a:t>
            </a:r>
            <a:endParaRPr lang="en-US" sz="4000" dirty="0"/>
          </a:p>
        </p:txBody>
      </p:sp>
      <p:sp>
        <p:nvSpPr>
          <p:cNvPr id="4" name="Text 0"/>
          <p:cNvSpPr/>
          <p:nvPr>
            <p:ph idx="101" type="body" hasCustomPrompt="1"/>
          </p:nvPr>
        </p:nvSpPr>
        <p:spPr>
          <a:xfrm>
            <a:off x="731520" y="3429000"/>
            <a:ext cx="7498080" cy="2651760"/>
          </a:xfrm>
          <a:prstGeom prst="rect">
            <a:avLst/>
          </a:prstGeom>
          <a:noFill/>
          <a:ln/>
        </p:spPr>
        <p:txBody>
          <a:bodyPr wrap="square" rtlCol="0" anchor="t"/>
          <a:lstStyle/>
          <a:p>
            <a:pPr indent="0" marL="0">
              <a:buNone/>
            </a:pPr>
            <a:r>
              <a:rPr lang="en-US" sz="2200" i="1" dirty="0">
                <a:solidFill>
                  <a:schemeClr val="bg2"/>
                </a:solidFill>
              </a:rPr>
              <a:t>Exact Reassociation, Error Bounds, and Compiler Certificates</a:t>
            </a:r>
            <a:endParaRPr lang="en-US" sz="1800" dirty="0"/>
          </a:p>
          <a:p>
            <a:pPr indent="0" marL="0">
              <a:buNone/>
            </a:pPr>
            <a:r>
              <a:rPr lang="en-US" sz="1200" dirty="0">
                <a:solidFill>
                  <a:schemeClr val="bg2"/>
                </a:solidFill>
              </a:rPr>
              <a:t> </a:t>
            </a:r>
            <a:endParaRPr lang="en-US" sz="1800" dirty="0"/>
          </a:p>
          <a:p>
            <a:pPr indent="0" marL="0">
              <a:buNone/>
            </a:pPr>
            <a:r>
              <a:rPr lang="en-US" sz="1800" b="1" dirty="0">
                <a:solidFill>
                  <a:schemeClr val="bg1"/>
                </a:solidFill>
              </a:rPr>
              <a:t>A Aswanth Raj  ·  Dr. Ranjithkumar S</a:t>
            </a:r>
            <a:endParaRPr lang="en-US" sz="1800" dirty="0"/>
          </a:p>
          <a:p>
            <a:pPr indent="0" marL="0">
              <a:buNone/>
            </a:pPr>
            <a:r>
              <a:rPr lang="en-US" sz="1800" dirty="0">
                <a:solidFill>
                  <a:schemeClr val="bg2"/>
                </a:solidFill>
              </a:rPr>
              <a:t>School of Computer Science and Engineering, VIT Vellore</a:t>
            </a:r>
            <a:endParaRPr lang="en-US" sz="1800" dirty="0"/>
          </a:p>
          <a:p>
            <a:pPr indent="0" marL="0">
              <a:buNone/>
            </a:pPr>
            <a:r>
              <a:rPr lang="en-US" sz="1800" dirty="0">
                <a:solidFill>
                  <a:schemeClr val="accent5"/>
                </a:solidFill>
              </a:rPr>
              <a:t>Revised manuscript, October 2026</a:t>
            </a:r>
            <a:endParaRPr lang="en-US" sz="1800" dirty="0"/>
          </a:p>
        </p:txBody>
      </p:sp>
      <p:sp>
        <p:nvSpPr>
          <p:cNvPr id="5" name="GitHub card"/>
          <p:cNvSpPr/>
          <p:nvPr/>
        </p:nvSpPr>
        <p:spPr>
          <a:xfrm>
            <a:off x="8915400" y="1600200"/>
            <a:ext cx="2560320" cy="3246120"/>
          </a:xfrm>
          <a:prstGeom prst="roundRect">
            <a:avLst>
              <a:gd name="adj" fmla="val 5357"/>
            </a:avLst>
          </a:prstGeom>
          <a:solidFill>
            <a:schemeClr val="bg1"/>
          </a:solidFill>
          <a:ln w="12700">
            <a:solidFill>
              <a:schemeClr val="bg1"/>
            </a:solidFill>
            <a:prstDash val="solid"/>
          </a:ln>
        </p:spPr>
      </p:sp>
      <p:pic>
        <p:nvPicPr>
          <p:cNvPr id="6" name="Image 0" descr="QR code linking to https://github.com/aswanth-07/matrixlang">
            <a:hlinkClick r:id="rId2" tooltip=""/>
          </p:cNvPr>
          <p:cNvPicPr>
            <a:picLocks noChangeAspect="1"/>
          </p:cNvPicPr>
          <p:nvPr/>
        </p:nvPicPr>
        <p:blipFill>
          <a:blip r:embed="rId1"/>
          <a:stretch>
            <a:fillRect/>
          </a:stretch>
        </p:blipFill>
        <p:spPr>
          <a:xfrm>
            <a:off x="9189720" y="1828800"/>
            <a:ext cx="2011680" cy="2011680"/>
          </a:xfrm>
          <a:prstGeom prst="rect">
            <a:avLst/>
          </a:prstGeom>
        </p:spPr>
      </p:pic>
      <p:pic>
        <p:nvPicPr>
          <p:cNvPr id="7" name="Image 1" descr="preencoded.png">    </p:cNvPr>
          <p:cNvPicPr>
            <a:picLocks noChangeAspect="1"/>
          </p:cNvPicPr>
          <p:nvPr/>
        </p:nvPicPr>
        <p:blipFill>
          <a:blip r:embed="rId3"/>
          <a:stretch>
            <a:fillRect/>
          </a:stretch>
        </p:blipFill>
        <p:spPr>
          <a:xfrm>
            <a:off x="9189720" y="4005072"/>
            <a:ext cx="292608" cy="292608"/>
          </a:xfrm>
          <a:prstGeom prst="rect">
            <a:avLst/>
          </a:prstGeom>
        </p:spPr>
      </p:pic>
      <p:sp>
        <p:nvSpPr>
          <p:cNvPr id="8" name="Text 4"/>
          <p:cNvSpPr txBox="1"/>
          <p:nvPr/>
        </p:nvSpPr>
        <p:spPr>
          <a:xfrm>
            <a:off x="9555480" y="4005072"/>
            <a:ext cx="1783080" cy="292608"/>
          </a:xfrm>
          <a:prstGeom prst="rect">
            <a:avLst/>
          </a:prstGeom>
          <a:noFill/>
          <a:ln/>
        </p:spPr>
        <p:txBody>
          <a:bodyPr wrap="square" lIns="0" tIns="0" rIns="0" bIns="0" rtlCol="0" anchor="ctr"/>
          <a:lstStyle/>
          <a:p>
            <a:pPr indent="0" marL="0">
              <a:buNone/>
            </a:pPr>
            <a:r>
              <a:rPr lang="en-US" sz="1200" b="1" dirty="0">
                <a:solidFill>
                  <a:schemeClr val="tx1"/>
                </a:solidFill>
              </a:rPr>
              <a:t>Code, data and paper</a:t>
            </a:r>
            <a:endParaRPr lang="en-US" sz="1200" dirty="0"/>
          </a:p>
        </p:txBody>
      </p:sp>
      <p:sp>
        <p:nvSpPr>
          <p:cNvPr id="9" name="Text 5"/>
          <p:cNvSpPr txBox="1"/>
          <p:nvPr/>
        </p:nvSpPr>
        <p:spPr>
          <a:xfrm>
            <a:off x="9006840" y="4389120"/>
            <a:ext cx="2377440" cy="274320"/>
          </a:xfrm>
          <a:prstGeom prst="rect">
            <a:avLst/>
          </a:prstGeom>
          <a:noFill/>
          <a:ln/>
        </p:spPr>
        <p:txBody>
          <a:bodyPr wrap="square" lIns="0" tIns="0" rIns="0" bIns="0" rtlCol="0" anchor="t"/>
          <a:lstStyle/>
          <a:p>
            <a:pPr algn="ctr" indent="0" marL="0">
              <a:buNone/>
            </a:pPr>
            <a:r>
              <a:rPr lang="en-US" sz="1100" u="sng" dirty="0">
                <a:solidFill>
                  <a:schemeClr val="accent4"/>
                </a:solidFill>
                <a:hlinkClick r:id="rId4" invalidUrl="" action="" tgtFrame="" tooltip=""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Compilers offer a switch: strict or fast</a:t>
            </a:r>
            <a:endParaRPr lang="en-US" sz="3000" dirty="0"/>
          </a:p>
        </p:txBody>
      </p:sp>
      <p:sp>
        <p:nvSpPr>
          <p:cNvPr id="3" name="strict card"/>
          <p:cNvSpPr/>
          <p:nvPr/>
        </p:nvSpPr>
        <p:spPr>
          <a:xfrm>
            <a:off x="548640" y="1325880"/>
            <a:ext cx="5394960"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822960" y="1600200"/>
            <a:ext cx="731520" cy="731520"/>
          </a:xfrm>
          <a:prstGeom prst="ellipse">
            <a:avLst/>
          </a:prstGeom>
          <a:solidFill>
            <a:schemeClr val="accent4"/>
          </a:solidFill>
          <a:ln w="12700">
            <a:solidFill>
              <a:schemeClr val="accent4"/>
            </a:solidFill>
            <a:prstDash val="solid"/>
          </a:ln>
        </p:spPr>
      </p:sp>
      <p:pic>
        <p:nvPicPr>
          <p:cNvPr id="5" name="Image 0" descr="preencoded.png">    </p:cNvPr>
          <p:cNvPicPr>
            <a:picLocks noChangeAspect="1"/>
          </p:cNvPicPr>
          <p:nvPr/>
        </p:nvPicPr>
        <p:blipFill>
          <a:blip r:embed="rId1"/>
          <a:stretch>
            <a:fillRect/>
          </a:stretch>
        </p:blipFill>
        <p:spPr>
          <a:xfrm>
            <a:off x="998525" y="1775765"/>
            <a:ext cx="380390" cy="380390"/>
          </a:xfrm>
          <a:prstGeom prst="rect">
            <a:avLst/>
          </a:prstGeom>
        </p:spPr>
      </p:pic>
      <p:sp>
        <p:nvSpPr>
          <p:cNvPr id="6" name="Text 3"/>
          <p:cNvSpPr txBox="1"/>
          <p:nvPr/>
        </p:nvSpPr>
        <p:spPr>
          <a:xfrm>
            <a:off x="1783080" y="1691640"/>
            <a:ext cx="3931920" cy="457200"/>
          </a:xfrm>
          <a:prstGeom prst="rect">
            <a:avLst/>
          </a:prstGeom>
          <a:noFill/>
          <a:ln/>
        </p:spPr>
        <p:txBody>
          <a:bodyPr wrap="square" lIns="0" tIns="0" rIns="0" bIns="0" rtlCol="0" anchor="t"/>
          <a:lstStyle/>
          <a:p>
            <a:pPr indent="0" marL="0">
              <a:buNone/>
            </a:pPr>
            <a:r>
              <a:rPr lang="en-US" sz="2200" b="1" dirty="0">
                <a:solidFill>
                  <a:schemeClr val="tx1"/>
                </a:solidFill>
              </a:rPr>
              <a:t>Strict IEEE 754</a:t>
            </a:r>
            <a:endParaRPr lang="en-US" sz="2200" dirty="0"/>
          </a:p>
        </p:txBody>
      </p:sp>
      <p:sp>
        <p:nvSpPr>
          <p:cNvPr id="7" name="Text 4"/>
          <p:cNvSpPr txBox="1"/>
          <p:nvPr/>
        </p:nvSpPr>
        <p:spPr>
          <a:xfrm>
            <a:off x="1783080" y="2240280"/>
            <a:ext cx="3931920" cy="1280160"/>
          </a:xfrm>
          <a:prstGeom prst="rect">
            <a:avLst/>
          </a:prstGeom>
          <a:noFill/>
          <a:ln/>
        </p:spPr>
        <p:txBody>
          <a:bodyPr wrap="square" lIns="0" tIns="0" rIns="0" bIns="0" rtlCol="0" anchor="t"/>
          <a:lstStyle/>
          <a:p>
            <a:pPr indent="0" marL="0">
              <a:buNone/>
            </a:pPr>
            <a:r>
              <a:rPr lang="en-US" sz="1600" dirty="0">
                <a:solidFill>
                  <a:schemeClr val="tx2"/>
                </a:solidFill>
              </a:rPr>
              <a:t>Keeps the evaluation order of the source, even when the values make reordering exact. Sums stay sequential, so loops do not vectorize.</a:t>
            </a:r>
            <a:endParaRPr lang="en-US" sz="1600" dirty="0"/>
          </a:p>
        </p:txBody>
      </p:sp>
      <p:sp>
        <p:nvSpPr>
          <p:cNvPr id="8" name="fast-math card"/>
          <p:cNvSpPr/>
          <p:nvPr/>
        </p:nvSpPr>
        <p:spPr>
          <a:xfrm>
            <a:off x="6263640" y="1325880"/>
            <a:ext cx="5394960" cy="233172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6537960" y="1600200"/>
            <a:ext cx="731520" cy="731520"/>
          </a:xfrm>
          <a:prstGeom prst="ellipse">
            <a:avLst/>
          </a:prstGeom>
          <a:solidFill>
            <a:schemeClr val="accent3"/>
          </a:solidFill>
          <a:ln w="12700">
            <a:solidFill>
              <a:schemeClr val="accent3"/>
            </a:solidFill>
            <a:prstDash val="solid"/>
          </a:ln>
        </p:spPr>
      </p:sp>
      <p:pic>
        <p:nvPicPr>
          <p:cNvPr id="10" name="Image 1" descr="preencoded.png">    </p:cNvPr>
          <p:cNvPicPr>
            <a:picLocks noChangeAspect="1"/>
          </p:cNvPicPr>
          <p:nvPr/>
        </p:nvPicPr>
        <p:blipFill>
          <a:blip r:embed="rId2"/>
          <a:stretch>
            <a:fillRect/>
          </a:stretch>
        </p:blipFill>
        <p:spPr>
          <a:xfrm>
            <a:off x="6713525" y="1775765"/>
            <a:ext cx="380390" cy="380390"/>
          </a:xfrm>
          <a:prstGeom prst="rect">
            <a:avLst/>
          </a:prstGeom>
        </p:spPr>
      </p:pic>
      <p:sp>
        <p:nvSpPr>
          <p:cNvPr id="11" name="Text 7"/>
          <p:cNvSpPr txBox="1"/>
          <p:nvPr/>
        </p:nvSpPr>
        <p:spPr>
          <a:xfrm>
            <a:off x="7498080" y="1691640"/>
            <a:ext cx="3931920" cy="457200"/>
          </a:xfrm>
          <a:prstGeom prst="rect">
            <a:avLst/>
          </a:prstGeom>
          <a:noFill/>
          <a:ln/>
        </p:spPr>
        <p:txBody>
          <a:bodyPr wrap="square" lIns="0" tIns="0" rIns="0" bIns="0" rtlCol="0" anchor="t"/>
          <a:lstStyle/>
          <a:p>
            <a:pPr indent="0" marL="0">
              <a:buNone/>
            </a:pPr>
            <a:r>
              <a:rPr lang="en-US" sz="2200" b="1" dirty="0">
                <a:solidFill>
                  <a:schemeClr val="tx1"/>
                </a:solidFill>
              </a:rPr>
              <a:t>-ffast-math</a:t>
            </a:r>
            <a:endParaRPr lang="en-US" sz="2200" dirty="0"/>
          </a:p>
        </p:txBody>
      </p:sp>
      <p:sp>
        <p:nvSpPr>
          <p:cNvPr id="12" name="Text 8"/>
          <p:cNvSpPr txBox="1"/>
          <p:nvPr/>
        </p:nvSpPr>
        <p:spPr>
          <a:xfrm>
            <a:off x="7498080" y="2240280"/>
            <a:ext cx="3931920" cy="1280160"/>
          </a:xfrm>
          <a:prstGeom prst="rect">
            <a:avLst/>
          </a:prstGeom>
          <a:noFill/>
          <a:ln/>
        </p:spPr>
        <p:txBody>
          <a:bodyPr wrap="square" lIns="0" tIns="0" rIns="0" bIns="0" rtlCol="0" anchor="t"/>
          <a:lstStyle/>
          <a:p>
            <a:pPr indent="0" marL="0">
              <a:buNone/>
            </a:pPr>
            <a:r>
              <a:rPr lang="en-US" sz="1600" dirty="0">
                <a:solidFill>
                  <a:schemeClr val="tx2"/>
                </a:solidFill>
              </a:rPr>
              <a:t>Reorders and vectorizes freely. It says what the compiler may do, not what the result is: nobody knows which outputs changed, or by how much.</a:t>
            </a:r>
            <a:endParaRPr lang="en-US" sz="1600" dirty="0"/>
          </a:p>
        </p:txBody>
      </p:sp>
      <p:sp>
        <p:nvSpPr>
          <p:cNvPr id="13" name="Text 9"/>
          <p:cNvSpPr txBox="1"/>
          <p:nvPr/>
        </p:nvSpPr>
        <p:spPr>
          <a:xfrm>
            <a:off x="548640" y="3977640"/>
            <a:ext cx="5486400" cy="411480"/>
          </a:xfrm>
          <a:prstGeom prst="rect">
            <a:avLst/>
          </a:prstGeom>
          <a:noFill/>
          <a:ln/>
        </p:spPr>
        <p:txBody>
          <a:bodyPr wrap="square" lIns="0" tIns="0" rIns="0" bIns="0" rtlCol="0" anchor="t"/>
          <a:lstStyle/>
          <a:p>
            <a:pPr indent="0" marL="0">
              <a:buNone/>
            </a:pPr>
            <a:r>
              <a:rPr lang="en-US" sz="2000" b="1" dirty="0">
                <a:solidFill>
                  <a:schemeClr val="tx1"/>
                </a:solidFill>
              </a:rPr>
              <a:t>Why order matters</a:t>
            </a:r>
            <a:endParaRPr lang="en-US" sz="2000" dirty="0"/>
          </a:p>
        </p:txBody>
      </p:sp>
      <p:sp>
        <p:nvSpPr>
          <p:cNvPr id="14" name="Text 10"/>
          <p:cNvSpPr txBox="1"/>
          <p:nvPr/>
        </p:nvSpPr>
        <p:spPr>
          <a:xfrm>
            <a:off x="548640" y="4480560"/>
            <a:ext cx="5394960" cy="1188720"/>
          </a:xfrm>
          <a:prstGeom prst="rect">
            <a:avLst/>
          </a:prstGeom>
          <a:noFill/>
          <a:ln/>
        </p:spPr>
        <p:txBody>
          <a:bodyPr wrap="square" lIns="0" tIns="0" rIns="0" bIns="0" rtlCol="0" anchor="t"/>
          <a:lstStyle/>
          <a:p>
            <a:pPr indent="0" marL="0">
              <a:buNone/>
            </a:pPr>
            <a:r>
              <a:rPr lang="en-US" sz="1600" dirty="0">
                <a:solidFill>
                  <a:schemeClr val="tx2"/>
                </a:solidFill>
              </a:rPr>
              <a:t>Every floating-point operation rounds, so addition is not associative. Signed zeros, NaN and infinities also break x·0 = 0 and x + 0 = x.</a:t>
            </a:r>
            <a:endParaRPr lang="en-US" sz="1600" dirty="0"/>
          </a:p>
        </p:txBody>
      </p:sp>
      <p:sp>
        <p:nvSpPr>
          <p:cNvPr id="15" name="order example"/>
          <p:cNvSpPr/>
          <p:nvPr/>
        </p:nvSpPr>
        <p:spPr>
          <a:xfrm>
            <a:off x="6263640" y="3977640"/>
            <a:ext cx="5394960" cy="2011680"/>
          </a:xfrm>
          <a:prstGeom prst="roundRect">
            <a:avLst>
              <a:gd name="adj" fmla="val 5455"/>
            </a:avLst>
          </a:prstGeom>
          <a:solidFill>
            <a:schemeClr val="tx1"/>
          </a:solidFill>
          <a:ln w="12700">
            <a:solidFill>
              <a:schemeClr val="tx1"/>
            </a:solidFill>
            <a:prstDash val="solid"/>
          </a:ln>
          <a:effectLst>
            <a:outerShdw sx="100000" sy="100000" kx="0" ky="0" algn="bl" rotWithShape="0" blurRad="76200" dist="25400" dir="5400000">
              <a:srgbClr val="000000">
                <a:alpha val="10000"/>
              </a:srgbClr>
            </a:outerShdw>
          </a:effectLst>
        </p:spPr>
      </p:sp>
      <p:sp>
        <p:nvSpPr>
          <p:cNvPr id="16" name="Text 12"/>
          <p:cNvSpPr txBox="1"/>
          <p:nvPr/>
        </p:nvSpPr>
        <p:spPr>
          <a:xfrm>
            <a:off x="6583680" y="4343400"/>
            <a:ext cx="4846320" cy="914400"/>
          </a:xfrm>
          <a:prstGeom prst="rect">
            <a:avLst/>
          </a:prstGeom>
          <a:noFill/>
          <a:ln/>
        </p:spPr>
        <p:txBody>
          <a:bodyPr wrap="square" lIns="0" tIns="0" rIns="0" bIns="0" rtlCol="0" anchor="t"/>
          <a:lstStyle/>
          <a:p>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(0.1 + 0.2) + 0.3  =  0.6000000000000001</a:t>
            </a:r>
            <a:endParaRPr lang="en-US" sz="1500" dirty="0"/>
          </a:p>
          <a:p>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0.1 + (0.2 + 0.3)  =  0.6</a:t>
            </a:r>
            <a:endParaRPr lang="en-US" sz="1500" dirty="0"/>
          </a:p>
        </p:txBody>
      </p:sp>
      <p:sp>
        <p:nvSpPr>
          <p:cNvPr id="17" name="Text 13"/>
          <p:cNvSpPr txBox="1"/>
          <p:nvPr/>
        </p:nvSpPr>
        <p:spPr>
          <a:xfrm>
            <a:off x="6583680" y="5394960"/>
            <a:ext cx="4846320" cy="365760"/>
          </a:xfrm>
          <a:prstGeom prst="rect">
            <a:avLst/>
          </a:prstGeom>
          <a:noFill/>
          <a:ln/>
        </p:spPr>
        <p:txBody>
          <a:bodyPr wrap="square" lIns="0" tIns="0" rIns="0" bIns="0" rtlCol="0" anchor="t"/>
          <a:lstStyle/>
          <a:p>
            <a:pPr indent="0" marL="0">
              <a:buNone/>
            </a:pPr>
            <a:r>
              <a:rPr lang="en-US" sz="1400" i="1" dirty="0">
                <a:solidFill>
                  <a:schemeClr val="accent1"/>
                </a:solidFill>
              </a:rPr>
              <a:t>Same terms, different grouping, different bits</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The input values decide which guarantee holds</a:t>
            </a:r>
            <a:endParaRPr lang="en-US" sz="3000" dirty="0"/>
          </a:p>
        </p:txBody>
      </p:sp>
      <p:sp>
        <p:nvSpPr>
          <p:cNvPr id="3" name="chain example"/>
          <p:cNvSpPr/>
          <p:nvPr/>
        </p:nvSpPr>
        <p:spPr>
          <a:xfrm>
            <a:off x="548640" y="1325880"/>
            <a:ext cx="4572000" cy="4709160"/>
          </a:xfrm>
          <a:prstGeom prst="roundRect">
            <a:avLst>
              <a:gd name="adj" fmla="val 2400"/>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Text 2"/>
          <p:cNvSpPr txBox="1"/>
          <p:nvPr/>
        </p:nvSpPr>
        <p:spPr>
          <a:xfrm>
            <a:off x="868680" y="1554480"/>
            <a:ext cx="4023360" cy="411480"/>
          </a:xfrm>
          <a:prstGeom prst="rect">
            <a:avLst/>
          </a:prstGeom>
          <a:noFill/>
          <a:ln/>
        </p:spPr>
        <p:txBody>
          <a:bodyPr wrap="square" lIns="0" tIns="0" rIns="0" bIns="0" rtlCol="0" anchor="t"/>
          <a:lstStyle/>
          <a:p>
            <a:pPr indent="0" marL="0">
              <a:buNone/>
            </a:pPr>
            <a:r>
              <a:rPr lang="en-US" sz="1800" b="1" dirty="0">
                <a:solidFill>
                  <a:schemeClr val="tx1"/>
                </a:solidFill>
              </a:rPr>
              <a:t>One chain, two bracketings</a:t>
            </a:r>
            <a:endParaRPr lang="en-US" sz="1800" dirty="0"/>
          </a:p>
        </p:txBody>
      </p:sp>
      <p:sp>
        <p:nvSpPr>
          <p:cNvPr id="5" name="Text 3"/>
          <p:cNvSpPr txBox="1"/>
          <p:nvPr/>
        </p:nvSpPr>
        <p:spPr>
          <a:xfrm>
            <a:off x="868680" y="2057400"/>
            <a:ext cx="4023360" cy="502920"/>
          </a:xfrm>
          <a:prstGeom prst="rect">
            <a:avLst/>
          </a:prstGeom>
          <a:noFill/>
          <a:ln/>
        </p:spPr>
        <p:txBody>
          <a:bodyPr wrap="square" lIns="0" tIns="0" rIns="0" bIns="0" rtlCol="0" anchor="t"/>
          <a:lstStyle/>
          <a:p>
            <a:pPr indent="0" marL="0">
              <a:buNone/>
            </a:pPr>
            <a:r>
              <a:rPr lang="en-US" sz="2600" b="1" dirty="0">
                <a:solidFill>
                  <a:schemeClr val="tx1"/>
                </a:solidFill>
                <a:latin typeface="Cambria" pitchFamily="34" charset="0"/>
                <a:ea typeface="Cambria" pitchFamily="34" charset="-122"/>
                <a:cs typeface="Cambria" pitchFamily="34" charset="-120"/>
              </a:rPr>
              <a:t>R = A · B · C</a:t>
            </a:r>
            <a:endParaRPr lang="en-US" sz="2600" dirty="0"/>
          </a:p>
        </p:txBody>
      </p:sp>
      <p:sp>
        <p:nvSpPr>
          <p:cNvPr id="6" name="Text 4"/>
          <p:cNvSpPr txBox="1"/>
          <p:nvPr/>
        </p:nvSpPr>
        <p:spPr>
          <a:xfrm>
            <a:off x="868680" y="2606040"/>
            <a:ext cx="4023360" cy="365760"/>
          </a:xfrm>
          <a:prstGeom prst="rect">
            <a:avLst/>
          </a:prstGeom>
          <a:noFill/>
          <a:ln/>
        </p:spPr>
        <p:txBody>
          <a:bodyPr wrap="square" lIns="0" tIns="0" rIns="0" bIns="0" rtlCol="0" anchor="t"/>
          <a:lstStyle/>
          <a:p>
            <a:pPr indent="0" marL="0">
              <a:buNone/>
            </a:pPr>
            <a:r>
              <a:rPr lang="en-US" sz="1500" dirty="0">
                <a:solidFill>
                  <a:schemeClr val="tx2"/>
                </a:solidFill>
              </a:rPr>
              <a:t>A, C: 100 × 2      B: 2 × 100</a:t>
            </a:r>
            <a:endParaRPr lang="en-US" sz="1500" dirty="0"/>
          </a:p>
        </p:txBody>
      </p:sp>
      <p:sp>
        <p:nvSpPr>
          <p:cNvPr id="7" name="Text 5"/>
          <p:cNvSpPr txBox="1"/>
          <p:nvPr/>
        </p:nvSpPr>
        <p:spPr>
          <a:xfrm>
            <a:off x="868680" y="3246120"/>
            <a:ext cx="1920240" cy="640080"/>
          </a:xfrm>
          <a:prstGeom prst="rect">
            <a:avLst/>
          </a:prstGeom>
          <a:noFill/>
          <a:ln/>
        </p:spPr>
        <p:txBody>
          <a:bodyPr wrap="square" lIns="0" tIns="0" rIns="0" bIns="0" rtlCol="0" anchor="t"/>
          <a:lstStyle/>
          <a:p>
            <a:pPr indent="0" marL="0">
              <a:buNone/>
            </a:pPr>
            <a:r>
              <a:rPr lang="en-US" sz="3200" b="1" dirty="0">
                <a:solidFill>
                  <a:schemeClr val="accent3"/>
                </a:solidFill>
              </a:rPr>
              <a:t>69,800</a:t>
            </a:r>
            <a:endParaRPr lang="en-US" sz="3200" dirty="0"/>
          </a:p>
        </p:txBody>
      </p:sp>
      <p:sp>
        <p:nvSpPr>
          <p:cNvPr id="8" name="Text 6"/>
          <p:cNvSpPr txBox="1"/>
          <p:nvPr/>
        </p:nvSpPr>
        <p:spPr>
          <a:xfrm>
            <a:off x="868680" y="3886200"/>
            <a:ext cx="1920240" cy="640080"/>
          </a:xfrm>
          <a:prstGeom prst="rect">
            <a:avLst/>
          </a:prstGeom>
          <a:noFill/>
          <a:ln/>
        </p:spPr>
        <p:txBody>
          <a:bodyPr wrap="square" lIns="0" tIns="0" rIns="0" bIns="0" rtlCol="0" anchor="t"/>
          <a:lstStyle/>
          <a:p>
            <a:pPr indent="0" marL="0">
              <a:buNone/>
            </a:pPr>
            <a:r>
              <a:rPr lang="en-US" sz="1300" dirty="0">
                <a:solidFill>
                  <a:schemeClr val="tx2"/>
                </a:solidFill>
              </a:rPr>
              <a:t>operations in source order (AB)C</a:t>
            </a:r>
            <a:endParaRPr lang="en-US" sz="1300" dirty="0"/>
          </a:p>
        </p:txBody>
      </p:sp>
      <p:sp>
        <p:nvSpPr>
          <p:cNvPr id="9" name="Shape 7"/>
          <p:cNvSpPr/>
          <p:nvPr/>
        </p:nvSpPr>
        <p:spPr>
          <a:xfrm>
            <a:off x="2743200" y="3429000"/>
            <a:ext cx="365760" cy="292608"/>
          </a:xfrm>
          <a:prstGeom prst="rightArrow">
            <a:avLst/>
          </a:prstGeom>
          <a:solidFill>
            <a:schemeClr val="accent5"/>
          </a:solidFill>
          <a:ln w="12700">
            <a:solidFill>
              <a:schemeClr val="accent5"/>
            </a:solidFill>
            <a:prstDash val="solid"/>
          </a:ln>
        </p:spPr>
      </p:sp>
      <p:sp>
        <p:nvSpPr>
          <p:cNvPr id="10" name="Text 8"/>
          <p:cNvSpPr txBox="1"/>
          <p:nvPr/>
        </p:nvSpPr>
        <p:spPr>
          <a:xfrm>
            <a:off x="3246120" y="3246120"/>
            <a:ext cx="1737360" cy="640080"/>
          </a:xfrm>
          <a:prstGeom prst="rect">
            <a:avLst/>
          </a:prstGeom>
          <a:noFill/>
          <a:ln/>
        </p:spPr>
        <p:txBody>
          <a:bodyPr wrap="square" lIns="0" tIns="0" rIns="0" bIns="0" rtlCol="0" anchor="t"/>
          <a:lstStyle/>
          <a:p>
            <a:pPr indent="0" marL="0">
              <a:buNone/>
            </a:pPr>
            <a:r>
              <a:rPr lang="en-US" sz="3200" b="1" dirty="0">
                <a:solidFill>
                  <a:schemeClr val="accent2"/>
                </a:solidFill>
              </a:rPr>
              <a:t>1,396</a:t>
            </a:r>
            <a:endParaRPr lang="en-US" sz="3200" dirty="0"/>
          </a:p>
        </p:txBody>
      </p:sp>
      <p:sp>
        <p:nvSpPr>
          <p:cNvPr id="11" name="Text 9"/>
          <p:cNvSpPr txBox="1"/>
          <p:nvPr/>
        </p:nvSpPr>
        <p:spPr>
          <a:xfrm>
            <a:off x="3246120" y="3886200"/>
            <a:ext cx="1737360" cy="640080"/>
          </a:xfrm>
          <a:prstGeom prst="rect">
            <a:avLst/>
          </a:prstGeom>
          <a:noFill/>
          <a:ln/>
        </p:spPr>
        <p:txBody>
          <a:bodyPr wrap="square" lIns="0" tIns="0" rIns="0" bIns="0" rtlCol="0" anchor="t"/>
          <a:lstStyle/>
          <a:p>
            <a:pPr indent="0" marL="0">
              <a:buNone/>
            </a:pPr>
            <a:r>
              <a:rPr lang="en-US" sz="1300" dirty="0">
                <a:solidFill>
                  <a:schemeClr val="tx2"/>
                </a:solidFill>
              </a:rPr>
              <a:t>operations as A(BC)</a:t>
            </a:r>
            <a:endParaRPr lang="en-US" sz="1300" dirty="0"/>
          </a:p>
        </p:txBody>
      </p:sp>
      <p:sp>
        <p:nvSpPr>
          <p:cNvPr id="12" name="Text 10"/>
          <p:cNvSpPr txBox="1"/>
          <p:nvPr/>
        </p:nvSpPr>
        <p:spPr>
          <a:xfrm>
            <a:off x="868680" y="4800600"/>
            <a:ext cx="4023360" cy="1005840"/>
          </a:xfrm>
          <a:prstGeom prst="rect">
            <a:avLst/>
          </a:prstGeom>
          <a:noFill/>
          <a:ln/>
        </p:spPr>
        <p:txBody>
          <a:bodyPr wrap="square" lIns="0" tIns="0" rIns="0" bIns="0" rtlCol="0" anchor="t"/>
          <a:lstStyle/>
          <a:p>
            <a:pPr indent="0" marL="0">
              <a:buNone/>
            </a:pPr>
            <a:r>
              <a:rPr lang="en-US" sz="1500" i="1" dirty="0">
                <a:solidFill>
                  <a:schemeClr val="tx1"/>
                </a:solidFill>
              </a:rPr>
              <a:t>The reordering is 50× cheaper. Is it allowed? That depends on the data, not the program text.</a:t>
            </a:r>
            <a:endParaRPr lang="en-US" sz="1500" dirty="0"/>
          </a:p>
        </p:txBody>
      </p:sp>
      <p:sp>
        <p:nvSpPr>
          <p:cNvPr id="13" name="Shape 11"/>
          <p:cNvSpPr/>
          <p:nvPr/>
        </p:nvSpPr>
        <p:spPr>
          <a:xfrm>
            <a:off x="5486400" y="1435608"/>
            <a:ext cx="640080" cy="640080"/>
          </a:xfrm>
          <a:prstGeom prst="ellipse">
            <a:avLst/>
          </a:prstGeom>
          <a:solidFill>
            <a:schemeClr val="accent2"/>
          </a:solidFill>
          <a:ln w="12700">
            <a:solidFill>
              <a:schemeClr val="accent2"/>
            </a:solidFill>
            <a:prstDash val="solid"/>
          </a:ln>
        </p:spPr>
      </p:sp>
      <p:pic>
        <p:nvPicPr>
          <p:cNvPr id="14" name="Image 0" descr="preencoded.png">    </p:cNvPr>
          <p:cNvPicPr>
            <a:picLocks noChangeAspect="1"/>
          </p:cNvPicPr>
          <p:nvPr/>
        </p:nvPicPr>
        <p:blipFill>
          <a:blip r:embed="rId1"/>
          <a:stretch>
            <a:fillRect/>
          </a:stretch>
        </p:blipFill>
        <p:spPr>
          <a:xfrm>
            <a:off x="5640019" y="1589227"/>
            <a:ext cx="332842" cy="332842"/>
          </a:xfrm>
          <a:prstGeom prst="rect">
            <a:avLst/>
          </a:prstGeom>
        </p:spPr>
      </p:pic>
      <p:sp>
        <p:nvSpPr>
          <p:cNvPr id="15" name="Text 12"/>
          <p:cNvSpPr txBox="1"/>
          <p:nvPr/>
        </p:nvSpPr>
        <p:spPr>
          <a:xfrm>
            <a:off x="6309360" y="1371600"/>
            <a:ext cx="5349240" cy="384048"/>
          </a:xfrm>
          <a:prstGeom prst="rect">
            <a:avLst/>
          </a:prstGeom>
          <a:noFill/>
          <a:ln/>
        </p:spPr>
        <p:txBody>
          <a:bodyPr wrap="square" lIns="0" tIns="0" rIns="0" bIns="0" rtlCol="0" anchor="t"/>
          <a:lstStyle/>
          <a:p>
            <a:pPr indent="0" marL="0">
              <a:buNone/>
            </a:pPr>
            <a:r>
              <a:rPr lang="en-US" sz="1800" b="1" dirty="0">
                <a:solidFill>
                  <a:schemeClr val="tx1"/>
                </a:solidFill>
              </a:rPr>
              <a:t>8-bit integers  </a:t>
            </a:r>
            <a:pPr indent="0" marL="0">
              <a:buNone/>
            </a:pPr>
            <a:r>
              <a:rPr lang="en-US" sz="1800" b="1" dirty="0">
                <a:solidFill>
                  <a:schemeClr val="accent2"/>
                </a:solidFill>
              </a:rPr>
              <a:t>→ Bit-identical</a:t>
            </a:r>
            <a:endParaRPr lang="en-US" sz="1800" dirty="0"/>
          </a:p>
        </p:txBody>
      </p:sp>
      <p:sp>
        <p:nvSpPr>
          <p:cNvPr id="16" name="Text 13"/>
          <p:cNvSpPr txBox="1"/>
          <p:nvPr/>
        </p:nvSpPr>
        <p:spPr>
          <a:xfrm>
            <a:off x="6309360" y="1783080"/>
            <a:ext cx="5349240" cy="685800"/>
          </a:xfrm>
          <a:prstGeom prst="rect">
            <a:avLst/>
          </a:prstGeom>
          <a:noFill/>
          <a:ln/>
        </p:spPr>
        <p:txBody>
          <a:bodyPr wrap="square" lIns="0" tIns="0" rIns="0" bIns="0" rtlCol="0" anchor="t"/>
          <a:lstStyle/>
          <a:p>
            <a:pPr indent="0" marL="0">
              <a:buNone/>
            </a:pPr>
            <a:r>
              <a:rPr lang="en-US" sz="1400" dirty="0">
                <a:solidFill>
                  <a:schemeClr val="tx2"/>
                </a:solidFill>
              </a:rPr>
              <a:t>Every product and partial sum is an integer of at most 29 bits: both bracketings return the same bits.</a:t>
            </a:r>
            <a:endParaRPr lang="en-US" sz="1400" dirty="0"/>
          </a:p>
        </p:txBody>
      </p:sp>
      <p:sp>
        <p:nvSpPr>
          <p:cNvPr id="17" name="Shape 14"/>
          <p:cNvSpPr/>
          <p:nvPr/>
        </p:nvSpPr>
        <p:spPr>
          <a:xfrm>
            <a:off x="5486400" y="2642616"/>
            <a:ext cx="640080" cy="640080"/>
          </a:xfrm>
          <a:prstGeom prst="ellipse">
            <a:avLst/>
          </a:prstGeom>
          <a:solidFill>
            <a:schemeClr val="accent1"/>
          </a:solidFill>
          <a:ln w="12700">
            <a:solidFill>
              <a:schemeClr val="accent1"/>
            </a:solidFill>
            <a:prstDash val="solid"/>
          </a:ln>
        </p:spPr>
      </p:sp>
      <p:pic>
        <p:nvPicPr>
          <p:cNvPr id="18" name="Image 1" descr="preencoded.png">    </p:cNvPr>
          <p:cNvPicPr>
            <a:picLocks noChangeAspect="1"/>
          </p:cNvPicPr>
          <p:nvPr/>
        </p:nvPicPr>
        <p:blipFill>
          <a:blip r:embed="rId2"/>
          <a:stretch>
            <a:fillRect/>
          </a:stretch>
        </p:blipFill>
        <p:spPr>
          <a:xfrm>
            <a:off x="5640019" y="2796235"/>
            <a:ext cx="332842" cy="332842"/>
          </a:xfrm>
          <a:prstGeom prst="rect">
            <a:avLst/>
          </a:prstGeom>
        </p:spPr>
      </p:pic>
      <p:sp>
        <p:nvSpPr>
          <p:cNvPr id="19" name="Text 15"/>
          <p:cNvSpPr txBox="1"/>
          <p:nvPr/>
        </p:nvSpPr>
        <p:spPr>
          <a:xfrm>
            <a:off x="6309360" y="2578608"/>
            <a:ext cx="5349240" cy="384048"/>
          </a:xfrm>
          <a:prstGeom prst="rect">
            <a:avLst/>
          </a:prstGeom>
          <a:noFill/>
          <a:ln/>
        </p:spPr>
        <p:txBody>
          <a:bodyPr wrap="square" lIns="0" tIns="0" rIns="0" bIns="0" rtlCol="0" anchor="t"/>
          <a:lstStyle/>
          <a:p>
            <a:pPr indent="0" marL="0">
              <a:buNone/>
            </a:pPr>
            <a:r>
              <a:rPr lang="en-US" sz="1800" b="1" dirty="0">
                <a:solidFill>
                  <a:schemeClr val="tx1"/>
                </a:solidFill>
              </a:rPr>
              <a:t>Larger integers  </a:t>
            </a:r>
            <a:pPr indent="0" marL="0">
              <a:buNone/>
            </a:pPr>
            <a:r>
              <a:rPr lang="en-US" sz="1800" b="1" dirty="0">
                <a:solidFill>
                  <a:schemeClr val="accent1"/>
                </a:solidFill>
              </a:rPr>
              <a:t>→ Bound-preserving</a:t>
            </a:r>
            <a:endParaRPr lang="en-US" sz="1800" dirty="0"/>
          </a:p>
        </p:txBody>
      </p:sp>
      <p:sp>
        <p:nvSpPr>
          <p:cNvPr id="20" name="Text 16"/>
          <p:cNvSpPr txBox="1"/>
          <p:nvPr/>
        </p:nvSpPr>
        <p:spPr>
          <a:xfrm>
            <a:off x="6309360" y="2990088"/>
            <a:ext cx="5349240" cy="685800"/>
          </a:xfrm>
          <a:prstGeom prst="rect">
            <a:avLst/>
          </a:prstGeom>
          <a:noFill/>
          <a:ln/>
        </p:spPr>
        <p:txBody>
          <a:bodyPr wrap="square" lIns="0" tIns="0" rIns="0" bIns="0" rtlCol="0" anchor="t"/>
          <a:lstStyle/>
          <a:p>
            <a:pPr indent="0" marL="0">
              <a:buNone/>
            </a:pPr>
            <a:r>
              <a:rPr lang="en-US" sz="1400" dirty="0">
                <a:solidFill>
                  <a:schemeClr val="tx2"/>
                </a:solidFill>
              </a:rPr>
              <a:t>Exactness can fail, but the componentwise error bound is the same for every bracketing.</a:t>
            </a:r>
            <a:endParaRPr lang="en-US" sz="1400" dirty="0"/>
          </a:p>
        </p:txBody>
      </p:sp>
      <p:sp>
        <p:nvSpPr>
          <p:cNvPr id="21" name="Shape 17"/>
          <p:cNvSpPr/>
          <p:nvPr/>
        </p:nvSpPr>
        <p:spPr>
          <a:xfrm>
            <a:off x="5486400" y="3849624"/>
            <a:ext cx="640080" cy="640080"/>
          </a:xfrm>
          <a:prstGeom prst="ellipse">
            <a:avLst/>
          </a:prstGeom>
          <a:solidFill>
            <a:schemeClr val="accent5"/>
          </a:solidFill>
          <a:ln w="12700">
            <a:solidFill>
              <a:schemeClr val="accent5"/>
            </a:solidFill>
            <a:prstDash val="solid"/>
          </a:ln>
        </p:spPr>
      </p:sp>
      <p:pic>
        <p:nvPicPr>
          <p:cNvPr id="22" name="Image 2" descr="preencoded.png">    </p:cNvPr>
          <p:cNvPicPr>
            <a:picLocks noChangeAspect="1"/>
          </p:cNvPicPr>
          <p:nvPr/>
        </p:nvPicPr>
        <p:blipFill>
          <a:blip r:embed="rId3"/>
          <a:stretch>
            <a:fillRect/>
          </a:stretch>
        </p:blipFill>
        <p:spPr>
          <a:xfrm>
            <a:off x="5640019" y="4003243"/>
            <a:ext cx="332842" cy="332842"/>
          </a:xfrm>
          <a:prstGeom prst="rect">
            <a:avLst/>
          </a:prstGeom>
        </p:spPr>
      </p:pic>
      <p:sp>
        <p:nvSpPr>
          <p:cNvPr id="23" name="Text 18"/>
          <p:cNvSpPr txBox="1"/>
          <p:nvPr/>
        </p:nvSpPr>
        <p:spPr>
          <a:xfrm>
            <a:off x="6309360" y="3785616"/>
            <a:ext cx="5349240" cy="384048"/>
          </a:xfrm>
          <a:prstGeom prst="rect">
            <a:avLst/>
          </a:prstGeom>
          <a:noFill/>
          <a:ln/>
        </p:spPr>
        <p:txBody>
          <a:bodyPr wrap="square" lIns="0" tIns="0" rIns="0" bIns="0" rtlCol="0" anchor="t"/>
          <a:lstStyle/>
          <a:p>
            <a:pPr indent="0" marL="0">
              <a:buNone/>
            </a:pPr>
            <a:r>
              <a:rPr lang="en-US" sz="1800" b="1" dirty="0">
                <a:solidFill>
                  <a:schemeClr val="tx1"/>
                </a:solidFill>
              </a:rPr>
              <a:t>Reals in [−1, 1] alone  </a:t>
            </a:r>
            <a:pPr indent="0" marL="0">
              <a:buNone/>
            </a:pPr>
            <a:r>
              <a:rPr lang="en-US" sz="1800" b="1" dirty="0">
                <a:solidFill>
                  <a:schemeClr val="accent5"/>
                </a:solidFill>
              </a:rPr>
              <a:t>→ Not enough</a:t>
            </a:r>
            <a:endParaRPr lang="en-US" sz="1800" dirty="0"/>
          </a:p>
        </p:txBody>
      </p:sp>
      <p:sp>
        <p:nvSpPr>
          <p:cNvPr id="24" name="Text 19"/>
          <p:cNvSpPr txBox="1"/>
          <p:nvPr/>
        </p:nvSpPr>
        <p:spPr>
          <a:xfrm>
            <a:off x="6309360" y="4197096"/>
            <a:ext cx="5349240" cy="685800"/>
          </a:xfrm>
          <a:prstGeom prst="rect">
            <a:avLst/>
          </a:prstGeom>
          <a:noFill/>
          <a:ln/>
        </p:spPr>
        <p:txBody>
          <a:bodyPr wrap="square" lIns="0" tIns="0" rIns="0" bIns="0" rtlCol="0" anchor="t"/>
          <a:lstStyle/>
          <a:p>
            <a:pPr indent="0" marL="0">
              <a:buNone/>
            </a:pPr>
            <a:r>
              <a:rPr lang="en-US" sz="1400" dirty="0">
                <a:solidFill>
                  <a:schemeClr val="tx2"/>
                </a:solidFill>
              </a:rPr>
              <a:t>A magnitude bound admits inexact underflow; a representable grid is also needed.</a:t>
            </a:r>
            <a:endParaRPr lang="en-US" sz="1400" dirty="0"/>
          </a:p>
        </p:txBody>
      </p:sp>
      <p:sp>
        <p:nvSpPr>
          <p:cNvPr id="25" name="Shape 20"/>
          <p:cNvSpPr/>
          <p:nvPr/>
        </p:nvSpPr>
        <p:spPr>
          <a:xfrm>
            <a:off x="5486400" y="5056632"/>
            <a:ext cx="640080" cy="640080"/>
          </a:xfrm>
          <a:prstGeom prst="ellipse">
            <a:avLst/>
          </a:prstGeom>
          <a:solidFill>
            <a:schemeClr val="accent3"/>
          </a:solidFill>
          <a:ln w="12700">
            <a:solidFill>
              <a:schemeClr val="accent3"/>
            </a:solidFill>
            <a:prstDash val="solid"/>
          </a:ln>
        </p:spPr>
      </p:sp>
      <p:pic>
        <p:nvPicPr>
          <p:cNvPr id="26" name="Image 3" descr="preencoded.png">    </p:cNvPr>
          <p:cNvPicPr>
            <a:picLocks noChangeAspect="1"/>
          </p:cNvPicPr>
          <p:nvPr/>
        </p:nvPicPr>
        <p:blipFill>
          <a:blip r:embed="rId4"/>
          <a:stretch>
            <a:fillRect/>
          </a:stretch>
        </p:blipFill>
        <p:spPr>
          <a:xfrm>
            <a:off x="5640019" y="5210251"/>
            <a:ext cx="332842" cy="332842"/>
          </a:xfrm>
          <a:prstGeom prst="rect">
            <a:avLst/>
          </a:prstGeom>
        </p:spPr>
      </p:pic>
      <p:sp>
        <p:nvSpPr>
          <p:cNvPr id="27" name="Text 21"/>
          <p:cNvSpPr txBox="1"/>
          <p:nvPr/>
        </p:nvSpPr>
        <p:spPr>
          <a:xfrm>
            <a:off x="6309360" y="4992624"/>
            <a:ext cx="5349240" cy="384048"/>
          </a:xfrm>
          <a:prstGeom prst="rect">
            <a:avLst/>
          </a:prstGeom>
          <a:noFill/>
          <a:ln/>
        </p:spPr>
        <p:txBody>
          <a:bodyPr wrap="square" lIns="0" tIns="0" rIns="0" bIns="0" rtlCol="0" anchor="t"/>
          <a:lstStyle/>
          <a:p>
            <a:pPr indent="0" marL="0">
              <a:buNone/>
            </a:pPr>
            <a:r>
              <a:rPr lang="en-US" sz="1800" b="1" dirty="0">
                <a:solidFill>
                  <a:schemeClr val="tx1"/>
                </a:solidFill>
              </a:rPr>
              <a:t>Unbounded values  </a:t>
            </a:r>
            <a:pPr indent="0" marL="0">
              <a:buNone/>
            </a:pPr>
            <a:r>
              <a:rPr lang="en-US" sz="1800" b="1" dirty="0">
                <a:solidFill>
                  <a:schemeClr val="accent3"/>
                </a:solidFill>
              </a:rPr>
              <a:t>→ Relaxed</a:t>
            </a:r>
            <a:endParaRPr lang="en-US" sz="1800" dirty="0"/>
          </a:p>
        </p:txBody>
      </p:sp>
      <p:sp>
        <p:nvSpPr>
          <p:cNvPr id="28" name="Text 22"/>
          <p:cNvSpPr txBox="1"/>
          <p:nvPr/>
        </p:nvSpPr>
        <p:spPr>
          <a:xfrm>
            <a:off x="6309360" y="5404104"/>
            <a:ext cx="5349240" cy="685800"/>
          </a:xfrm>
          <a:prstGeom prst="rect">
            <a:avLst/>
          </a:prstGeom>
          <a:noFill/>
          <a:ln/>
        </p:spPr>
        <p:txBody>
          <a:bodyPr wrap="square" lIns="0" tIns="0" rIns="0" bIns="0" rtlCol="0" anchor="t"/>
          <a:lstStyle/>
          <a:p>
            <a:pPr indent="0" marL="0">
              <a:buNone/>
            </a:pPr>
            <a:r>
              <a:rPr lang="en-US" sz="1400" dirty="0">
                <a:solidFill>
                  <a:schemeClr val="tx2"/>
                </a:solidFill>
              </a:rPr>
              <a:t>One bracketing may overflow where the other does not: valid only over the reals.</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Three guarantee levels, three contracts</a:t>
            </a:r>
            <a:endParaRPr lang="en-US" sz="3000" dirty="0"/>
          </a:p>
        </p:txBody>
      </p:sp>
      <p:sp>
        <p:nvSpPr>
          <p:cNvPr id="3" name="Bit-identical card"/>
          <p:cNvSpPr/>
          <p:nvPr/>
        </p:nvSpPr>
        <p:spPr>
          <a:xfrm>
            <a:off x="548640" y="1325880"/>
            <a:ext cx="3520440" cy="379476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822960" y="1600200"/>
            <a:ext cx="777240" cy="777240"/>
          </a:xfrm>
          <a:prstGeom prst="ellipse">
            <a:avLst/>
          </a:prstGeom>
          <a:solidFill>
            <a:schemeClr val="accent2"/>
          </a:solidFill>
          <a:ln w="12700">
            <a:solidFill>
              <a:schemeClr val="accent2"/>
            </a:solidFill>
            <a:prstDash val="solid"/>
          </a:ln>
        </p:spPr>
      </p:sp>
      <p:pic>
        <p:nvPicPr>
          <p:cNvPr id="5" name="Image 0" descr="preencoded.png">    </p:cNvPr>
          <p:cNvPicPr>
            <a:picLocks noChangeAspect="1"/>
          </p:cNvPicPr>
          <p:nvPr/>
        </p:nvPicPr>
        <p:blipFill>
          <a:blip r:embed="rId1"/>
          <a:stretch>
            <a:fillRect/>
          </a:stretch>
        </p:blipFill>
        <p:spPr>
          <a:xfrm>
            <a:off x="1009498" y="1786738"/>
            <a:ext cx="404165" cy="404165"/>
          </a:xfrm>
          <a:prstGeom prst="rect">
            <a:avLst/>
          </a:prstGeom>
        </p:spPr>
      </p:pic>
      <p:sp>
        <p:nvSpPr>
          <p:cNvPr id="6" name="Text 3"/>
          <p:cNvSpPr txBox="1"/>
          <p:nvPr/>
        </p:nvSpPr>
        <p:spPr>
          <a:xfrm>
            <a:off x="822960" y="2560320"/>
            <a:ext cx="3017520" cy="457200"/>
          </a:xfrm>
          <a:prstGeom prst="rect">
            <a:avLst/>
          </a:prstGeom>
          <a:noFill/>
          <a:ln/>
        </p:spPr>
        <p:txBody>
          <a:bodyPr wrap="square" lIns="0" tIns="0" rIns="0" bIns="0" rtlCol="0" anchor="t"/>
          <a:lstStyle/>
          <a:p>
            <a:pPr indent="0" marL="0">
              <a:buNone/>
            </a:pPr>
            <a:r>
              <a:rPr lang="en-US" sz="2200" b="1" dirty="0">
                <a:solidFill>
                  <a:schemeClr val="tx1"/>
                </a:solidFill>
              </a:rPr>
              <a:t>Bit-identical</a:t>
            </a:r>
            <a:endParaRPr lang="en-US" sz="2200" dirty="0"/>
          </a:p>
        </p:txBody>
      </p:sp>
      <p:sp>
        <p:nvSpPr>
          <p:cNvPr id="7" name="Text 4"/>
          <p:cNvSpPr txBox="1"/>
          <p:nvPr/>
        </p:nvSpPr>
        <p:spPr>
          <a:xfrm>
            <a:off x="822960" y="3063240"/>
            <a:ext cx="3017520" cy="1005840"/>
          </a:xfrm>
          <a:prstGeom prst="rect">
            <a:avLst/>
          </a:prstGeom>
          <a:noFill/>
          <a:ln/>
        </p:spPr>
        <p:txBody>
          <a:bodyPr wrap="square" lIns="0" tIns="0" rIns="0" bIns="0" rtlCol="0" anchor="t"/>
          <a:lstStyle/>
          <a:p>
            <a:pPr indent="0" marL="0">
              <a:buNone/>
            </a:pPr>
            <a:r>
              <a:rPr lang="en-US" sz="1600" dirty="0">
                <a:solidFill>
                  <a:schemeClr val="tx2"/>
                </a:solidFill>
              </a:rPr>
              <a:t>Same bits as the program as written, for every admitted input.</a:t>
            </a:r>
            <a:endParaRPr lang="en-US" sz="1600" dirty="0"/>
          </a:p>
        </p:txBody>
      </p:sp>
      <p:sp>
        <p:nvSpPr>
          <p:cNvPr id="8" name="Text 5"/>
          <p:cNvSpPr txBox="1"/>
          <p:nvPr/>
        </p:nvSpPr>
        <p:spPr>
          <a:xfrm>
            <a:off x="822960" y="416052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Admitted under</a:t>
            </a:r>
            <a:endParaRPr lang="en-US" sz="1200" dirty="0"/>
          </a:p>
        </p:txBody>
      </p:sp>
      <p:sp>
        <p:nvSpPr>
          <p:cNvPr id="9" name="Shape 6"/>
          <p:cNvSpPr/>
          <p:nvPr/>
        </p:nvSpPr>
        <p:spPr>
          <a:xfrm>
            <a:off x="822960" y="4526280"/>
            <a:ext cx="914400" cy="329184"/>
          </a:xfrm>
          <a:prstGeom prst="roundRect">
            <a:avLst>
              <a:gd name="adj" fmla="val 50000"/>
            </a:avLst>
          </a:prstGeom>
          <a:solidFill>
            <a:schemeClr val="accent2"/>
          </a:solidFill>
          <a:ln w="12700">
            <a:solidFill>
              <a:schemeClr val="accent2"/>
            </a:solidFill>
            <a:prstDash val="solid"/>
          </a:ln>
        </p:spPr>
      </p:sp>
      <p:sp>
        <p:nvSpPr>
          <p:cNvPr id="10" name="Text 7"/>
          <p:cNvSpPr txBox="1"/>
          <p:nvPr/>
        </p:nvSpPr>
        <p:spPr>
          <a:xfrm>
            <a:off x="822960" y="452628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Strict</a:t>
            </a:r>
            <a:endParaRPr lang="en-US" sz="1200" dirty="0"/>
          </a:p>
        </p:txBody>
      </p:sp>
      <p:sp>
        <p:nvSpPr>
          <p:cNvPr id="11" name="Shape 8"/>
          <p:cNvSpPr/>
          <p:nvPr/>
        </p:nvSpPr>
        <p:spPr>
          <a:xfrm>
            <a:off x="1828800" y="4526280"/>
            <a:ext cx="914400" cy="329184"/>
          </a:xfrm>
          <a:prstGeom prst="roundRect">
            <a:avLst>
              <a:gd name="adj" fmla="val 50000"/>
            </a:avLst>
          </a:prstGeom>
          <a:solidFill>
            <a:schemeClr val="accent2"/>
          </a:solidFill>
          <a:ln w="12700">
            <a:solidFill>
              <a:schemeClr val="accent2"/>
            </a:solidFill>
            <a:prstDash val="solid"/>
          </a:ln>
        </p:spPr>
      </p:sp>
      <p:sp>
        <p:nvSpPr>
          <p:cNvPr id="12" name="Text 9"/>
          <p:cNvSpPr txBox="1"/>
          <p:nvPr/>
        </p:nvSpPr>
        <p:spPr>
          <a:xfrm>
            <a:off x="1828800" y="452628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Bounded</a:t>
            </a:r>
            <a:endParaRPr lang="en-US" sz="1200" dirty="0"/>
          </a:p>
        </p:txBody>
      </p:sp>
      <p:sp>
        <p:nvSpPr>
          <p:cNvPr id="13" name="Shape 10"/>
          <p:cNvSpPr/>
          <p:nvPr/>
        </p:nvSpPr>
        <p:spPr>
          <a:xfrm>
            <a:off x="2834640" y="4526280"/>
            <a:ext cx="914400" cy="329184"/>
          </a:xfrm>
          <a:prstGeom prst="roundRect">
            <a:avLst>
              <a:gd name="adj" fmla="val 50000"/>
            </a:avLst>
          </a:prstGeom>
          <a:solidFill>
            <a:schemeClr val="accent2"/>
          </a:solidFill>
          <a:ln w="12700">
            <a:solidFill>
              <a:schemeClr val="accent2"/>
            </a:solidFill>
            <a:prstDash val="solid"/>
          </a:ln>
        </p:spPr>
      </p:sp>
      <p:sp>
        <p:nvSpPr>
          <p:cNvPr id="14" name="Text 11"/>
          <p:cNvSpPr txBox="1"/>
          <p:nvPr/>
        </p:nvSpPr>
        <p:spPr>
          <a:xfrm>
            <a:off x="2834640" y="452628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Algebraic</a:t>
            </a:r>
            <a:endParaRPr lang="en-US" sz="1200" dirty="0"/>
          </a:p>
        </p:txBody>
      </p:sp>
      <p:sp>
        <p:nvSpPr>
          <p:cNvPr id="15" name="Bound-preserving card"/>
          <p:cNvSpPr/>
          <p:nvPr/>
        </p:nvSpPr>
        <p:spPr>
          <a:xfrm>
            <a:off x="4325112" y="1325880"/>
            <a:ext cx="3520440" cy="379476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6" name="Shape 13"/>
          <p:cNvSpPr/>
          <p:nvPr/>
        </p:nvSpPr>
        <p:spPr>
          <a:xfrm>
            <a:off x="4599432" y="1600200"/>
            <a:ext cx="777240" cy="777240"/>
          </a:xfrm>
          <a:prstGeom prst="ellipse">
            <a:avLst/>
          </a:prstGeom>
          <a:solidFill>
            <a:schemeClr val="accent1"/>
          </a:solidFill>
          <a:ln w="12700">
            <a:solidFill>
              <a:schemeClr val="accent1"/>
            </a:solidFill>
            <a:prstDash val="solid"/>
          </a:ln>
        </p:spPr>
      </p:sp>
      <p:pic>
        <p:nvPicPr>
          <p:cNvPr id="17" name="Image 1" descr="preencoded.png">    </p:cNvPr>
          <p:cNvPicPr>
            <a:picLocks noChangeAspect="1"/>
          </p:cNvPicPr>
          <p:nvPr/>
        </p:nvPicPr>
        <p:blipFill>
          <a:blip r:embed="rId2"/>
          <a:stretch>
            <a:fillRect/>
          </a:stretch>
        </p:blipFill>
        <p:spPr>
          <a:xfrm>
            <a:off x="4785970" y="1786738"/>
            <a:ext cx="404165" cy="404165"/>
          </a:xfrm>
          <a:prstGeom prst="rect">
            <a:avLst/>
          </a:prstGeom>
        </p:spPr>
      </p:pic>
      <p:sp>
        <p:nvSpPr>
          <p:cNvPr id="18" name="Text 14"/>
          <p:cNvSpPr txBox="1"/>
          <p:nvPr/>
        </p:nvSpPr>
        <p:spPr>
          <a:xfrm>
            <a:off x="4599432" y="2560320"/>
            <a:ext cx="3017520" cy="457200"/>
          </a:xfrm>
          <a:prstGeom prst="rect">
            <a:avLst/>
          </a:prstGeom>
          <a:noFill/>
          <a:ln/>
        </p:spPr>
        <p:txBody>
          <a:bodyPr wrap="square" lIns="0" tIns="0" rIns="0" bIns="0" rtlCol="0" anchor="t"/>
          <a:lstStyle/>
          <a:p>
            <a:pPr indent="0" marL="0">
              <a:buNone/>
            </a:pPr>
            <a:r>
              <a:rPr lang="en-US" sz="2200" b="1" dirty="0">
                <a:solidFill>
                  <a:schemeClr val="tx1"/>
                </a:solidFill>
              </a:rPr>
              <a:t>Bound-preserving</a:t>
            </a:r>
            <a:endParaRPr lang="en-US" sz="2200" dirty="0"/>
          </a:p>
        </p:txBody>
      </p:sp>
      <p:sp>
        <p:nvSpPr>
          <p:cNvPr id="19" name="Text 15"/>
          <p:cNvSpPr txBox="1"/>
          <p:nvPr/>
        </p:nvSpPr>
        <p:spPr>
          <a:xfrm>
            <a:off x="4599432" y="3063240"/>
            <a:ext cx="3017520" cy="1005840"/>
          </a:xfrm>
          <a:prstGeom prst="rect">
            <a:avLst/>
          </a:prstGeom>
          <a:noFill/>
          <a:ln/>
        </p:spPr>
        <p:txBody>
          <a:bodyPr wrap="square" lIns="0" tIns="0" rIns="0" bIns="0" rtlCol="0" anchor="t"/>
          <a:lstStyle/>
          <a:p>
            <a:pPr indent="0" marL="0">
              <a:buNone/>
            </a:pPr>
            <a:r>
              <a:rPr lang="en-US" sz="1600" dirty="0">
                <a:solidFill>
                  <a:schemeClr val="tx2"/>
                </a:solidFill>
              </a:rPr>
              <a:t>Bits may change; the stated worst-case error bound still holds.</a:t>
            </a:r>
            <a:endParaRPr lang="en-US" sz="1600" dirty="0"/>
          </a:p>
        </p:txBody>
      </p:sp>
      <p:sp>
        <p:nvSpPr>
          <p:cNvPr id="20" name="Text 16"/>
          <p:cNvSpPr txBox="1"/>
          <p:nvPr/>
        </p:nvSpPr>
        <p:spPr>
          <a:xfrm>
            <a:off x="4599432" y="416052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Admitted under</a:t>
            </a:r>
            <a:endParaRPr lang="en-US" sz="1200" dirty="0"/>
          </a:p>
        </p:txBody>
      </p:sp>
      <p:sp>
        <p:nvSpPr>
          <p:cNvPr id="21" name="Shape 17"/>
          <p:cNvSpPr/>
          <p:nvPr/>
        </p:nvSpPr>
        <p:spPr>
          <a:xfrm>
            <a:off x="4599432" y="4526280"/>
            <a:ext cx="914400" cy="329184"/>
          </a:xfrm>
          <a:prstGeom prst="roundRect">
            <a:avLst>
              <a:gd name="adj" fmla="val 50000"/>
            </a:avLst>
          </a:prstGeom>
          <a:solidFill>
            <a:schemeClr val="accent1"/>
          </a:solidFill>
          <a:ln w="12700">
            <a:solidFill>
              <a:schemeClr val="accent1"/>
            </a:solidFill>
            <a:prstDash val="solid"/>
          </a:ln>
        </p:spPr>
      </p:sp>
      <p:sp>
        <p:nvSpPr>
          <p:cNvPr id="22" name="Text 18"/>
          <p:cNvSpPr txBox="1"/>
          <p:nvPr/>
        </p:nvSpPr>
        <p:spPr>
          <a:xfrm>
            <a:off x="4599432" y="452628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Bounded</a:t>
            </a:r>
            <a:endParaRPr lang="en-US" sz="1200" dirty="0"/>
          </a:p>
        </p:txBody>
      </p:sp>
      <p:sp>
        <p:nvSpPr>
          <p:cNvPr id="23" name="Shape 19"/>
          <p:cNvSpPr/>
          <p:nvPr/>
        </p:nvSpPr>
        <p:spPr>
          <a:xfrm>
            <a:off x="5605272" y="4526280"/>
            <a:ext cx="914400" cy="329184"/>
          </a:xfrm>
          <a:prstGeom prst="roundRect">
            <a:avLst>
              <a:gd name="adj" fmla="val 50000"/>
            </a:avLst>
          </a:prstGeom>
          <a:solidFill>
            <a:schemeClr val="accent1"/>
          </a:solidFill>
          <a:ln w="12700">
            <a:solidFill>
              <a:schemeClr val="accent1"/>
            </a:solidFill>
            <a:prstDash val="solid"/>
          </a:ln>
        </p:spPr>
      </p:sp>
      <p:sp>
        <p:nvSpPr>
          <p:cNvPr id="24" name="Text 20"/>
          <p:cNvSpPr txBox="1"/>
          <p:nvPr/>
        </p:nvSpPr>
        <p:spPr>
          <a:xfrm>
            <a:off x="5605272" y="452628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Algebraic</a:t>
            </a:r>
            <a:endParaRPr lang="en-US" sz="1200" dirty="0"/>
          </a:p>
        </p:txBody>
      </p:sp>
      <p:sp>
        <p:nvSpPr>
          <p:cNvPr id="25" name="Relaxed card"/>
          <p:cNvSpPr/>
          <p:nvPr/>
        </p:nvSpPr>
        <p:spPr>
          <a:xfrm>
            <a:off x="8101584" y="1325880"/>
            <a:ext cx="3520440" cy="379476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26" name="Shape 22"/>
          <p:cNvSpPr/>
          <p:nvPr/>
        </p:nvSpPr>
        <p:spPr>
          <a:xfrm>
            <a:off x="8375904" y="1600200"/>
            <a:ext cx="777240" cy="777240"/>
          </a:xfrm>
          <a:prstGeom prst="ellipse">
            <a:avLst/>
          </a:prstGeom>
          <a:solidFill>
            <a:schemeClr val="accent3"/>
          </a:solidFill>
          <a:ln w="12700">
            <a:solidFill>
              <a:schemeClr val="accent3"/>
            </a:solidFill>
            <a:prstDash val="solid"/>
          </a:ln>
        </p:spPr>
      </p:sp>
      <p:pic>
        <p:nvPicPr>
          <p:cNvPr id="27" name="Image 2" descr="preencoded.png">    </p:cNvPr>
          <p:cNvPicPr>
            <a:picLocks noChangeAspect="1"/>
          </p:cNvPicPr>
          <p:nvPr/>
        </p:nvPicPr>
        <p:blipFill>
          <a:blip r:embed="rId3"/>
          <a:stretch>
            <a:fillRect/>
          </a:stretch>
        </p:blipFill>
        <p:spPr>
          <a:xfrm>
            <a:off x="8562442" y="1786738"/>
            <a:ext cx="404165" cy="404165"/>
          </a:xfrm>
          <a:prstGeom prst="rect">
            <a:avLst/>
          </a:prstGeom>
        </p:spPr>
      </p:pic>
      <p:sp>
        <p:nvSpPr>
          <p:cNvPr id="28" name="Text 23"/>
          <p:cNvSpPr txBox="1"/>
          <p:nvPr/>
        </p:nvSpPr>
        <p:spPr>
          <a:xfrm>
            <a:off x="8375904" y="2560320"/>
            <a:ext cx="3017520" cy="457200"/>
          </a:xfrm>
          <a:prstGeom prst="rect">
            <a:avLst/>
          </a:prstGeom>
          <a:noFill/>
          <a:ln/>
        </p:spPr>
        <p:txBody>
          <a:bodyPr wrap="square" lIns="0" tIns="0" rIns="0" bIns="0" rtlCol="0" anchor="t"/>
          <a:lstStyle/>
          <a:p>
            <a:pPr indent="0" marL="0">
              <a:buNone/>
            </a:pPr>
            <a:r>
              <a:rPr lang="en-US" sz="2200" b="1" dirty="0">
                <a:solidFill>
                  <a:schemeClr val="tx1"/>
                </a:solidFill>
              </a:rPr>
              <a:t>Relaxed</a:t>
            </a:r>
            <a:endParaRPr lang="en-US" sz="2200" dirty="0"/>
          </a:p>
        </p:txBody>
      </p:sp>
      <p:sp>
        <p:nvSpPr>
          <p:cNvPr id="29" name="Text 24"/>
          <p:cNvSpPr txBox="1"/>
          <p:nvPr/>
        </p:nvSpPr>
        <p:spPr>
          <a:xfrm>
            <a:off x="8375904" y="3063240"/>
            <a:ext cx="3017520" cy="1005840"/>
          </a:xfrm>
          <a:prstGeom prst="rect">
            <a:avLst/>
          </a:prstGeom>
          <a:noFill/>
          <a:ln/>
        </p:spPr>
        <p:txBody>
          <a:bodyPr wrap="square" lIns="0" tIns="0" rIns="0" bIns="0" rtlCol="0" anchor="t"/>
          <a:lstStyle/>
          <a:p>
            <a:pPr indent="0" marL="0">
              <a:buNone/>
            </a:pPr>
            <a:r>
              <a:rPr lang="en-US" sz="1600" dirty="0">
                <a:solidFill>
                  <a:schemeClr val="tx2"/>
                </a:solidFill>
              </a:rPr>
              <a:t>Holds over the real numbers only, as fast-math assumes.</a:t>
            </a:r>
            <a:endParaRPr lang="en-US" sz="1600" dirty="0"/>
          </a:p>
        </p:txBody>
      </p:sp>
      <p:sp>
        <p:nvSpPr>
          <p:cNvPr id="30" name="Text 25"/>
          <p:cNvSpPr txBox="1"/>
          <p:nvPr/>
        </p:nvSpPr>
        <p:spPr>
          <a:xfrm>
            <a:off x="8375904" y="4160520"/>
            <a:ext cx="3017520" cy="274320"/>
          </a:xfrm>
          <a:prstGeom prst="rect">
            <a:avLst/>
          </a:prstGeom>
          <a:noFill/>
          <a:ln/>
        </p:spPr>
        <p:txBody>
          <a:bodyPr wrap="square" lIns="0" tIns="0" rIns="0" bIns="0" rtlCol="0" anchor="t"/>
          <a:lstStyle/>
          <a:p>
            <a:pPr indent="0" marL="0">
              <a:buNone/>
            </a:pPr>
            <a:r>
              <a:rPr lang="en-US" sz="1200" b="1" dirty="0">
                <a:solidFill>
                  <a:schemeClr val="accent5"/>
                </a:solidFill>
              </a:rPr>
              <a:t>Admitted under</a:t>
            </a:r>
            <a:endParaRPr lang="en-US" sz="1200" dirty="0"/>
          </a:p>
        </p:txBody>
      </p:sp>
      <p:sp>
        <p:nvSpPr>
          <p:cNvPr id="31" name="Shape 26"/>
          <p:cNvSpPr/>
          <p:nvPr/>
        </p:nvSpPr>
        <p:spPr>
          <a:xfrm>
            <a:off x="8375904" y="4526280"/>
            <a:ext cx="914400" cy="329184"/>
          </a:xfrm>
          <a:prstGeom prst="roundRect">
            <a:avLst>
              <a:gd name="adj" fmla="val 50000"/>
            </a:avLst>
          </a:prstGeom>
          <a:solidFill>
            <a:schemeClr val="accent3"/>
          </a:solidFill>
          <a:ln w="12700">
            <a:solidFill>
              <a:schemeClr val="accent3"/>
            </a:solidFill>
            <a:prstDash val="solid"/>
          </a:ln>
        </p:spPr>
      </p:sp>
      <p:sp>
        <p:nvSpPr>
          <p:cNvPr id="32" name="Text 27"/>
          <p:cNvSpPr txBox="1"/>
          <p:nvPr/>
        </p:nvSpPr>
        <p:spPr>
          <a:xfrm>
            <a:off x="8375904" y="4526280"/>
            <a:ext cx="914400" cy="329184"/>
          </a:xfrm>
          <a:prstGeom prst="rect">
            <a:avLst/>
          </a:prstGeom>
          <a:noFill/>
          <a:ln/>
        </p:spPr>
        <p:txBody>
          <a:bodyPr wrap="square" lIns="0" tIns="0" rIns="0" bIns="0" rtlCol="0" anchor="ctr"/>
          <a:lstStyle/>
          <a:p>
            <a:pPr algn="ctr" indent="0" marL="0">
              <a:buNone/>
            </a:pPr>
            <a:r>
              <a:rPr lang="en-US" sz="1200" b="1" dirty="0">
                <a:solidFill>
                  <a:schemeClr val="bg1"/>
                </a:solidFill>
              </a:rPr>
              <a:t>Algebraic</a:t>
            </a:r>
            <a:endParaRPr lang="en-US" sz="1200" dirty="0"/>
          </a:p>
        </p:txBody>
      </p:sp>
      <p:sp>
        <p:nvSpPr>
          <p:cNvPr id="33" name="certificate rule"/>
          <p:cNvSpPr/>
          <p:nvPr/>
        </p:nvSpPr>
        <p:spPr>
          <a:xfrm>
            <a:off x="548640" y="5349240"/>
            <a:ext cx="11064240" cy="777240"/>
          </a:xfrm>
          <a:prstGeom prst="roundRect">
            <a:avLst>
              <a:gd name="adj" fmla="val 14118"/>
            </a:avLst>
          </a:prstGeom>
          <a:solidFill>
            <a:schemeClr val="tx1"/>
          </a:solidFill>
          <a:ln w="12700">
            <a:solidFill>
              <a:schemeClr val="tx1"/>
            </a:solidFill>
            <a:prstDash val="solid"/>
          </a:ln>
          <a:effectLst>
            <a:outerShdw sx="100000" sy="100000" kx="0" ky="0" algn="bl" rotWithShape="0" blurRad="76200" dist="25400" dir="5400000">
              <a:srgbClr val="000000">
                <a:alpha val="10000"/>
              </a:srgbClr>
            </a:outerShdw>
          </a:effectLst>
        </p:spPr>
      </p:sp>
      <p:sp>
        <p:nvSpPr>
          <p:cNvPr id="34" name="Shape 29"/>
          <p:cNvSpPr/>
          <p:nvPr/>
        </p:nvSpPr>
        <p:spPr>
          <a:xfrm>
            <a:off x="777240" y="5458968"/>
            <a:ext cx="548640" cy="548640"/>
          </a:xfrm>
          <a:prstGeom prst="ellipse">
            <a:avLst/>
          </a:prstGeom>
          <a:solidFill>
            <a:schemeClr val="accent1"/>
          </a:solidFill>
          <a:ln w="12700">
            <a:solidFill>
              <a:schemeClr val="accent1"/>
            </a:solidFill>
            <a:prstDash val="solid"/>
          </a:ln>
        </p:spPr>
      </p:sp>
      <p:pic>
        <p:nvPicPr>
          <p:cNvPr id="35" name="Image 3" descr="preencoded.png">    </p:cNvPr>
          <p:cNvPicPr>
            <a:picLocks noChangeAspect="1"/>
          </p:cNvPicPr>
          <p:nvPr/>
        </p:nvPicPr>
        <p:blipFill>
          <a:blip r:embed="rId4"/>
          <a:stretch>
            <a:fillRect/>
          </a:stretch>
        </p:blipFill>
        <p:spPr>
          <a:xfrm>
            <a:off x="908914" y="5590642"/>
            <a:ext cx="285293" cy="285293"/>
          </a:xfrm>
          <a:prstGeom prst="rect">
            <a:avLst/>
          </a:prstGeom>
        </p:spPr>
      </p:pic>
      <p:sp>
        <p:nvSpPr>
          <p:cNvPr id="36" name="Text 30"/>
          <p:cNvSpPr txBox="1"/>
          <p:nvPr/>
        </p:nvSpPr>
        <p:spPr>
          <a:xfrm>
            <a:off x="1508760" y="5349240"/>
            <a:ext cx="9875520" cy="777240"/>
          </a:xfrm>
          <a:prstGeom prst="rect">
            <a:avLst/>
          </a:prstGeom>
          <a:noFill/>
          <a:ln/>
        </p:spPr>
        <p:txBody>
          <a:bodyPr wrap="square" lIns="0" tIns="0" rIns="0" bIns="0" rtlCol="0" anchor="ctr"/>
          <a:lstStyle/>
          <a:p>
            <a:pPr indent="0" marL="0">
              <a:buNone/>
            </a:pPr>
            <a:r>
              <a:rPr lang="en-US" sz="1700" b="1" dirty="0">
                <a:solidFill>
                  <a:schemeClr val="bg1"/>
                </a:solidFill>
              </a:rPr>
              <a:t>Every output is certified with the weakest level among the rewrites that reach it. Strict is the default.</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Same program, four input domains</a:t>
            </a:r>
            <a:endParaRPr lang="en-US" sz="3000" dirty="0"/>
          </a:p>
        </p:txBody>
      </p:sp>
      <p:sp>
        <p:nvSpPr>
          <p:cNvPr id="3" name="Text 1"/>
          <p:cNvSpPr txBox="1"/>
          <p:nvPr/>
        </p:nvSpPr>
        <p:spPr>
          <a:xfrm>
            <a:off x="548640" y="1234440"/>
            <a:ext cx="11064240" cy="594360"/>
          </a:xfrm>
          <a:prstGeom prst="rect">
            <a:avLst/>
          </a:prstGeom>
          <a:noFill/>
          <a:ln/>
        </p:spPr>
        <p:txBody>
          <a:bodyPr wrap="square" lIns="0" tIns="0" rIns="0" bIns="0" rtlCol="0" anchor="t"/>
          <a:lstStyle/>
          <a:p>
            <a:pPr indent="0" marL="0">
              <a:buNone/>
            </a:pPr>
            <a:r>
              <a:rPr lang="en-US" sz="1500" dirty="0">
                <a:solidFill>
                  <a:schemeClr val="tx2"/>
                </a:solidFill>
              </a:rPr>
              <a:t>R = ABC with shapes 40×2, 2×40, 40×2: modeled arithmetic after optimization (11,120 in source order) and the certificate of print(R), as the compiler reports them.</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834640"/>
                <a:gridCol w="2743200"/>
                <a:gridCol w="2743200"/>
                <a:gridCol w="2743200"/>
              </a:tblGrid>
              <a:tr h="566928">
                <a:tc>
                  <a:txBody>
                    <a:bodyPr/>
                    <a:lstStyle/>
                    <a:p>
                      <a:pPr algn="ctr" indent="0" marL="0">
                        <a:buNone/>
                      </a:pPr>
                      <a:r>
                        <a:rPr lang="en-US" sz="1600" b="1" dirty="0">
                          <a:solidFill>
                            <a:schemeClr val="bg1"/>
                          </a:solidFill>
                        </a:rPr>
                        <a:t>Input domain</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strict</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bounded</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tx1"/>
                    </a:solidFill>
                  </a:tcPr>
                </a:tc>
                <a:tc>
                  <a:txBody>
                    <a:bodyPr/>
                    <a:lstStyle/>
                    <a:p>
                      <a:pPr algn="ctr" indent="0" marL="0">
                        <a:buNone/>
                      </a:pPr>
                      <a:r>
                        <a:rPr lang="en-US" sz="1600" b="1" dirty="0">
                          <a:solidFill>
                            <a:schemeClr val="bg1"/>
                          </a:solidFill>
                        </a:rPr>
                        <a:t>algebraic</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tx1"/>
                    </a:solidFill>
                  </a:tcPr>
                </a:tc>
              </a:tr>
              <a:tr h="566928">
                <a:tc>
                  <a:txBody>
                    <a:bodyPr/>
                    <a:lstStyle/>
                    <a:p>
                      <a:pPr indent="0" marL="0">
                        <a:buNone/>
                      </a:pPr>
                      <a:r>
                        <a:rPr lang="en-US" sz="1600" b="1" dirty="0">
                          <a:solidFill>
                            <a:schemeClr val="tx1"/>
                          </a:solidFill>
                          <a:latin typeface="Courier New" pitchFamily="34" charset="0"/>
                          <a:ea typeface="Courier New" pitchFamily="34" charset="-122"/>
                          <a:cs typeface="Courier New" pitchFamily="34" charset="-120"/>
                        </a:rPr>
                        <a:t>input(int8)</a:t>
                      </a:r>
                      <a:endParaRPr lang="en-US" sz="1600" dirty="0">
                        <a:latin typeface="Courier New" charset="0"/>
                        <a:ea typeface="Courier New" charset="0"/>
                        <a:cs typeface="Courier New" charset="0"/>
                      </a:endParaRPr>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1"/>
                          </a:solidFill>
                          <a:latin typeface="Courier New" pitchFamily="34" charset="0"/>
                          <a:ea typeface="Courier New" pitchFamily="34" charset="-122"/>
                          <a:cs typeface="Courier New" pitchFamily="34" charset="-120"/>
                        </a:rPr>
                        <a:t>input(int32)</a:t>
                      </a:r>
                      <a:endParaRPr lang="en-US" sz="1600" dirty="0">
                        <a:latin typeface="Courier New" charset="0"/>
                        <a:ea typeface="Courier New" charset="0"/>
                        <a:cs typeface="Courier New" charset="0"/>
                      </a:endParaRPr>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11,120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1"/>
                          </a:solidFill>
                        </a:rPr>
                        <a:t>bound-pres.</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1"/>
                          </a:solidFill>
                        </a:rPr>
                        <a:t>bound-pres.</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1"/>
                          </a:solidFill>
                          <a:latin typeface="Courier New" pitchFamily="34" charset="0"/>
                          <a:ea typeface="Courier New" pitchFamily="34" charset="-122"/>
                          <a:cs typeface="Courier New" pitchFamily="34" charset="-120"/>
                        </a:rPr>
                        <a:t>input(real(1))</a:t>
                      </a:r>
                      <a:endParaRPr lang="en-US" sz="1600" dirty="0">
                        <a:latin typeface="Courier New" charset="0"/>
                        <a:ea typeface="Courier New" charset="0"/>
                        <a:cs typeface="Courier New" charset="0"/>
                      </a:endParaRPr>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11,120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11,120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3"/>
                          </a:solidFill>
                        </a:rPr>
                        <a:t>relaxed</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r h="566928">
                <a:tc>
                  <a:txBody>
                    <a:bodyPr/>
                    <a:lstStyle/>
                    <a:p>
                      <a:pPr indent="0" marL="0">
                        <a:buNone/>
                      </a:pPr>
                      <a:r>
                        <a:rPr lang="en-US" sz="1600" b="1" dirty="0">
                          <a:solidFill>
                            <a:schemeClr val="tx1"/>
                          </a:solidFill>
                          <a:latin typeface="Courier New" pitchFamily="34" charset="0"/>
                          <a:ea typeface="Courier New" pitchFamily="34" charset="-122"/>
                          <a:cs typeface="Courier New" pitchFamily="34" charset="-120"/>
                        </a:rPr>
                        <a:t>input(real)</a:t>
                      </a:r>
                      <a:endParaRPr lang="en-US" sz="1600" dirty="0">
                        <a:latin typeface="Courier New" charset="0"/>
                        <a:ea typeface="Courier New" charset="0"/>
                        <a:cs typeface="Courier New" charset="0"/>
                      </a:endParaRPr>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11,120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11,120  </a:t>
                      </a:r>
                      <a:pPr algn="ctr" indent="0" marL="0">
                        <a:buNone/>
                      </a:pPr>
                      <a:r>
                        <a:rPr lang="en-US" sz="1600" dirty="0">
                          <a:solidFill>
                            <a:schemeClr val="accent2"/>
                          </a:solidFill>
                        </a:rPr>
                        <a:t>bit-identical</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rPr>
                        <a:t>556  </a:t>
                      </a:r>
                      <a:pPr algn="ctr" indent="0" marL="0">
                        <a:buNone/>
                      </a:pPr>
                      <a:r>
                        <a:rPr lang="en-US" sz="1600" dirty="0">
                          <a:solidFill>
                            <a:schemeClr val="accent3"/>
                          </a:solidFill>
                        </a:rPr>
                        <a:t>relaxed</a:t>
                      </a:r>
                      <a:endParaRPr lang="en-US" sz="1600" dirty="0"/>
                    </a:p>
                  </a:txBody>
                  <a:tcPr marL="91440" marR="91440" marT="45720" marB="45720" anchor="ctr">
                    <a:lnL w="9525" cap="flat" cmpd="sng" algn="ctr">
                      <a:solidFill>
                        <a:srgbClr val="D5DCE4"/>
                      </a:solidFill>
                      <a:prstDash val="solid"/>
                      <a:round/>
                      <a:headEnd type="none" w="med" len="med"/>
                      <a:tailEnd type="none" w="med" len="med"/>
                    </a:lnL>
                    <a:lnR w="9525" cap="flat" cmpd="sng" algn="ctr">
                      <a:solidFill>
                        <a:srgbClr val="D5DCE4"/>
                      </a:solidFill>
                      <a:prstDash val="solid"/>
                      <a:round/>
                      <a:headEnd type="none" w="med" len="med"/>
                      <a:tailEnd type="none" w="med" len="med"/>
                    </a:lnR>
                    <a:lnT w="9525" cap="flat" cmpd="sng" algn="ctr">
                      <a:solidFill>
                        <a:srgbClr val="D5DCE4"/>
                      </a:solidFill>
                      <a:prstDash val="solid"/>
                      <a:round/>
                      <a:headEnd type="none" w="med" len="med"/>
                      <a:tailEnd type="none" w="med" len="med"/>
                    </a:lnT>
                    <a:lnB w="9525" cap="flat" cmpd="sng" algn="ctr">
                      <a:solidFill>
                        <a:srgbClr val="D5DCE4"/>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5074920"/>
            <a:ext cx="11064240" cy="1005840"/>
          </a:xfrm>
          <a:prstGeom prst="rect">
            <a:avLst/>
          </a:prstGeom>
          <a:noFill/>
          <a:ln/>
        </p:spPr>
        <p:txBody>
          <a:bodyPr wrap="square" lIns="0" tIns="0" rIns="0" bIns="0" rtlCol="0" anchor="t"/>
          <a:lstStyle/>
          <a:p>
            <a:pPr indent="0" marL="0">
              <a:buNone/>
            </a:pPr>
            <a:r>
              <a:rPr lang="en-US" sz="1600" b="1" dirty="0">
                <a:solidFill>
                  <a:schemeClr val="tx1"/>
                </a:solidFill>
              </a:rPr>
              <a:t>Read the rows: </a:t>
            </a:r>
            <a:pPr indent="0" marL="0">
              <a:buNone/>
            </a:pPr>
            <a:r>
              <a:rPr lang="en-US" sz="1600" dirty="0">
                <a:solidFill>
                  <a:schemeClr val="tx2"/>
                </a:solidFill>
              </a:rPr>
              <a:t>8-bit data is reordered even under strict. 32-bit data needs the bounded contract. Real data in [−1, 1] keeps the source order until algebraic, because a magnitude bound alone cannot exclude inexact underflow.</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From input facts to certified outputs</a:t>
            </a:r>
            <a:endParaRPr lang="en-US" sz="3000" dirty="0"/>
          </a:p>
        </p:txBody>
      </p:sp>
      <p:sp>
        <p:nvSpPr>
          <p:cNvPr id="3" name="step 1"/>
          <p:cNvSpPr/>
          <p:nvPr/>
        </p:nvSpPr>
        <p:spPr>
          <a:xfrm>
            <a:off x="548640" y="1371600"/>
            <a:ext cx="2011680" cy="3657600"/>
          </a:xfrm>
          <a:prstGeom prst="roundRect">
            <a:avLst>
              <a:gd name="adj" fmla="val 5455"/>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1188720" y="1645920"/>
            <a:ext cx="731520" cy="731520"/>
          </a:xfrm>
          <a:prstGeom prst="ellipse">
            <a:avLst/>
          </a:prstGeom>
          <a:solidFill>
            <a:schemeClr val="accent4"/>
          </a:solidFill>
          <a:ln w="12700">
            <a:solidFill>
              <a:schemeClr val="accent4"/>
            </a:solidFill>
            <a:prstDash val="solid"/>
          </a:ln>
        </p:spPr>
      </p:sp>
      <p:pic>
        <p:nvPicPr>
          <p:cNvPr id="5" name="Image 0" descr="preencoded.png">    </p:cNvPr>
          <p:cNvPicPr>
            <a:picLocks noChangeAspect="1"/>
          </p:cNvPicPr>
          <p:nvPr/>
        </p:nvPicPr>
        <p:blipFill>
          <a:blip r:embed="rId1"/>
          <a:stretch>
            <a:fillRect/>
          </a:stretch>
        </p:blipFill>
        <p:spPr>
          <a:xfrm>
            <a:off x="1364285" y="1821485"/>
            <a:ext cx="380390" cy="380390"/>
          </a:xfrm>
          <a:prstGeom prst="rect">
            <a:avLst/>
          </a:prstGeom>
        </p:spPr>
      </p:pic>
      <p:sp>
        <p:nvSpPr>
          <p:cNvPr id="6" name="Text 3"/>
          <p:cNvSpPr txBox="1"/>
          <p:nvPr/>
        </p:nvSpPr>
        <p:spPr>
          <a:xfrm>
            <a:off x="685800" y="2560320"/>
            <a:ext cx="1737360" cy="457200"/>
          </a:xfrm>
          <a:prstGeom prst="rect">
            <a:avLst/>
          </a:prstGeom>
          <a:noFill/>
          <a:ln/>
        </p:spPr>
        <p:txBody>
          <a:bodyPr wrap="square" lIns="0" tIns="0" rIns="0" bIns="0" rtlCol="0" anchor="t"/>
          <a:lstStyle/>
          <a:p>
            <a:pPr algn="ctr" indent="0" marL="0">
              <a:buNone/>
            </a:pPr>
            <a:r>
              <a:rPr lang="en-US" sz="1800" b="1" dirty="0">
                <a:solidFill>
                  <a:schemeClr val="tx1"/>
                </a:solidFill>
              </a:rPr>
              <a:t>Input facts</a:t>
            </a:r>
            <a:endParaRPr lang="en-US" sz="1800" dirty="0"/>
          </a:p>
        </p:txBody>
      </p:sp>
      <p:sp>
        <p:nvSpPr>
          <p:cNvPr id="7" name="Text 4"/>
          <p:cNvSpPr txBox="1"/>
          <p:nvPr/>
        </p:nvSpPr>
        <p:spPr>
          <a:xfrm>
            <a:off x="731520" y="3108960"/>
            <a:ext cx="1645920" cy="1828800"/>
          </a:xfrm>
          <a:prstGeom prst="rect">
            <a:avLst/>
          </a:prstGeom>
          <a:noFill/>
          <a:ln/>
        </p:spPr>
        <p:txBody>
          <a:bodyPr wrap="square" lIns="0" tIns="0" rIns="0" bIns="0" rtlCol="0" anchor="t"/>
          <a:lstStyle/>
          <a:p>
            <a:pPr indent="0" marL="0">
              <a:buNone/>
            </a:pPr>
            <a:r>
              <a:rPr lang="en-US" sz="1400" dirty="0">
                <a:solidFill>
                  <a:schemeClr val="tx2"/>
                </a:solidFill>
              </a:rPr>
              <a:t>Grid and magnitude of every value: declared domains or LLVM integer conversions</a:t>
            </a:r>
            <a:endParaRPr lang="en-US" sz="1400" dirty="0"/>
          </a:p>
        </p:txBody>
      </p:sp>
      <p:sp>
        <p:nvSpPr>
          <p:cNvPr id="8" name="Shape 5"/>
          <p:cNvSpPr/>
          <p:nvPr/>
        </p:nvSpPr>
        <p:spPr>
          <a:xfrm>
            <a:off x="2596896" y="3063240"/>
            <a:ext cx="201168" cy="274320"/>
          </a:xfrm>
          <a:prstGeom prst="rightArrow">
            <a:avLst/>
          </a:prstGeom>
          <a:solidFill>
            <a:schemeClr val="accent5"/>
          </a:solidFill>
          <a:ln w="12700">
            <a:solidFill>
              <a:schemeClr val="accent5"/>
            </a:solidFill>
            <a:prstDash val="solid"/>
          </a:ln>
        </p:spPr>
      </p:sp>
      <p:sp>
        <p:nvSpPr>
          <p:cNvPr id="9" name="step 2"/>
          <p:cNvSpPr/>
          <p:nvPr/>
        </p:nvSpPr>
        <p:spPr>
          <a:xfrm>
            <a:off x="2834640" y="1371600"/>
            <a:ext cx="2011680" cy="3657600"/>
          </a:xfrm>
          <a:prstGeom prst="roundRect">
            <a:avLst>
              <a:gd name="adj" fmla="val 5455"/>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3474720" y="1645920"/>
            <a:ext cx="731520" cy="731520"/>
          </a:xfrm>
          <a:prstGeom prst="ellipse">
            <a:avLst/>
          </a:prstGeom>
          <a:solidFill>
            <a:schemeClr val="accent4"/>
          </a:solidFill>
          <a:ln w="12700">
            <a:solidFill>
              <a:schemeClr val="accent4"/>
            </a:solidFill>
            <a:prstDash val="solid"/>
          </a:ln>
        </p:spPr>
      </p:sp>
      <p:pic>
        <p:nvPicPr>
          <p:cNvPr id="11" name="Image 1" descr="preencoded.png">    </p:cNvPr>
          <p:cNvPicPr>
            <a:picLocks noChangeAspect="1"/>
          </p:cNvPicPr>
          <p:nvPr/>
        </p:nvPicPr>
        <p:blipFill>
          <a:blip r:embed="rId2"/>
          <a:stretch>
            <a:fillRect/>
          </a:stretch>
        </p:blipFill>
        <p:spPr>
          <a:xfrm>
            <a:off x="3650285" y="1821485"/>
            <a:ext cx="380390" cy="380390"/>
          </a:xfrm>
          <a:prstGeom prst="rect">
            <a:avLst/>
          </a:prstGeom>
        </p:spPr>
      </p:pic>
      <p:sp>
        <p:nvSpPr>
          <p:cNvPr id="12" name="Text 8"/>
          <p:cNvSpPr txBox="1"/>
          <p:nvPr/>
        </p:nvSpPr>
        <p:spPr>
          <a:xfrm>
            <a:off x="2971800" y="2560320"/>
            <a:ext cx="1737360" cy="457200"/>
          </a:xfrm>
          <a:prstGeom prst="rect">
            <a:avLst/>
          </a:prstGeom>
          <a:noFill/>
          <a:ln/>
        </p:spPr>
        <p:txBody>
          <a:bodyPr wrap="square" lIns="0" tIns="0" rIns="0" bIns="0" rtlCol="0" anchor="t"/>
          <a:lstStyle/>
          <a:p>
            <a:pPr algn="ctr" indent="0" marL="0">
              <a:buNone/>
            </a:pPr>
            <a:r>
              <a:rPr lang="en-US" sz="1800" b="1" dirty="0">
                <a:solidFill>
                  <a:schemeClr val="tx1"/>
                </a:solidFill>
              </a:rPr>
              <a:t>Obligations</a:t>
            </a:r>
            <a:endParaRPr lang="en-US" sz="1800" dirty="0"/>
          </a:p>
        </p:txBody>
      </p:sp>
      <p:sp>
        <p:nvSpPr>
          <p:cNvPr id="13" name="Text 9"/>
          <p:cNvSpPr txBox="1"/>
          <p:nvPr/>
        </p:nvSpPr>
        <p:spPr>
          <a:xfrm>
            <a:off x="3017520" y="3108960"/>
            <a:ext cx="1645920" cy="1828800"/>
          </a:xfrm>
          <a:prstGeom prst="rect">
            <a:avLst/>
          </a:prstGeom>
          <a:noFill/>
          <a:ln/>
        </p:spPr>
        <p:txBody>
          <a:bodyPr wrap="square" lIns="0" tIns="0" rIns="0" bIns="0" rtlCol="0" anchor="t"/>
          <a:lstStyle/>
          <a:p>
            <a:pPr indent="0" marL="0">
              <a:buNone/>
            </a:pPr>
            <a:r>
              <a:rPr lang="en-US" sz="1400" dirty="0">
                <a:solidFill>
                  <a:schemeClr val="tx2"/>
                </a:solidFill>
              </a:rPr>
              <a:t>Do sub-chains fit in 53 bits? Is the product grid representable? Does the bound hold?</a:t>
            </a:r>
            <a:endParaRPr lang="en-US" sz="1400" dirty="0"/>
          </a:p>
        </p:txBody>
      </p:sp>
      <p:sp>
        <p:nvSpPr>
          <p:cNvPr id="14" name="Shape 10"/>
          <p:cNvSpPr/>
          <p:nvPr/>
        </p:nvSpPr>
        <p:spPr>
          <a:xfrm>
            <a:off x="4882896" y="3063240"/>
            <a:ext cx="201168" cy="274320"/>
          </a:xfrm>
          <a:prstGeom prst="rightArrow">
            <a:avLst/>
          </a:prstGeom>
          <a:solidFill>
            <a:schemeClr val="accent5"/>
          </a:solidFill>
          <a:ln w="12700">
            <a:solidFill>
              <a:schemeClr val="accent5"/>
            </a:solidFill>
            <a:prstDash val="solid"/>
          </a:ln>
        </p:spPr>
      </p:sp>
      <p:sp>
        <p:nvSpPr>
          <p:cNvPr id="15" name="step 3"/>
          <p:cNvSpPr/>
          <p:nvPr/>
        </p:nvSpPr>
        <p:spPr>
          <a:xfrm>
            <a:off x="5120640" y="1371600"/>
            <a:ext cx="2011680" cy="3657600"/>
          </a:xfrm>
          <a:prstGeom prst="roundRect">
            <a:avLst>
              <a:gd name="adj" fmla="val 5455"/>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5760720" y="1645920"/>
            <a:ext cx="731520" cy="731520"/>
          </a:xfrm>
          <a:prstGeom prst="ellipse">
            <a:avLst/>
          </a:prstGeom>
          <a:solidFill>
            <a:schemeClr val="accent4"/>
          </a:solidFill>
          <a:ln w="12700">
            <a:solidFill>
              <a:schemeClr val="accent4"/>
            </a:solidFill>
            <a:prstDash val="solid"/>
          </a:ln>
        </p:spPr>
      </p:sp>
      <p:pic>
        <p:nvPicPr>
          <p:cNvPr id="17" name="Image 2" descr="preencoded.png">    </p:cNvPr>
          <p:cNvPicPr>
            <a:picLocks noChangeAspect="1"/>
          </p:cNvPicPr>
          <p:nvPr/>
        </p:nvPicPr>
        <p:blipFill>
          <a:blip r:embed="rId3"/>
          <a:stretch>
            <a:fillRect/>
          </a:stretch>
        </p:blipFill>
        <p:spPr>
          <a:xfrm>
            <a:off x="5936285" y="1821485"/>
            <a:ext cx="380390" cy="380390"/>
          </a:xfrm>
          <a:prstGeom prst="rect">
            <a:avLst/>
          </a:prstGeom>
        </p:spPr>
      </p:pic>
      <p:sp>
        <p:nvSpPr>
          <p:cNvPr id="18" name="Text 13"/>
          <p:cNvSpPr txBox="1"/>
          <p:nvPr/>
        </p:nvSpPr>
        <p:spPr>
          <a:xfrm>
            <a:off x="5257800" y="2560320"/>
            <a:ext cx="1737360" cy="457200"/>
          </a:xfrm>
          <a:prstGeom prst="rect">
            <a:avLst/>
          </a:prstGeom>
          <a:noFill/>
          <a:ln/>
        </p:spPr>
        <p:txBody>
          <a:bodyPr wrap="square" lIns="0" tIns="0" rIns="0" bIns="0" rtlCol="0" anchor="t"/>
          <a:lstStyle/>
          <a:p>
            <a:pPr algn="ctr" indent="0" marL="0">
              <a:buNone/>
            </a:pPr>
            <a:r>
              <a:rPr lang="en-US" sz="1800" b="1" dirty="0">
                <a:solidFill>
                  <a:schemeClr val="tx1"/>
                </a:solidFill>
              </a:rPr>
              <a:t>Admission</a:t>
            </a:r>
            <a:endParaRPr lang="en-US" sz="1800" dirty="0"/>
          </a:p>
        </p:txBody>
      </p:sp>
      <p:sp>
        <p:nvSpPr>
          <p:cNvPr id="19" name="Text 14"/>
          <p:cNvSpPr txBox="1"/>
          <p:nvPr/>
        </p:nvSpPr>
        <p:spPr>
          <a:xfrm>
            <a:off x="5303520" y="3108960"/>
            <a:ext cx="1645920" cy="1828800"/>
          </a:xfrm>
          <a:prstGeom prst="rect">
            <a:avLst/>
          </a:prstGeom>
          <a:noFill/>
          <a:ln/>
        </p:spPr>
        <p:txBody>
          <a:bodyPr wrap="square" lIns="0" tIns="0" rIns="0" bIns="0" rtlCol="0" anchor="t"/>
          <a:lstStyle/>
          <a:p>
            <a:pPr indent="0" marL="0">
              <a:buNone/>
            </a:pPr>
            <a:r>
              <a:rPr lang="en-US" sz="1400" dirty="0">
                <a:solidFill>
                  <a:schemeClr val="tx2"/>
                </a:solidFill>
              </a:rPr>
              <a:t>The contract accepts or refuses each rewrite by its level</a:t>
            </a:r>
            <a:endParaRPr lang="en-US" sz="1400" dirty="0"/>
          </a:p>
        </p:txBody>
      </p:sp>
      <p:sp>
        <p:nvSpPr>
          <p:cNvPr id="20" name="Shape 15"/>
          <p:cNvSpPr/>
          <p:nvPr/>
        </p:nvSpPr>
        <p:spPr>
          <a:xfrm>
            <a:off x="7168896" y="3063240"/>
            <a:ext cx="201168" cy="274320"/>
          </a:xfrm>
          <a:prstGeom prst="rightArrow">
            <a:avLst/>
          </a:prstGeom>
          <a:solidFill>
            <a:schemeClr val="accent5"/>
          </a:solidFill>
          <a:ln w="12700">
            <a:solidFill>
              <a:schemeClr val="accent5"/>
            </a:solidFill>
            <a:prstDash val="solid"/>
          </a:ln>
        </p:spPr>
      </p:sp>
      <p:sp>
        <p:nvSpPr>
          <p:cNvPr id="21" name="step 4"/>
          <p:cNvSpPr/>
          <p:nvPr/>
        </p:nvSpPr>
        <p:spPr>
          <a:xfrm>
            <a:off x="7406640" y="1371600"/>
            <a:ext cx="2011680" cy="3657600"/>
          </a:xfrm>
          <a:prstGeom prst="roundRect">
            <a:avLst>
              <a:gd name="adj" fmla="val 5455"/>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22" name="Shape 17"/>
          <p:cNvSpPr/>
          <p:nvPr/>
        </p:nvSpPr>
        <p:spPr>
          <a:xfrm>
            <a:off x="8046720" y="1645920"/>
            <a:ext cx="731520" cy="731520"/>
          </a:xfrm>
          <a:prstGeom prst="ellipse">
            <a:avLst/>
          </a:prstGeom>
          <a:solidFill>
            <a:schemeClr val="accent4"/>
          </a:solidFill>
          <a:ln w="12700">
            <a:solidFill>
              <a:schemeClr val="accent4"/>
            </a:solidFill>
            <a:prstDash val="solid"/>
          </a:ln>
        </p:spPr>
      </p:sp>
      <p:pic>
        <p:nvPicPr>
          <p:cNvPr id="23" name="Image 3" descr="preencoded.png">    </p:cNvPr>
          <p:cNvPicPr>
            <a:picLocks noChangeAspect="1"/>
          </p:cNvPicPr>
          <p:nvPr/>
        </p:nvPicPr>
        <p:blipFill>
          <a:blip r:embed="rId4"/>
          <a:stretch>
            <a:fillRect/>
          </a:stretch>
        </p:blipFill>
        <p:spPr>
          <a:xfrm>
            <a:off x="8222285" y="1821485"/>
            <a:ext cx="380390" cy="380390"/>
          </a:xfrm>
          <a:prstGeom prst="rect">
            <a:avLst/>
          </a:prstGeom>
        </p:spPr>
      </p:pic>
      <p:sp>
        <p:nvSpPr>
          <p:cNvPr id="24" name="Text 18"/>
          <p:cNvSpPr txBox="1"/>
          <p:nvPr/>
        </p:nvSpPr>
        <p:spPr>
          <a:xfrm>
            <a:off x="7543800" y="2560320"/>
            <a:ext cx="1737360" cy="457200"/>
          </a:xfrm>
          <a:prstGeom prst="rect">
            <a:avLst/>
          </a:prstGeom>
          <a:noFill/>
          <a:ln/>
        </p:spPr>
        <p:txBody>
          <a:bodyPr wrap="square" lIns="0" tIns="0" rIns="0" bIns="0" rtlCol="0" anchor="t"/>
          <a:lstStyle/>
          <a:p>
            <a:pPr algn="ctr" indent="0" marL="0">
              <a:buNone/>
            </a:pPr>
            <a:r>
              <a:rPr lang="en-US" sz="1800" b="1" dirty="0">
                <a:solidFill>
                  <a:schemeClr val="tx1"/>
                </a:solidFill>
              </a:rPr>
              <a:t>Optimize</a:t>
            </a:r>
            <a:endParaRPr lang="en-US" sz="1800" dirty="0"/>
          </a:p>
        </p:txBody>
      </p:sp>
      <p:sp>
        <p:nvSpPr>
          <p:cNvPr id="25" name="Text 19"/>
          <p:cNvSpPr txBox="1"/>
          <p:nvPr/>
        </p:nvSpPr>
        <p:spPr>
          <a:xfrm>
            <a:off x="7589520" y="3108960"/>
            <a:ext cx="1645920" cy="1828800"/>
          </a:xfrm>
          <a:prstGeom prst="rect">
            <a:avLst/>
          </a:prstGeom>
          <a:noFill/>
          <a:ln/>
        </p:spPr>
        <p:txBody>
          <a:bodyPr wrap="square" lIns="0" tIns="0" rIns="0" bIns="0" rtlCol="0" anchor="t"/>
          <a:lstStyle/>
          <a:p>
            <a:pPr indent="0" marL="0">
              <a:buNone/>
            </a:pPr>
            <a:r>
              <a:rPr lang="en-US" sz="1400" dirty="0">
                <a:solidFill>
                  <a:schemeClr val="tx2"/>
                </a:solidFill>
              </a:rPr>
              <a:t>Chain reordering, identity rewrites, OpenMP reductions, LLVM reassoc</a:t>
            </a:r>
            <a:endParaRPr lang="en-US" sz="1400" dirty="0"/>
          </a:p>
        </p:txBody>
      </p:sp>
      <p:sp>
        <p:nvSpPr>
          <p:cNvPr id="26" name="Shape 20"/>
          <p:cNvSpPr/>
          <p:nvPr/>
        </p:nvSpPr>
        <p:spPr>
          <a:xfrm>
            <a:off x="9454896" y="3063240"/>
            <a:ext cx="201168" cy="274320"/>
          </a:xfrm>
          <a:prstGeom prst="rightArrow">
            <a:avLst/>
          </a:prstGeom>
          <a:solidFill>
            <a:schemeClr val="accent5"/>
          </a:solidFill>
          <a:ln w="12700">
            <a:solidFill>
              <a:schemeClr val="accent5"/>
            </a:solidFill>
            <a:prstDash val="solid"/>
          </a:ln>
        </p:spPr>
      </p:sp>
      <p:sp>
        <p:nvSpPr>
          <p:cNvPr id="27" name="step 5"/>
          <p:cNvSpPr/>
          <p:nvPr/>
        </p:nvSpPr>
        <p:spPr>
          <a:xfrm>
            <a:off x="9692640" y="1371600"/>
            <a:ext cx="2011680" cy="3657600"/>
          </a:xfrm>
          <a:prstGeom prst="roundRect">
            <a:avLst>
              <a:gd name="adj" fmla="val 5455"/>
            </a:avLst>
          </a:prstGeom>
          <a:solidFill>
            <a:schemeClr val="tx1"/>
          </a:solidFill>
          <a:ln w="12700">
            <a:solidFill>
              <a:schemeClr val="tx1"/>
            </a:solidFill>
            <a:prstDash val="solid"/>
          </a:ln>
          <a:effectLst>
            <a:outerShdw sx="100000" sy="100000" kx="0" ky="0" algn="bl" rotWithShape="0" blurRad="76200" dist="25400" dir="5400000">
              <a:srgbClr val="000000">
                <a:alpha val="10000"/>
              </a:srgbClr>
            </a:outerShdw>
          </a:effectLst>
        </p:spPr>
      </p:sp>
      <p:sp>
        <p:nvSpPr>
          <p:cNvPr id="28" name="Shape 22"/>
          <p:cNvSpPr/>
          <p:nvPr/>
        </p:nvSpPr>
        <p:spPr>
          <a:xfrm>
            <a:off x="10332720" y="1645920"/>
            <a:ext cx="731520" cy="731520"/>
          </a:xfrm>
          <a:prstGeom prst="ellipse">
            <a:avLst/>
          </a:prstGeom>
          <a:solidFill>
            <a:schemeClr val="accent1"/>
          </a:solidFill>
          <a:ln w="12700">
            <a:solidFill>
              <a:schemeClr val="accent1"/>
            </a:solidFill>
            <a:prstDash val="solid"/>
          </a:ln>
        </p:spPr>
      </p:sp>
      <p:pic>
        <p:nvPicPr>
          <p:cNvPr id="29" name="Image 4" descr="preencoded.png">    </p:cNvPr>
          <p:cNvPicPr>
            <a:picLocks noChangeAspect="1"/>
          </p:cNvPicPr>
          <p:nvPr/>
        </p:nvPicPr>
        <p:blipFill>
          <a:blip r:embed="rId5"/>
          <a:stretch>
            <a:fillRect/>
          </a:stretch>
        </p:blipFill>
        <p:spPr>
          <a:xfrm>
            <a:off x="10508285" y="1821485"/>
            <a:ext cx="380390" cy="380390"/>
          </a:xfrm>
          <a:prstGeom prst="rect">
            <a:avLst/>
          </a:prstGeom>
        </p:spPr>
      </p:pic>
      <p:sp>
        <p:nvSpPr>
          <p:cNvPr id="30" name="Text 23"/>
          <p:cNvSpPr txBox="1"/>
          <p:nvPr/>
        </p:nvSpPr>
        <p:spPr>
          <a:xfrm>
            <a:off x="9829800" y="2560320"/>
            <a:ext cx="1737360" cy="457200"/>
          </a:xfrm>
          <a:prstGeom prst="rect">
            <a:avLst/>
          </a:prstGeom>
          <a:noFill/>
          <a:ln/>
        </p:spPr>
        <p:txBody>
          <a:bodyPr wrap="square" lIns="0" tIns="0" rIns="0" bIns="0" rtlCol="0" anchor="t"/>
          <a:lstStyle/>
          <a:p>
            <a:pPr algn="ctr" indent="0" marL="0">
              <a:buNone/>
            </a:pPr>
            <a:r>
              <a:rPr lang="en-US" sz="1800" b="1" dirty="0">
                <a:solidFill>
                  <a:schemeClr val="bg1"/>
                </a:solidFill>
              </a:rPr>
              <a:t>Certify</a:t>
            </a:r>
            <a:endParaRPr lang="en-US" sz="1800" dirty="0"/>
          </a:p>
        </p:txBody>
      </p:sp>
      <p:sp>
        <p:nvSpPr>
          <p:cNvPr id="31" name="Text 24"/>
          <p:cNvSpPr txBox="1"/>
          <p:nvPr/>
        </p:nvSpPr>
        <p:spPr>
          <a:xfrm>
            <a:off x="9875520" y="3108960"/>
            <a:ext cx="1645920" cy="1828800"/>
          </a:xfrm>
          <a:prstGeom prst="rect">
            <a:avLst/>
          </a:prstGeom>
          <a:noFill/>
          <a:ln/>
        </p:spPr>
        <p:txBody>
          <a:bodyPr wrap="square" lIns="0" tIns="0" rIns="0" bIns="0" rtlCol="0" anchor="t"/>
          <a:lstStyle/>
          <a:p>
            <a:pPr indent="0" marL="0">
              <a:buNone/>
            </a:pPr>
            <a:r>
              <a:rPr lang="en-US" sz="1400" dirty="0">
                <a:solidFill>
                  <a:schemeClr val="bg2"/>
                </a:solidFill>
              </a:rPr>
              <a:t>Guarantee label per output; obligations exported for exact replay</a:t>
            </a:r>
            <a:endParaRPr lang="en-US" sz="1400" dirty="0"/>
          </a:p>
        </p:txBody>
      </p:sp>
      <p:sp>
        <p:nvSpPr>
          <p:cNvPr id="32" name="Text 25"/>
          <p:cNvSpPr txBox="1"/>
          <p:nvPr/>
        </p:nvSpPr>
        <p:spPr>
          <a:xfrm>
            <a:off x="548640" y="534924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Checked at run time: </a:t>
            </a:r>
            <a:pPr indent="0" marL="0">
              <a:buNone/>
            </a:pPr>
            <a:r>
              <a:rPr lang="en-US" sz="1600" dirty="0">
                <a:solidFill>
                  <a:schemeClr val="tx2"/>
                </a:solidFill>
              </a:rPr>
              <a:t>MatrixLang validates each input against its declared domain once at load; ExactReduce checks the start value and trip count on loop entry and falls back to the strict loop.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Three results behind the decisions</a:t>
            </a:r>
            <a:endParaRPr lang="en-US" sz="3000" dirty="0"/>
          </a:p>
        </p:txBody>
      </p:sp>
      <p:sp>
        <p:nvSpPr>
          <p:cNvPr id="3" name="Theorem 1"/>
          <p:cNvSpPr/>
          <p:nvPr/>
        </p:nvSpPr>
        <p:spPr>
          <a:xfrm>
            <a:off x="548640" y="1325880"/>
            <a:ext cx="3520440" cy="3291840"/>
          </a:xfrm>
          <a:prstGeom prst="roundRect">
            <a:avLst>
              <a:gd name="adj" fmla="val 3333"/>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822960" y="1600200"/>
            <a:ext cx="1463040" cy="329184"/>
          </a:xfrm>
          <a:prstGeom prst="roundRect">
            <a:avLst>
              <a:gd name="adj" fmla="val 50000"/>
            </a:avLst>
          </a:prstGeom>
          <a:solidFill>
            <a:schemeClr val="accent2"/>
          </a:solidFill>
          <a:ln w="12700">
            <a:solidFill>
              <a:schemeClr val="accent2"/>
            </a:solidFill>
            <a:prstDash val="solid"/>
          </a:ln>
        </p:spPr>
      </p:sp>
      <p:sp>
        <p:nvSpPr>
          <p:cNvPr id="5" name="Text 3"/>
          <p:cNvSpPr txBox="1"/>
          <p:nvPr/>
        </p:nvSpPr>
        <p:spPr>
          <a:xfrm>
            <a:off x="822960" y="16002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Theorem 1</a:t>
            </a:r>
            <a:endParaRPr lang="en-US" sz="1200" dirty="0"/>
          </a:p>
        </p:txBody>
      </p:sp>
      <p:sp>
        <p:nvSpPr>
          <p:cNvPr id="6" name="Text 4"/>
          <p:cNvSpPr txBox="1"/>
          <p:nvPr/>
        </p:nvSpPr>
        <p:spPr>
          <a:xfrm>
            <a:off x="822960" y="2103120"/>
            <a:ext cx="3017520" cy="457200"/>
          </a:xfrm>
          <a:prstGeom prst="rect">
            <a:avLst/>
          </a:prstGeom>
          <a:noFill/>
          <a:ln/>
        </p:spPr>
        <p:txBody>
          <a:bodyPr wrap="square" lIns="0" tIns="0" rIns="0" bIns="0" rtlCol="0" anchor="t"/>
          <a:lstStyle/>
          <a:p>
            <a:pPr indent="0" marL="0">
              <a:buNone/>
            </a:pPr>
            <a:r>
              <a:rPr lang="en-US" sz="2000" b="1" dirty="0">
                <a:solidFill>
                  <a:schemeClr val="tx1"/>
                </a:solidFill>
              </a:rPr>
              <a:t>Correctly rounded chains</a:t>
            </a:r>
            <a:endParaRPr lang="en-US" sz="2000" dirty="0"/>
          </a:p>
        </p:txBody>
      </p:sp>
      <p:sp>
        <p:nvSpPr>
          <p:cNvPr id="7" name="Text 5"/>
          <p:cNvSpPr txBox="1"/>
          <p:nvPr/>
        </p:nvSpPr>
        <p:spPr>
          <a:xfrm>
            <a:off x="822960" y="2606040"/>
            <a:ext cx="3017520" cy="1920240"/>
          </a:xfrm>
          <a:prstGeom prst="rect">
            <a:avLst/>
          </a:prstGeom>
          <a:noFill/>
          <a:ln/>
        </p:spPr>
        <p:txBody>
          <a:bodyPr wrap="square" lIns="0" tIns="0" rIns="0" bIns="0" rtlCol="0" anchor="t"/>
          <a:lstStyle/>
          <a:p>
            <a:pPr indent="0" marL="0">
              <a:buNone/>
            </a:pPr>
            <a:r>
              <a:rPr lang="en-US" sz="1500" dirty="0">
                <a:solidFill>
                  <a:schemeClr val="tx2"/>
                </a:solidFill>
              </a:rPr>
              <a:t>If every proper sub-chain fits in the significand and the final sums round at most once, every bracketing and summation order returns fl(A₁⋯Aₖ): bit-identical.</a:t>
            </a:r>
            <a:endParaRPr lang="en-US" sz="1500" dirty="0"/>
          </a:p>
        </p:txBody>
      </p:sp>
      <p:sp>
        <p:nvSpPr>
          <p:cNvPr id="8" name="Proposition 2"/>
          <p:cNvSpPr/>
          <p:nvPr/>
        </p:nvSpPr>
        <p:spPr>
          <a:xfrm>
            <a:off x="4325112" y="1325880"/>
            <a:ext cx="3520440" cy="3291840"/>
          </a:xfrm>
          <a:prstGeom prst="roundRect">
            <a:avLst>
              <a:gd name="adj" fmla="val 3333"/>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9" name="Shape 7"/>
          <p:cNvSpPr/>
          <p:nvPr/>
        </p:nvSpPr>
        <p:spPr>
          <a:xfrm>
            <a:off x="4599432" y="1600200"/>
            <a:ext cx="1463040" cy="329184"/>
          </a:xfrm>
          <a:prstGeom prst="roundRect">
            <a:avLst>
              <a:gd name="adj" fmla="val 50000"/>
            </a:avLst>
          </a:prstGeom>
          <a:solidFill>
            <a:schemeClr val="accent4"/>
          </a:solidFill>
          <a:ln w="12700">
            <a:solidFill>
              <a:schemeClr val="accent4"/>
            </a:solidFill>
            <a:prstDash val="solid"/>
          </a:ln>
        </p:spPr>
      </p:sp>
      <p:sp>
        <p:nvSpPr>
          <p:cNvPr id="10" name="Text 8"/>
          <p:cNvSpPr txBox="1"/>
          <p:nvPr/>
        </p:nvSpPr>
        <p:spPr>
          <a:xfrm>
            <a:off x="4599432" y="16002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Proposition 2</a:t>
            </a:r>
            <a:endParaRPr lang="en-US" sz="1200" dirty="0"/>
          </a:p>
        </p:txBody>
      </p:sp>
      <p:sp>
        <p:nvSpPr>
          <p:cNvPr id="11" name="Text 9"/>
          <p:cNvSpPr txBox="1"/>
          <p:nvPr/>
        </p:nvSpPr>
        <p:spPr>
          <a:xfrm>
            <a:off x="4599432" y="2103120"/>
            <a:ext cx="3017520" cy="457200"/>
          </a:xfrm>
          <a:prstGeom prst="rect">
            <a:avLst/>
          </a:prstGeom>
          <a:noFill/>
          <a:ln/>
        </p:spPr>
        <p:txBody>
          <a:bodyPr wrap="square" lIns="0" tIns="0" rIns="0" bIns="0" rtlCol="0" anchor="t"/>
          <a:lstStyle/>
          <a:p>
            <a:pPr indent="0" marL="0">
              <a:buNone/>
            </a:pPr>
            <a:r>
              <a:rPr lang="en-US" sz="2000" b="1" dirty="0">
                <a:solidFill>
                  <a:schemeClr val="tx1"/>
                </a:solidFill>
              </a:rPr>
              <a:t>Guarded reductions</a:t>
            </a:r>
            <a:endParaRPr lang="en-US" sz="2000" dirty="0"/>
          </a:p>
        </p:txBody>
      </p:sp>
      <p:sp>
        <p:nvSpPr>
          <p:cNvPr id="12" name="Text 10"/>
          <p:cNvSpPr txBox="1"/>
          <p:nvPr/>
        </p:nvSpPr>
        <p:spPr>
          <a:xfrm>
            <a:off x="4599432" y="2606040"/>
            <a:ext cx="3017520" cy="1920240"/>
          </a:xfrm>
          <a:prstGeom prst="rect">
            <a:avLst/>
          </a:prstGeom>
          <a:noFill/>
          <a:ln/>
        </p:spPr>
        <p:txBody>
          <a:bodyPr wrap="square" lIns="0" tIns="0" rIns="0" bIns="0" rtlCol="0" anchor="t"/>
          <a:lstStyle/>
          <a:p>
            <a:pPr indent="0" marL="0">
              <a:buNone/>
            </a:pPr>
            <a:r>
              <a:rPr lang="en-US" sz="1500" dirty="0">
                <a:solidFill>
                  <a:schemeClr val="tx2"/>
                </a:solidFill>
              </a:rPr>
              <a:t>Terms on a grid 2ᴳ with |s₀|/2ᴳ + N·K ≤ 2ᵖ: every summation tree returns the exact sum. The condition is checked once on loop entry.</a:t>
            </a:r>
            <a:endParaRPr lang="en-US" sz="1500" dirty="0"/>
          </a:p>
        </p:txBody>
      </p:sp>
      <p:sp>
        <p:nvSpPr>
          <p:cNvPr id="13" name="Theorem 3"/>
          <p:cNvSpPr/>
          <p:nvPr/>
        </p:nvSpPr>
        <p:spPr>
          <a:xfrm>
            <a:off x="8101584" y="1325880"/>
            <a:ext cx="3520440" cy="3291840"/>
          </a:xfrm>
          <a:prstGeom prst="roundRect">
            <a:avLst>
              <a:gd name="adj" fmla="val 3333"/>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4" name="Shape 12"/>
          <p:cNvSpPr/>
          <p:nvPr/>
        </p:nvSpPr>
        <p:spPr>
          <a:xfrm>
            <a:off x="8375904" y="1600200"/>
            <a:ext cx="1463040" cy="329184"/>
          </a:xfrm>
          <a:prstGeom prst="roundRect">
            <a:avLst>
              <a:gd name="adj" fmla="val 50000"/>
            </a:avLst>
          </a:prstGeom>
          <a:solidFill>
            <a:schemeClr val="accent1"/>
          </a:solidFill>
          <a:ln w="12700">
            <a:solidFill>
              <a:schemeClr val="accent1"/>
            </a:solidFill>
            <a:prstDash val="solid"/>
          </a:ln>
        </p:spPr>
      </p:sp>
      <p:sp>
        <p:nvSpPr>
          <p:cNvPr id="15" name="Text 13"/>
          <p:cNvSpPr txBox="1"/>
          <p:nvPr/>
        </p:nvSpPr>
        <p:spPr>
          <a:xfrm>
            <a:off x="8375904" y="16002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Theorem 3</a:t>
            </a:r>
            <a:endParaRPr lang="en-US" sz="1200" dirty="0"/>
          </a:p>
        </p:txBody>
      </p:sp>
      <p:sp>
        <p:nvSpPr>
          <p:cNvPr id="16" name="Text 14"/>
          <p:cNvSpPr txBox="1"/>
          <p:nvPr/>
        </p:nvSpPr>
        <p:spPr>
          <a:xfrm>
            <a:off x="8375904" y="2103120"/>
            <a:ext cx="3017520" cy="457200"/>
          </a:xfrm>
          <a:prstGeom prst="rect">
            <a:avLst/>
          </a:prstGeom>
          <a:noFill/>
          <a:ln/>
        </p:spPr>
        <p:txBody>
          <a:bodyPr wrap="square" lIns="0" tIns="0" rIns="0" bIns="0" rtlCol="0" anchor="t"/>
          <a:lstStyle/>
          <a:p>
            <a:pPr indent="0" marL="0">
              <a:buNone/>
            </a:pPr>
            <a:r>
              <a:rPr lang="en-US" sz="2000" b="1" dirty="0">
                <a:solidFill>
                  <a:schemeClr val="tx1"/>
                </a:solidFill>
              </a:rPr>
              <a:t>Bracketing invariance</a:t>
            </a:r>
            <a:endParaRPr lang="en-US" sz="2000" dirty="0"/>
          </a:p>
        </p:txBody>
      </p:sp>
      <p:sp>
        <p:nvSpPr>
          <p:cNvPr id="17" name="Text 15"/>
          <p:cNvSpPr txBox="1"/>
          <p:nvPr/>
        </p:nvSpPr>
        <p:spPr>
          <a:xfrm>
            <a:off x="8375904" y="2606040"/>
            <a:ext cx="3017520" cy="1920240"/>
          </a:xfrm>
          <a:prstGeom prst="rect">
            <a:avLst/>
          </a:prstGeom>
          <a:noFill/>
          <a:ln/>
        </p:spPr>
        <p:txBody>
          <a:bodyPr wrap="square" lIns="0" tIns="0" rIns="0" bIns="0" rtlCol="0" anchor="t"/>
          <a:lstStyle/>
          <a:p>
            <a:pPr indent="0" marL="0">
              <a:buNone/>
            </a:pPr>
            <a:r>
              <a:rPr lang="en-US" sz="1500" dirty="0">
                <a:solidFill>
                  <a:schemeClr val="tx2"/>
                </a:solidFill>
              </a:rPr>
              <a:t>Without overflow or inexact underflow, the componentwise error bound of a matrix chain is the same for every bracketing.</a:t>
            </a:r>
            <a:endParaRPr lang="en-US" sz="1500" dirty="0"/>
          </a:p>
        </p:txBody>
      </p:sp>
      <p:sp>
        <p:nvSpPr>
          <p:cNvPr id="18" name="tightness"/>
          <p:cNvSpPr/>
          <p:nvPr/>
        </p:nvSpPr>
        <p:spPr>
          <a:xfrm>
            <a:off x="548640" y="4892040"/>
            <a:ext cx="11064240" cy="1188720"/>
          </a:xfrm>
          <a:prstGeom prst="roundRect">
            <a:avLst>
              <a:gd name="adj" fmla="val 9231"/>
            </a:avLst>
          </a:prstGeom>
          <a:solidFill>
            <a:schemeClr val="tx1"/>
          </a:solidFill>
          <a:ln w="12700">
            <a:solidFill>
              <a:schemeClr val="tx1"/>
            </a:solidFill>
            <a:prstDash val="solid"/>
          </a:ln>
          <a:effectLst>
            <a:outerShdw sx="100000" sy="100000" kx="0" ky="0" algn="bl" rotWithShape="0" blurRad="76200" dist="25400" dir="5400000">
              <a:srgbClr val="000000">
                <a:alpha val="10000"/>
              </a:srgbClr>
            </a:outerShdw>
          </a:effectLst>
        </p:spPr>
      </p:sp>
      <p:sp>
        <p:nvSpPr>
          <p:cNvPr id="19" name="Text 17"/>
          <p:cNvSpPr txBox="1"/>
          <p:nvPr/>
        </p:nvSpPr>
        <p:spPr>
          <a:xfrm>
            <a:off x="822960" y="4892040"/>
            <a:ext cx="2743200" cy="1188720"/>
          </a:xfrm>
          <a:prstGeom prst="rect">
            <a:avLst/>
          </a:prstGeom>
          <a:noFill/>
          <a:ln/>
        </p:spPr>
        <p:txBody>
          <a:bodyPr wrap="square" lIns="0" tIns="0" rIns="0" bIns="0" rtlCol="0" anchor="ctr"/>
          <a:lstStyle/>
          <a:p>
            <a:pPr indent="0" marL="0">
              <a:buNone/>
            </a:pPr>
            <a:r>
              <a:rPr lang="en-US" sz="3000" b="1" dirty="0">
                <a:solidFill>
                  <a:schemeClr val="accent1"/>
                </a:solidFill>
              </a:rPr>
              <a:t>m* = 35,697</a:t>
            </a:r>
            <a:endParaRPr lang="en-US" sz="3000" dirty="0"/>
          </a:p>
        </p:txBody>
      </p:sp>
      <p:sp>
        <p:nvSpPr>
          <p:cNvPr id="20" name="Text 18"/>
          <p:cNvSpPr txBox="1"/>
          <p:nvPr/>
        </p:nvSpPr>
        <p:spPr>
          <a:xfrm>
            <a:off x="3657600" y="4892040"/>
            <a:ext cx="7772400" cy="1188720"/>
          </a:xfrm>
          <a:prstGeom prst="rect">
            <a:avLst/>
          </a:prstGeom>
          <a:noFill/>
          <a:ln/>
        </p:spPr>
        <p:txBody>
          <a:bodyPr wrap="square" lIns="0" tIns="0" rIns="0" bIns="0" rtlCol="0" anchor="ctr"/>
          <a:lstStyle/>
          <a:p>
            <a:pPr indent="0" marL="0">
              <a:buNone/>
            </a:pPr>
            <a:r>
              <a:rPr lang="en-US" sz="1500" dirty="0">
                <a:solidFill>
                  <a:schemeClr val="bg2"/>
                </a:solidFill>
              </a:rPr>
              <a:t>Largest admissible bound for int(0, m) chains 100×2 · 2×100 · 100×2, since 198·35,697³ ≤ 2⁵³. The threshold is the true boundary on three of four measured families and one step from it on the fourth.</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Revision: a magnitude bound is not enough</a:t>
            </a:r>
            <a:endParaRPr lang="en-US" sz="3000" dirty="0"/>
          </a:p>
        </p:txBody>
      </p:sp>
      <p:sp>
        <p:nvSpPr>
          <p:cNvPr id="3" name="counterexample"/>
          <p:cNvSpPr/>
          <p:nvPr/>
        </p:nvSpPr>
        <p:spPr>
          <a:xfrm>
            <a:off x="548640" y="1325880"/>
            <a:ext cx="5394960" cy="3520440"/>
          </a:xfrm>
          <a:prstGeom prst="roundRect">
            <a:avLst>
              <a:gd name="adj" fmla="val 3117"/>
            </a:avLst>
          </a:prstGeom>
          <a:solidFill>
            <a:schemeClr val="tx1"/>
          </a:solidFill>
          <a:ln w="12700">
            <a:solidFill>
              <a:schemeClr val="tx1"/>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822960" y="1554480"/>
            <a:ext cx="640080" cy="640080"/>
          </a:xfrm>
          <a:prstGeom prst="ellipse">
            <a:avLst/>
          </a:prstGeom>
          <a:solidFill>
            <a:schemeClr val="accent3"/>
          </a:solidFill>
          <a:ln w="12700">
            <a:solidFill>
              <a:schemeClr val="accent3"/>
            </a:solidFill>
            <a:prstDash val="solid"/>
          </a:ln>
        </p:spPr>
      </p:sp>
      <p:pic>
        <p:nvPicPr>
          <p:cNvPr id="5" name="Image 0" descr="preencoded.png">    </p:cNvPr>
          <p:cNvPicPr>
            <a:picLocks noChangeAspect="1"/>
          </p:cNvPicPr>
          <p:nvPr/>
        </p:nvPicPr>
        <p:blipFill>
          <a:blip r:embed="rId1"/>
          <a:stretch>
            <a:fillRect/>
          </a:stretch>
        </p:blipFill>
        <p:spPr>
          <a:xfrm>
            <a:off x="976579" y="1708099"/>
            <a:ext cx="332842" cy="332842"/>
          </a:xfrm>
          <a:prstGeom prst="rect">
            <a:avLst/>
          </a:prstGeom>
        </p:spPr>
      </p:pic>
      <p:sp>
        <p:nvSpPr>
          <p:cNvPr id="6" name="Text 3"/>
          <p:cNvSpPr txBox="1"/>
          <p:nvPr/>
        </p:nvSpPr>
        <p:spPr>
          <a:xfrm>
            <a:off x="1645920" y="1627632"/>
            <a:ext cx="4114800" cy="457200"/>
          </a:xfrm>
          <a:prstGeom prst="rect">
            <a:avLst/>
          </a:prstGeom>
          <a:noFill/>
          <a:ln/>
        </p:spPr>
        <p:txBody>
          <a:bodyPr wrap="square" lIns="0" tIns="0" rIns="0" bIns="0" rtlCol="0" anchor="t"/>
          <a:lstStyle/>
          <a:p>
            <a:pPr indent="0" marL="0">
              <a:buNone/>
            </a:pPr>
            <a:r>
              <a:rPr lang="en-US" sz="2000" b="1" dirty="0">
                <a:solidFill>
                  <a:schemeClr val="bg1"/>
                </a:solidFill>
              </a:rPr>
              <a:t>Counterexample (reproduced)</a:t>
            </a:r>
            <a:endParaRPr lang="en-US" sz="2000" dirty="0"/>
          </a:p>
        </p:txBody>
      </p:sp>
      <p:sp>
        <p:nvSpPr>
          <p:cNvPr id="7" name="Text 4"/>
          <p:cNvSpPr txBox="1"/>
          <p:nvPr/>
        </p:nvSpPr>
        <p:spPr>
          <a:xfrm>
            <a:off x="822960" y="2331720"/>
            <a:ext cx="4846320" cy="1600200"/>
          </a:xfrm>
          <a:prstGeom prst="rect">
            <a:avLst/>
          </a:prstGeom>
          <a:noFill/>
          <a:ln/>
        </p:spPr>
        <p:txBody>
          <a:bodyPr wrap="square" lIns="0" tIns="0" rIns="0" bIns="0" rtlCol="0" anchor="t"/>
          <a:lstStyle/>
          <a:p>
            <a:pPr indent="0" marL="0">
              <a:spcAft>
                <a:spcPts val="600"/>
              </a:spcAft>
              <a:buNone/>
            </a:pPr>
            <a:r>
              <a:rPr lang="en-US" sz="1600" dirty="0">
                <a:solidFill>
                  <a:schemeClr val="bg2"/>
                </a:solidFill>
                <a:latin typeface="Courier New" pitchFamily="34" charset="0"/>
                <a:ea typeface="Courier New" pitchFamily="34" charset="-122"/>
                <a:cs typeface="Courier New" pitchFamily="34" charset="-120"/>
              </a:rPr>
              <a:t>q = 2⁻¹⁰⁷⁴,  a = 3q,  b = 1/2,  c = 3/4</a:t>
            </a:r>
            <a:endParaRPr lang="en-US" sz="1600" dirty="0"/>
          </a:p>
          <a:p>
            <a:pPr indent="0" marL="0">
              <a:spcAft>
                <a:spcPts val="600"/>
              </a:spcAft>
              <a:buNone/>
            </a:pPr>
            <a:r>
              <a:rPr lang="en-US" sz="1600" dirty="0">
                <a:solidFill>
                  <a:schemeClr val="bg2"/>
                </a:solidFill>
                <a:latin typeface="Courier New" pitchFamily="34" charset="0"/>
                <a:ea typeface="Courier New" pitchFamily="34" charset="-122"/>
                <a:cs typeface="Courier New" pitchFamily="34" charset="-120"/>
              </a:rPr>
              <a:t>(ab)c  →  2q</a:t>
            </a:r>
            <a:endParaRPr lang="en-US" sz="1600" dirty="0"/>
          </a:p>
          <a:p>
            <a:pPr indent="0" marL="0">
              <a:spcAft>
                <a:spcPts val="600"/>
              </a:spcAft>
              <a:buNone/>
            </a:pPr>
            <a:r>
              <a:rPr lang="en-US" sz="1600" dirty="0">
                <a:solidFill>
                  <a:schemeClr val="bg2"/>
                </a:solidFill>
                <a:latin typeface="Courier New" pitchFamily="34" charset="0"/>
                <a:ea typeface="Courier New" pitchFamily="34" charset="-122"/>
                <a:cs typeface="Courier New" pitchFamily="34" charset="-120"/>
              </a:rPr>
              <a:t>a(bc)  →  q</a:t>
            </a:r>
            <a:endParaRPr lang="en-US" sz="1600" dirty="0"/>
          </a:p>
          <a:p>
            <a:pPr indent="0" marL="0">
              <a:spcAft>
                <a:spcPts val="600"/>
              </a:spcAft>
              <a:buNone/>
            </a:pPr>
            <a:r>
              <a:rPr lang="en-US" sz="1600" dirty="0">
                <a:solidFill>
                  <a:schemeClr val="bg2"/>
                </a:solidFill>
                <a:latin typeface="Courier New" pitchFamily="34" charset="0"/>
                <a:ea typeface="Courier New" pitchFamily="34" charset="-122"/>
                <a:cs typeface="Courier New" pitchFamily="34" charset="-120"/>
              </a:rPr>
              <a:t>exact  =  9q/8</a:t>
            </a:r>
            <a:endParaRPr lang="en-US" sz="1600" dirty="0"/>
          </a:p>
        </p:txBody>
      </p:sp>
      <p:sp>
        <p:nvSpPr>
          <p:cNvPr id="8" name="Text 5"/>
          <p:cNvSpPr txBox="1"/>
          <p:nvPr/>
        </p:nvSpPr>
        <p:spPr>
          <a:xfrm>
            <a:off x="822960" y="3977640"/>
            <a:ext cx="4846320" cy="777240"/>
          </a:xfrm>
          <a:prstGeom prst="rect">
            <a:avLst/>
          </a:prstGeom>
          <a:noFill/>
          <a:ln/>
        </p:spPr>
        <p:txBody>
          <a:bodyPr wrap="square" lIns="0" tIns="0" rIns="0" bIns="0" rtlCol="0" anchor="t"/>
          <a:lstStyle/>
          <a:p>
            <a:pPr indent="0" marL="0">
              <a:buNone/>
            </a:pPr>
            <a:r>
              <a:rPr lang="en-US" sz="1400" i="1" dirty="0">
                <a:solidFill>
                  <a:schemeClr val="accent1"/>
                </a:solidFill>
              </a:rPr>
              <a:t>Both results violate the previously claimed relative-error bound: the values sit inside [−1, 1] but underflow inexactly.</a:t>
            </a:r>
            <a:endParaRPr lang="en-US" sz="1400" dirty="0"/>
          </a:p>
        </p:txBody>
      </p:sp>
      <p:sp>
        <p:nvSpPr>
          <p:cNvPr id="9" name="repair"/>
          <p:cNvSpPr/>
          <p:nvPr/>
        </p:nvSpPr>
        <p:spPr>
          <a:xfrm>
            <a:off x="6263640" y="1325880"/>
            <a:ext cx="5394960" cy="3520440"/>
          </a:xfrm>
          <a:prstGeom prst="roundRect">
            <a:avLst>
              <a:gd name="adj" fmla="val 31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6537960" y="1554480"/>
            <a:ext cx="640080" cy="640080"/>
          </a:xfrm>
          <a:prstGeom prst="ellipse">
            <a:avLst/>
          </a:prstGeom>
          <a:solidFill>
            <a:schemeClr val="accent2"/>
          </a:solidFill>
          <a:ln w="12700">
            <a:solidFill>
              <a:schemeClr val="accent2"/>
            </a:solidFill>
            <a:prstDash val="solid"/>
          </a:ln>
        </p:spPr>
      </p:sp>
      <p:pic>
        <p:nvPicPr>
          <p:cNvPr id="11" name="Image 1" descr="preencoded.png">    </p:cNvPr>
          <p:cNvPicPr>
            <a:picLocks noChangeAspect="1"/>
          </p:cNvPicPr>
          <p:nvPr/>
        </p:nvPicPr>
        <p:blipFill>
          <a:blip r:embed="rId2"/>
          <a:stretch>
            <a:fillRect/>
          </a:stretch>
        </p:blipFill>
        <p:spPr>
          <a:xfrm>
            <a:off x="6691579" y="1708099"/>
            <a:ext cx="332842" cy="332842"/>
          </a:xfrm>
          <a:prstGeom prst="rect">
            <a:avLst/>
          </a:prstGeom>
        </p:spPr>
      </p:pic>
      <p:sp>
        <p:nvSpPr>
          <p:cNvPr id="12" name="Text 8"/>
          <p:cNvSpPr txBox="1"/>
          <p:nvPr/>
        </p:nvSpPr>
        <p:spPr>
          <a:xfrm>
            <a:off x="7360920" y="1627632"/>
            <a:ext cx="4114800" cy="457200"/>
          </a:xfrm>
          <a:prstGeom prst="rect">
            <a:avLst/>
          </a:prstGeom>
          <a:noFill/>
          <a:ln/>
        </p:spPr>
        <p:txBody>
          <a:bodyPr wrap="square" lIns="0" tIns="0" rIns="0" bIns="0" rtlCol="0" anchor="t"/>
          <a:lstStyle/>
          <a:p>
            <a:pPr indent="0" marL="0">
              <a:buNone/>
            </a:pPr>
            <a:r>
              <a:rPr lang="en-US" sz="2000" b="1" dirty="0">
                <a:solidFill>
                  <a:schemeClr val="tx1"/>
                </a:solidFill>
              </a:rPr>
              <a:t>Repair</a:t>
            </a:r>
            <a:endParaRPr lang="en-US" sz="2000" dirty="0"/>
          </a:p>
        </p:txBody>
      </p:sp>
      <p:sp>
        <p:nvSpPr>
          <p:cNvPr id="13" name="Text 9"/>
          <p:cNvSpPr txBox="1"/>
          <p:nvPr/>
        </p:nvSpPr>
        <p:spPr>
          <a:xfrm>
            <a:off x="6537960" y="2286000"/>
            <a:ext cx="4846320" cy="24688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Bounded admission now requires a representable product grid, a magnitude ceiling and slack for accumulated error</a:t>
            </a:r>
            <a:endParaRPr lang="en-US" sz="1500" dirty="0"/>
          </a:p>
          <a:p>
            <a:pPr marL="342900" indent="-342900">
              <a:spcAft>
                <a:spcPts val="600"/>
              </a:spcAft>
              <a:buSzPct val="100000"/>
              <a:buChar char="•"/>
            </a:pPr>
            <a:r>
              <a:rPr lang="en-US" sz="1500" dirty="0">
                <a:solidFill>
                  <a:schemeClr val="tx2"/>
                </a:solidFill>
              </a:rPr>
              <a:t>Excludes inexact underflow; exact subnormal results stay allowed</a:t>
            </a:r>
            <a:endParaRPr lang="en-US" sz="1500" dirty="0"/>
          </a:p>
          <a:p>
            <a:pPr marL="342900" indent="-342900">
              <a:spcAft>
                <a:spcPts val="600"/>
              </a:spcAft>
              <a:buSzPct val="100000"/>
              <a:buChar char="•"/>
            </a:pPr>
            <a:r>
              <a:rPr lang="en-US" sz="1500" dirty="0">
                <a:solidFill>
                  <a:schemeClr val="tx2"/>
                </a:solidFill>
              </a:rPr>
              <a:t>Deliberately conservative: a general real(1) chain is refused</a:t>
            </a:r>
            <a:endParaRPr lang="en-US" sz="1500" dirty="0"/>
          </a:p>
          <a:p>
            <a:pPr marL="342900" indent="-342900">
              <a:spcAft>
                <a:spcPts val="600"/>
              </a:spcAft>
              <a:buSzPct val="100000"/>
              <a:buChar char="•"/>
            </a:pPr>
            <a:r>
              <a:rPr lang="en-US" sz="1500" dirty="0">
                <a:solidFill>
                  <a:schemeClr val="tx2"/>
                </a:solidFill>
              </a:rPr>
              <a:t>Four new regression tests, including certificate falsification</a:t>
            </a:r>
            <a:endParaRPr lang="en-US" sz="1500" dirty="0"/>
          </a:p>
        </p:txBody>
      </p:sp>
      <p:sp>
        <p:nvSpPr>
          <p:cNvPr id="14" name="Text 10"/>
          <p:cNvSpPr txBox="1"/>
          <p:nvPr/>
        </p:nvSpPr>
        <p:spPr>
          <a:xfrm>
            <a:off x="548640" y="5074920"/>
            <a:ext cx="3657600" cy="822960"/>
          </a:xfrm>
          <a:prstGeom prst="rect">
            <a:avLst/>
          </a:prstGeom>
          <a:noFill/>
          <a:ln/>
        </p:spPr>
        <p:txBody>
          <a:bodyPr wrap="square" lIns="0" tIns="0" rIns="0" bIns="0" rtlCol="0" anchor="ctr"/>
          <a:lstStyle/>
          <a:p>
            <a:pPr indent="0" marL="0">
              <a:buNone/>
            </a:pPr>
            <a:r>
              <a:rPr lang="en-US" sz="1500" b="1" dirty="0">
                <a:solidFill>
                  <a:schemeClr val="tx1"/>
                </a:solidFill>
              </a:rPr>
              <a:t>Bounded recovery after the repair (RQ1 replay)</a:t>
            </a:r>
            <a:endParaRPr lang="en-US" sz="1500" dirty="0"/>
          </a:p>
        </p:txBody>
      </p:sp>
      <p:sp>
        <p:nvSpPr>
          <p:cNvPr id="15" name="Text 11"/>
          <p:cNvSpPr txBox="1"/>
          <p:nvPr/>
        </p:nvSpPr>
        <p:spPr>
          <a:xfrm>
            <a:off x="4297680" y="4983480"/>
            <a:ext cx="2377440" cy="594360"/>
          </a:xfrm>
          <a:prstGeom prst="rect">
            <a:avLst/>
          </a:prstGeom>
          <a:noFill/>
          <a:ln/>
        </p:spPr>
        <p:txBody>
          <a:bodyPr wrap="square" lIns="0" tIns="0" rIns="0" bIns="0" rtlCol="0" anchor="t"/>
          <a:lstStyle/>
          <a:p>
            <a:pPr indent="0" marL="0">
              <a:buNone/>
            </a:pPr>
            <a:r>
              <a:rPr lang="en-US" sz="3000" b="1" dirty="0">
                <a:solidFill>
                  <a:schemeClr val="accent2"/>
                </a:solidFill>
              </a:rPr>
              <a:t>100%</a:t>
            </a:r>
            <a:endParaRPr lang="en-US" sz="3000" dirty="0"/>
          </a:p>
        </p:txBody>
      </p:sp>
      <p:sp>
        <p:nvSpPr>
          <p:cNvPr id="16" name="Text 12"/>
          <p:cNvSpPr txBox="1"/>
          <p:nvPr/>
        </p:nvSpPr>
        <p:spPr>
          <a:xfrm>
            <a:off x="4297680" y="5577840"/>
            <a:ext cx="2377440" cy="365760"/>
          </a:xfrm>
          <a:prstGeom prst="rect">
            <a:avLst/>
          </a:prstGeom>
          <a:noFill/>
          <a:ln/>
        </p:spPr>
        <p:txBody>
          <a:bodyPr wrap="square" lIns="0" tIns="0" rIns="0" bIns="0" rtlCol="0" anchor="t"/>
          <a:lstStyle/>
          <a:p>
            <a:pPr indent="0" marL="0">
              <a:buNone/>
            </a:pPr>
            <a:r>
              <a:rPr lang="en-US" sz="1300" dirty="0">
                <a:solidFill>
                  <a:schemeClr val="tx2"/>
                </a:solidFill>
              </a:rPr>
              <a:t>integer domains, unchanged</a:t>
            </a:r>
            <a:endParaRPr lang="en-US" sz="1300" dirty="0"/>
          </a:p>
        </p:txBody>
      </p:sp>
      <p:sp>
        <p:nvSpPr>
          <p:cNvPr id="17" name="Text 13"/>
          <p:cNvSpPr txBox="1"/>
          <p:nvPr/>
        </p:nvSpPr>
        <p:spPr>
          <a:xfrm>
            <a:off x="6766560" y="4983480"/>
            <a:ext cx="2377440" cy="594360"/>
          </a:xfrm>
          <a:prstGeom prst="rect">
            <a:avLst/>
          </a:prstGeom>
          <a:noFill/>
          <a:ln/>
        </p:spPr>
        <p:txBody>
          <a:bodyPr wrap="square" lIns="0" tIns="0" rIns="0" bIns="0" rtlCol="0" anchor="t"/>
          <a:lstStyle/>
          <a:p>
            <a:pPr indent="0" marL="0">
              <a:buNone/>
            </a:pPr>
            <a:r>
              <a:rPr lang="en-US" sz="3000" b="1" dirty="0">
                <a:solidFill>
                  <a:schemeClr val="accent1"/>
                </a:solidFill>
              </a:rPr>
              <a:t>82.9%</a:t>
            </a:r>
            <a:endParaRPr lang="en-US" sz="3000" dirty="0"/>
          </a:p>
        </p:txBody>
      </p:sp>
      <p:sp>
        <p:nvSpPr>
          <p:cNvPr id="18" name="Text 14"/>
          <p:cNvSpPr txBox="1"/>
          <p:nvPr/>
        </p:nvSpPr>
        <p:spPr>
          <a:xfrm>
            <a:off x="6766560" y="5577840"/>
            <a:ext cx="2377440" cy="365760"/>
          </a:xfrm>
          <a:prstGeom prst="rect">
            <a:avLst/>
          </a:prstGeom>
          <a:noFill/>
          <a:ln/>
        </p:spPr>
        <p:txBody>
          <a:bodyPr wrap="square" lIns="0" tIns="0" rIns="0" bIns="0" rtlCol="0" anchor="t"/>
          <a:lstStyle/>
          <a:p>
            <a:pPr indent="0" marL="0">
              <a:buNone/>
            </a:pPr>
            <a:r>
              <a:rPr lang="en-US" sz="1300" dirty="0">
                <a:solidFill>
                  <a:schemeClr val="tx2"/>
                </a:solidFill>
              </a:rPr>
              <a:t>mixed domains</a:t>
            </a:r>
            <a:endParaRPr lang="en-US" sz="1300" dirty="0"/>
          </a:p>
        </p:txBody>
      </p:sp>
      <p:sp>
        <p:nvSpPr>
          <p:cNvPr id="19" name="Text 15"/>
          <p:cNvSpPr txBox="1"/>
          <p:nvPr/>
        </p:nvSpPr>
        <p:spPr>
          <a:xfrm>
            <a:off x="9235440" y="4983480"/>
            <a:ext cx="2377440" cy="594360"/>
          </a:xfrm>
          <a:prstGeom prst="rect">
            <a:avLst/>
          </a:prstGeom>
          <a:noFill/>
          <a:ln/>
        </p:spPr>
        <p:txBody>
          <a:bodyPr wrap="square" lIns="0" tIns="0" rIns="0" bIns="0" rtlCol="0" anchor="t"/>
          <a:lstStyle/>
          <a:p>
            <a:pPr indent="0" marL="0">
              <a:buNone/>
            </a:pPr>
            <a:r>
              <a:rPr lang="en-US" sz="3000" b="1" dirty="0">
                <a:solidFill>
                  <a:schemeClr val="accent3"/>
                </a:solidFill>
              </a:rPr>
              <a:t>43.7%</a:t>
            </a:r>
            <a:endParaRPr lang="en-US" sz="3000" dirty="0"/>
          </a:p>
        </p:txBody>
      </p:sp>
      <p:sp>
        <p:nvSpPr>
          <p:cNvPr id="20" name="Text 16"/>
          <p:cNvSpPr txBox="1"/>
          <p:nvPr/>
        </p:nvSpPr>
        <p:spPr>
          <a:xfrm>
            <a:off x="9235440" y="5577840"/>
            <a:ext cx="2377440" cy="365760"/>
          </a:xfrm>
          <a:prstGeom prst="rect">
            <a:avLst/>
          </a:prstGeom>
          <a:noFill/>
          <a:ln/>
        </p:spPr>
        <p:txBody>
          <a:bodyPr wrap="square" lIns="0" tIns="0" rIns="0" bIns="0" rtlCol="0" anchor="t"/>
          <a:lstStyle/>
          <a:p>
            <a:pPr indent="0" marL="0">
              <a:buNone/>
            </a:pPr>
            <a:r>
              <a:rPr lang="en-US" sz="1300" dirty="0">
                <a:solidFill>
                  <a:schemeClr val="tx2"/>
                </a:solidFill>
              </a:rPr>
              <a:t>real(1)</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Two implementations</a:t>
            </a:r>
            <a:endParaRPr lang="en-US" sz="3000" dirty="0"/>
          </a:p>
        </p:txBody>
      </p:sp>
      <p:sp>
        <p:nvSpPr>
          <p:cNvPr id="3" name="MatrixLang card"/>
          <p:cNvSpPr/>
          <p:nvPr/>
        </p:nvSpPr>
        <p:spPr>
          <a:xfrm>
            <a:off x="548640" y="1325880"/>
            <a:ext cx="5394960" cy="4297680"/>
          </a:xfrm>
          <a:prstGeom prst="roundRect">
            <a:avLst>
              <a:gd name="adj" fmla="val 2553"/>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822960" y="1600200"/>
            <a:ext cx="731520" cy="731520"/>
          </a:xfrm>
          <a:prstGeom prst="ellipse">
            <a:avLst/>
          </a:prstGeom>
          <a:solidFill>
            <a:schemeClr val="accent4"/>
          </a:solidFill>
          <a:ln w="12700">
            <a:solidFill>
              <a:schemeClr val="accent4"/>
            </a:solidFill>
            <a:prstDash val="solid"/>
          </a:ln>
        </p:spPr>
      </p:sp>
      <p:pic>
        <p:nvPicPr>
          <p:cNvPr id="5" name="Image 0" descr="preencoded.png">    </p:cNvPr>
          <p:cNvPicPr>
            <a:picLocks noChangeAspect="1"/>
          </p:cNvPicPr>
          <p:nvPr/>
        </p:nvPicPr>
        <p:blipFill>
          <a:blip r:embed="rId1"/>
          <a:stretch>
            <a:fillRect/>
          </a:stretch>
        </p:blipFill>
        <p:spPr>
          <a:xfrm>
            <a:off x="998525" y="1775765"/>
            <a:ext cx="380390" cy="380390"/>
          </a:xfrm>
          <a:prstGeom prst="rect">
            <a:avLst/>
          </a:prstGeom>
        </p:spPr>
      </p:pic>
      <p:sp>
        <p:nvSpPr>
          <p:cNvPr id="6" name="Text 3"/>
          <p:cNvSpPr txBox="1"/>
          <p:nvPr/>
        </p:nvSpPr>
        <p:spPr>
          <a:xfrm>
            <a:off x="1783080" y="1645920"/>
            <a:ext cx="3931920" cy="411480"/>
          </a:xfrm>
          <a:prstGeom prst="rect">
            <a:avLst/>
          </a:prstGeom>
          <a:noFill/>
          <a:ln/>
        </p:spPr>
        <p:txBody>
          <a:bodyPr wrap="square" lIns="0" tIns="0" rIns="0" bIns="0" rtlCol="0" anchor="t"/>
          <a:lstStyle/>
          <a:p>
            <a:pPr indent="0" marL="0">
              <a:buNone/>
            </a:pPr>
            <a:r>
              <a:rPr lang="en-US" sz="2200" b="1" dirty="0">
                <a:solidFill>
                  <a:schemeClr val="tx1"/>
                </a:solidFill>
              </a:rPr>
              <a:t>MatrixLang compiler</a:t>
            </a:r>
            <a:endParaRPr lang="en-US" sz="2200" dirty="0"/>
          </a:p>
        </p:txBody>
      </p:sp>
      <p:sp>
        <p:nvSpPr>
          <p:cNvPr id="7" name="Text 4"/>
          <p:cNvSpPr txBox="1"/>
          <p:nvPr/>
        </p:nvSpPr>
        <p:spPr>
          <a:xfrm>
            <a:off x="1783080" y="2057400"/>
            <a:ext cx="3931920" cy="320040"/>
          </a:xfrm>
          <a:prstGeom prst="rect">
            <a:avLst/>
          </a:prstGeom>
          <a:noFill/>
          <a:ln/>
        </p:spPr>
        <p:txBody>
          <a:bodyPr wrap="square" lIns="0" tIns="0" rIns="0" bIns="0" rtlCol="0" anchor="t"/>
          <a:lstStyle/>
          <a:p>
            <a:pPr indent="0" marL="0">
              <a:buNone/>
            </a:pPr>
            <a:r>
              <a:rPr lang="en-US" sz="1400" i="1" dirty="0">
                <a:solidFill>
                  <a:schemeClr val="accent5"/>
                </a:solidFill>
              </a:rPr>
              <a:t>Flex, Bison and C11</a:t>
            </a:r>
            <a:endParaRPr lang="en-US" sz="1400" dirty="0"/>
          </a:p>
        </p:txBody>
      </p:sp>
      <p:sp>
        <p:nvSpPr>
          <p:cNvPr id="8" name="Text 5"/>
          <p:cNvSpPr txBox="1"/>
          <p:nvPr/>
        </p:nvSpPr>
        <p:spPr>
          <a:xfrm>
            <a:off x="822960" y="2651760"/>
            <a:ext cx="484632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Straight-line matrix language; inputs declare domains such as input(int8) or input(real(1))</a:t>
            </a:r>
            <a:endParaRPr lang="en-US" sz="1600" dirty="0"/>
          </a:p>
          <a:p>
            <a:pPr marL="342900" indent="-342900">
              <a:spcAft>
                <a:spcPts val="800"/>
              </a:spcAft>
              <a:buSzPct val="100000"/>
              <a:buChar char="•"/>
            </a:pPr>
            <a:r>
              <a:rPr lang="en-US" sz="1600" dirty="0">
                <a:solidFill>
                  <a:schemeClr val="tx2"/>
                </a:solidFill>
              </a:rPr>
              <a:t>Shape checking, three-address code, typed stack VM</a:t>
            </a:r>
            <a:endParaRPr lang="en-US" sz="1600" dirty="0"/>
          </a:p>
          <a:p>
            <a:pPr marL="342900" indent="-342900">
              <a:spcAft>
                <a:spcPts val="800"/>
              </a:spcAft>
              <a:buSzPct val="100000"/>
              <a:buChar char="•"/>
            </a:pPr>
            <a:r>
              <a:rPr lang="en-US" sz="1600" dirty="0">
                <a:solidFill>
                  <a:schemeClr val="tx2"/>
                </a:solidFill>
              </a:rPr>
              <a:t>Reorders matrix chains under the selected contract</a:t>
            </a:r>
            <a:endParaRPr lang="en-US" sz="1600" dirty="0"/>
          </a:p>
          <a:p>
            <a:pPr marL="342900" indent="-342900">
              <a:spcAft>
                <a:spcPts val="800"/>
              </a:spcAft>
              <a:buSzPct val="100000"/>
              <a:buChar char="•"/>
            </a:pPr>
            <a:r>
              <a:rPr lang="en-US" sz="1600" dirty="0">
                <a:solidFill>
                  <a:schemeClr val="tx2"/>
                </a:solidFill>
              </a:rPr>
              <a:t>C backend with OpenMP reduction clauses</a:t>
            </a:r>
            <a:endParaRPr lang="en-US" sz="1600" dirty="0"/>
          </a:p>
          <a:p>
            <a:pPr marL="342900" indent="-342900">
              <a:spcAft>
                <a:spcPts val="800"/>
              </a:spcAft>
              <a:buSzPct val="100000"/>
              <a:buChar char="•"/>
            </a:pPr>
            <a:r>
              <a:rPr lang="en-US" sz="1600" dirty="0">
                <a:solidFill>
                  <a:schemeClr val="tx2"/>
                </a:solidFill>
              </a:rPr>
              <a:t>Certificate for every output, exportable as JSON Lines</a:t>
            </a:r>
            <a:endParaRPr lang="en-US" sz="1600" dirty="0"/>
          </a:p>
        </p:txBody>
      </p:sp>
      <p:sp>
        <p:nvSpPr>
          <p:cNvPr id="9" name="ExactReduce card"/>
          <p:cNvSpPr/>
          <p:nvPr/>
        </p:nvSpPr>
        <p:spPr>
          <a:xfrm>
            <a:off x="6263640" y="1325880"/>
            <a:ext cx="5394960" cy="4297680"/>
          </a:xfrm>
          <a:prstGeom prst="roundRect">
            <a:avLst>
              <a:gd name="adj" fmla="val 2553"/>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6537960" y="1600200"/>
            <a:ext cx="731520" cy="731520"/>
          </a:xfrm>
          <a:prstGeom prst="ellipse">
            <a:avLst/>
          </a:prstGeom>
          <a:solidFill>
            <a:schemeClr val="accent2"/>
          </a:solidFill>
          <a:ln w="12700">
            <a:solidFill>
              <a:schemeClr val="accent2"/>
            </a:solidFill>
            <a:prstDash val="solid"/>
          </a:ln>
        </p:spPr>
      </p:sp>
      <p:pic>
        <p:nvPicPr>
          <p:cNvPr id="11" name="Image 1" descr="preencoded.png">    </p:cNvPr>
          <p:cNvPicPr>
            <a:picLocks noChangeAspect="1"/>
          </p:cNvPicPr>
          <p:nvPr/>
        </p:nvPicPr>
        <p:blipFill>
          <a:blip r:embed="rId2"/>
          <a:stretch>
            <a:fillRect/>
          </a:stretch>
        </p:blipFill>
        <p:spPr>
          <a:xfrm>
            <a:off x="6713525" y="1775765"/>
            <a:ext cx="380390" cy="380390"/>
          </a:xfrm>
          <a:prstGeom prst="rect">
            <a:avLst/>
          </a:prstGeom>
        </p:spPr>
      </p:pic>
      <p:sp>
        <p:nvSpPr>
          <p:cNvPr id="12" name="Text 8"/>
          <p:cNvSpPr txBox="1"/>
          <p:nvPr/>
        </p:nvSpPr>
        <p:spPr>
          <a:xfrm>
            <a:off x="7498080" y="1645920"/>
            <a:ext cx="3931920" cy="411480"/>
          </a:xfrm>
          <a:prstGeom prst="rect">
            <a:avLst/>
          </a:prstGeom>
          <a:noFill/>
          <a:ln/>
        </p:spPr>
        <p:txBody>
          <a:bodyPr wrap="square" lIns="0" tIns="0" rIns="0" bIns="0" rtlCol="0" anchor="t"/>
          <a:lstStyle/>
          <a:p>
            <a:pPr indent="0" marL="0">
              <a:buNone/>
            </a:pPr>
            <a:r>
              <a:rPr lang="en-US" sz="2200" b="1" dirty="0">
                <a:solidFill>
                  <a:schemeClr val="tx1"/>
                </a:solidFill>
              </a:rPr>
              <a:t>ExactReduce LLVM pass</a:t>
            </a:r>
            <a:endParaRPr lang="en-US" sz="2200" dirty="0"/>
          </a:p>
        </p:txBody>
      </p:sp>
      <p:sp>
        <p:nvSpPr>
          <p:cNvPr id="13" name="Text 9"/>
          <p:cNvSpPr txBox="1"/>
          <p:nvPr/>
        </p:nvSpPr>
        <p:spPr>
          <a:xfrm>
            <a:off x="7498080" y="2057400"/>
            <a:ext cx="3931920" cy="320040"/>
          </a:xfrm>
          <a:prstGeom prst="rect">
            <a:avLst/>
          </a:prstGeom>
          <a:noFill/>
          <a:ln/>
        </p:spPr>
        <p:txBody>
          <a:bodyPr wrap="square" lIns="0" tIns="0" rIns="0" bIns="0" rtlCol="0" anchor="t"/>
          <a:lstStyle/>
          <a:p>
            <a:pPr indent="0" marL="0">
              <a:buNone/>
            </a:pPr>
            <a:r>
              <a:rPr lang="en-US" sz="1400" i="1" dirty="0">
                <a:solidFill>
                  <a:schemeClr val="accent5"/>
                </a:solidFill>
              </a:rPr>
              <a:t>LLVM 18, VectorizerStart, clang -fpass-plugin</a:t>
            </a:r>
            <a:endParaRPr lang="en-US" sz="1400" dirty="0"/>
          </a:p>
        </p:txBody>
      </p:sp>
      <p:sp>
        <p:nvSpPr>
          <p:cNvPr id="14" name="Text 10"/>
          <p:cNvSpPr txBox="1"/>
          <p:nvPr/>
        </p:nvSpPr>
        <p:spPr>
          <a:xfrm>
            <a:off x="6537960" y="2651760"/>
            <a:ext cx="484632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Derives grid facts from integer conversions in ordinary C</a:t>
            </a:r>
            <a:endParaRPr lang="en-US" sz="1600" dirty="0"/>
          </a:p>
          <a:p>
            <a:pPr marL="342900" indent="-342900">
              <a:spcAft>
                <a:spcPts val="800"/>
              </a:spcAft>
              <a:buSzPct val="100000"/>
              <a:buChar char="•"/>
            </a:pPr>
            <a:r>
              <a:rPr lang="en-US" sz="1600" dirty="0">
                <a:solidFill>
                  <a:schemeClr val="tx2"/>
                </a:solidFill>
              </a:rPr>
              <a:t>Proves a reduction exact statically, or guards it with a strict fallback loop</a:t>
            </a:r>
            <a:endParaRPr lang="en-US" sz="1600" dirty="0"/>
          </a:p>
          <a:p>
            <a:pPr marL="342900" indent="-342900">
              <a:spcAft>
                <a:spcPts val="800"/>
              </a:spcAft>
              <a:buSzPct val="100000"/>
              <a:buChar char="•"/>
            </a:pPr>
            <a:r>
              <a:rPr lang="en-US" sz="1600" dirty="0">
                <a:solidFill>
                  <a:schemeClr val="tx2"/>
                </a:solidFill>
              </a:rPr>
              <a:t>Sets reassoc only on supported add, sub and fmuladd recurrences; no broader flags</a:t>
            </a:r>
            <a:endParaRPr lang="en-US" sz="1600" dirty="0"/>
          </a:p>
          <a:p>
            <a:pPr marL="342900" indent="-342900">
              <a:spcAft>
                <a:spcPts val="800"/>
              </a:spcAft>
              <a:buSzPct val="100000"/>
              <a:buChar char="•"/>
            </a:pPr>
            <a:r>
              <a:rPr lang="en-US" sz="1600" dirty="0">
                <a:solidFill>
                  <a:schemeClr val="tx2"/>
                </a:solidFill>
              </a:rPr>
              <a:t>Or replaces floating-point accumulation with integer accumulation</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RQ1: how much optimization each contract keeps</a:t>
            </a:r>
            <a:endParaRPr lang="en-US" sz="3000" dirty="0"/>
          </a:p>
        </p:txBody>
      </p:sp>
      <p:graphicFrame>
        <p:nvGraphicFramePr>
          <p:cNvPr id="3" name="Chart 0" descr=""/>
          <p:cNvGraphicFramePr/>
          <p:nvPr/>
        </p:nvGraphicFramePr>
        <p:xfrm>
          <a:off x="548640" y="123444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95360" y="1371600"/>
            <a:ext cx="3017520" cy="685800"/>
          </a:xfrm>
          <a:prstGeom prst="rect">
            <a:avLst/>
          </a:prstGeom>
          <a:noFill/>
          <a:ln/>
        </p:spPr>
        <p:txBody>
          <a:bodyPr wrap="square" lIns="0" tIns="0" rIns="0" bIns="0" rtlCol="0" anchor="t"/>
          <a:lstStyle/>
          <a:p>
            <a:pPr indent="0" marL="0">
              <a:buNone/>
            </a:pPr>
            <a:r>
              <a:rPr lang="en-US" sz="3600" b="1" dirty="0">
                <a:solidFill>
                  <a:schemeClr val="tx1"/>
                </a:solidFill>
              </a:rPr>
              <a:t>15,000</a:t>
            </a:r>
            <a:endParaRPr lang="en-US" sz="3600" dirty="0"/>
          </a:p>
        </p:txBody>
      </p:sp>
      <p:sp>
        <p:nvSpPr>
          <p:cNvPr id="5" name="Text 2"/>
          <p:cNvSpPr txBox="1"/>
          <p:nvPr/>
        </p:nvSpPr>
        <p:spPr>
          <a:xfrm>
            <a:off x="8595360" y="2057400"/>
            <a:ext cx="3017520" cy="640080"/>
          </a:xfrm>
          <a:prstGeom prst="rect">
            <a:avLst/>
          </a:prstGeom>
          <a:noFill/>
          <a:ln/>
        </p:spPr>
        <p:txBody>
          <a:bodyPr wrap="square" lIns="0" tIns="0" rIns="0" bIns="0" rtlCol="0" anchor="t"/>
          <a:lstStyle/>
          <a:p>
            <a:pPr indent="0" marL="0">
              <a:buNone/>
            </a:pPr>
            <a:r>
              <a:rPr lang="en-US" sz="1400" dirty="0">
                <a:solidFill>
                  <a:schemeClr val="tx2"/>
                </a:solidFill>
              </a:rPr>
              <a:t>programs, 60,000 compilations, none failing</a:t>
            </a:r>
            <a:endParaRPr lang="en-US" sz="1400" dirty="0"/>
          </a:p>
        </p:txBody>
      </p:sp>
      <p:sp>
        <p:nvSpPr>
          <p:cNvPr id="6" name="Text 3"/>
          <p:cNvSpPr txBox="1"/>
          <p:nvPr/>
        </p:nvSpPr>
        <p:spPr>
          <a:xfrm>
            <a:off x="8595360" y="2926080"/>
            <a:ext cx="3017520" cy="685800"/>
          </a:xfrm>
          <a:prstGeom prst="rect">
            <a:avLst/>
          </a:prstGeom>
          <a:noFill/>
          <a:ln/>
        </p:spPr>
        <p:txBody>
          <a:bodyPr wrap="square" lIns="0" tIns="0" rIns="0" bIns="0" rtlCol="0" anchor="t"/>
          <a:lstStyle/>
          <a:p>
            <a:pPr indent="0" marL="0">
              <a:buNone/>
            </a:pPr>
            <a:r>
              <a:rPr lang="en-US" sz="3600" b="1" dirty="0">
                <a:solidFill>
                  <a:schemeClr val="accent1"/>
                </a:solidFill>
              </a:rPr>
              <a:t>100%</a:t>
            </a:r>
            <a:endParaRPr lang="en-US" sz="3600" dirty="0"/>
          </a:p>
        </p:txBody>
      </p:sp>
      <p:sp>
        <p:nvSpPr>
          <p:cNvPr id="7" name="Text 4"/>
          <p:cNvSpPr txBox="1"/>
          <p:nvPr/>
        </p:nvSpPr>
        <p:spPr>
          <a:xfrm>
            <a:off x="8595360" y="3611880"/>
            <a:ext cx="3017520" cy="640080"/>
          </a:xfrm>
          <a:prstGeom prst="rect">
            <a:avLst/>
          </a:prstGeom>
          <a:noFill/>
          <a:ln/>
        </p:spPr>
        <p:txBody>
          <a:bodyPr wrap="square" lIns="0" tIns="0" rIns="0" bIns="0" rtlCol="0" anchor="t"/>
          <a:lstStyle/>
          <a:p>
            <a:pPr indent="0" marL="0">
              <a:buNone/>
            </a:pPr>
            <a:r>
              <a:rPr lang="en-US" sz="1400" dirty="0">
                <a:solidFill>
                  <a:schemeClr val="tx2"/>
                </a:solidFill>
              </a:rPr>
              <a:t>bounded recovery on every integer and literal domain</a:t>
            </a:r>
            <a:endParaRPr lang="en-US" sz="1400" dirty="0"/>
          </a:p>
        </p:txBody>
      </p:sp>
      <p:sp>
        <p:nvSpPr>
          <p:cNvPr id="8" name="Text 5"/>
          <p:cNvSpPr txBox="1"/>
          <p:nvPr/>
        </p:nvSpPr>
        <p:spPr>
          <a:xfrm>
            <a:off x="8595360" y="4480560"/>
            <a:ext cx="3017520" cy="685800"/>
          </a:xfrm>
          <a:prstGeom prst="rect">
            <a:avLst/>
          </a:prstGeom>
          <a:noFill/>
          <a:ln/>
        </p:spPr>
        <p:txBody>
          <a:bodyPr wrap="square" lIns="0" tIns="0" rIns="0" bIns="0" rtlCol="0" anchor="t"/>
          <a:lstStyle/>
          <a:p>
            <a:pPr indent="0" marL="0">
              <a:buNone/>
            </a:pPr>
            <a:r>
              <a:rPr lang="en-US" sz="3600" b="1" dirty="0">
                <a:solidFill>
                  <a:schemeClr val="accent3"/>
                </a:solidFill>
              </a:rPr>
              <a:t>43.7%</a:t>
            </a:r>
            <a:endParaRPr lang="en-US" sz="3600" dirty="0"/>
          </a:p>
        </p:txBody>
      </p:sp>
      <p:sp>
        <p:nvSpPr>
          <p:cNvPr id="9" name="Text 6"/>
          <p:cNvSpPr txBox="1"/>
          <p:nvPr/>
        </p:nvSpPr>
        <p:spPr>
          <a:xfrm>
            <a:off x="8595360" y="5166360"/>
            <a:ext cx="3017520" cy="640080"/>
          </a:xfrm>
          <a:prstGeom prst="rect">
            <a:avLst/>
          </a:prstGeom>
          <a:noFill/>
          <a:ln/>
        </p:spPr>
        <p:txBody>
          <a:bodyPr wrap="square" lIns="0" tIns="0" rIns="0" bIns="0" rtlCol="0" anchor="t"/>
          <a:lstStyle/>
          <a:p>
            <a:pPr indent="0" marL="0">
              <a:buNone/>
            </a:pPr>
            <a:r>
              <a:rPr lang="en-US" sz="1400" dirty="0">
                <a:solidFill>
                  <a:schemeClr val="tx2"/>
                </a:solidFill>
              </a:rPr>
              <a:t>on real(1): the conservative price of excluding underflow</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RQ7: fast-math speed with strict bits in LLVM</a:t>
            </a:r>
            <a:endParaRPr lang="en-US" sz="3000" dirty="0"/>
          </a:p>
        </p:txBody>
      </p:sp>
      <p:graphicFrame>
        <p:nvGraphicFramePr>
          <p:cNvPr id="3" name="Chart 0" descr=""/>
          <p:cNvGraphicFramePr/>
          <p:nvPr/>
        </p:nvGraphicFramePr>
        <p:xfrm>
          <a:off x="548640" y="1234440"/>
          <a:ext cx="768096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95360" y="1371600"/>
            <a:ext cx="3017520" cy="685800"/>
          </a:xfrm>
          <a:prstGeom prst="rect">
            <a:avLst/>
          </a:prstGeom>
          <a:noFill/>
          <a:ln/>
        </p:spPr>
        <p:txBody>
          <a:bodyPr wrap="square" lIns="0" tIns="0" rIns="0" bIns="0" rtlCol="0" anchor="t"/>
          <a:lstStyle/>
          <a:p>
            <a:pPr indent="0" marL="0">
              <a:buNone/>
            </a:pPr>
            <a:r>
              <a:rPr lang="en-US" sz="3600" b="1" dirty="0">
                <a:solidFill>
                  <a:schemeClr val="accent2"/>
                </a:solidFill>
              </a:rPr>
              <a:t>5.09–9.71×</a:t>
            </a:r>
            <a:endParaRPr lang="en-US" sz="3600" dirty="0"/>
          </a:p>
        </p:txBody>
      </p:sp>
      <p:sp>
        <p:nvSpPr>
          <p:cNvPr id="5" name="Text 2"/>
          <p:cNvSpPr txBox="1"/>
          <p:nvPr/>
        </p:nvSpPr>
        <p:spPr>
          <a:xfrm>
            <a:off x="8595360" y="2057400"/>
            <a:ext cx="3017520" cy="640080"/>
          </a:xfrm>
          <a:prstGeom prst="rect">
            <a:avLst/>
          </a:prstGeom>
          <a:noFill/>
          <a:ln/>
        </p:spPr>
        <p:txBody>
          <a:bodyPr wrap="square" lIns="0" tIns="0" rIns="0" bIns="0" rtlCol="0" anchor="t"/>
          <a:lstStyle/>
          <a:p>
            <a:pPr indent="0" marL="0">
              <a:buNone/>
            </a:pPr>
            <a:r>
              <a:rPr lang="en-US" sz="1400" dirty="0">
                <a:solidFill>
                  <a:schemeClr val="tx2"/>
                </a:solidFill>
              </a:rPr>
              <a:t>faster than strict Clang on nine integer-data kernels</a:t>
            </a:r>
            <a:endParaRPr lang="en-US" sz="1400" dirty="0"/>
          </a:p>
        </p:txBody>
      </p:sp>
      <p:sp>
        <p:nvSpPr>
          <p:cNvPr id="6" name="Text 3"/>
          <p:cNvSpPr txBox="1"/>
          <p:nvPr/>
        </p:nvSpPr>
        <p:spPr>
          <a:xfrm>
            <a:off x="8595360" y="2926080"/>
            <a:ext cx="3017520" cy="685800"/>
          </a:xfrm>
          <a:prstGeom prst="rect">
            <a:avLst/>
          </a:prstGeom>
          <a:noFill/>
          <a:ln/>
        </p:spPr>
        <p:txBody>
          <a:bodyPr wrap="square" lIns="0" tIns="0" rIns="0" bIns="0" rtlCol="0" anchor="t"/>
          <a:lstStyle/>
          <a:p>
            <a:pPr indent="0" marL="0">
              <a:buNone/>
            </a:pPr>
            <a:r>
              <a:rPr lang="en-US" sz="3600" b="1" dirty="0">
                <a:solidFill>
                  <a:schemeClr val="tx1"/>
                </a:solidFill>
              </a:rPr>
              <a:t>95–102%</a:t>
            </a:r>
            <a:endParaRPr lang="en-US" sz="3600" dirty="0"/>
          </a:p>
        </p:txBody>
      </p:sp>
      <p:sp>
        <p:nvSpPr>
          <p:cNvPr id="7" name="Text 4"/>
          <p:cNvSpPr txBox="1"/>
          <p:nvPr/>
        </p:nvSpPr>
        <p:spPr>
          <a:xfrm>
            <a:off x="8595360" y="3611880"/>
            <a:ext cx="3017520" cy="640080"/>
          </a:xfrm>
          <a:prstGeom prst="rect">
            <a:avLst/>
          </a:prstGeom>
          <a:noFill/>
          <a:ln/>
        </p:spPr>
        <p:txBody>
          <a:bodyPr wrap="square" lIns="0" tIns="0" rIns="0" bIns="0" rtlCol="0" anchor="t"/>
          <a:lstStyle/>
          <a:p>
            <a:pPr indent="0" marL="0">
              <a:buNone/>
            </a:pPr>
            <a:r>
              <a:rPr lang="en-US" sz="1400" dirty="0">
                <a:solidFill>
                  <a:schemeClr val="tx2"/>
                </a:solidFill>
              </a:rPr>
              <a:t>of -ffast-math's speedup, with the strict result bits</a:t>
            </a:r>
            <a:endParaRPr lang="en-US" sz="1400" dirty="0"/>
          </a:p>
        </p:txBody>
      </p:sp>
      <p:sp>
        <p:nvSpPr>
          <p:cNvPr id="8" name="Text 5"/>
          <p:cNvSpPr txBox="1"/>
          <p:nvPr/>
        </p:nvSpPr>
        <p:spPr>
          <a:xfrm>
            <a:off x="8595360" y="4480560"/>
            <a:ext cx="3017520" cy="685800"/>
          </a:xfrm>
          <a:prstGeom prst="rect">
            <a:avLst/>
          </a:prstGeom>
          <a:noFill/>
          <a:ln/>
        </p:spPr>
        <p:txBody>
          <a:bodyPr wrap="square" lIns="0" tIns="0" rIns="0" bIns="0" rtlCol="0" anchor="t"/>
          <a:lstStyle/>
          <a:p>
            <a:pPr indent="0" marL="0">
              <a:buNone/>
            </a:pPr>
            <a:r>
              <a:rPr lang="en-US" sz="3600" b="1" dirty="0">
                <a:solidFill>
                  <a:schemeClr val="accent4"/>
                </a:solidFill>
              </a:rPr>
              <a:t>102%</a:t>
            </a:r>
            <a:endParaRPr lang="en-US" sz="3600" dirty="0"/>
          </a:p>
        </p:txBody>
      </p:sp>
      <p:sp>
        <p:nvSpPr>
          <p:cNvPr id="9" name="Text 6"/>
          <p:cNvSpPr txBox="1"/>
          <p:nvPr/>
        </p:nvSpPr>
        <p:spPr>
          <a:xfrm>
            <a:off x="8595360" y="5166360"/>
            <a:ext cx="3017520" cy="640080"/>
          </a:xfrm>
          <a:prstGeom prst="rect">
            <a:avLst/>
          </a:prstGeom>
          <a:noFill/>
          <a:ln/>
        </p:spPr>
        <p:txBody>
          <a:bodyPr wrap="square" lIns="0" tIns="0" rIns="0" bIns="0" rtlCol="0" anchor="t"/>
          <a:lstStyle/>
          <a:p>
            <a:pPr indent="0" marL="0">
              <a:buNone/>
            </a:pPr>
            <a:r>
              <a:rPr lang="en-US" sz="1400" dirty="0">
                <a:solidFill>
                  <a:schemeClr val="tx2"/>
                </a:solidFill>
              </a:rPr>
              <a:t>median speed of the integer rewrite vs. hand-written integer code</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Checked, not assumed</a:t>
            </a:r>
            <a:endParaRPr lang="en-US" sz="3000" dirty="0"/>
          </a:p>
        </p:txBody>
      </p:sp>
      <p:sp>
        <p:nvSpPr>
          <p:cNvPr id="3" name="check 0"/>
          <p:cNvSpPr/>
          <p:nvPr/>
        </p:nvSpPr>
        <p:spPr>
          <a:xfrm>
            <a:off x="548640" y="1325880"/>
            <a:ext cx="539496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Shape 2"/>
          <p:cNvSpPr/>
          <p:nvPr/>
        </p:nvSpPr>
        <p:spPr>
          <a:xfrm>
            <a:off x="822960" y="1600200"/>
            <a:ext cx="685800" cy="685800"/>
          </a:xfrm>
          <a:prstGeom prst="ellipse">
            <a:avLst/>
          </a:prstGeom>
          <a:solidFill>
            <a:schemeClr val="accent2"/>
          </a:solidFill>
          <a:ln w="12700">
            <a:solidFill>
              <a:schemeClr val="accent2"/>
            </a:solidFill>
            <a:prstDash val="solid"/>
          </a:ln>
        </p:spPr>
      </p:sp>
      <p:pic>
        <p:nvPicPr>
          <p:cNvPr id="5" name="Image 0" descr="preencoded.png">    </p:cNvPr>
          <p:cNvPicPr>
            <a:picLocks noChangeAspect="1"/>
          </p:cNvPicPr>
          <p:nvPr/>
        </p:nvPicPr>
        <p:blipFill>
          <a:blip r:embed="rId1"/>
          <a:stretch>
            <a:fillRect/>
          </a:stretch>
        </p:blipFill>
        <p:spPr>
          <a:xfrm>
            <a:off x="987552" y="1764792"/>
            <a:ext cx="356616" cy="356616"/>
          </a:xfrm>
          <a:prstGeom prst="rect">
            <a:avLst/>
          </a:prstGeom>
        </p:spPr>
      </p:pic>
      <p:sp>
        <p:nvSpPr>
          <p:cNvPr id="6" name="Text 3"/>
          <p:cNvSpPr txBox="1"/>
          <p:nvPr/>
        </p:nvSpPr>
        <p:spPr>
          <a:xfrm>
            <a:off x="1737360" y="1554480"/>
            <a:ext cx="4023360" cy="777240"/>
          </a:xfrm>
          <a:prstGeom prst="rect">
            <a:avLst/>
          </a:prstGeom>
          <a:noFill/>
          <a:ln/>
        </p:spPr>
        <p:txBody>
          <a:bodyPr wrap="square" lIns="0" tIns="0" rIns="0" bIns="0" rtlCol="0" anchor="ctr"/>
          <a:lstStyle/>
          <a:p>
            <a:pPr indent="0" marL="0">
              <a:buNone/>
            </a:pPr>
            <a:r>
              <a:rPr lang="en-US" sz="3600" b="1" dirty="0">
                <a:solidFill>
                  <a:schemeClr val="accent2"/>
                </a:solidFill>
              </a:rPr>
              <a:t>0 / 57,600</a:t>
            </a:r>
            <a:endParaRPr lang="en-US" sz="3600" dirty="0"/>
          </a:p>
        </p:txBody>
      </p:sp>
      <p:sp>
        <p:nvSpPr>
          <p:cNvPr id="7" name="Text 4"/>
          <p:cNvSpPr txBox="1"/>
          <p:nvPr/>
        </p:nvSpPr>
        <p:spPr>
          <a:xfrm>
            <a:off x="822960" y="2468880"/>
            <a:ext cx="4846320" cy="868680"/>
          </a:xfrm>
          <a:prstGeom prst="rect">
            <a:avLst/>
          </a:prstGeom>
          <a:noFill/>
          <a:ln/>
        </p:spPr>
        <p:txBody>
          <a:bodyPr wrap="square" lIns="0" tIns="0" rIns="0" bIns="0" rtlCol="0" anchor="t"/>
          <a:lstStyle/>
          <a:p>
            <a:pPr indent="0" marL="0">
              <a:buNone/>
            </a:pPr>
            <a:r>
              <a:rPr lang="en-US" sz="1500" dirty="0">
                <a:solidFill>
                  <a:schemeClr val="tx2"/>
                </a:solidFill>
              </a:rPr>
              <a:t>RQ2 arm executions where an output certified bit-identical differed (post-repair replay)</a:t>
            </a:r>
            <a:endParaRPr lang="en-US" sz="1500" dirty="0"/>
          </a:p>
        </p:txBody>
      </p:sp>
      <p:sp>
        <p:nvSpPr>
          <p:cNvPr id="8" name="check 1"/>
          <p:cNvSpPr/>
          <p:nvPr/>
        </p:nvSpPr>
        <p:spPr>
          <a:xfrm>
            <a:off x="6217920" y="1325880"/>
            <a:ext cx="539496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6492240" y="1600200"/>
            <a:ext cx="685800" cy="6858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6656832" y="1764792"/>
            <a:ext cx="356616" cy="356616"/>
          </a:xfrm>
          <a:prstGeom prst="rect">
            <a:avLst/>
          </a:prstGeom>
        </p:spPr>
      </p:pic>
      <p:sp>
        <p:nvSpPr>
          <p:cNvPr id="11" name="Text 7"/>
          <p:cNvSpPr txBox="1"/>
          <p:nvPr/>
        </p:nvSpPr>
        <p:spPr>
          <a:xfrm>
            <a:off x="7406640" y="1554480"/>
            <a:ext cx="4023360" cy="777240"/>
          </a:xfrm>
          <a:prstGeom prst="rect">
            <a:avLst/>
          </a:prstGeom>
          <a:noFill/>
          <a:ln/>
        </p:spPr>
        <p:txBody>
          <a:bodyPr wrap="square" lIns="0" tIns="0" rIns="0" bIns="0" rtlCol="0" anchor="ctr"/>
          <a:lstStyle/>
          <a:p>
            <a:pPr indent="0" marL="0">
              <a:buNone/>
            </a:pPr>
            <a:r>
              <a:rPr lang="en-US" sz="3600" b="1" dirty="0">
                <a:solidFill>
                  <a:schemeClr val="accent2"/>
                </a:solidFill>
              </a:rPr>
              <a:t>0 / 784</a:t>
            </a:r>
            <a:endParaRPr lang="en-US" sz="3600" dirty="0"/>
          </a:p>
        </p:txBody>
      </p:sp>
      <p:sp>
        <p:nvSpPr>
          <p:cNvPr id="12" name="Text 8"/>
          <p:cNvSpPr txBox="1"/>
          <p:nvPr/>
        </p:nvSpPr>
        <p:spPr>
          <a:xfrm>
            <a:off x="6492240" y="2468880"/>
            <a:ext cx="4846320" cy="868680"/>
          </a:xfrm>
          <a:prstGeom prst="rect">
            <a:avLst/>
          </a:prstGeom>
          <a:noFill/>
          <a:ln/>
        </p:spPr>
        <p:txBody>
          <a:bodyPr wrap="square" lIns="0" tIns="0" rIns="0" bIns="0" rtlCol="0" anchor="t"/>
          <a:lstStyle/>
          <a:p>
            <a:pPr indent="0" marL="0">
              <a:buNone/>
            </a:pPr>
            <a:r>
              <a:rPr lang="en-US" sz="1500" dirty="0">
                <a:solidFill>
                  <a:schemeClr val="tx2"/>
                </a:solidFill>
              </a:rPr>
              <a:t>adversarial cases changed by the licensed or integer build; ‑ffast‑math changed 14 integer cases</a:t>
            </a:r>
            <a:endParaRPr lang="en-US" sz="1500" dirty="0"/>
          </a:p>
        </p:txBody>
      </p:sp>
      <p:sp>
        <p:nvSpPr>
          <p:cNvPr id="13" name="check 2"/>
          <p:cNvSpPr/>
          <p:nvPr/>
        </p:nvSpPr>
        <p:spPr>
          <a:xfrm>
            <a:off x="548640" y="3657600"/>
            <a:ext cx="539496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4" name="Shape 10"/>
          <p:cNvSpPr/>
          <p:nvPr/>
        </p:nvSpPr>
        <p:spPr>
          <a:xfrm>
            <a:off x="822960" y="3931920"/>
            <a:ext cx="685800" cy="685800"/>
          </a:xfrm>
          <a:prstGeom prst="ellipse">
            <a:avLst/>
          </a:prstGeom>
          <a:solidFill>
            <a:schemeClr val="accent4"/>
          </a:solidFill>
          <a:ln w="12700">
            <a:solidFill>
              <a:schemeClr val="accent4"/>
            </a:solidFill>
            <a:prstDash val="solid"/>
          </a:ln>
        </p:spPr>
      </p:sp>
      <p:pic>
        <p:nvPicPr>
          <p:cNvPr id="15" name="Image 2" descr="preencoded.png">    </p:cNvPr>
          <p:cNvPicPr>
            <a:picLocks noChangeAspect="1"/>
          </p:cNvPicPr>
          <p:nvPr/>
        </p:nvPicPr>
        <p:blipFill>
          <a:blip r:embed="rId3"/>
          <a:stretch>
            <a:fillRect/>
          </a:stretch>
        </p:blipFill>
        <p:spPr>
          <a:xfrm>
            <a:off x="987552" y="4096512"/>
            <a:ext cx="356616" cy="356616"/>
          </a:xfrm>
          <a:prstGeom prst="rect">
            <a:avLst/>
          </a:prstGeom>
        </p:spPr>
      </p:pic>
      <p:sp>
        <p:nvSpPr>
          <p:cNvPr id="16" name="Text 11"/>
          <p:cNvSpPr txBox="1"/>
          <p:nvPr/>
        </p:nvSpPr>
        <p:spPr>
          <a:xfrm>
            <a:off x="1737360" y="3886200"/>
            <a:ext cx="4023360" cy="777240"/>
          </a:xfrm>
          <a:prstGeom prst="rect">
            <a:avLst/>
          </a:prstGeom>
          <a:noFill/>
          <a:ln/>
        </p:spPr>
        <p:txBody>
          <a:bodyPr wrap="square" lIns="0" tIns="0" rIns="0" bIns="0" rtlCol="0" anchor="ctr"/>
          <a:lstStyle/>
          <a:p>
            <a:pPr indent="0" marL="0">
              <a:buNone/>
            </a:pPr>
            <a:r>
              <a:rPr lang="en-US" sz="3600" b="1" dirty="0">
                <a:solidFill>
                  <a:schemeClr val="accent4"/>
                </a:solidFill>
              </a:rPr>
              <a:t>262</a:t>
            </a:r>
            <a:endParaRPr lang="en-US" sz="3600" dirty="0"/>
          </a:p>
        </p:txBody>
      </p:sp>
      <p:sp>
        <p:nvSpPr>
          <p:cNvPr id="17" name="Text 12"/>
          <p:cNvSpPr txBox="1"/>
          <p:nvPr/>
        </p:nvSpPr>
        <p:spPr>
          <a:xfrm>
            <a:off x="822960" y="4800600"/>
            <a:ext cx="4846320" cy="868680"/>
          </a:xfrm>
          <a:prstGeom prst="rect">
            <a:avLst/>
          </a:prstGeom>
          <a:noFill/>
          <a:ln/>
        </p:spPr>
        <p:txBody>
          <a:bodyPr wrap="square" lIns="0" tIns="0" rIns="0" bIns="0" rtlCol="0" anchor="t"/>
          <a:lstStyle/>
          <a:p>
            <a:pPr indent="0" marL="0">
              <a:buNone/>
            </a:pPr>
            <a:r>
              <a:rPr lang="en-US" sz="1500" dirty="0">
                <a:solidFill>
                  <a:schemeClr val="tx2"/>
                </a:solidFill>
              </a:rPr>
              <a:t>chain certificates replayed in exact rational arithmetic: 166 bit-identical, 96 bound-preserving, 0 failures</a:t>
            </a:r>
            <a:endParaRPr lang="en-US" sz="1500" dirty="0"/>
          </a:p>
        </p:txBody>
      </p:sp>
      <p:sp>
        <p:nvSpPr>
          <p:cNvPr id="18" name="check 3"/>
          <p:cNvSpPr/>
          <p:nvPr/>
        </p:nvSpPr>
        <p:spPr>
          <a:xfrm>
            <a:off x="6217920" y="3657600"/>
            <a:ext cx="539496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9" name="Shape 14"/>
          <p:cNvSpPr/>
          <p:nvPr/>
        </p:nvSpPr>
        <p:spPr>
          <a:xfrm>
            <a:off x="6492240" y="3931920"/>
            <a:ext cx="685800" cy="685800"/>
          </a:xfrm>
          <a:prstGeom prst="ellipse">
            <a:avLst/>
          </a:prstGeom>
          <a:solidFill>
            <a:schemeClr val="accent3"/>
          </a:solidFill>
          <a:ln w="12700">
            <a:solidFill>
              <a:schemeClr val="accent3"/>
            </a:solidFill>
            <a:prstDash val="solid"/>
          </a:ln>
        </p:spPr>
      </p:sp>
      <p:pic>
        <p:nvPicPr>
          <p:cNvPr id="20" name="Image 3" descr="preencoded.png">    </p:cNvPr>
          <p:cNvPicPr>
            <a:picLocks noChangeAspect="1"/>
          </p:cNvPicPr>
          <p:nvPr/>
        </p:nvPicPr>
        <p:blipFill>
          <a:blip r:embed="rId4"/>
          <a:stretch>
            <a:fillRect/>
          </a:stretch>
        </p:blipFill>
        <p:spPr>
          <a:xfrm>
            <a:off x="6656832" y="4096512"/>
            <a:ext cx="356616" cy="356616"/>
          </a:xfrm>
          <a:prstGeom prst="rect">
            <a:avLst/>
          </a:prstGeom>
        </p:spPr>
      </p:pic>
      <p:sp>
        <p:nvSpPr>
          <p:cNvPr id="21" name="Text 15"/>
          <p:cNvSpPr txBox="1"/>
          <p:nvPr/>
        </p:nvSpPr>
        <p:spPr>
          <a:xfrm>
            <a:off x="7406640" y="3886200"/>
            <a:ext cx="4023360" cy="777240"/>
          </a:xfrm>
          <a:prstGeom prst="rect">
            <a:avLst/>
          </a:prstGeom>
          <a:noFill/>
          <a:ln/>
        </p:spPr>
        <p:txBody>
          <a:bodyPr wrap="square" lIns="0" tIns="0" rIns="0" bIns="0" rtlCol="0" anchor="ctr"/>
          <a:lstStyle/>
          <a:p>
            <a:pPr indent="0" marL="0">
              <a:buNone/>
            </a:pPr>
            <a:r>
              <a:rPr lang="en-US" sz="3600" b="1" dirty="0">
                <a:solidFill>
                  <a:schemeClr val="accent3"/>
                </a:solidFill>
              </a:rPr>
              <a:t>10</a:t>
            </a:r>
            <a:endParaRPr lang="en-US" sz="3600" dirty="0"/>
          </a:p>
        </p:txBody>
      </p:sp>
      <p:sp>
        <p:nvSpPr>
          <p:cNvPr id="22" name="Text 16"/>
          <p:cNvSpPr txBox="1"/>
          <p:nvPr/>
        </p:nvSpPr>
        <p:spPr>
          <a:xfrm>
            <a:off x="6492240" y="4800600"/>
            <a:ext cx="4846320" cy="868680"/>
          </a:xfrm>
          <a:prstGeom prst="rect">
            <a:avLst/>
          </a:prstGeom>
          <a:noFill/>
          <a:ln/>
        </p:spPr>
        <p:txBody>
          <a:bodyPr wrap="square" lIns="0" tIns="0" rIns="0" bIns="0" rtlCol="0" anchor="t"/>
          <a:lstStyle/>
          <a:p>
            <a:pPr indent="0" marL="0">
              <a:buNone/>
            </a:pPr>
            <a:r>
              <a:rPr lang="en-US" sz="1500" dirty="0">
                <a:solidFill>
                  <a:schemeClr val="tx2"/>
                </a:solidFill>
              </a:rPr>
              <a:t>cases that caught a mutant admitting one extra bit: the guard cannot be relaxed by a bit</a:t>
            </a:r>
            <a:endParaRPr lang="en-US" sz="1500" dirty="0"/>
          </a:p>
        </p:txBody>
      </p:sp>
      <p:sp>
        <p:nvSpPr>
          <p:cNvPr id="23" name="Text 17"/>
          <p:cNvSpPr txBox="1"/>
          <p:nvPr/>
        </p:nvSpPr>
        <p:spPr>
          <a:xfrm>
            <a:off x="548640" y="5943600"/>
            <a:ext cx="11064240" cy="411480"/>
          </a:xfrm>
          <a:prstGeom prst="rect">
            <a:avLst/>
          </a:prstGeom>
          <a:noFill/>
          <a:ln/>
        </p:spPr>
        <p:txBody>
          <a:bodyPr wrap="square" lIns="0" tIns="0" rIns="0" bIns="0" rtlCol="0" anchor="t"/>
          <a:lstStyle/>
          <a:p>
            <a:pPr indent="0" marL="0">
              <a:buNone/>
            </a:pPr>
            <a:r>
              <a:rPr lang="en-US" sz="1200" i="1" dirty="0">
                <a:solidFill>
                  <a:schemeClr val="tx2"/>
                </a:solidFill>
              </a:rPr>
              <a:t>Inputs are built from the proof obligations: all-maximum, cancelling and odd-maximum families at each guard's limit, one past it and twice it. Every number is generated by scripts from raw measurements.</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RQ9: existing code bases</a:t>
            </a:r>
            <a:endParaRPr lang="en-US" sz="3000" dirty="0"/>
          </a:p>
        </p:txBody>
      </p:sp>
      <p:sp>
        <p:nvSpPr>
          <p:cNvPr id="3" name="Shape 1"/>
          <p:cNvSpPr/>
          <p:nvPr/>
        </p:nvSpPr>
        <p:spPr>
          <a:xfrm>
            <a:off x="640080" y="1417320"/>
            <a:ext cx="731520" cy="731520"/>
          </a:xfrm>
          <a:prstGeom prst="ellipse">
            <a:avLst/>
          </a:prstGeom>
          <a:solidFill>
            <a:schemeClr val="accent4"/>
          </a:solidFill>
          <a:ln w="12700">
            <a:solidFill>
              <a:schemeClr val="accent4"/>
            </a:solidFill>
            <a:prstDash val="solid"/>
          </a:ln>
        </p:spPr>
      </p:sp>
      <p:pic>
        <p:nvPicPr>
          <p:cNvPr id="4" name="Image 0" descr="preencoded.png">    </p:cNvPr>
          <p:cNvPicPr>
            <a:picLocks noChangeAspect="1"/>
          </p:cNvPicPr>
          <p:nvPr/>
        </p:nvPicPr>
        <p:blipFill>
          <a:blip r:embed="rId1"/>
          <a:stretch>
            <a:fillRect/>
          </a:stretch>
        </p:blipFill>
        <p:spPr>
          <a:xfrm>
            <a:off x="815645" y="1592885"/>
            <a:ext cx="380390" cy="380390"/>
          </a:xfrm>
          <a:prstGeom prst="rect">
            <a:avLst/>
          </a:prstGeom>
        </p:spPr>
      </p:pic>
      <p:sp>
        <p:nvSpPr>
          <p:cNvPr id="5" name="Text 2"/>
          <p:cNvSpPr txBox="1"/>
          <p:nvPr/>
        </p:nvSpPr>
        <p:spPr>
          <a:xfrm>
            <a:off x="1645920" y="1325880"/>
            <a:ext cx="2651760" cy="914400"/>
          </a:xfrm>
          <a:prstGeom prst="rect">
            <a:avLst/>
          </a:prstGeom>
          <a:noFill/>
          <a:ln/>
        </p:spPr>
        <p:txBody>
          <a:bodyPr wrap="square" lIns="0" tIns="0" rIns="0" bIns="0" rtlCol="0" anchor="ctr"/>
          <a:lstStyle/>
          <a:p>
            <a:pPr indent="0" marL="0">
              <a:buNone/>
            </a:pPr>
            <a:r>
              <a:rPr lang="en-US" sz="3200" b="1" dirty="0">
                <a:solidFill>
                  <a:schemeClr val="tx1"/>
                </a:solidFill>
              </a:rPr>
              <a:t>23 of 109</a:t>
            </a:r>
            <a:endParaRPr lang="en-US" sz="3200" dirty="0"/>
          </a:p>
        </p:txBody>
      </p:sp>
      <p:sp>
        <p:nvSpPr>
          <p:cNvPr id="6" name="Text 3"/>
          <p:cNvSpPr txBox="1"/>
          <p:nvPr/>
        </p:nvSpPr>
        <p:spPr>
          <a:xfrm>
            <a:off x="4389120" y="1325880"/>
            <a:ext cx="7223760" cy="914400"/>
          </a:xfrm>
          <a:prstGeom prst="rect">
            <a:avLst/>
          </a:prstGeom>
          <a:noFill/>
          <a:ln/>
        </p:spPr>
        <p:txBody>
          <a:bodyPr wrap="square" lIns="0" tIns="0" rIns="0" bIns="0" rtlCol="0" anchor="ctr"/>
          <a:lstStyle/>
          <a:p>
            <a:pPr indent="0" marL="0">
              <a:buNone/>
            </a:pPr>
            <a:r>
              <a:rPr lang="en-US" sz="1700" dirty="0">
                <a:solidFill>
                  <a:schemeClr val="tx2"/>
                </a:solidFill>
              </a:rPr>
              <a:t>reductions licensed, all behind a guard: 16 in CPython's audioop and 7 in Pillow</a:t>
            </a:r>
            <a:endParaRPr lang="en-US" sz="1700" dirty="0"/>
          </a:p>
        </p:txBody>
      </p:sp>
      <p:sp>
        <p:nvSpPr>
          <p:cNvPr id="7" name="Shape 4"/>
          <p:cNvSpPr/>
          <p:nvPr/>
        </p:nvSpPr>
        <p:spPr>
          <a:xfrm>
            <a:off x="640080" y="2606040"/>
            <a:ext cx="731520" cy="731520"/>
          </a:xfrm>
          <a:prstGeom prst="ellipse">
            <a:avLst/>
          </a:prstGeom>
          <a:solidFill>
            <a:schemeClr val="accent2"/>
          </a:solidFill>
          <a:ln w="12700">
            <a:solidFill>
              <a:schemeClr val="accent2"/>
            </a:solidFill>
            <a:prstDash val="solid"/>
          </a:ln>
        </p:spPr>
      </p:sp>
      <p:pic>
        <p:nvPicPr>
          <p:cNvPr id="8" name="Image 1" descr="preencoded.png">    </p:cNvPr>
          <p:cNvPicPr>
            <a:picLocks noChangeAspect="1"/>
          </p:cNvPicPr>
          <p:nvPr/>
        </p:nvPicPr>
        <p:blipFill>
          <a:blip r:embed="rId2"/>
          <a:stretch>
            <a:fillRect/>
          </a:stretch>
        </p:blipFill>
        <p:spPr>
          <a:xfrm>
            <a:off x="815645" y="2781605"/>
            <a:ext cx="380390" cy="380390"/>
          </a:xfrm>
          <a:prstGeom prst="rect">
            <a:avLst/>
          </a:prstGeom>
        </p:spPr>
      </p:pic>
      <p:sp>
        <p:nvSpPr>
          <p:cNvPr id="9" name="Text 5"/>
          <p:cNvSpPr txBox="1"/>
          <p:nvPr/>
        </p:nvSpPr>
        <p:spPr>
          <a:xfrm>
            <a:off x="1645920" y="2514600"/>
            <a:ext cx="2651760" cy="914400"/>
          </a:xfrm>
          <a:prstGeom prst="rect">
            <a:avLst/>
          </a:prstGeom>
          <a:noFill/>
          <a:ln/>
        </p:spPr>
        <p:txBody>
          <a:bodyPr wrap="square" lIns="0" tIns="0" rIns="0" bIns="0" rtlCol="0" anchor="ctr"/>
          <a:lstStyle/>
          <a:p>
            <a:pPr indent="0" marL="0">
              <a:buNone/>
            </a:pPr>
            <a:r>
              <a:rPr lang="en-US" sz="3200" b="1" dirty="0">
                <a:solidFill>
                  <a:schemeClr val="tx1"/>
                </a:solidFill>
              </a:rPr>
              <a:t>404 / 404</a:t>
            </a:r>
            <a:endParaRPr lang="en-US" sz="3200" dirty="0"/>
          </a:p>
        </p:txBody>
      </p:sp>
      <p:sp>
        <p:nvSpPr>
          <p:cNvPr id="10" name="Text 6"/>
          <p:cNvSpPr txBox="1"/>
          <p:nvPr/>
        </p:nvSpPr>
        <p:spPr>
          <a:xfrm>
            <a:off x="4389120" y="2514600"/>
            <a:ext cx="7223760" cy="914400"/>
          </a:xfrm>
          <a:prstGeom prst="rect">
            <a:avLst/>
          </a:prstGeom>
          <a:noFill/>
          <a:ln/>
        </p:spPr>
        <p:txBody>
          <a:bodyPr wrap="square" lIns="0" tIns="0" rIns="0" bIns="0" rtlCol="0" anchor="ctr"/>
          <a:lstStyle/>
          <a:p>
            <a:pPr indent="0" marL="0">
              <a:buNone/>
            </a:pPr>
            <a:r>
              <a:rPr lang="en-US" sz="1700" dirty="0">
                <a:solidFill>
                  <a:schemeClr val="tx2"/>
                </a:solidFill>
              </a:rPr>
              <a:t>identical audioop results, built with and without the pass, on both sides of every guard limit</a:t>
            </a:r>
            <a:endParaRPr lang="en-US" sz="1700" dirty="0"/>
          </a:p>
        </p:txBody>
      </p:sp>
      <p:sp>
        <p:nvSpPr>
          <p:cNvPr id="11" name="Shape 7"/>
          <p:cNvSpPr/>
          <p:nvPr/>
        </p:nvSpPr>
        <p:spPr>
          <a:xfrm>
            <a:off x="640080" y="3794760"/>
            <a:ext cx="731520" cy="73152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815645" y="3970325"/>
            <a:ext cx="380390" cy="380390"/>
          </a:xfrm>
          <a:prstGeom prst="rect">
            <a:avLst/>
          </a:prstGeom>
        </p:spPr>
      </p:pic>
      <p:sp>
        <p:nvSpPr>
          <p:cNvPr id="13" name="Text 8"/>
          <p:cNvSpPr txBox="1"/>
          <p:nvPr/>
        </p:nvSpPr>
        <p:spPr>
          <a:xfrm>
            <a:off x="1645920" y="3703320"/>
            <a:ext cx="2651760" cy="914400"/>
          </a:xfrm>
          <a:prstGeom prst="rect">
            <a:avLst/>
          </a:prstGeom>
          <a:noFill/>
          <a:ln/>
        </p:spPr>
        <p:txBody>
          <a:bodyPr wrap="square" lIns="0" tIns="0" rIns="0" bIns="0" rtlCol="0" anchor="ctr"/>
          <a:lstStyle/>
          <a:p>
            <a:pPr indent="0" marL="0">
              <a:buNone/>
            </a:pPr>
            <a:r>
              <a:rPr lang="en-US" sz="3200" b="1" dirty="0">
                <a:solidFill>
                  <a:schemeClr val="tx1"/>
                </a:solidFill>
              </a:rPr>
              <a:t>8.05×</a:t>
            </a:r>
            <a:endParaRPr lang="en-US" sz="3200" dirty="0"/>
          </a:p>
        </p:txBody>
      </p:sp>
      <p:sp>
        <p:nvSpPr>
          <p:cNvPr id="14" name="Text 9"/>
          <p:cNvSpPr txBox="1"/>
          <p:nvPr/>
        </p:nvSpPr>
        <p:spPr>
          <a:xfrm>
            <a:off x="4389120" y="3703320"/>
            <a:ext cx="7223760" cy="914400"/>
          </a:xfrm>
          <a:prstGeom prst="rect">
            <a:avLst/>
          </a:prstGeom>
          <a:noFill/>
          <a:ln/>
        </p:spPr>
        <p:txBody>
          <a:bodyPr wrap="square" lIns="0" tIns="0" rIns="0" bIns="0" rtlCol="0" anchor="ctr"/>
          <a:lstStyle/>
          <a:p>
            <a:pPr indent="0" marL="0">
              <a:buNone/>
            </a:pPr>
            <a:r>
              <a:rPr lang="en-US" sz="1700" dirty="0">
                <a:solidFill>
                  <a:schemeClr val="tx2"/>
                </a:solidFill>
              </a:rPr>
              <a:t>avg of 8-bit samples (rms 6.55×, findfit 5.78×); 16-bit samples gain nothing</a:t>
            </a:r>
            <a:endParaRPr lang="en-US" sz="1700" dirty="0"/>
          </a:p>
        </p:txBody>
      </p:sp>
      <p:sp>
        <p:nvSpPr>
          <p:cNvPr id="15" name="Shape 10"/>
          <p:cNvSpPr/>
          <p:nvPr/>
        </p:nvSpPr>
        <p:spPr>
          <a:xfrm>
            <a:off x="640080" y="4983480"/>
            <a:ext cx="731520" cy="731520"/>
          </a:xfrm>
          <a:prstGeom prst="ellipse">
            <a:avLst/>
          </a:prstGeom>
          <a:solidFill>
            <a:schemeClr val="accent3"/>
          </a:solidFill>
          <a:ln w="12700">
            <a:solidFill>
              <a:schemeClr val="accent3"/>
            </a:solidFill>
            <a:prstDash val="solid"/>
          </a:ln>
        </p:spPr>
      </p:sp>
      <p:pic>
        <p:nvPicPr>
          <p:cNvPr id="16" name="Image 3" descr="preencoded.png">    </p:cNvPr>
          <p:cNvPicPr>
            <a:picLocks noChangeAspect="1"/>
          </p:cNvPicPr>
          <p:nvPr/>
        </p:nvPicPr>
        <p:blipFill>
          <a:blip r:embed="rId4"/>
          <a:stretch>
            <a:fillRect/>
          </a:stretch>
        </p:blipFill>
        <p:spPr>
          <a:xfrm>
            <a:off x="815645" y="5159045"/>
            <a:ext cx="380390" cy="380390"/>
          </a:xfrm>
          <a:prstGeom prst="rect">
            <a:avLst/>
          </a:prstGeom>
        </p:spPr>
      </p:pic>
      <p:sp>
        <p:nvSpPr>
          <p:cNvPr id="17" name="Text 11"/>
          <p:cNvSpPr txBox="1"/>
          <p:nvPr/>
        </p:nvSpPr>
        <p:spPr>
          <a:xfrm>
            <a:off x="1645920" y="4892040"/>
            <a:ext cx="2651760" cy="914400"/>
          </a:xfrm>
          <a:prstGeom prst="rect">
            <a:avLst/>
          </a:prstGeom>
          <a:noFill/>
          <a:ln/>
        </p:spPr>
        <p:txBody>
          <a:bodyPr wrap="square" lIns="0" tIns="0" rIns="0" bIns="0" rtlCol="0" anchor="ctr"/>
          <a:lstStyle/>
          <a:p>
            <a:pPr indent="0" marL="0">
              <a:buNone/>
            </a:pPr>
            <a:r>
              <a:rPr lang="en-US" sz="3200" b="1" dirty="0">
                <a:solidFill>
                  <a:schemeClr val="tx1"/>
                </a:solidFill>
              </a:rPr>
              <a:t>0</a:t>
            </a:r>
            <a:endParaRPr lang="en-US" sz="3200" dirty="0"/>
          </a:p>
        </p:txBody>
      </p:sp>
      <p:sp>
        <p:nvSpPr>
          <p:cNvPr id="18" name="Text 12"/>
          <p:cNvSpPr txBox="1"/>
          <p:nvPr/>
        </p:nvSpPr>
        <p:spPr>
          <a:xfrm>
            <a:off x="4389120" y="4892040"/>
            <a:ext cx="7223760" cy="914400"/>
          </a:xfrm>
          <a:prstGeom prst="rect">
            <a:avLst/>
          </a:prstGeom>
          <a:noFill/>
          <a:ln/>
        </p:spPr>
        <p:txBody>
          <a:bodyPr wrap="square" lIns="0" tIns="0" rIns="0" bIns="0" rtlCol="0" anchor="ctr"/>
          <a:lstStyle/>
          <a:p>
            <a:pPr indent="0" marL="0">
              <a:buNone/>
            </a:pPr>
            <a:r>
              <a:rPr lang="en-US" sz="1700" dirty="0">
                <a:solidFill>
                  <a:schemeClr val="tx2"/>
                </a:solidFill>
              </a:rPr>
              <a:t>licensed in SciPy ndimage and PolyBench/C: their sums are real-valued, and are correctly declined</a:t>
            </a:r>
            <a:endParaRPr lang="en-US" sz="1700" dirty="0"/>
          </a:p>
        </p:txBody>
      </p:sp>
      <p:sp>
        <p:nvSpPr>
          <p:cNvPr id="19" name="Text 13"/>
          <p:cNvSpPr txBox="1"/>
          <p:nvPr/>
        </p:nvSpPr>
        <p:spPr>
          <a:xfrm>
            <a:off x="548640" y="5943600"/>
            <a:ext cx="11064240" cy="365760"/>
          </a:xfrm>
          <a:prstGeom prst="rect">
            <a:avLst/>
          </a:prstGeom>
          <a:noFill/>
          <a:ln/>
        </p:spPr>
        <p:txBody>
          <a:bodyPr wrap="square" lIns="0" tIns="0" rIns="0" bIns="0" rtlCol="0" anchor="t"/>
          <a:lstStyle/>
          <a:p>
            <a:pPr indent="0" marL="0">
              <a:buNone/>
            </a:pPr>
            <a:r>
              <a:rPr lang="en-US" sz="1300" i="1" dirty="0">
                <a:solidFill>
                  <a:schemeClr val="tx2"/>
                </a:solidFill>
              </a:rPr>
              <a:t>Selected code bases: the result shows the license helps real integer sums, not general coverage.</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ctr"/>
          <a:lstStyle/>
          <a:p>
            <a:pPr indent="0" marL="0">
              <a:buNone/>
            </a:pPr>
            <a:r>
              <a:rPr lang="en-US" sz="3000" b="1" dirty="0">
                <a:solidFill>
                  <a:schemeClr val="tx1"/>
                </a:solidFill>
              </a:rPr>
              <a:t>Costs and scope</a:t>
            </a:r>
            <a:endParaRPr lang="en-US" sz="3000" dirty="0"/>
          </a:p>
        </p:txBody>
      </p:sp>
      <p:sp>
        <p:nvSpPr>
          <p:cNvPr id="3" name="costs card"/>
          <p:cNvSpPr/>
          <p:nvPr/>
        </p:nvSpPr>
        <p:spPr>
          <a:xfrm>
            <a:off x="548640" y="1325880"/>
            <a:ext cx="4206240" cy="4754880"/>
          </a:xfrm>
          <a:prstGeom prst="roundRect">
            <a:avLst>
              <a:gd name="adj" fmla="val 2609"/>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4" name="Text 2"/>
          <p:cNvSpPr txBox="1"/>
          <p:nvPr/>
        </p:nvSpPr>
        <p:spPr>
          <a:xfrm>
            <a:off x="868680" y="1554480"/>
            <a:ext cx="3657600" cy="457200"/>
          </a:xfrm>
          <a:prstGeom prst="rect">
            <a:avLst/>
          </a:prstGeom>
          <a:noFill/>
          <a:ln/>
        </p:spPr>
        <p:txBody>
          <a:bodyPr wrap="square" lIns="0" tIns="0" rIns="0" bIns="0" rtlCol="0" anchor="t"/>
          <a:lstStyle/>
          <a:p>
            <a:pPr indent="0" marL="0">
              <a:buNone/>
            </a:pPr>
            <a:r>
              <a:rPr lang="en-US" sz="2000" b="1" dirty="0">
                <a:solidFill>
                  <a:schemeClr val="tx1"/>
                </a:solidFill>
              </a:rPr>
              <a:t>Measured costs</a:t>
            </a:r>
            <a:endParaRPr lang="en-US" sz="2000" dirty="0"/>
          </a:p>
        </p:txBody>
      </p:sp>
      <p:sp>
        <p:nvSpPr>
          <p:cNvPr id="5" name="Text 3"/>
          <p:cNvSpPr txBox="1"/>
          <p:nvPr/>
        </p:nvSpPr>
        <p:spPr>
          <a:xfrm>
            <a:off x="868680" y="2148840"/>
            <a:ext cx="3657600" cy="731520"/>
          </a:xfrm>
          <a:prstGeom prst="rect">
            <a:avLst/>
          </a:prstGeom>
          <a:noFill/>
          <a:ln/>
        </p:spPr>
        <p:txBody>
          <a:bodyPr wrap="square" lIns="0" tIns="0" rIns="0" bIns="0" rtlCol="0" anchor="t"/>
          <a:lstStyle/>
          <a:p>
            <a:pPr indent="0" marL="0">
              <a:buNone/>
            </a:pPr>
            <a:r>
              <a:rPr lang="en-US" sz="4000" b="1" dirty="0">
                <a:solidFill>
                  <a:schemeClr val="accent3"/>
                </a:solidFill>
              </a:rPr>
              <a:t>+29%</a:t>
            </a:r>
            <a:endParaRPr lang="en-US" sz="4000" dirty="0"/>
          </a:p>
        </p:txBody>
      </p:sp>
      <p:sp>
        <p:nvSpPr>
          <p:cNvPr id="6" name="Text 4"/>
          <p:cNvSpPr txBox="1"/>
          <p:nvPr/>
        </p:nvSpPr>
        <p:spPr>
          <a:xfrm>
            <a:off x="868680" y="2880360"/>
            <a:ext cx="3657600" cy="640080"/>
          </a:xfrm>
          <a:prstGeom prst="rect">
            <a:avLst/>
          </a:prstGeom>
          <a:noFill/>
          <a:ln/>
        </p:spPr>
        <p:txBody>
          <a:bodyPr wrap="square" lIns="0" tIns="0" rIns="0" bIns="0" rtlCol="0" anchor="t"/>
          <a:lstStyle/>
          <a:p>
            <a:pPr indent="0" marL="0">
              <a:buNone/>
            </a:pPr>
            <a:r>
              <a:rPr lang="en-US" sz="1500" dirty="0">
                <a:solidFill>
                  <a:schemeClr val="tx2"/>
                </a:solidFill>
              </a:rPr>
              <a:t>compilation time of the kernel module (138 → 178 ms)</a:t>
            </a:r>
            <a:endParaRPr lang="en-US" sz="1500" dirty="0"/>
          </a:p>
        </p:txBody>
      </p:sp>
      <p:sp>
        <p:nvSpPr>
          <p:cNvPr id="7" name="Text 5"/>
          <p:cNvSpPr txBox="1"/>
          <p:nvPr/>
        </p:nvSpPr>
        <p:spPr>
          <a:xfrm>
            <a:off x="868680" y="3794760"/>
            <a:ext cx="3657600" cy="731520"/>
          </a:xfrm>
          <a:prstGeom prst="rect">
            <a:avLst/>
          </a:prstGeom>
          <a:noFill/>
          <a:ln/>
        </p:spPr>
        <p:txBody>
          <a:bodyPr wrap="square" lIns="0" tIns="0" rIns="0" bIns="0" rtlCol="0" anchor="t"/>
          <a:lstStyle/>
          <a:p>
            <a:pPr indent="0" marL="0">
              <a:buNone/>
            </a:pPr>
            <a:r>
              <a:rPr lang="en-US" sz="4000" b="1" dirty="0">
                <a:solidFill>
                  <a:schemeClr val="accent3"/>
                </a:solidFill>
              </a:rPr>
              <a:t>+40%</a:t>
            </a:r>
            <a:endParaRPr lang="en-US" sz="4000" dirty="0"/>
          </a:p>
        </p:txBody>
      </p:sp>
      <p:sp>
        <p:nvSpPr>
          <p:cNvPr id="8" name="Text 6"/>
          <p:cNvSpPr txBox="1"/>
          <p:nvPr/>
        </p:nvSpPr>
        <p:spPr>
          <a:xfrm>
            <a:off x="868680" y="4526280"/>
            <a:ext cx="3657600" cy="640080"/>
          </a:xfrm>
          <a:prstGeom prst="rect">
            <a:avLst/>
          </a:prstGeom>
          <a:noFill/>
          <a:ln/>
        </p:spPr>
        <p:txBody>
          <a:bodyPr wrap="square" lIns="0" tIns="0" rIns="0" bIns="0" rtlCol="0" anchor="t"/>
          <a:lstStyle/>
          <a:p>
            <a:pPr indent="0" marL="0">
              <a:buNone/>
            </a:pPr>
            <a:r>
              <a:rPr lang="en-US" sz="1500" dirty="0">
                <a:solidFill>
                  <a:schemeClr val="tx2"/>
                </a:solidFill>
              </a:rPr>
              <a:t>text size from loop versioning (4,149 → 5,801 bytes)</a:t>
            </a:r>
            <a:endParaRPr lang="en-US" sz="1500" dirty="0"/>
          </a:p>
        </p:txBody>
      </p:sp>
      <p:sp>
        <p:nvSpPr>
          <p:cNvPr id="9" name="scope card"/>
          <p:cNvSpPr/>
          <p:nvPr/>
        </p:nvSpPr>
        <p:spPr>
          <a:xfrm>
            <a:off x="5029200" y="1325880"/>
            <a:ext cx="6583680" cy="4754880"/>
          </a:xfrm>
          <a:prstGeom prst="roundRect">
            <a:avLst>
              <a:gd name="adj" fmla="val 2308"/>
            </a:avLst>
          </a:prstGeom>
          <a:solidFill>
            <a:schemeClr val="bg2"/>
          </a:solidFill>
          <a:ln w="12700">
            <a:solidFill>
              <a:schemeClr val="bg2"/>
            </a:solidFill>
            <a:prstDash val="solid"/>
          </a:ln>
          <a:effectLst>
            <a:outerShdw sx="100000" sy="100000" kx="0" ky="0" algn="bl" rotWithShape="0" blurRad="76200" dist="25400" dir="5400000">
              <a:srgbClr val="000000">
                <a:alpha val="10000"/>
              </a:srgbClr>
            </a:outerShdw>
          </a:effectLst>
        </p:spPr>
      </p:sp>
      <p:sp>
        <p:nvSpPr>
          <p:cNvPr id="10" name="Text 8"/>
          <p:cNvSpPr txBox="1"/>
          <p:nvPr/>
        </p:nvSpPr>
        <p:spPr>
          <a:xfrm>
            <a:off x="5349240" y="1554480"/>
            <a:ext cx="5943600" cy="457200"/>
          </a:xfrm>
          <a:prstGeom prst="rect">
            <a:avLst/>
          </a:prstGeom>
          <a:noFill/>
          <a:ln/>
        </p:spPr>
        <p:txBody>
          <a:bodyPr wrap="square" lIns="0" tIns="0" rIns="0" bIns="0" rtlCol="0" anchor="t"/>
          <a:lstStyle/>
          <a:p>
            <a:pPr indent="0" marL="0">
              <a:buNone/>
            </a:pPr>
            <a:r>
              <a:rPr lang="en-US" sz="2000" b="1" dirty="0">
                <a:solidFill>
                  <a:schemeClr val="tx1"/>
                </a:solidFill>
              </a:rPr>
              <a:t>What is and is not claimed</a:t>
            </a:r>
            <a:endParaRPr lang="en-US" sz="2000" dirty="0"/>
          </a:p>
        </p:txBody>
      </p:sp>
      <p:sp>
        <p:nvSpPr>
          <p:cNvPr id="11" name="Text 9"/>
          <p:cNvSpPr txBox="1"/>
          <p:nvPr/>
        </p:nvSpPr>
        <p:spPr>
          <a:xfrm>
            <a:off x="5349240" y="2148840"/>
            <a:ext cx="5943600" cy="37490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2"/>
                </a:solidFill>
              </a:rPr>
              <a:t>The proof covers regrouping the same terms; LLVM's reassoc flag permits more</a:t>
            </a:r>
            <a:endParaRPr lang="en-US" sz="1600" dirty="0"/>
          </a:p>
          <a:p>
            <a:pPr marL="342900" indent="-342900">
              <a:spcAft>
                <a:spcPts val="900"/>
              </a:spcAft>
              <a:buSzPct val="100000"/>
              <a:buChar char="•"/>
            </a:pPr>
            <a:r>
              <a:rPr lang="en-US" sz="1600" dirty="0">
                <a:solidFill>
                  <a:schemeClr val="tx2"/>
                </a:solidFill>
              </a:rPr>
              <a:t>ExactReduce is a tested implementation, not an end-to-end verified compiler</a:t>
            </a:r>
            <a:endParaRPr lang="en-US" sz="1600" dirty="0"/>
          </a:p>
          <a:p>
            <a:pPr marL="342900" indent="-342900">
              <a:spcAft>
                <a:spcPts val="900"/>
              </a:spcAft>
              <a:buSzPct val="100000"/>
              <a:buChar char="•"/>
            </a:pPr>
            <a:r>
              <a:rPr lang="en-US" sz="1600" dirty="0">
                <a:solidFill>
                  <a:schemeClr val="tx2"/>
                </a:solidFill>
              </a:rPr>
              <a:t>The certificate checker trusts the supplied facts: not fact extraction or machine code</a:t>
            </a:r>
            <a:endParaRPr lang="en-US" sz="1600" dirty="0"/>
          </a:p>
          <a:p>
            <a:pPr marL="342900" indent="-342900">
              <a:spcAft>
                <a:spcPts val="900"/>
              </a:spcAft>
              <a:buSzPct val="100000"/>
              <a:buChar char="•"/>
            </a:pPr>
            <a:r>
              <a:rPr lang="en-US" sz="1600" dirty="0">
                <a:solidFill>
                  <a:schemeClr val="tx2"/>
                </a:solidFill>
              </a:rPr>
              <a:t>Bit-identical speedups in LLVM concern integer-valued data only</a:t>
            </a:r>
            <a:endParaRPr lang="en-US" sz="1600" dirty="0"/>
          </a:p>
          <a:p>
            <a:pPr marL="342900" indent="-342900">
              <a:spcAft>
                <a:spcPts val="900"/>
              </a:spcAft>
              <a:buSzPct val="100000"/>
              <a:buChar char="•"/>
            </a:pPr>
            <a:r>
              <a:rPr lang="en-US" sz="1600" dirty="0">
                <a:solidFill>
                  <a:schemeClr val="tx2"/>
                </a:solidFill>
              </a:rPr>
              <a:t>Bounded mode is conservative on real-valued domains after the underflow repair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7498080" cy="1828800"/>
          </a:xfrm>
          <a:prstGeom prst="rect">
            <a:avLst/>
          </a:prstGeom>
          <a:noFill/>
          <a:ln/>
        </p:spPr>
        <p:txBody>
          <a:bodyPr wrap="square" rtlCol="0" anchor="b"/>
          <a:lstStyle/>
          <a:p>
            <a:pPr algn="l" indent="0" marL="0">
              <a:buNone/>
            </a:pPr>
            <a:r>
              <a:rPr lang="en-US" sz="4000" b="1" dirty="0">
                <a:solidFill>
                  <a:schemeClr val="bg1"/>
                </a:solidFill>
              </a:rPr>
              <a:t>Fast where it is provably safe</a:t>
            </a:r>
            <a:endParaRPr lang="en-US" sz="4000" dirty="0"/>
          </a:p>
        </p:txBody>
      </p:sp>
      <p:sp>
        <p:nvSpPr>
          <p:cNvPr id="3" name="Text 0"/>
          <p:cNvSpPr/>
          <p:nvPr>
            <p:ph idx="101" type="body" hasCustomPrompt="1"/>
          </p:nvPr>
        </p:nvSpPr>
        <p:spPr>
          <a:xfrm>
            <a:off x="731520" y="3429000"/>
            <a:ext cx="7498080" cy="2651760"/>
          </a:xfrm>
          <a:prstGeom prst="rect">
            <a:avLst/>
          </a:prstGeom>
          <a:noFill/>
          <a:ln/>
        </p:spPr>
        <p:txBody>
          <a:bodyPr wrap="square" rtlCol="0" anchor="t"/>
          <a:lstStyle/>
          <a:p>
            <a:pPr marL="342900" indent="-342900">
              <a:spcAft>
                <a:spcPts val="600"/>
              </a:spcAft>
              <a:buSzPct val="100000"/>
              <a:buChar char="•"/>
            </a:pPr>
            <a:r>
              <a:rPr lang="en-US" sz="1800" dirty="0">
                <a:solidFill>
                  <a:schemeClr val="bg2"/>
                </a:solidFill>
              </a:rPr>
              <a:t>Guarantee levels per rewrite instead of one on/off switch</a:t>
            </a:r>
            <a:endParaRPr lang="en-US" sz="1800" dirty="0"/>
          </a:p>
          <a:p>
            <a:pPr marL="342900" indent="-342900">
              <a:spcAft>
                <a:spcPts val="600"/>
              </a:spcAft>
              <a:buSzPct val="100000"/>
              <a:buChar char="•"/>
            </a:pPr>
            <a:r>
              <a:rPr lang="en-US" sz="1800" dirty="0">
                <a:solidFill>
                  <a:schemeClr val="bg2"/>
                </a:solidFill>
              </a:rPr>
              <a:t>Grid and magnitude facts prove exactness or a preserved bound</a:t>
            </a:r>
            <a:endParaRPr lang="en-US" sz="1800" dirty="0"/>
          </a:p>
          <a:p>
            <a:pPr marL="342900" indent="-342900">
              <a:spcAft>
                <a:spcPts val="600"/>
              </a:spcAft>
              <a:buSzPct val="100000"/>
              <a:buChar char="•"/>
            </a:pPr>
            <a:r>
              <a:rPr lang="en-US" sz="1800" dirty="0">
                <a:solidFill>
                  <a:schemeClr val="bg2"/>
                </a:solidFill>
              </a:rPr>
              <a:t>Certificates replayable with exact arithmetic</a:t>
            </a:r>
            <a:endParaRPr lang="en-US" sz="1800" dirty="0"/>
          </a:p>
          <a:p>
            <a:pPr marL="342900" indent="-342900">
              <a:spcAft>
                <a:spcPts val="600"/>
              </a:spcAft>
              <a:buSzPct val="100000"/>
              <a:buChar char="•"/>
            </a:pPr>
            <a:r>
              <a:rPr lang="en-US" sz="1800" dirty="0">
                <a:solidFill>
                  <a:schemeClr val="bg2"/>
                </a:solidFill>
              </a:rPr>
              <a:t>Fast-math speed with strict bits on integer data in LLVM</a:t>
            </a:r>
            <a:endParaRPr lang="en-US" sz="1800" dirty="0"/>
          </a:p>
          <a:p>
            <a:pPr indent="0" marL="0">
              <a:spcAft>
                <a:spcPts val="600"/>
              </a:spcAft>
              <a:buNone/>
            </a:pPr>
            <a:r>
              <a:rPr lang="en-US" sz="1000" dirty="0">
                <a:solidFill>
                  <a:schemeClr val="bg2"/>
                </a:solidFill>
              </a:rPr>
              <a:t> </a:t>
            </a:r>
            <a:endParaRPr lang="en-US" sz="1800" dirty="0"/>
          </a:p>
          <a:p>
            <a:pPr indent="0" marL="0">
              <a:spcAft>
                <a:spcPts val="600"/>
              </a:spcAft>
              <a:buNone/>
            </a:pPr>
            <a:r>
              <a:rPr lang="en-US" sz="2200" b="1" dirty="0">
                <a:solidFill>
                  <a:schemeClr val="accent1"/>
                </a:solidFill>
              </a:rPr>
              <a:t>Thank you. Questions?</a:t>
            </a:r>
            <a:endParaRPr lang="en-US" sz="1800" dirty="0"/>
          </a:p>
        </p:txBody>
      </p:sp>
      <p:sp>
        <p:nvSpPr>
          <p:cNvPr id="4" name="GitHub card"/>
          <p:cNvSpPr/>
          <p:nvPr/>
        </p:nvSpPr>
        <p:spPr>
          <a:xfrm>
            <a:off x="8915400" y="1600200"/>
            <a:ext cx="2560320" cy="4480560"/>
          </a:xfrm>
          <a:prstGeom prst="roundRect">
            <a:avLst>
              <a:gd name="adj" fmla="val 5357"/>
            </a:avLst>
          </a:prstGeom>
          <a:solidFill>
            <a:schemeClr val="bg1"/>
          </a:solidFill>
          <a:ln w="12700">
            <a:solidFill>
              <a:schemeClr val="bg1"/>
            </a:solidFill>
            <a:prstDash val="solid"/>
          </a:ln>
        </p:spPr>
      </p:sp>
      <p:pic>
        <p:nvPicPr>
          <p:cNvPr id="5" name="Image 0" descr="QR code linking to https://github.com/aswanth-07/matrixlang">
            <a:hlinkClick r:id="rId2" tooltip=""/>
          </p:cNvPr>
          <p:cNvPicPr>
            <a:picLocks noChangeAspect="1"/>
          </p:cNvPicPr>
          <p:nvPr/>
        </p:nvPicPr>
        <p:blipFill>
          <a:blip r:embed="rId1"/>
          <a:stretch>
            <a:fillRect/>
          </a:stretch>
        </p:blipFill>
        <p:spPr>
          <a:xfrm>
            <a:off x="9189720" y="1828800"/>
            <a:ext cx="2011680" cy="2011680"/>
          </a:xfrm>
          <a:prstGeom prst="rect">
            <a:avLst/>
          </a:prstGeom>
        </p:spPr>
      </p:pic>
      <p:pic>
        <p:nvPicPr>
          <p:cNvPr id="6" name="Image 1" descr="preencoded.png">    </p:cNvPr>
          <p:cNvPicPr>
            <a:picLocks noChangeAspect="1"/>
          </p:cNvPicPr>
          <p:nvPr/>
        </p:nvPicPr>
        <p:blipFill>
          <a:blip r:embed="rId3"/>
          <a:stretch>
            <a:fillRect/>
          </a:stretch>
        </p:blipFill>
        <p:spPr>
          <a:xfrm>
            <a:off x="9189720" y="4005072"/>
            <a:ext cx="292608" cy="292608"/>
          </a:xfrm>
          <a:prstGeom prst="rect">
            <a:avLst/>
          </a:prstGeom>
        </p:spPr>
      </p:pic>
      <p:sp>
        <p:nvSpPr>
          <p:cNvPr id="7" name="Text 3"/>
          <p:cNvSpPr txBox="1"/>
          <p:nvPr/>
        </p:nvSpPr>
        <p:spPr>
          <a:xfrm>
            <a:off x="9555480" y="4005072"/>
            <a:ext cx="1737360" cy="292608"/>
          </a:xfrm>
          <a:prstGeom prst="rect">
            <a:avLst/>
          </a:prstGeom>
          <a:noFill/>
          <a:ln/>
        </p:spPr>
        <p:txBody>
          <a:bodyPr wrap="square" lIns="0" tIns="0" rIns="0" bIns="0" rtlCol="0" anchor="ctr"/>
          <a:lstStyle/>
          <a:p>
            <a:pPr indent="0" marL="0">
              <a:buNone/>
            </a:pPr>
            <a:r>
              <a:rPr lang="en-US" sz="1300" b="1" dirty="0">
                <a:solidFill>
                  <a:schemeClr val="tx1"/>
                </a:solidFill>
              </a:rPr>
              <a:t>Try it</a:t>
            </a:r>
            <a:endParaRPr lang="en-US" sz="1300" dirty="0"/>
          </a:p>
        </p:txBody>
      </p:sp>
      <p:sp>
        <p:nvSpPr>
          <p:cNvPr id="8" name="Text 4"/>
          <p:cNvSpPr txBox="1"/>
          <p:nvPr/>
        </p:nvSpPr>
        <p:spPr>
          <a:xfrm>
            <a:off x="9006840" y="4389120"/>
            <a:ext cx="2377440" cy="274320"/>
          </a:xfrm>
          <a:prstGeom prst="rect">
            <a:avLst/>
          </a:prstGeom>
          <a:noFill/>
          <a:ln/>
        </p:spPr>
        <p:txBody>
          <a:bodyPr wrap="square" lIns="0" tIns="0" rIns="0" bIns="0" rtlCol="0" anchor="t"/>
          <a:lstStyle/>
          <a:p>
            <a:pPr algn="ctr" indent="0" marL="0">
              <a:buNone/>
            </a:pPr>
            <a:r>
              <a:rPr lang="en-US" sz="1100" u="sng" dirty="0">
                <a:solidFill>
                  <a:schemeClr val="accent4"/>
                </a:solidFill>
                <a:hlinkClick r:id="rId4" invalidUrl="" action="" tgtFrame="" tooltip="" history="1" highlightClick="0" endSnd="0">
                  <a:extLst>
                    <a:ext uri="{A12FA001-AC4F-418D-AE19-62706E023703}">
                      <ahyp:hlinkClr xmlns:ahyp="http://schemas.microsoft.com/office/drawing/2018/hyperlinkcolor" val="tx"/>
                    </a:ext>
                  </a:extLst>
                </a:hlinkClick>
              </a:rPr>
              <a:t>github.com/aswanth-07/matrixlang</a:t>
            </a:r>
            <a:endParaRPr lang="en-US" sz="1100" dirty="0"/>
          </a:p>
        </p:txBody>
      </p:sp>
      <p:sp>
        <p:nvSpPr>
          <p:cNvPr id="9" name="Text 5"/>
          <p:cNvSpPr txBox="1"/>
          <p:nvPr/>
        </p:nvSpPr>
        <p:spPr>
          <a:xfrm>
            <a:off x="9189720" y="4846320"/>
            <a:ext cx="2011680" cy="1005840"/>
          </a:xfrm>
          <a:prstGeom prst="rect">
            <a:avLst/>
          </a:prstGeom>
          <a:noFill/>
          <a:ln/>
        </p:spPr>
        <p:txBody>
          <a:bodyPr wrap="square" lIns="0" tIns="0" rIns="0" bIns="0" rtlCol="0" anchor="t"/>
          <a:lstStyle/>
          <a:p>
            <a:pPr indent="0" marL="0">
              <a:spcAft>
                <a:spcPts val="200"/>
              </a:spcAft>
              <a:buNone/>
            </a:pPr>
            <a:r>
              <a:rPr lang="en-US" sz="1200" dirty="0">
                <a:solidFill>
                  <a:schemeClr val="tx2"/>
                </a:solidFill>
                <a:latin typeface="Courier New" pitchFamily="34" charset="0"/>
                <a:ea typeface="Courier New" pitchFamily="34" charset="-122"/>
                <a:cs typeface="Courier New" pitchFamily="34" charset="-120"/>
              </a:rPr>
              <a:t>make &amp;&amp; make test</a:t>
            </a:r>
            <a:endParaRPr lang="en-US" sz="1200" dirty="0"/>
          </a:p>
          <a:p>
            <a:pPr indent="0" marL="0">
              <a:spcAft>
                <a:spcPts val="200"/>
              </a:spcAft>
              <a:buNone/>
            </a:pPr>
            <a:r>
              <a:rPr lang="en-US" sz="1200" dirty="0">
                <a:solidFill>
                  <a:schemeClr val="tx2"/>
                </a:solidFill>
                <a:latin typeface="Courier New" pitchFamily="34" charset="0"/>
                <a:ea typeface="Courier New" pitchFamily="34" charset="-122"/>
                <a:cs typeface="Courier New" pitchFamily="34" charset="-120"/>
              </a:rPr>
              <a:t>make -C llvm</a:t>
            </a:r>
            <a:endParaRPr lang="en-US" sz="1200" dirty="0"/>
          </a:p>
          <a:p>
            <a:pPr indent="0" marL="0">
              <a:spcAft>
                <a:spcPts val="200"/>
              </a:spcAft>
              <a:buNone/>
            </a:pPr>
            <a:r>
              <a:rPr lang="en-US" sz="1200" dirty="0">
                <a:solidFill>
                  <a:schemeClr val="tx2"/>
                </a:solidFill>
                <a:latin typeface="Courier New" pitchFamily="34" charset="0"/>
                <a:ea typeface="Courier New" pitchFamily="34" charset="-122"/>
                <a:cs typeface="Courier New" pitchFamily="34" charset="-120"/>
              </a:rPr>
              <a:t>make -C llvm test</a:t>
            </a:r>
            <a:endParaRPr lang="en-US" sz="1200" dirty="0"/>
          </a:p>
        </p:txBody>
      </p:sp>
    </p:spTree>
  </p:cSld>
  <p:clrMapOvr>
    <a:masterClrMapping/>
  </p:clrMapOvr>
</p:sld>
</file>

<file path=ppt/theme/theme1.xml><?xml version="1.0" encoding="utf-8"?>
<a:theme xmlns:a="http://schemas.openxmlformats.org/drawingml/2006/main" name="Proof-Guided FP">
  <a:themeElements>
    <a:clrScheme name="Proof-Guided FP">
      <a:dk1>
        <a:srgbClr val="16233A"/>
      </a:dk1>
      <a:lt1>
        <a:srgbClr val="FFFFFF"/>
      </a:lt1>
      <a:dk2>
        <a:srgbClr val="44546A"/>
      </a:dk2>
      <a:lt2>
        <a:srgbClr val="EEF2F7"/>
      </a:lt2>
      <a:accent1>
        <a:srgbClr val="E9A23B"/>
      </a:accent1>
      <a:accent2>
        <a:srgbClr val="1F9D74"/>
      </a:accent2>
      <a:accent3>
        <a:srgbClr val="D1495B"/>
      </a:accent3>
      <a:accent4>
        <a:srgbClr val="3E6FA3"/>
      </a:accent4>
      <a:accent5>
        <a:srgbClr val="8A9BB0"/>
      </a:accent5>
      <a:accent6>
        <a:srgbClr val="6B5B95"/>
      </a:accent6>
      <a:hlink>
        <a:srgbClr val="3E6FA3"/>
      </a:hlink>
      <a:folHlink>
        <a:srgbClr val="6B5B95"/>
      </a:folHlink>
    </a:clrScheme>
    <a:fontScheme name="Proof-Guided F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Proof-Guided Floating-Point Optimization</dc:title>
  <dc:subject>Exact Reassociation, Error Bounds, and Compiler Certificates</dc:subject>
  <dc:creator>A Aswanth Raj, Dr. Ranjithkumar S</dc:creator>
  <cp:lastModifiedBy>A Aswanth Raj, Dr. Ranjithkumar S</cp:lastModifiedBy>
  <cp:revision>1</cp:revision>
  <dcterms:created xsi:type="dcterms:W3CDTF">2026-10-24T13:17:26Z</dcterms:created>
  <dcterms:modified xsi:type="dcterms:W3CDTF">2026-10-24T13:17:26Z</dcterms:modified>
</cp:coreProperties>
</file>