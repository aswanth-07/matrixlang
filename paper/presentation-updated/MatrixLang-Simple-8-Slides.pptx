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92b213f38348dd" /><Relationship Type="http://schemas.openxmlformats.org/officeDocument/2006/relationships/extended-properties" Target="/docProps/app.xml" Id="R0401ce3246fd49bf" /><Relationship Type="http://schemas.openxmlformats.org/officeDocument/2006/relationships/officeDocument" Target="/ppt/presentation.xml" Id="Rba10ac1c38cf4b46" /></Relationships>
</file>

<file path=ppt/presentation.xml><?xml version="1.0" encoding="utf-8"?>
<p:presentation xmlns:p="http://schemas.openxmlformats.org/presentationml/2006/main">
  <p:sldMasterIdLst>
    <p:sldMasterId xmlns:r="http://schemas.openxmlformats.org/officeDocument/2006/relationships" id="2147483648" r:id="Rc20c4039906e41fe"/>
  </p:sldMasterIdLst>
  <p:notesMasterIdLst>
    <p:notesMasterId xmlns:r="http://schemas.openxmlformats.org/officeDocument/2006/relationships" r:id="Rddf2475c8b014cec"/>
  </p:notesMasterIdLst>
  <p:sldIdLst>
    <p:sldId xmlns:r="http://schemas.openxmlformats.org/officeDocument/2006/relationships" id="256" r:id="R6b0c9e35acf64f66"/>
    <p:sldId xmlns:r="http://schemas.openxmlformats.org/officeDocument/2006/relationships" id="257" r:id="R372a15b484e246a7"/>
    <p:sldId xmlns:r="http://schemas.openxmlformats.org/officeDocument/2006/relationships" id="258" r:id="Rb9b710f55fa4491c"/>
    <p:sldId xmlns:r="http://schemas.openxmlformats.org/officeDocument/2006/relationships" id="259" r:id="Rb50d1ffd81bc4568"/>
    <p:sldId xmlns:r="http://schemas.openxmlformats.org/officeDocument/2006/relationships" id="260" r:id="R6d8f246d5d0b43ab"/>
    <p:sldId xmlns:r="http://schemas.openxmlformats.org/officeDocument/2006/relationships" id="261" r:id="Rd878ca3f82d04c6f"/>
    <p:sldId xmlns:r="http://schemas.openxmlformats.org/officeDocument/2006/relationships" id="262" r:id="R8cb7770dfb854fa9"/>
    <p:sldId xmlns:r="http://schemas.openxmlformats.org/officeDocument/2006/relationships" id="263" r:id="R3d1d788ce1914483"/>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0ac10e425224330" /><Relationship Type="http://schemas.openxmlformats.org/officeDocument/2006/relationships/slideMaster" Target="/ppt/slideMasters/slideMaster1.xml" Id="Rc20c4039906e41fe" /><Relationship Type="http://schemas.openxmlformats.org/officeDocument/2006/relationships/notesMaster" Target="/ppt/notesMasters/notesMaster1.xml" Id="Rddf2475c8b014cec" /><Relationship Type="http://schemas.openxmlformats.org/officeDocument/2006/relationships/presProps" Target="/ppt/presProps.xml" Id="R7e8634a9b8e044b6" /><Relationship Type="http://schemas.openxmlformats.org/officeDocument/2006/relationships/viewProps" Target="/ppt/viewProps.xml" Id="R993c32ef58a24b28" /><Relationship Type="http://schemas.openxmlformats.org/officeDocument/2006/relationships/tableStyles" Target="/ppt/tableStyles.xml" Id="R6771836bfc3449eb" /><Relationship Type="http://schemas.openxmlformats.org/officeDocument/2006/relationships/slide" Target="/ppt/slides/slide1.xml" Id="R6b0c9e35acf64f66" /><Relationship Type="http://schemas.openxmlformats.org/officeDocument/2006/relationships/slide" Target="/ppt/slides/slide2.xml" Id="R372a15b484e246a7" /><Relationship Type="http://schemas.openxmlformats.org/officeDocument/2006/relationships/slide" Target="/ppt/slides/slide3.xml" Id="Rb9b710f55fa4491c" /><Relationship Type="http://schemas.openxmlformats.org/officeDocument/2006/relationships/slide" Target="/ppt/slides/slide4.xml" Id="Rb50d1ffd81bc4568" /><Relationship Type="http://schemas.openxmlformats.org/officeDocument/2006/relationships/slide" Target="/ppt/slides/slide5.xml" Id="R6d8f246d5d0b43ab" /><Relationship Type="http://schemas.openxmlformats.org/officeDocument/2006/relationships/slide" Target="/ppt/slides/slide6.xml" Id="Rd878ca3f82d04c6f" /><Relationship Type="http://schemas.openxmlformats.org/officeDocument/2006/relationships/slide" Target="/ppt/slides/slide7.xml" Id="R8cb7770dfb854fa9" /><Relationship Type="http://schemas.openxmlformats.org/officeDocument/2006/relationships/slide" Target="/ppt/slides/slide8.xml" Id="R3d1d788ce19144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94d811fd4942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Exact Bounded Relaxed">
  <a:themeElements>
    <a:clrScheme name="Exact Bounded Relaxed">
      <a:dk1>
        <a:srgbClr val="1B2A41"/>
      </a:dk1>
      <a:lt1>
        <a:srgbClr val="FFFFFF"/>
      </a:lt1>
      <a:dk2>
        <a:srgbClr val="3C506B"/>
      </a:dk2>
      <a:lt2>
        <a:srgbClr val="EEF2F6"/>
      </a:lt2>
      <a:accent1>
        <a:srgbClr val="F2A541"/>
      </a:accent1>
      <a:accent2>
        <a:srgbClr val="2E9E6B"/>
      </a:accent2>
      <a:accent3>
        <a:srgbClr val="D1495B"/>
      </a:accent3>
      <a:accent4>
        <a:srgbClr val="4C7DA8"/>
      </a:accent4>
      <a:accent5>
        <a:srgbClr val="8A9BB0"/>
      </a:accent5>
      <a:accent6>
        <a:srgbClr val="6B5B95"/>
      </a:accent6>
      <a:hlink>
        <a:srgbClr val="4C7DA8"/>
      </a:hlink>
      <a:folHlink>
        <a:srgbClr val="6B5B95"/>
      </a:folHlink>
    </a:clrScheme>
    <a:fontScheme name="Exact Bounded Relax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Exact Bounded Relaxe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cf59927b39442b" /><Relationship Type="http://schemas.openxmlformats.org/officeDocument/2006/relationships/notesMaster" Target="/ppt/notesMasters/notesMaster1.xml" Id="Ra66dfe003aae4f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8e315e1d6f4854" /><Relationship Type="http://schemas.openxmlformats.org/officeDocument/2006/relationships/notesMaster" Target="/ppt/notesMasters/notesMaster1.xml" Id="R29d7eee8436742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f5c93e72294aa6" /><Relationship Type="http://schemas.openxmlformats.org/officeDocument/2006/relationships/notesMaster" Target="/ppt/notesMasters/notesMaster1.xml" Id="R7ec4347f8cc64e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24458e2709479d" /><Relationship Type="http://schemas.openxmlformats.org/officeDocument/2006/relationships/notesMaster" Target="/ppt/notesMasters/notesMaster1.xml" Id="R5aa0fba3feb344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3ddc90f9b84b51" /><Relationship Type="http://schemas.openxmlformats.org/officeDocument/2006/relationships/notesMaster" Target="/ppt/notesMasters/notesMaster1.xml" Id="R18e321b8ef2146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23fb339d654aa6" /><Relationship Type="http://schemas.openxmlformats.org/officeDocument/2006/relationships/notesMaster" Target="/ppt/notesMasters/notesMaster1.xml" Id="R27cdfbc319a244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dd6e55b4094333" /><Relationship Type="http://schemas.openxmlformats.org/officeDocument/2006/relationships/notesMaster" Target="/ppt/notesMasters/notesMaster1.xml" Id="Rdd2116f887a541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22d6a93cf64c4b" /><Relationship Type="http://schemas.openxmlformats.org/officeDocument/2006/relationships/notesMaster" Target="/ppt/notesMasters/notesMaster1.xml" Id="R2e76ee98309146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artifact with MatrixLang, a matrix-language compiler, and ExactReduce, an LLVM pass. Revised manuscript title: Proof-Guided Floating-Point Optimization: Exact Reassociation, Error Bounds, and Compiler Certificates.</a:t>
            </a:r>
            <a:endParaRPr/>
          </a:p>
          <a:p xmlns:a="http://schemas.openxmlformats.org/drawingml/2006/main">
            <a:r>
              <a:t/>
            </a:r>
            <a:endParaRPr/>
          </a:p>
          <a:p xmlns:a="http://schemas.openxmlformats.org/drawingml/2006/main">
            <a:r>
              <a:t>Sources</a:t>
            </a:r>
            <a:endParaRPr/>
          </a:p>
          <a:p xmlns:a="http://schemas.openxmlformats.org/drawingml/2006/main">
            <a:r>
              <a:t>https://github.com/aswanth-07/matrixlang/blob/main/paper/README.md</a:t>
            </a:r>
            <a:endParaRPr/>
          </a:p>
          <a:p xmlns:a="http://schemas.openxmlformats.org/drawingml/2006/main">
            <a:r>
              <a:t>https://github.com/aswanth-07/matrixlang/blob/main/paper/matrixlang.tex</a:t>
            </a:r>
            <a:endParaRPr/>
          </a:p>
          <a:p xmlns:a="http://schemas.openxmlformats.org/drawingml/2006/main">
            <a:r>
              <a:t/>
            </a:r>
            <a:endParaRPr/>
          </a:p>
          <a:p xmlns:a="http://schemas.openxmlformats.org/drawingml/2006/main">
            <a:r>
              <a:t>Based on the local 24 October 2026 review revision.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semantics constrain observable behavior. Fast-math grants several permissions, beyond reassociation alone. The project separates bit-identical transformations, preservation of a stated error bound, and identities valid only over the reals.</a:t>
            </a:r>
          </a:p>
          <a:p xmlns:a="http://schemas.openxmlformats.org/drawingml/2006/main">
            <a:r>
              <a:t/>
            </a:r>
          </a:p>
          <a:p xmlns:a="http://schemas.openxmlformats.org/drawingml/2006/main">
            <a:r>
              <a:t>Sources</a:t>
            </a:r>
          </a:p>
          <a:p xmlns:a="http://schemas.openxmlformats.org/drawingml/2006/main">
            <a:r>
              <a:t>https://github.com/aswanth-07/matrixlang/blob/main/paper/matrixlang.tex</a:t>
            </a:r>
          </a:p>
          <a:p xmlns:a="http://schemas.openxmlformats.org/drawingml/2006/main">
            <a:r>
              <a:t/>
            </a:r>
          </a:p>
          <a:p xmlns:a="http://schemas.openxmlformats.org/drawingml/2006/main">
            <a:r>
              <a:t>Based on the local 24 October 2026 review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compiler uses Flex, Bison and C11. Its pipeline includes tokens, AST, symbols, shape checking, three-address code, optimization, typed VM code and a C backend. Numerical facts include finiteness and signed zero as well as grid and magnitude.</a:t>
            </a:r>
          </a:p>
          <a:p xmlns:a="http://schemas.openxmlformats.org/drawingml/2006/main">
            <a:r>
              <a:t/>
            </a:r>
          </a:p>
          <a:p xmlns:a="http://schemas.openxmlformats.org/drawingml/2006/main">
            <a:r>
              <a:t>Sources</a:t>
            </a:r>
          </a:p>
          <a:p xmlns:a="http://schemas.openxmlformats.org/drawingml/2006/main">
            <a:r>
              <a:t>https://github.com/aswanth-07/matrixlang/blob/main/paper/matrixlang.tex</a:t>
            </a:r>
          </a:p>
          <a:p xmlns:a="http://schemas.openxmlformats.org/drawingml/2006/main">
            <a:r>
              <a:t>https://github.com/aswanth-07/matrixlang/blob/main/src/ir/optimize.c</a:t>
            </a:r>
          </a:p>
          <a:p xmlns:a="http://schemas.openxmlformats.org/drawingml/2006/main">
            <a:r>
              <a:t>https://github.com/aswanth-07/matrixlang/blob/main/src/backend/emit_c.c</a:t>
            </a:r>
          </a:p>
          <a:p xmlns:a="http://schemas.openxmlformats.org/drawingml/2006/main">
            <a:r>
              <a:t/>
            </a:r>
          </a:p>
          <a:p xmlns:a="http://schemas.openxmlformats.org/drawingml/2006/main">
            <a:r>
              <a:t>Based on the local 24 October 2026 review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is the default. Bounded admission requires explicit finite-range, representable-grid and accumulated-error checks excluding overflow and inexact underflow. Exact subnormal results are allowed under gradual underflow. A range such as real(1) alone is insufficient. Guarantee labels compose the levels of applied rewrites.</a:t>
            </a:r>
          </a:p>
          <a:p xmlns:a="http://schemas.openxmlformats.org/drawingml/2006/main">
            <a:r>
              <a:t/>
            </a:r>
          </a:p>
          <a:p xmlns:a="http://schemas.openxmlformats.org/drawingml/2006/main">
            <a:r>
              <a:t>Sources</a:t>
            </a:r>
          </a:p>
          <a:p xmlns:a="http://schemas.openxmlformats.org/drawingml/2006/main">
            <a:r>
              <a:t>https://github.com/aswanth-07/matrixlang/blob/main/paper/matrixlang.tex</a:t>
            </a:r>
          </a:p>
          <a:p xmlns:a="http://schemas.openxmlformats.org/drawingml/2006/main">
            <a:r>
              <a:t>https://github.com/aswanth-07/matrixlang/blob/main/paper/review-response.md</a:t>
            </a:r>
          </a:p>
          <a:p xmlns:a="http://schemas.openxmlformats.org/drawingml/2006/main">
            <a:r>
              <a:t/>
            </a:r>
          </a:p>
          <a:p xmlns:a="http://schemas.openxmlformats.org/drawingml/2006/main">
            <a:r>
              <a:t>Based on the local 24 October 2026 review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MatrixLang is a straight-line language without control flow. ExactReduce derives facts from integer conversions, and uses static proofs or loop guards. It runs at VectorizerStart in the tested LLVM 18 pipeline. Supported recurrences include additions, subtraction and fmuladd; standalone products do not acquire reassoc.</a:t>
            </a:r>
          </a:p>
          <a:p xmlns:a="http://schemas.openxmlformats.org/drawingml/2006/main">
            <a:r>
              <a:t/>
            </a:r>
          </a:p>
          <a:p xmlns:a="http://schemas.openxmlformats.org/drawingml/2006/main">
            <a:r>
              <a:t>Sources</a:t>
            </a:r>
          </a:p>
          <a:p xmlns:a="http://schemas.openxmlformats.org/drawingml/2006/main">
            <a:r>
              <a:t>https://github.com/aswanth-07/matrixlang/blob/main/paper/matrixlang.tex</a:t>
            </a:r>
          </a:p>
          <a:p xmlns:a="http://schemas.openxmlformats.org/drawingml/2006/main">
            <a:r>
              <a:t>https://github.com/aswanth-07/matrixlang/blob/main/llvm/README.md</a:t>
            </a:r>
          </a:p>
          <a:p xmlns:a="http://schemas.openxmlformats.org/drawingml/2006/main">
            <a:r>
              <a:t>https://github.com/aswanth-07/matrixlang/blob/main/llvm/ExactReduce.cpp</a:t>
            </a:r>
          </a:p>
          <a:p xmlns:a="http://schemas.openxmlformats.org/drawingml/2006/main">
            <a:r>
              <a:t/>
            </a:r>
          </a:p>
          <a:p xmlns:a="http://schemas.openxmlformats.org/drawingml/2006/main">
            <a:r>
              <a:t>Based on the local 24 October 2026 review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Speedup range: M2 Xeon, Clang 18, medians of five processes with eleven runs each, with strict result bits. Local LLVM regressions compare licensed and integer-accumulating builds separately against strict on 784 cases each. Certificate replay: 221 programs, 660 accepted compilations, 262 records (166 bit-identical, 96 bound-preserving), zero failures, conditional on supplied facts. Existing-code coverage: 16 audioop plus seven Pillow, zero ndimage and zero PolyBench, in a selection of four code bases. Results do not establish general coverage.</a:t>
            </a:r>
          </a:p>
          <a:p xmlns:a="http://schemas.openxmlformats.org/drawingml/2006/main">
            <a:r>
              <a:t/>
            </a:r>
          </a:p>
          <a:p xmlns:a="http://schemas.openxmlformats.org/drawingml/2006/main">
            <a:r>
              <a:t>Sources</a:t>
            </a:r>
          </a:p>
          <a:p xmlns:a="http://schemas.openxmlformats.org/drawingml/2006/main">
            <a:r>
              <a:t>https://github.com/aswanth-07/matrixlang/blob/main/paper/generated/llvm.tex</a:t>
            </a:r>
          </a:p>
          <a:p xmlns:a="http://schemas.openxmlformats.org/drawingml/2006/main">
            <a:r>
              <a:t>https://github.com/aswanth-07/matrixlang/blob/main/results/review-revision/llvm-tests.log</a:t>
            </a:r>
          </a:p>
          <a:p xmlns:a="http://schemas.openxmlformats.org/drawingml/2006/main">
            <a:r>
              <a:t>https://github.com/aswanth-07/matrixlang/blob/main/results/review-revision/certificates/verification.json</a:t>
            </a:r>
          </a:p>
          <a:p xmlns:a="http://schemas.openxmlformats.org/drawingml/2006/main">
            <a:r>
              <a:t>https://github.com/aswanth-07/matrixlang/blob/main/paper/review-response.md</a:t>
            </a:r>
          </a:p>
          <a:p xmlns:a="http://schemas.openxmlformats.org/drawingml/2006/main">
            <a:r>
              <a:t/>
            </a:r>
          </a:p>
          <a:p xmlns:a="http://schemas.openxmlformats.org/drawingml/2006/main">
            <a:r>
              <a:t>Based on the local 24 October 2026 review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underflow repair uses representable product grids and error slack. Source-to-fact extraction, general composed output expressions and final machine code are outside the independent chain checker. LLVM reassoc permits more than regrouping identical terms, so the theorem is not a full LLVM proof. Kernel-module compilation medians: 138 ms strict and 178 ms licensed over ten compilations. Text size: 4,149 and 5,801 bytes. The paper remains a local author-review revision, not a submitted or accepted paper.</a:t>
            </a:r>
          </a:p>
          <a:p xmlns:a="http://schemas.openxmlformats.org/drawingml/2006/main">
            <a:r>
              <a:t/>
            </a:r>
          </a:p>
          <a:p xmlns:a="http://schemas.openxmlformats.org/drawingml/2006/main">
            <a:r>
              <a:t>Sources</a:t>
            </a:r>
          </a:p>
          <a:p xmlns:a="http://schemas.openxmlformats.org/drawingml/2006/main">
            <a:r>
              <a:t>https://github.com/aswanth-07/matrixlang/blob/main/paper/review-response.md</a:t>
            </a:r>
          </a:p>
          <a:p xmlns:a="http://schemas.openxmlformats.org/drawingml/2006/main">
            <a:r>
              <a:t>https://github.com/aswanth-07/matrixlang/blob/main/paper/matrixlang.tex</a:t>
            </a:r>
          </a:p>
          <a:p xmlns:a="http://schemas.openxmlformats.org/drawingml/2006/main">
            <a:r>
              <a:t>https://github.com/aswanth-07/matrixlang/blob/main/paper/generated/llvm.tex</a:t>
            </a:r>
          </a:p>
          <a:p xmlns:a="http://schemas.openxmlformats.org/drawingml/2006/main">
            <a:r>
              <a:t/>
            </a:r>
          </a:p>
          <a:p xmlns:a="http://schemas.openxmlformats.org/drawingml/2006/main">
            <a:r>
              <a:t>Based on the local 24 October 2026 review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commands from the repository root in Linux or the documented MSYS2 build environment. Compiler requirements: Flex, Bison, C11 compiler and Make. Python scripts require Python 3.10 or newer. LLVM study requires LLVM/Clang 18 development tools and libomp.</a:t>
            </a:r>
            <a:endParaRPr/>
          </a:p>
          <a:p xmlns:a="http://schemas.openxmlformats.org/drawingml/2006/main">
            <a:r>
              <a:t/>
            </a:r>
            <a:endParaRPr/>
          </a:p>
          <a:p xmlns:a="http://schemas.openxmlformats.org/drawingml/2006/main">
            <a:r>
              <a:t>Sources</a:t>
            </a:r>
            <a:endParaRPr/>
          </a:p>
          <a:p xmlns:a="http://schemas.openxmlformats.org/drawingml/2006/main">
            <a:r>
              <a:t>https://github.com/aswanth-07/matrixlang/blob/main/paper/README.md</a:t>
            </a:r>
            <a:endParaRPr/>
          </a:p>
          <a:p xmlns:a="http://schemas.openxmlformats.org/drawingml/2006/main">
            <a:r>
              <a:t>https://github.com/aswanth-07/matrixlang/blob/main/Makefile</a:t>
            </a:r>
            <a:endParaRPr/>
          </a:p>
          <a:p xmlns:a="http://schemas.openxmlformats.org/drawingml/2006/main">
            <a:r>
              <a:t>https://github.com/aswanth-07/matrixlang/blob/main/llvm/Makefile</a:t>
            </a:r>
            <a:endParaRPr/>
          </a:p>
          <a:p xmlns:a="http://schemas.openxmlformats.org/drawingml/2006/main">
            <a:r>
              <a:t/>
            </a:r>
            <a:endParaRPr/>
          </a:p>
          <a:p xmlns:a="http://schemas.openxmlformats.org/drawingml/2006/main">
            <a:r>
              <a:t>Based on the local 24 October 2026 review revision.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8178a708ed40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37365b3b664f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560f50c390411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_DARK">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07EAEB5-7C0A-4251-92BC-24AB73B0EC69}"/>
              </a:ext>
            </a:extLst>
          </p:cNvPr>
          <p:cNvSpPr>
            <a:spLocks xmlns:a="http://schemas.openxmlformats.org/drawingml/2006/main" noGrp="1"/>
          </p:cNvSpPr>
          <p:nvPr>
            <p:ph type="title" idx="100" hasCustomPrompt="1"/>
          </p:nvPr>
        </p:nvSpPr>
        <p:spPr>
          <a:xfrm xmlns:a="http://schemas.openxmlformats.org/drawingml/2006/main">
            <a:off x="731520" y="1737360"/>
            <a:ext cx="10698480" cy="17373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buNone/>
              <a:defRPr sz="4000" b="1">
                <a:solidFill>
                  <a:schemeClr val="bg1"/>
                </a:solidFill>
              </a:defRPr>
            </a:lvl1pPr>
          </a:lstStyle>
          <a:p xmlns:a="http://schemas.openxmlformats.org/drawingml/2006/main">
            <a:pPr marL="0" indent="0">
              <a:buNone/>
            </a:pPr>
            <a:endParaRPr sz="4000"/>
          </a:p>
        </p:txBody>
      </p:sp>
      <p:sp>
        <p:nvSpPr>
          <p:cNvPr id="3" name="Text 0">
            <a:extLst xmlns:a="http://schemas.openxmlformats.org/drawingml/2006/main">
              <a:ext uri="{FF2B5EF4-FFF2-40B4-BE49-F238E27FC236}">
                <a16:creationId xmlns:a16="http://schemas.microsoft.com/office/drawing/2014/main" id="{7404B8F6-EB47-4420-B1B7-EE5F9B3C8090}"/>
              </a:ext>
            </a:extLst>
          </p:cNvPr>
          <p:cNvSpPr>
            <a:spLocks xmlns:a="http://schemas.openxmlformats.org/drawingml/2006/main" noGrp="1"/>
          </p:cNvSpPr>
          <p:nvPr>
            <p:ph type="body" idx="101" hasCustomPrompt="1"/>
          </p:nvPr>
        </p:nvSpPr>
        <p:spPr>
          <a:xfrm xmlns:a="http://schemas.openxmlformats.org/drawingml/2006/main">
            <a:off x="731520" y="3657600"/>
            <a:ext cx="10698480" cy="201168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buNone/>
              <a:defRPr sz="1800">
                <a:solidFill>
                  <a:schemeClr val="bg2"/>
                </a:solidFill>
              </a:defRPr>
            </a:lvl1pPr>
          </a:lstStyle>
          <a:p xmlns:a="http://schemas.openxmlformats.org/drawingml/2006/main">
            <a:pPr marL="0" indent="0">
              <a:buNone/>
            </a:pPr>
            <a:endParaRPr sz="1800"/>
          </a:p>
        </p:txBody>
      </p:sp>
    </p:spTree>
  </p:cSld>
</p:sldLayout>
</file>

<file path=ppt/slideLayouts/slideLayout3.xml><?xml version="1.0" encoding="utf-8"?>
<p:sldLayout xmlns:p="http://schemas.openxmlformats.org/presentationml/2006/main" preserve="1">
  <p:cSld name="CONTENT">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09789FC-6575-46CE-B942-6AF91D2CB64F}"/>
              </a:ext>
            </a:extLst>
          </p:cNvPr>
          <p:cNvSpPr>
            <a:spLocks xmlns:a="http://schemas.openxmlformats.org/drawingml/2006/main" noGrp="1"/>
          </p:cNvSpPr>
          <p:nvPr>
            <p:ph type="title" idx="100" hasCustomPrompt="1"/>
          </p:nvPr>
        </p:nvSpPr>
        <p:spPr>
          <a:xfrm xmlns:a="http://schemas.openxmlformats.org/drawingml/2006/main">
            <a:off x="548640" y="320040"/>
            <a:ext cx="11064240" cy="8229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buNone/>
              <a:defRPr sz="3200" b="1">
                <a:solidFill>
                  <a:schemeClr val="tx1"/>
                </a:solidFill>
              </a:defRPr>
            </a:lvl1pPr>
          </a:lstStyle>
          <a:p xmlns:a="http://schemas.openxmlformats.org/drawingml/2006/main">
            <a:pPr marL="0" indent="0">
              <a:buNone/>
            </a:pPr>
            <a:endParaRPr sz="3200"/>
          </a:p>
        </p:txBody>
      </p:sp>
      <p:sp>
        <p:nvSpPr>
          <p:cNvPr id="25" name="Slide Number Placeholder 0">
            <a:extLst xmlns:a="http://schemas.openxmlformats.org/drawingml/2006/main">
              <a:ext uri="{FF2B5EF4-FFF2-40B4-BE49-F238E27FC236}">
                <a16:creationId xmlns:a16="http://schemas.microsoft.com/office/drawing/2014/main" id="{56871324-3F9F-4247-BFE2-ED93A76972AA}"/>
              </a:ext>
            </a:extLst>
          </p:cNvPr>
          <p:cNvSpPr>
            <a:spLocks xmlns:a="http://schemas.openxmlformats.org/drawingml/2006/main" noGrp="1"/>
          </p:cNvSpPr>
          <p:nvPr>
            <p:ph type="sldNum" idx="4294967295"/>
          </p:nvPr>
        </p:nvSpPr>
        <p:spPr>
          <a:xfrm xmlns:a="http://schemas.openxmlformats.org/drawingml/2006/main">
            <a:off x="1133856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defRPr>
            </a:lvl1pPr>
          </a:lstStyle>
          <a:p xmlns:a="http://schemas.openxmlformats.org/drawingml/2006/main">
            <a:pPr algn="l">
              <a:buNone/>
            </a:pPr>
            <a:fld id="{F7021451-1387-4CA6-816F-3879F97B5CBC}" type="slidenum">
              <a:rPr b="0"/>
              <a:t>1003</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1fda65b88949cf" /><Relationship Type="http://schemas.openxmlformats.org/officeDocument/2006/relationships/slideLayout" Target="/ppt/slideLayouts/slideLayout1.xml" Id="Rba574620899b481b" /><Relationship Type="http://schemas.openxmlformats.org/officeDocument/2006/relationships/slideLayout" Target="/ppt/slideLayouts/slideLayout2.xml" Id="R9c5820503dc048df" /><Relationship Type="http://schemas.openxmlformats.org/officeDocument/2006/relationships/slideLayout" Target="/ppt/slideLayouts/slideLayout3.xml" Id="R9c27b0b1fdb6461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23989584-ABC9-4732-89CD-DD185C03EF97}"/>
              </a:ext>
            </a:extLst>
          </p:cNvPr>
          <p:cNvSpPr>
            <a:spLocks xmlns:a="http://schemas.openxmlformats.org/drawingml/2006/main" noGrp="1"/>
          </p:cNvSpPr>
          <p:nvPr>
            <p:ph type="sldNum" idx="4294967295"/>
          </p:nvPr>
        </p:nvSpPr>
        <p:spPr>
          <a:xfrm xmlns:a="http://schemas.openxmlformats.org/drawingml/2006/main">
            <a:off x="11338560" y="640080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5"/>
                </a:solidFill>
              </a:defRPr>
            </a:lvl1pPr>
          </a:lstStyle>
          <a:p xmlns:a="http://schemas.openxmlformats.org/drawingml/2006/main">
            <a:pPr algn="l">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574620899b481b"/>
    <p:sldLayoutId xmlns:r="http://schemas.openxmlformats.org/officeDocument/2006/relationships" id="2147483650" r:id="R9c5820503dc048df"/>
    <p:sldLayoutId xmlns:r="http://schemas.openxmlformats.org/officeDocument/2006/relationships" id="2147483651" r:id="R9c27b0b1fdb6461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Exact Bounded Relaxed">
  <a:themeElements>
    <a:clrScheme name="Exact Bounded Relaxed">
      <a:dk1>
        <a:srgbClr val="1B2A41"/>
      </a:dk1>
      <a:lt1>
        <a:srgbClr val="FFFFFF"/>
      </a:lt1>
      <a:dk2>
        <a:srgbClr val="3C506B"/>
      </a:dk2>
      <a:lt2>
        <a:srgbClr val="EEF2F6"/>
      </a:lt2>
      <a:accent1>
        <a:srgbClr val="F2A541"/>
      </a:accent1>
      <a:accent2>
        <a:srgbClr val="2E9E6B"/>
      </a:accent2>
      <a:accent3>
        <a:srgbClr val="D1495B"/>
      </a:accent3>
      <a:accent4>
        <a:srgbClr val="4C7DA8"/>
      </a:accent4>
      <a:accent5>
        <a:srgbClr val="8A9BB0"/>
      </a:accent5>
      <a:accent6>
        <a:srgbClr val="6B5B95"/>
      </a:accent6>
      <a:hlink>
        <a:srgbClr val="4C7DA8"/>
      </a:hlink>
      <a:folHlink>
        <a:srgbClr val="6B5B95"/>
      </a:folHlink>
    </a:clrScheme>
    <a:fontScheme name="Exact Bounded Relax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Exact Bounded Relaxe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e5f972618ba43db" /><Relationship Type="http://schemas.openxmlformats.org/officeDocument/2006/relationships/hyperlink" Target="https://github.com/aswanth-07/matrixlang" TargetMode="External" Id="Rd8e0a3e0a0b749fb" /><Relationship Type="http://schemas.openxmlformats.org/officeDocument/2006/relationships/notesSlide" Target="/ppt/notesSlides/notesSlide1.xml" Id="Re6da7112adb54a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6fb16efcc7a64971" /><Relationship Type="http://schemas.openxmlformats.org/officeDocument/2006/relationships/notesSlide" Target="/ppt/notesSlides/notesSlide2.xml" Id="R518c35e172eb4b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b5247c82febe44fe" /><Relationship Type="http://schemas.openxmlformats.org/officeDocument/2006/relationships/notesSlide" Target="/ppt/notesSlides/notesSlide3.xml" Id="R22432a49669f44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d8314dc22bde403c" /><Relationship Type="http://schemas.openxmlformats.org/officeDocument/2006/relationships/notesSlide" Target="/ppt/notesSlides/notesSlide4.xml" Id="Re4a9f8a495024b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5ad1f7bbad5f41fe" /><Relationship Type="http://schemas.openxmlformats.org/officeDocument/2006/relationships/notesSlide" Target="/ppt/notesSlides/notesSlide5.xml" Id="R53773b968a6d4d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c4de6897a1d6429a" /><Relationship Type="http://schemas.openxmlformats.org/officeDocument/2006/relationships/notesSlide" Target="/ppt/notesSlides/notesSlide6.xml" Id="R5043768f9abe47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5cb9a6c6a6d1420c" /><Relationship Type="http://schemas.openxmlformats.org/officeDocument/2006/relationships/notesSlide" Target="/ppt/notesSlides/notesSlide7.xml" Id="Rbee4fb6ba2ca4e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dbd6992268949f6" /><Relationship Type="http://schemas.openxmlformats.org/officeDocument/2006/relationships/hyperlink" Target="https://github.com/aswanth-07/matrixlang" TargetMode="External" Id="R9bcb2b480ec54992" /><Relationship Type="http://schemas.openxmlformats.org/officeDocument/2006/relationships/notesSlide" Target="/ppt/notesSlides/notesSlide8.xml" Id="Rcbb4e7d4507a432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B6A91BD-19DC-4318-8709-BFB9BAF1A46C}"/>
              </a:ext>
            </a:extLst>
          </p:cNvPr>
          <p:cNvSpPr>
            <a:spLocks xmlns:a="http://schemas.openxmlformats.org/drawingml/2006/main" noGrp="1"/>
          </p:cNvSpPr>
          <p:nvPr>
            <p:ph type="title" idx="100" hasCustomPrompt="1"/>
          </p:nvPr>
        </p:nvSpPr>
        <p:spPr>
          <a:xfrm xmlns:a="http://schemas.openxmlformats.org/drawingml/2006/main">
            <a:off x="731520" y="1495425"/>
            <a:ext cx="10698480" cy="1047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5400" b="1" i="0">
                <a:solidFill>
                  <a:srgbClr val="FFFFFF"/>
                </a:solidFill>
                <a:latin typeface="Cambria"/>
                <a:ea typeface="Cambria"/>
                <a:cs typeface="Cambria"/>
              </a:defRPr>
            </a:defPPr>
            <a:lvl1pPr algn="ctr">
              <a:defRPr sz="5400" b="1" i="0">
                <a:solidFill>
                  <a:srgbClr val="FFFFFF"/>
                </a:solidFill>
                <a:latin typeface="Cambria"/>
                <a:ea typeface="Cambria"/>
                <a:cs typeface="Cambria"/>
              </a:defRPr>
            </a:lvl1pPr>
            <a:lvl2pPr algn="ctr">
              <a:defRPr sz="5400" b="1" i="0">
                <a:solidFill>
                  <a:srgbClr val="FFFFFF"/>
                </a:solidFill>
                <a:latin typeface="Cambria"/>
                <a:ea typeface="Cambria"/>
                <a:cs typeface="Cambria"/>
              </a:defRPr>
            </a:lvl2pPr>
            <a:lvl3pPr algn="ctr">
              <a:defRPr sz="5400" b="1" i="0">
                <a:solidFill>
                  <a:srgbClr val="FFFFFF"/>
                </a:solidFill>
                <a:latin typeface="Cambria"/>
                <a:ea typeface="Cambria"/>
                <a:cs typeface="Cambria"/>
              </a:defRPr>
            </a:lvl3pPr>
            <a:lvl4pPr algn="ctr">
              <a:defRPr sz="5400" b="1" i="0">
                <a:solidFill>
                  <a:srgbClr val="FFFFFF"/>
                </a:solidFill>
                <a:latin typeface="Cambria"/>
                <a:ea typeface="Cambria"/>
                <a:cs typeface="Cambria"/>
              </a:defRPr>
            </a:lvl4pPr>
            <a:lvl5pPr algn="ctr">
              <a:defRPr sz="5400" b="1" i="0">
                <a:solidFill>
                  <a:srgbClr val="FFFFFF"/>
                </a:solidFill>
                <a:latin typeface="Cambria"/>
                <a:ea typeface="Cambria"/>
                <a:cs typeface="Cambria"/>
              </a:defRPr>
            </a:lvl5pPr>
            <a:lvl6pPr algn="ctr">
              <a:defRPr sz="5400" b="1" i="0">
                <a:solidFill>
                  <a:srgbClr val="FFFFFF"/>
                </a:solidFill>
                <a:latin typeface="Cambria"/>
                <a:ea typeface="Cambria"/>
                <a:cs typeface="Cambria"/>
              </a:defRPr>
            </a:lvl6pPr>
            <a:lvl7pPr algn="ctr">
              <a:defRPr sz="5400" b="1" i="0">
                <a:solidFill>
                  <a:srgbClr val="FFFFFF"/>
                </a:solidFill>
                <a:latin typeface="Cambria"/>
                <a:ea typeface="Cambria"/>
                <a:cs typeface="Cambria"/>
              </a:defRPr>
            </a:lvl7pPr>
            <a:lvl8pPr algn="ctr">
              <a:defRPr sz="5400" b="1" i="0">
                <a:solidFill>
                  <a:srgbClr val="FFFFFF"/>
                </a:solidFill>
                <a:latin typeface="Cambria"/>
                <a:ea typeface="Cambria"/>
                <a:cs typeface="Cambria"/>
              </a:defRPr>
            </a:lvl8pPr>
            <a:lvl9pPr algn="ctr">
              <a:defRPr sz="5400" b="1" i="0">
                <a:solidFill>
                  <a:srgbClr val="FFFFFF"/>
                </a:solidFill>
                <a:latin typeface="Cambria"/>
                <a:ea typeface="Cambria"/>
                <a:cs typeface="Cambria"/>
              </a:defRPr>
            </a:lvl9pPr>
          </a:lstStyle>
          <a:p xmlns:a="http://schemas.openxmlformats.org/drawingml/2006/main">
            <a:pPr marL="0" indent="0" algn="ctr">
              <a:buNone/>
              <a:defRPr sz="5400" b="1" i="0">
                <a:solidFill>
                  <a:srgbClr val="FFFFFF"/>
                </a:solidFill>
                <a:latin typeface="Cambria"/>
                <a:ea typeface="Cambria"/>
                <a:cs typeface="Cambria"/>
              </a:defRPr>
            </a:pPr>
            <a:r>
              <a:rPr sz="5400" b="1" i="0">
                <a:solidFill>
                  <a:srgbClr val="FFFFFF"/>
                </a:solidFill>
                <a:latin typeface="Cambria"/>
                <a:ea typeface="Cambria"/>
                <a:cs typeface="Cambria"/>
              </a:rPr>
              <a:t>MatrixLang</a:t>
            </a:r>
            <a:endParaRPr sz="4000"/>
          </a:p>
        </p:txBody>
      </p:sp>
      <p:sp>
        <p:nvSpPr>
          <p:cNvPr id="3" name="Text 0">
            <a:extLst xmlns:a="http://schemas.openxmlformats.org/drawingml/2006/main">
              <a:ext uri="{FF2B5EF4-FFF2-40B4-BE49-F238E27FC236}">
                <a16:creationId xmlns:a16="http://schemas.microsoft.com/office/drawing/2014/main" id="{3F18D242-1BAE-4882-95AA-326A0EDA6E8A}"/>
              </a:ext>
            </a:extLst>
          </p:cNvPr>
          <p:cNvSpPr>
            <a:spLocks xmlns:a="http://schemas.openxmlformats.org/drawingml/2006/main" noGrp="1"/>
          </p:cNvSpPr>
          <p:nvPr>
            <p:ph type="body" idx="101" hasCustomPrompt="1"/>
          </p:nvPr>
        </p:nvSpPr>
        <p:spPr>
          <a:xfrm xmlns:a="http://schemas.openxmlformats.org/drawingml/2006/main">
            <a:off x="822960" y="3857625"/>
            <a:ext cx="10572750" cy="8572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900" b="0" i="0">
                <a:solidFill>
                  <a:srgbClr val="EDF2F7"/>
                </a:solidFill>
                <a:latin typeface="Calibri"/>
                <a:ea typeface="Calibri"/>
                <a:cs typeface="Calibri"/>
              </a:defRPr>
            </a:defPPr>
            <a:lvl1pPr algn="l">
              <a:defRPr sz="1900" b="0" i="0">
                <a:solidFill>
                  <a:srgbClr val="EDF2F7"/>
                </a:solidFill>
                <a:latin typeface="Calibri"/>
                <a:ea typeface="Calibri"/>
                <a:cs typeface="Calibri"/>
              </a:defRPr>
            </a:lvl1pPr>
            <a:lvl2pPr algn="l">
              <a:defRPr sz="1900" b="0" i="0">
                <a:solidFill>
                  <a:srgbClr val="EDF2F7"/>
                </a:solidFill>
                <a:latin typeface="Calibri"/>
                <a:ea typeface="Calibri"/>
                <a:cs typeface="Calibri"/>
              </a:defRPr>
            </a:lvl2pPr>
            <a:lvl3pPr algn="l">
              <a:defRPr sz="1900" b="0" i="0">
                <a:solidFill>
                  <a:srgbClr val="EDF2F7"/>
                </a:solidFill>
                <a:latin typeface="Calibri"/>
                <a:ea typeface="Calibri"/>
                <a:cs typeface="Calibri"/>
              </a:defRPr>
            </a:lvl3pPr>
            <a:lvl4pPr algn="l">
              <a:defRPr sz="1900" b="0" i="0">
                <a:solidFill>
                  <a:srgbClr val="EDF2F7"/>
                </a:solidFill>
                <a:latin typeface="Calibri"/>
                <a:ea typeface="Calibri"/>
                <a:cs typeface="Calibri"/>
              </a:defRPr>
            </a:lvl4pPr>
            <a:lvl5pPr algn="l">
              <a:defRPr sz="1900" b="0" i="0">
                <a:solidFill>
                  <a:srgbClr val="EDF2F7"/>
                </a:solidFill>
                <a:latin typeface="Calibri"/>
                <a:ea typeface="Calibri"/>
                <a:cs typeface="Calibri"/>
              </a:defRPr>
            </a:lvl5pPr>
            <a:lvl6pPr algn="l">
              <a:defRPr sz="1900" b="0" i="0">
                <a:solidFill>
                  <a:srgbClr val="EDF2F7"/>
                </a:solidFill>
                <a:latin typeface="Calibri"/>
                <a:ea typeface="Calibri"/>
                <a:cs typeface="Calibri"/>
              </a:defRPr>
            </a:lvl6pPr>
            <a:lvl7pPr algn="l">
              <a:defRPr sz="1900" b="0" i="0">
                <a:solidFill>
                  <a:srgbClr val="EDF2F7"/>
                </a:solidFill>
                <a:latin typeface="Calibri"/>
                <a:ea typeface="Calibri"/>
                <a:cs typeface="Calibri"/>
              </a:defRPr>
            </a:lvl7pPr>
            <a:lvl8pPr algn="l">
              <a:defRPr sz="1900" b="0" i="0">
                <a:solidFill>
                  <a:srgbClr val="EDF2F7"/>
                </a:solidFill>
                <a:latin typeface="Calibri"/>
                <a:ea typeface="Calibri"/>
                <a:cs typeface="Calibri"/>
              </a:defRPr>
            </a:lvl8pPr>
            <a:lvl9pPr algn="l">
              <a:defRPr sz="1900" b="0" i="0">
                <a:solidFill>
                  <a:srgbClr val="EDF2F7"/>
                </a:solidFill>
                <a:latin typeface="Calibri"/>
                <a:ea typeface="Calibri"/>
                <a:cs typeface="Calibri"/>
              </a:defRPr>
            </a:lvl9pPr>
          </a:lstStyle>
          <a:p xmlns:a="http://schemas.openxmlformats.org/drawingml/2006/main">
            <a:pPr marL="0" indent="0" algn="l">
              <a:buNone/>
              <a:defRPr sz="1900" b="0" i="0">
                <a:solidFill>
                  <a:srgbClr val="EDF2F7"/>
                </a:solidFill>
                <a:latin typeface="Calibri"/>
                <a:ea typeface="Calibri"/>
                <a:cs typeface="Calibri"/>
              </a:defRPr>
            </a:pPr>
            <a:r>
              <a:rPr sz="1900" b="0" i="0">
                <a:solidFill>
                  <a:srgbClr val="EDF2F7"/>
                </a:solidFill>
                <a:latin typeface="Calibri"/>
                <a:ea typeface="Calibri"/>
                <a:cs typeface="Calibri"/>
              </a:rPr>
              <a:t>A Aswanth Raj and Dr. Ranjithkumar S</a:t>
            </a:r>
            <a:endParaRPr sz="1800"/>
          </a:p>
          <a:p xmlns:a="http://schemas.openxmlformats.org/drawingml/2006/main">
            <a:pPr marL="0" indent="0" algn="l">
              <a:buNone/>
              <a:defRPr sz="1900" b="0" i="0">
                <a:solidFill>
                  <a:srgbClr val="EDF2F7"/>
                </a:solidFill>
                <a:latin typeface="Calibri"/>
                <a:ea typeface="Calibri"/>
                <a:cs typeface="Calibri"/>
              </a:defRPr>
            </a:pPr>
            <a:r>
              <a:rPr sz="1900" b="0" i="0">
                <a:solidFill>
                  <a:srgbClr val="EDF2F7"/>
                </a:solidFill>
                <a:latin typeface="Calibri"/>
                <a:ea typeface="Calibri"/>
                <a:cs typeface="Calibri"/>
              </a:rPr>
              <a:t>School of Computer Science and Engineering, VIT Vellore</a:t>
            </a:r>
            <a:endParaRPr sz="1800"/>
          </a:p>
        </p:txBody>
      </p:sp>
      <p:sp>
        <p:nvSpPr>
          <p:cNvPr id="4" name="Project description">
            <a:extLst xmlns:a="http://schemas.openxmlformats.org/drawingml/2006/main">
              <a:ext uri="{FF2B5EF4-FFF2-40B4-BE49-F238E27FC236}">
                <a16:creationId xmlns:a16="http://schemas.microsoft.com/office/drawing/2014/main" id="{323FBD2A-49A9-4599-AF3D-7332257E0906}"/>
              </a:ext>
            </a:extLst>
          </p:cNvPr>
          <p:cNvSpPr>
            <a:spLocks xmlns:a="http://schemas.openxmlformats.org/drawingml/2006/main" noGrp="1"/>
          </p:cNvSpPr>
          <p:nvPr/>
        </p:nvSpPr>
        <p:spPr>
          <a:xfrm xmlns:a="http://schemas.openxmlformats.org/drawingml/2006/main">
            <a:off x="822960" y="27527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ctr">
              <a:defRPr sz="2600" b="0" i="0">
                <a:solidFill>
                  <a:srgbClr val="EDF2F7"/>
                </a:solidFill>
                <a:latin typeface="Calibri"/>
                <a:ea typeface="Calibri"/>
                <a:cs typeface="Calibri"/>
              </a:defRPr>
            </a:defPPr>
            <a:lvl1pPr algn="ctr">
              <a:defRPr sz="2600" b="0" i="0">
                <a:solidFill>
                  <a:srgbClr val="EDF2F7"/>
                </a:solidFill>
                <a:latin typeface="Calibri"/>
                <a:ea typeface="Calibri"/>
                <a:cs typeface="Calibri"/>
              </a:defRPr>
            </a:lvl1pPr>
            <a:lvl2pPr algn="ctr">
              <a:defRPr sz="2600" b="0" i="0">
                <a:solidFill>
                  <a:srgbClr val="EDF2F7"/>
                </a:solidFill>
                <a:latin typeface="Calibri"/>
                <a:ea typeface="Calibri"/>
                <a:cs typeface="Calibri"/>
              </a:defRPr>
            </a:lvl2pPr>
            <a:lvl3pPr algn="ctr">
              <a:defRPr sz="2600" b="0" i="0">
                <a:solidFill>
                  <a:srgbClr val="EDF2F7"/>
                </a:solidFill>
                <a:latin typeface="Calibri"/>
                <a:ea typeface="Calibri"/>
                <a:cs typeface="Calibri"/>
              </a:defRPr>
            </a:lvl3pPr>
            <a:lvl4pPr algn="ctr">
              <a:defRPr sz="2600" b="0" i="0">
                <a:solidFill>
                  <a:srgbClr val="EDF2F7"/>
                </a:solidFill>
                <a:latin typeface="Calibri"/>
                <a:ea typeface="Calibri"/>
                <a:cs typeface="Calibri"/>
              </a:defRPr>
            </a:lvl4pPr>
            <a:lvl5pPr algn="ctr">
              <a:defRPr sz="2600" b="0" i="0">
                <a:solidFill>
                  <a:srgbClr val="EDF2F7"/>
                </a:solidFill>
                <a:latin typeface="Calibri"/>
                <a:ea typeface="Calibri"/>
                <a:cs typeface="Calibri"/>
              </a:defRPr>
            </a:lvl5pPr>
            <a:lvl6pPr algn="ctr">
              <a:defRPr sz="2600" b="0" i="0">
                <a:solidFill>
                  <a:srgbClr val="EDF2F7"/>
                </a:solidFill>
                <a:latin typeface="Calibri"/>
                <a:ea typeface="Calibri"/>
                <a:cs typeface="Calibri"/>
              </a:defRPr>
            </a:lvl6pPr>
            <a:lvl7pPr algn="ctr">
              <a:defRPr sz="2600" b="0" i="0">
                <a:solidFill>
                  <a:srgbClr val="EDF2F7"/>
                </a:solidFill>
                <a:latin typeface="Calibri"/>
                <a:ea typeface="Calibri"/>
                <a:cs typeface="Calibri"/>
              </a:defRPr>
            </a:lvl7pPr>
            <a:lvl8pPr algn="ctr">
              <a:defRPr sz="2600" b="0" i="0">
                <a:solidFill>
                  <a:srgbClr val="EDF2F7"/>
                </a:solidFill>
                <a:latin typeface="Calibri"/>
                <a:ea typeface="Calibri"/>
                <a:cs typeface="Calibri"/>
              </a:defRPr>
            </a:lvl8pPr>
            <a:lvl9pPr algn="ctr">
              <a:defRPr sz="2600" b="0" i="0">
                <a:solidFill>
                  <a:srgbClr val="EDF2F7"/>
                </a:solidFill>
                <a:latin typeface="Calibri"/>
                <a:ea typeface="Calibri"/>
                <a:cs typeface="Calibri"/>
              </a:defRPr>
            </a:lvl9pPr>
          </a:lstStyle>
          <a:p xmlns:a="http://schemas.openxmlformats.org/drawingml/2006/main">
            <a:pPr algn="ctr">
              <a:defRPr sz="2600" b="0" i="0">
                <a:solidFill>
                  <a:srgbClr val="EDF2F7"/>
                </a:solidFill>
                <a:latin typeface="Calibri"/>
                <a:ea typeface="Calibri"/>
                <a:cs typeface="Calibri"/>
              </a:defRPr>
            </a:pPr>
            <a:r>
              <a:rPr sz="2600" b="0" i="0">
                <a:solidFill>
                  <a:srgbClr val="EDF2F7"/>
                </a:solidFill>
                <a:latin typeface="Calibri"/>
                <a:ea typeface="Calibri"/>
                <a:cs typeface="Calibri"/>
              </a:rPr>
              <a:t>Proof-guided floating-point optimization</a:t>
            </a:r>
          </a:p>
        </p:txBody>
      </p:sp>
      <p:sp>
        <p:nvSpPr>
          <p:cNvPr id="5" name="GitHub repository">
            <a:extLst xmlns:a="http://schemas.openxmlformats.org/drawingml/2006/main">
              <a:ext uri="{FF2B5EF4-FFF2-40B4-BE49-F238E27FC236}">
                <a16:creationId xmlns:a16="http://schemas.microsoft.com/office/drawing/2014/main" id="{F5427AF2-B251-4028-A9D4-CFFBFFA83576}"/>
              </a:ext>
            </a:extLst>
          </p:cNvPr>
          <p:cNvSpPr>
            <a:spLocks xmlns:a="http://schemas.openxmlformats.org/drawingml/2006/main" noGrp="1"/>
          </p:cNvSpPr>
          <p:nvPr/>
        </p:nvSpPr>
        <p:spPr>
          <a:xfrm xmlns:a="http://schemas.openxmlformats.org/drawingml/2006/main">
            <a:off x="822960" y="5238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i="0">
                <a:solidFill>
                  <a:srgbClr val="F6A934"/>
                </a:solidFill>
                <a:latin typeface="Calibri"/>
                <a:ea typeface="Calibri"/>
                <a:cs typeface="Calibri"/>
              </a:defRPr>
            </a:defPPr>
            <a:lvl1pPr algn="l">
              <a:defRPr sz="2100" b="0" i="0">
                <a:solidFill>
                  <a:srgbClr val="F6A934"/>
                </a:solidFill>
                <a:latin typeface="Calibri"/>
                <a:ea typeface="Calibri"/>
                <a:cs typeface="Calibri"/>
              </a:defRPr>
            </a:lvl1pPr>
            <a:lvl2pPr algn="l">
              <a:defRPr sz="2100" b="0" i="0">
                <a:solidFill>
                  <a:srgbClr val="F6A934"/>
                </a:solidFill>
                <a:latin typeface="Calibri"/>
                <a:ea typeface="Calibri"/>
                <a:cs typeface="Calibri"/>
              </a:defRPr>
            </a:lvl2pPr>
            <a:lvl3pPr algn="l">
              <a:defRPr sz="2100" b="0" i="0">
                <a:solidFill>
                  <a:srgbClr val="F6A934"/>
                </a:solidFill>
                <a:latin typeface="Calibri"/>
                <a:ea typeface="Calibri"/>
                <a:cs typeface="Calibri"/>
              </a:defRPr>
            </a:lvl3pPr>
            <a:lvl4pPr algn="l">
              <a:defRPr sz="2100" b="0" i="0">
                <a:solidFill>
                  <a:srgbClr val="F6A934"/>
                </a:solidFill>
                <a:latin typeface="Calibri"/>
                <a:ea typeface="Calibri"/>
                <a:cs typeface="Calibri"/>
              </a:defRPr>
            </a:lvl4pPr>
            <a:lvl5pPr algn="l">
              <a:defRPr sz="2100" b="0" i="0">
                <a:solidFill>
                  <a:srgbClr val="F6A934"/>
                </a:solidFill>
                <a:latin typeface="Calibri"/>
                <a:ea typeface="Calibri"/>
                <a:cs typeface="Calibri"/>
              </a:defRPr>
            </a:lvl5pPr>
            <a:lvl6pPr algn="l">
              <a:defRPr sz="2100" b="0" i="0">
                <a:solidFill>
                  <a:srgbClr val="F6A934"/>
                </a:solidFill>
                <a:latin typeface="Calibri"/>
                <a:ea typeface="Calibri"/>
                <a:cs typeface="Calibri"/>
              </a:defRPr>
            </a:lvl6pPr>
            <a:lvl7pPr algn="l">
              <a:defRPr sz="2100" b="0" i="0">
                <a:solidFill>
                  <a:srgbClr val="F6A934"/>
                </a:solidFill>
                <a:latin typeface="Calibri"/>
                <a:ea typeface="Calibri"/>
                <a:cs typeface="Calibri"/>
              </a:defRPr>
            </a:lvl7pPr>
            <a:lvl8pPr algn="l">
              <a:defRPr sz="2100" b="0" i="0">
                <a:solidFill>
                  <a:srgbClr val="F6A934"/>
                </a:solidFill>
                <a:latin typeface="Calibri"/>
                <a:ea typeface="Calibri"/>
                <a:cs typeface="Calibri"/>
              </a:defRPr>
            </a:lvl8pPr>
            <a:lvl9pPr algn="l">
              <a:defRPr sz="2100" b="0" i="0">
                <a:solidFill>
                  <a:srgbClr val="F6A934"/>
                </a:solidFill>
                <a:latin typeface="Calibri"/>
                <a:ea typeface="Calibri"/>
                <a:cs typeface="Calibri"/>
              </a:defRPr>
            </a:lvl9pPr>
          </a:lstStyle>
          <a:p xmlns:a="http://schemas.openxmlformats.org/drawingml/2006/main">
            <a:pPr algn="l">
              <a:defRPr sz="2100" b="0" i="0">
                <a:solidFill>
                  <a:srgbClr val="F6A934"/>
                </a:solidFill>
                <a:latin typeface="Calibri"/>
                <a:ea typeface="Calibri"/>
                <a:cs typeface="Calibri"/>
              </a:defRPr>
            </a:pPr>
            <a:r>
              <a:rPr sz="2100" b="0" i="0" u="sng">
                <a:solidFill>
                  <a:srgbClr val="F6A934"/>
                </a:solidFill>
                <a:latin typeface="Calibri"/>
                <a:ea typeface="Calibri"/>
                <a:cs typeface="Calibri"/>
                <a:hlinkClick xmlns:r="http://schemas.openxmlformats.org/officeDocument/2006/relationships" r:id="Rd8e0a3e0a0b749fb"/>
              </a:rPr>
              <a:t>github.com/aswanth-07/matrixlang</a:t>
            </a:r>
          </a:p>
        </p:txBody>
      </p:sp>
    </p:spTree>
    <p:extLst>
      <p:ext uri="{BB962C8B-B14F-4D97-AF65-F5344CB8AC3E}">
        <p14:creationId xmlns:p14="http://schemas.microsoft.com/office/powerpoint/2010/main" val="5420582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879531ED-3223-42B9-81E1-244C0671B3A4}"/>
              </a:ext>
            </a:extLst>
          </p:cNvPr>
          <p:cNvSpPr>
            <a:spLocks xmlns:a="http://schemas.openxmlformats.org/drawingml/2006/main" noGrp="1"/>
          </p:cNvSpPr>
          <p:nvPr/>
        </p:nvSpPr>
        <p:spPr>
          <a:xfrm xmlns:a="http://schemas.openxmlformats.org/drawingml/2006/main">
            <a:off x="552450" y="4572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i="0">
                <a:solidFill>
                  <a:srgbClr val="1B2A41"/>
                </a:solidFill>
                <a:latin typeface="Cambria"/>
                <a:ea typeface="Cambria"/>
                <a:cs typeface="Cambria"/>
              </a:defRPr>
            </a:defPPr>
            <a:lvl1pPr algn="l">
              <a:defRPr sz="3300" b="1" i="0">
                <a:solidFill>
                  <a:srgbClr val="1B2A41"/>
                </a:solidFill>
                <a:latin typeface="Cambria"/>
                <a:ea typeface="Cambria"/>
                <a:cs typeface="Cambria"/>
              </a:defRPr>
            </a:lvl1pPr>
            <a:lvl2pPr algn="l">
              <a:defRPr sz="3300" b="1" i="0">
                <a:solidFill>
                  <a:srgbClr val="1B2A41"/>
                </a:solidFill>
                <a:latin typeface="Cambria"/>
                <a:ea typeface="Cambria"/>
                <a:cs typeface="Cambria"/>
              </a:defRPr>
            </a:lvl2pPr>
            <a:lvl3pPr algn="l">
              <a:defRPr sz="3300" b="1" i="0">
                <a:solidFill>
                  <a:srgbClr val="1B2A41"/>
                </a:solidFill>
                <a:latin typeface="Cambria"/>
                <a:ea typeface="Cambria"/>
                <a:cs typeface="Cambria"/>
              </a:defRPr>
            </a:lvl3pPr>
            <a:lvl4pPr algn="l">
              <a:defRPr sz="3300" b="1" i="0">
                <a:solidFill>
                  <a:srgbClr val="1B2A41"/>
                </a:solidFill>
                <a:latin typeface="Cambria"/>
                <a:ea typeface="Cambria"/>
                <a:cs typeface="Cambria"/>
              </a:defRPr>
            </a:lvl4pPr>
            <a:lvl5pPr algn="l">
              <a:defRPr sz="3300" b="1" i="0">
                <a:solidFill>
                  <a:srgbClr val="1B2A41"/>
                </a:solidFill>
                <a:latin typeface="Cambria"/>
                <a:ea typeface="Cambria"/>
                <a:cs typeface="Cambria"/>
              </a:defRPr>
            </a:lvl5pPr>
            <a:lvl6pPr algn="l">
              <a:defRPr sz="3300" b="1" i="0">
                <a:solidFill>
                  <a:srgbClr val="1B2A41"/>
                </a:solidFill>
                <a:latin typeface="Cambria"/>
                <a:ea typeface="Cambria"/>
                <a:cs typeface="Cambria"/>
              </a:defRPr>
            </a:lvl6pPr>
            <a:lvl7pPr algn="l">
              <a:defRPr sz="3300" b="1" i="0">
                <a:solidFill>
                  <a:srgbClr val="1B2A41"/>
                </a:solidFill>
                <a:latin typeface="Cambria"/>
                <a:ea typeface="Cambria"/>
                <a:cs typeface="Cambria"/>
              </a:defRPr>
            </a:lvl7pPr>
            <a:lvl8pPr algn="l">
              <a:defRPr sz="3300" b="1" i="0">
                <a:solidFill>
                  <a:srgbClr val="1B2A41"/>
                </a:solidFill>
                <a:latin typeface="Cambria"/>
                <a:ea typeface="Cambria"/>
                <a:cs typeface="Cambria"/>
              </a:defRPr>
            </a:lvl8pPr>
            <a:lvl9pPr algn="l">
              <a:defRPr sz="3300" b="1" i="0">
                <a:solidFill>
                  <a:srgbClr val="1B2A41"/>
                </a:solidFill>
                <a:latin typeface="Cambria"/>
                <a:ea typeface="Cambria"/>
                <a:cs typeface="Cambria"/>
              </a:defRPr>
            </a:lvl9pPr>
          </a:lstStyle>
          <a:p xmlns:a="http://schemas.openxmlformats.org/drawingml/2006/main">
            <a:pPr algn="l">
              <a:defRPr sz="3300" b="1" i="0">
                <a:solidFill>
                  <a:srgbClr val="1B2A41"/>
                </a:solidFill>
                <a:latin typeface="Cambria"/>
                <a:ea typeface="Cambria"/>
                <a:cs typeface="Cambria"/>
              </a:defRPr>
            </a:pPr>
            <a:r>
              <a:rPr sz="3300" b="1" i="0">
                <a:solidFill>
                  <a:srgbClr val="1B2A41"/>
                </a:solidFill>
                <a:latin typeface="Cambria"/>
                <a:ea typeface="Cambria"/>
                <a:cs typeface="Cambria"/>
              </a:rPr>
              <a:t>Problem and objective</a:t>
            </a:r>
          </a:p>
        </p:txBody>
      </p:sp>
      <p:sp>
        <p:nvSpPr>
          <p:cNvPr id="2" name="Slide content">
            <a:extLst xmlns:a="http://schemas.openxmlformats.org/drawingml/2006/main">
              <a:ext uri="{FF2B5EF4-FFF2-40B4-BE49-F238E27FC236}">
                <a16:creationId xmlns:a16="http://schemas.microsoft.com/office/drawing/2014/main" id="{54C8309A-6905-409E-98F4-F2AE05EE0D37}"/>
              </a:ext>
            </a:extLst>
          </p:cNvPr>
          <p:cNvSpPr>
            <a:spLocks xmlns:a="http://schemas.openxmlformats.org/drawingml/2006/main" noGrp="1"/>
          </p:cNvSpPr>
          <p:nvPr/>
        </p:nvSpPr>
        <p:spPr>
          <a:xfrm xmlns:a="http://schemas.openxmlformats.org/drawingml/2006/main">
            <a:off x="666750" y="1809750"/>
            <a:ext cx="107632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00" b="0" i="0">
                <a:solidFill>
                  <a:srgbClr val="3D5678"/>
                </a:solidFill>
                <a:latin typeface="Calibri"/>
                <a:ea typeface="Calibri"/>
                <a:cs typeface="Calibri"/>
              </a:defRPr>
            </a:defPPr>
            <a:lvl1pPr algn="l">
              <a:defRPr sz="2200" b="0" i="0">
                <a:solidFill>
                  <a:srgbClr val="3D5678"/>
                </a:solidFill>
                <a:latin typeface="Calibri"/>
                <a:ea typeface="Calibri"/>
                <a:cs typeface="Calibri"/>
              </a:defRPr>
            </a:lvl1pPr>
            <a:lvl2pPr algn="l">
              <a:defRPr sz="2200" b="0" i="0">
                <a:solidFill>
                  <a:srgbClr val="3D5678"/>
                </a:solidFill>
                <a:latin typeface="Calibri"/>
                <a:ea typeface="Calibri"/>
                <a:cs typeface="Calibri"/>
              </a:defRPr>
            </a:lvl2pPr>
            <a:lvl3pPr algn="l">
              <a:defRPr sz="2200" b="0" i="0">
                <a:solidFill>
                  <a:srgbClr val="3D5678"/>
                </a:solidFill>
                <a:latin typeface="Calibri"/>
                <a:ea typeface="Calibri"/>
                <a:cs typeface="Calibri"/>
              </a:defRPr>
            </a:lvl3pPr>
            <a:lvl4pPr algn="l">
              <a:defRPr sz="2200" b="0" i="0">
                <a:solidFill>
                  <a:srgbClr val="3D5678"/>
                </a:solidFill>
                <a:latin typeface="Calibri"/>
                <a:ea typeface="Calibri"/>
                <a:cs typeface="Calibri"/>
              </a:defRPr>
            </a:lvl4pPr>
            <a:lvl5pPr algn="l">
              <a:defRPr sz="2200" b="0" i="0">
                <a:solidFill>
                  <a:srgbClr val="3D5678"/>
                </a:solidFill>
                <a:latin typeface="Calibri"/>
                <a:ea typeface="Calibri"/>
                <a:cs typeface="Calibri"/>
              </a:defRPr>
            </a:lvl5pPr>
            <a:lvl6pPr algn="l">
              <a:defRPr sz="2200" b="0" i="0">
                <a:solidFill>
                  <a:srgbClr val="3D5678"/>
                </a:solidFill>
                <a:latin typeface="Calibri"/>
                <a:ea typeface="Calibri"/>
                <a:cs typeface="Calibri"/>
              </a:defRPr>
            </a:lvl6pPr>
            <a:lvl7pPr algn="l">
              <a:defRPr sz="2200" b="0" i="0">
                <a:solidFill>
                  <a:srgbClr val="3D5678"/>
                </a:solidFill>
                <a:latin typeface="Calibri"/>
                <a:ea typeface="Calibri"/>
                <a:cs typeface="Calibri"/>
              </a:defRPr>
            </a:lvl7pPr>
            <a:lvl8pPr algn="l">
              <a:defRPr sz="2200" b="0" i="0">
                <a:solidFill>
                  <a:srgbClr val="3D5678"/>
                </a:solidFill>
                <a:latin typeface="Calibri"/>
                <a:ea typeface="Calibri"/>
                <a:cs typeface="Calibri"/>
              </a:defRPr>
            </a:lvl8pPr>
            <a:lvl9pPr algn="l">
              <a:defRPr sz="2200" b="0" i="0">
                <a:solidFill>
                  <a:srgbClr val="3D5678"/>
                </a:solidFill>
                <a:latin typeface="Calibri"/>
                <a:ea typeface="Calibri"/>
                <a:cs typeface="Calibri"/>
              </a:defRPr>
            </a:lvl9pPr>
          </a:lstStyle>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Floating-point rounding can make evaluation order change a result.</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Strict compilation limits rewrites that could change the output.</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Fast-math enables more optimization without a per-output error guarantee.</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MatrixLang uses input facts to justify each permitted rewrite.</a:t>
            </a:r>
          </a:p>
        </p:txBody>
      </p:sp>
      <p:sp>
        <p:nvSpPr>
          <p:cNvPr id="3" name="Slide number">
            <a:extLst xmlns:a="http://schemas.openxmlformats.org/drawingml/2006/main">
              <a:ext uri="{FF2B5EF4-FFF2-40B4-BE49-F238E27FC236}">
                <a16:creationId xmlns:a16="http://schemas.microsoft.com/office/drawing/2014/main" id="{6F540DE3-FFCF-4CD7-A4F3-0248021FA022}"/>
              </a:ext>
            </a:extLst>
          </p:cNvPr>
          <p:cNvSpPr>
            <a:spLocks xmlns:a="http://schemas.openxmlformats.org/drawingml/2006/main" noGrp="1"/>
          </p:cNvSpPr>
          <p:nvPr/>
        </p:nvSpPr>
        <p:spPr>
          <a:xfrm xmlns:a="http://schemas.openxmlformats.org/drawingml/2006/main">
            <a:off x="11334750" y="64008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00" b="0" i="0">
                <a:solidFill>
                  <a:srgbClr val="869AB5"/>
                </a:solidFill>
                <a:latin typeface="Calibri"/>
                <a:ea typeface="Calibri"/>
                <a:cs typeface="Calibri"/>
              </a:defRPr>
            </a:defPPr>
            <a:lvl1pPr algn="r">
              <a:defRPr sz="900" b="0" i="0">
                <a:solidFill>
                  <a:srgbClr val="869AB5"/>
                </a:solidFill>
                <a:latin typeface="Calibri"/>
                <a:ea typeface="Calibri"/>
                <a:cs typeface="Calibri"/>
              </a:defRPr>
            </a:lvl1pPr>
            <a:lvl2pPr algn="r">
              <a:defRPr sz="900" b="0" i="0">
                <a:solidFill>
                  <a:srgbClr val="869AB5"/>
                </a:solidFill>
                <a:latin typeface="Calibri"/>
                <a:ea typeface="Calibri"/>
                <a:cs typeface="Calibri"/>
              </a:defRPr>
            </a:lvl2pPr>
            <a:lvl3pPr algn="r">
              <a:defRPr sz="900" b="0" i="0">
                <a:solidFill>
                  <a:srgbClr val="869AB5"/>
                </a:solidFill>
                <a:latin typeface="Calibri"/>
                <a:ea typeface="Calibri"/>
                <a:cs typeface="Calibri"/>
              </a:defRPr>
            </a:lvl3pPr>
            <a:lvl4pPr algn="r">
              <a:defRPr sz="900" b="0" i="0">
                <a:solidFill>
                  <a:srgbClr val="869AB5"/>
                </a:solidFill>
                <a:latin typeface="Calibri"/>
                <a:ea typeface="Calibri"/>
                <a:cs typeface="Calibri"/>
              </a:defRPr>
            </a:lvl4pPr>
            <a:lvl5pPr algn="r">
              <a:defRPr sz="900" b="0" i="0">
                <a:solidFill>
                  <a:srgbClr val="869AB5"/>
                </a:solidFill>
                <a:latin typeface="Calibri"/>
                <a:ea typeface="Calibri"/>
                <a:cs typeface="Calibri"/>
              </a:defRPr>
            </a:lvl5pPr>
            <a:lvl6pPr algn="r">
              <a:defRPr sz="900" b="0" i="0">
                <a:solidFill>
                  <a:srgbClr val="869AB5"/>
                </a:solidFill>
                <a:latin typeface="Calibri"/>
                <a:ea typeface="Calibri"/>
                <a:cs typeface="Calibri"/>
              </a:defRPr>
            </a:lvl6pPr>
            <a:lvl7pPr algn="r">
              <a:defRPr sz="900" b="0" i="0">
                <a:solidFill>
                  <a:srgbClr val="869AB5"/>
                </a:solidFill>
                <a:latin typeface="Calibri"/>
                <a:ea typeface="Calibri"/>
                <a:cs typeface="Calibri"/>
              </a:defRPr>
            </a:lvl7pPr>
            <a:lvl8pPr algn="r">
              <a:defRPr sz="900" b="0" i="0">
                <a:solidFill>
                  <a:srgbClr val="869AB5"/>
                </a:solidFill>
                <a:latin typeface="Calibri"/>
                <a:ea typeface="Calibri"/>
                <a:cs typeface="Calibri"/>
              </a:defRPr>
            </a:lvl8pPr>
            <a:lvl9pPr algn="r">
              <a:defRPr sz="900" b="0" i="0">
                <a:solidFill>
                  <a:srgbClr val="869AB5"/>
                </a:solidFill>
                <a:latin typeface="Calibri"/>
                <a:ea typeface="Calibri"/>
                <a:cs typeface="Calibri"/>
              </a:defRPr>
            </a:lvl9pPr>
          </a:lstStyle>
          <a:p xmlns:a="http://schemas.openxmlformats.org/drawingml/2006/main">
            <a:pPr algn="r">
              <a:defRPr sz="900" b="0" i="0">
                <a:solidFill>
                  <a:srgbClr val="869AB5"/>
                </a:solidFill>
                <a:latin typeface="Calibri"/>
                <a:ea typeface="Calibri"/>
                <a:cs typeface="Calibri"/>
              </a:defRPr>
            </a:pPr>
            <a:r>
              <a:rPr sz="900" b="0" i="0">
                <a:solidFill>
                  <a:srgbClr val="869AB5"/>
                </a:solidFill>
                <a:latin typeface="Calibri"/>
                <a:ea typeface="Calibri"/>
                <a:cs typeface="Calibri"/>
              </a:rPr>
              <a:t>2</a:t>
            </a:r>
          </a:p>
        </p:txBody>
      </p:sp>
    </p:spTree>
    <p:extLst>
      <p:ext uri="{BB962C8B-B14F-4D97-AF65-F5344CB8AC3E}">
        <p14:creationId xmlns:p14="http://schemas.microsoft.com/office/powerpoint/2010/main" val="1366601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D0C1CBAF-BC50-41A6-8FCE-D32948E4C309}"/>
              </a:ext>
            </a:extLst>
          </p:cNvPr>
          <p:cNvSpPr>
            <a:spLocks xmlns:a="http://schemas.openxmlformats.org/drawingml/2006/main" noGrp="1"/>
          </p:cNvSpPr>
          <p:nvPr/>
        </p:nvSpPr>
        <p:spPr>
          <a:xfrm xmlns:a="http://schemas.openxmlformats.org/drawingml/2006/main">
            <a:off x="552450" y="4572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i="0">
                <a:solidFill>
                  <a:srgbClr val="1B2A41"/>
                </a:solidFill>
                <a:latin typeface="Cambria"/>
                <a:ea typeface="Cambria"/>
                <a:cs typeface="Cambria"/>
              </a:defRPr>
            </a:defPPr>
            <a:lvl1pPr algn="l">
              <a:defRPr sz="3300" b="1" i="0">
                <a:solidFill>
                  <a:srgbClr val="1B2A41"/>
                </a:solidFill>
                <a:latin typeface="Cambria"/>
                <a:ea typeface="Cambria"/>
                <a:cs typeface="Cambria"/>
              </a:defRPr>
            </a:lvl1pPr>
            <a:lvl2pPr algn="l">
              <a:defRPr sz="3300" b="1" i="0">
                <a:solidFill>
                  <a:srgbClr val="1B2A41"/>
                </a:solidFill>
                <a:latin typeface="Cambria"/>
                <a:ea typeface="Cambria"/>
                <a:cs typeface="Cambria"/>
              </a:defRPr>
            </a:lvl2pPr>
            <a:lvl3pPr algn="l">
              <a:defRPr sz="3300" b="1" i="0">
                <a:solidFill>
                  <a:srgbClr val="1B2A41"/>
                </a:solidFill>
                <a:latin typeface="Cambria"/>
                <a:ea typeface="Cambria"/>
                <a:cs typeface="Cambria"/>
              </a:defRPr>
            </a:lvl3pPr>
            <a:lvl4pPr algn="l">
              <a:defRPr sz="3300" b="1" i="0">
                <a:solidFill>
                  <a:srgbClr val="1B2A41"/>
                </a:solidFill>
                <a:latin typeface="Cambria"/>
                <a:ea typeface="Cambria"/>
                <a:cs typeface="Cambria"/>
              </a:defRPr>
            </a:lvl4pPr>
            <a:lvl5pPr algn="l">
              <a:defRPr sz="3300" b="1" i="0">
                <a:solidFill>
                  <a:srgbClr val="1B2A41"/>
                </a:solidFill>
                <a:latin typeface="Cambria"/>
                <a:ea typeface="Cambria"/>
                <a:cs typeface="Cambria"/>
              </a:defRPr>
            </a:lvl5pPr>
            <a:lvl6pPr algn="l">
              <a:defRPr sz="3300" b="1" i="0">
                <a:solidFill>
                  <a:srgbClr val="1B2A41"/>
                </a:solidFill>
                <a:latin typeface="Cambria"/>
                <a:ea typeface="Cambria"/>
                <a:cs typeface="Cambria"/>
              </a:defRPr>
            </a:lvl6pPr>
            <a:lvl7pPr algn="l">
              <a:defRPr sz="3300" b="1" i="0">
                <a:solidFill>
                  <a:srgbClr val="1B2A41"/>
                </a:solidFill>
                <a:latin typeface="Cambria"/>
                <a:ea typeface="Cambria"/>
                <a:cs typeface="Cambria"/>
              </a:defRPr>
            </a:lvl7pPr>
            <a:lvl8pPr algn="l">
              <a:defRPr sz="3300" b="1" i="0">
                <a:solidFill>
                  <a:srgbClr val="1B2A41"/>
                </a:solidFill>
                <a:latin typeface="Cambria"/>
                <a:ea typeface="Cambria"/>
                <a:cs typeface="Cambria"/>
              </a:defRPr>
            </a:lvl8pPr>
            <a:lvl9pPr algn="l">
              <a:defRPr sz="3300" b="1" i="0">
                <a:solidFill>
                  <a:srgbClr val="1B2A41"/>
                </a:solidFill>
                <a:latin typeface="Cambria"/>
                <a:ea typeface="Cambria"/>
                <a:cs typeface="Cambria"/>
              </a:defRPr>
            </a:lvl9pPr>
          </a:lstStyle>
          <a:p xmlns:a="http://schemas.openxmlformats.org/drawingml/2006/main">
            <a:pPr algn="l">
              <a:defRPr sz="3300" b="1" i="0">
                <a:solidFill>
                  <a:srgbClr val="1B2A41"/>
                </a:solidFill>
                <a:latin typeface="Cambria"/>
                <a:ea typeface="Cambria"/>
                <a:cs typeface="Cambria"/>
              </a:defRPr>
            </a:pPr>
            <a:r>
              <a:rPr sz="3300" b="1" i="0">
                <a:solidFill>
                  <a:srgbClr val="1B2A41"/>
                </a:solidFill>
                <a:latin typeface="Cambria"/>
                <a:ea typeface="Cambria"/>
                <a:cs typeface="Cambria"/>
              </a:rPr>
              <a:t>Compiler workflow</a:t>
            </a:r>
          </a:p>
        </p:txBody>
      </p:sp>
      <p:sp>
        <p:nvSpPr>
          <p:cNvPr id="2" name="Slide content">
            <a:extLst xmlns:a="http://schemas.openxmlformats.org/drawingml/2006/main">
              <a:ext uri="{FF2B5EF4-FFF2-40B4-BE49-F238E27FC236}">
                <a16:creationId xmlns:a16="http://schemas.microsoft.com/office/drawing/2014/main" id="{651EEABE-853D-4083-9ED8-5F93401C13D4}"/>
              </a:ext>
            </a:extLst>
          </p:cNvPr>
          <p:cNvSpPr>
            <a:spLocks xmlns:a="http://schemas.openxmlformats.org/drawingml/2006/main" noGrp="1"/>
          </p:cNvSpPr>
          <p:nvPr/>
        </p:nvSpPr>
        <p:spPr>
          <a:xfrm xmlns:a="http://schemas.openxmlformats.org/drawingml/2006/main">
            <a:off x="666750" y="1809750"/>
            <a:ext cx="107632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00" b="0" i="0">
                <a:solidFill>
                  <a:srgbClr val="3D5678"/>
                </a:solidFill>
                <a:latin typeface="Calibri"/>
                <a:ea typeface="Calibri"/>
                <a:cs typeface="Calibri"/>
              </a:defRPr>
            </a:defPPr>
            <a:lvl1pPr algn="l">
              <a:defRPr sz="2200" b="0" i="0">
                <a:solidFill>
                  <a:srgbClr val="3D5678"/>
                </a:solidFill>
                <a:latin typeface="Calibri"/>
                <a:ea typeface="Calibri"/>
                <a:cs typeface="Calibri"/>
              </a:defRPr>
            </a:lvl1pPr>
            <a:lvl2pPr algn="l">
              <a:defRPr sz="2200" b="0" i="0">
                <a:solidFill>
                  <a:srgbClr val="3D5678"/>
                </a:solidFill>
                <a:latin typeface="Calibri"/>
                <a:ea typeface="Calibri"/>
                <a:cs typeface="Calibri"/>
              </a:defRPr>
            </a:lvl2pPr>
            <a:lvl3pPr algn="l">
              <a:defRPr sz="2200" b="0" i="0">
                <a:solidFill>
                  <a:srgbClr val="3D5678"/>
                </a:solidFill>
                <a:latin typeface="Calibri"/>
                <a:ea typeface="Calibri"/>
                <a:cs typeface="Calibri"/>
              </a:defRPr>
            </a:lvl3pPr>
            <a:lvl4pPr algn="l">
              <a:defRPr sz="2200" b="0" i="0">
                <a:solidFill>
                  <a:srgbClr val="3D5678"/>
                </a:solidFill>
                <a:latin typeface="Calibri"/>
                <a:ea typeface="Calibri"/>
                <a:cs typeface="Calibri"/>
              </a:defRPr>
            </a:lvl4pPr>
            <a:lvl5pPr algn="l">
              <a:defRPr sz="2200" b="0" i="0">
                <a:solidFill>
                  <a:srgbClr val="3D5678"/>
                </a:solidFill>
                <a:latin typeface="Calibri"/>
                <a:ea typeface="Calibri"/>
                <a:cs typeface="Calibri"/>
              </a:defRPr>
            </a:lvl5pPr>
            <a:lvl6pPr algn="l">
              <a:defRPr sz="2200" b="0" i="0">
                <a:solidFill>
                  <a:srgbClr val="3D5678"/>
                </a:solidFill>
                <a:latin typeface="Calibri"/>
                <a:ea typeface="Calibri"/>
                <a:cs typeface="Calibri"/>
              </a:defRPr>
            </a:lvl6pPr>
            <a:lvl7pPr algn="l">
              <a:defRPr sz="2200" b="0" i="0">
                <a:solidFill>
                  <a:srgbClr val="3D5678"/>
                </a:solidFill>
                <a:latin typeface="Calibri"/>
                <a:ea typeface="Calibri"/>
                <a:cs typeface="Calibri"/>
              </a:defRPr>
            </a:lvl7pPr>
            <a:lvl8pPr algn="l">
              <a:defRPr sz="2200" b="0" i="0">
                <a:solidFill>
                  <a:srgbClr val="3D5678"/>
                </a:solidFill>
                <a:latin typeface="Calibri"/>
                <a:ea typeface="Calibri"/>
                <a:cs typeface="Calibri"/>
              </a:defRPr>
            </a:lvl8pPr>
            <a:lvl9pPr algn="l">
              <a:defRPr sz="2200" b="0" i="0">
                <a:solidFill>
                  <a:srgbClr val="3D5678"/>
                </a:solidFill>
                <a:latin typeface="Calibri"/>
                <a:ea typeface="Calibri"/>
                <a:cs typeface="Calibri"/>
              </a:defRPr>
            </a:lvl9pPr>
          </a:lstStyle>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Parse the program and check matrix dimensions.</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Track input domains, value ranges and representable grids.</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Optimize intermediate code under the selected numerical contract.</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Execute on the virtual machine or generate C with OpenMP.</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Explain the guarantee attached to each output.</a:t>
            </a:r>
          </a:p>
        </p:txBody>
      </p:sp>
      <p:sp>
        <p:nvSpPr>
          <p:cNvPr id="3" name="Slide number">
            <a:extLst xmlns:a="http://schemas.openxmlformats.org/drawingml/2006/main">
              <a:ext uri="{FF2B5EF4-FFF2-40B4-BE49-F238E27FC236}">
                <a16:creationId xmlns:a16="http://schemas.microsoft.com/office/drawing/2014/main" id="{7DB42D3D-A232-4A54-A908-C410AE00527B}"/>
              </a:ext>
            </a:extLst>
          </p:cNvPr>
          <p:cNvSpPr>
            <a:spLocks xmlns:a="http://schemas.openxmlformats.org/drawingml/2006/main" noGrp="1"/>
          </p:cNvSpPr>
          <p:nvPr/>
        </p:nvSpPr>
        <p:spPr>
          <a:xfrm xmlns:a="http://schemas.openxmlformats.org/drawingml/2006/main">
            <a:off x="11334750" y="64008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00" b="0" i="0">
                <a:solidFill>
                  <a:srgbClr val="869AB5"/>
                </a:solidFill>
                <a:latin typeface="Calibri"/>
                <a:ea typeface="Calibri"/>
                <a:cs typeface="Calibri"/>
              </a:defRPr>
            </a:defPPr>
            <a:lvl1pPr algn="r">
              <a:defRPr sz="900" b="0" i="0">
                <a:solidFill>
                  <a:srgbClr val="869AB5"/>
                </a:solidFill>
                <a:latin typeface="Calibri"/>
                <a:ea typeface="Calibri"/>
                <a:cs typeface="Calibri"/>
              </a:defRPr>
            </a:lvl1pPr>
            <a:lvl2pPr algn="r">
              <a:defRPr sz="900" b="0" i="0">
                <a:solidFill>
                  <a:srgbClr val="869AB5"/>
                </a:solidFill>
                <a:latin typeface="Calibri"/>
                <a:ea typeface="Calibri"/>
                <a:cs typeface="Calibri"/>
              </a:defRPr>
            </a:lvl2pPr>
            <a:lvl3pPr algn="r">
              <a:defRPr sz="900" b="0" i="0">
                <a:solidFill>
                  <a:srgbClr val="869AB5"/>
                </a:solidFill>
                <a:latin typeface="Calibri"/>
                <a:ea typeface="Calibri"/>
                <a:cs typeface="Calibri"/>
              </a:defRPr>
            </a:lvl3pPr>
            <a:lvl4pPr algn="r">
              <a:defRPr sz="900" b="0" i="0">
                <a:solidFill>
                  <a:srgbClr val="869AB5"/>
                </a:solidFill>
                <a:latin typeface="Calibri"/>
                <a:ea typeface="Calibri"/>
                <a:cs typeface="Calibri"/>
              </a:defRPr>
            </a:lvl4pPr>
            <a:lvl5pPr algn="r">
              <a:defRPr sz="900" b="0" i="0">
                <a:solidFill>
                  <a:srgbClr val="869AB5"/>
                </a:solidFill>
                <a:latin typeface="Calibri"/>
                <a:ea typeface="Calibri"/>
                <a:cs typeface="Calibri"/>
              </a:defRPr>
            </a:lvl5pPr>
            <a:lvl6pPr algn="r">
              <a:defRPr sz="900" b="0" i="0">
                <a:solidFill>
                  <a:srgbClr val="869AB5"/>
                </a:solidFill>
                <a:latin typeface="Calibri"/>
                <a:ea typeface="Calibri"/>
                <a:cs typeface="Calibri"/>
              </a:defRPr>
            </a:lvl6pPr>
            <a:lvl7pPr algn="r">
              <a:defRPr sz="900" b="0" i="0">
                <a:solidFill>
                  <a:srgbClr val="869AB5"/>
                </a:solidFill>
                <a:latin typeface="Calibri"/>
                <a:ea typeface="Calibri"/>
                <a:cs typeface="Calibri"/>
              </a:defRPr>
            </a:lvl7pPr>
            <a:lvl8pPr algn="r">
              <a:defRPr sz="900" b="0" i="0">
                <a:solidFill>
                  <a:srgbClr val="869AB5"/>
                </a:solidFill>
                <a:latin typeface="Calibri"/>
                <a:ea typeface="Calibri"/>
                <a:cs typeface="Calibri"/>
              </a:defRPr>
            </a:lvl8pPr>
            <a:lvl9pPr algn="r">
              <a:defRPr sz="900" b="0" i="0">
                <a:solidFill>
                  <a:srgbClr val="869AB5"/>
                </a:solidFill>
                <a:latin typeface="Calibri"/>
                <a:ea typeface="Calibri"/>
                <a:cs typeface="Calibri"/>
              </a:defRPr>
            </a:lvl9pPr>
          </a:lstStyle>
          <a:p xmlns:a="http://schemas.openxmlformats.org/drawingml/2006/main">
            <a:pPr algn="r">
              <a:defRPr sz="900" b="0" i="0">
                <a:solidFill>
                  <a:srgbClr val="869AB5"/>
                </a:solidFill>
                <a:latin typeface="Calibri"/>
                <a:ea typeface="Calibri"/>
                <a:cs typeface="Calibri"/>
              </a:defRPr>
            </a:pPr>
            <a:r>
              <a:rPr sz="900" b="0" i="0">
                <a:solidFill>
                  <a:srgbClr val="869AB5"/>
                </a:solidFill>
                <a:latin typeface="Calibri"/>
                <a:ea typeface="Calibri"/>
                <a:cs typeface="Calibri"/>
              </a:rPr>
              <a:t>3</a:t>
            </a:r>
          </a:p>
        </p:txBody>
      </p:sp>
    </p:spTree>
    <p:extLst>
      <p:ext uri="{BB962C8B-B14F-4D97-AF65-F5344CB8AC3E}">
        <p14:creationId xmlns:p14="http://schemas.microsoft.com/office/powerpoint/2010/main" val="11618913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7C34E815-5FC4-40DD-84B6-B07E080C67BB}"/>
              </a:ext>
            </a:extLst>
          </p:cNvPr>
          <p:cNvSpPr>
            <a:spLocks xmlns:a="http://schemas.openxmlformats.org/drawingml/2006/main" noGrp="1"/>
          </p:cNvSpPr>
          <p:nvPr/>
        </p:nvSpPr>
        <p:spPr>
          <a:xfrm xmlns:a="http://schemas.openxmlformats.org/drawingml/2006/main">
            <a:off x="552450" y="4572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i="0">
                <a:solidFill>
                  <a:srgbClr val="1B2A41"/>
                </a:solidFill>
                <a:latin typeface="Cambria"/>
                <a:ea typeface="Cambria"/>
                <a:cs typeface="Cambria"/>
              </a:defRPr>
            </a:defPPr>
            <a:lvl1pPr algn="l">
              <a:defRPr sz="3300" b="1" i="0">
                <a:solidFill>
                  <a:srgbClr val="1B2A41"/>
                </a:solidFill>
                <a:latin typeface="Cambria"/>
                <a:ea typeface="Cambria"/>
                <a:cs typeface="Cambria"/>
              </a:defRPr>
            </a:lvl1pPr>
            <a:lvl2pPr algn="l">
              <a:defRPr sz="3300" b="1" i="0">
                <a:solidFill>
                  <a:srgbClr val="1B2A41"/>
                </a:solidFill>
                <a:latin typeface="Cambria"/>
                <a:ea typeface="Cambria"/>
                <a:cs typeface="Cambria"/>
              </a:defRPr>
            </a:lvl2pPr>
            <a:lvl3pPr algn="l">
              <a:defRPr sz="3300" b="1" i="0">
                <a:solidFill>
                  <a:srgbClr val="1B2A41"/>
                </a:solidFill>
                <a:latin typeface="Cambria"/>
                <a:ea typeface="Cambria"/>
                <a:cs typeface="Cambria"/>
              </a:defRPr>
            </a:lvl3pPr>
            <a:lvl4pPr algn="l">
              <a:defRPr sz="3300" b="1" i="0">
                <a:solidFill>
                  <a:srgbClr val="1B2A41"/>
                </a:solidFill>
                <a:latin typeface="Cambria"/>
                <a:ea typeface="Cambria"/>
                <a:cs typeface="Cambria"/>
              </a:defRPr>
            </a:lvl4pPr>
            <a:lvl5pPr algn="l">
              <a:defRPr sz="3300" b="1" i="0">
                <a:solidFill>
                  <a:srgbClr val="1B2A41"/>
                </a:solidFill>
                <a:latin typeface="Cambria"/>
                <a:ea typeface="Cambria"/>
                <a:cs typeface="Cambria"/>
              </a:defRPr>
            </a:lvl5pPr>
            <a:lvl6pPr algn="l">
              <a:defRPr sz="3300" b="1" i="0">
                <a:solidFill>
                  <a:srgbClr val="1B2A41"/>
                </a:solidFill>
                <a:latin typeface="Cambria"/>
                <a:ea typeface="Cambria"/>
                <a:cs typeface="Cambria"/>
              </a:defRPr>
            </a:lvl6pPr>
            <a:lvl7pPr algn="l">
              <a:defRPr sz="3300" b="1" i="0">
                <a:solidFill>
                  <a:srgbClr val="1B2A41"/>
                </a:solidFill>
                <a:latin typeface="Cambria"/>
                <a:ea typeface="Cambria"/>
                <a:cs typeface="Cambria"/>
              </a:defRPr>
            </a:lvl7pPr>
            <a:lvl8pPr algn="l">
              <a:defRPr sz="3300" b="1" i="0">
                <a:solidFill>
                  <a:srgbClr val="1B2A41"/>
                </a:solidFill>
                <a:latin typeface="Cambria"/>
                <a:ea typeface="Cambria"/>
                <a:cs typeface="Cambria"/>
              </a:defRPr>
            </a:lvl8pPr>
            <a:lvl9pPr algn="l">
              <a:defRPr sz="3300" b="1" i="0">
                <a:solidFill>
                  <a:srgbClr val="1B2A41"/>
                </a:solidFill>
                <a:latin typeface="Cambria"/>
                <a:ea typeface="Cambria"/>
                <a:cs typeface="Cambria"/>
              </a:defRPr>
            </a:lvl9pPr>
          </a:lstStyle>
          <a:p xmlns:a="http://schemas.openxmlformats.org/drawingml/2006/main">
            <a:pPr algn="l">
              <a:defRPr sz="3300" b="1" i="0">
                <a:solidFill>
                  <a:srgbClr val="1B2A41"/>
                </a:solidFill>
                <a:latin typeface="Cambria"/>
                <a:ea typeface="Cambria"/>
                <a:cs typeface="Cambria"/>
              </a:defRPr>
            </a:pPr>
            <a:r>
              <a:rPr sz="3300" b="1" i="0">
                <a:solidFill>
                  <a:srgbClr val="1B2A41"/>
                </a:solidFill>
                <a:latin typeface="Cambria"/>
                <a:ea typeface="Cambria"/>
                <a:cs typeface="Cambria"/>
              </a:rPr>
              <a:t>Three numerical contracts</a:t>
            </a:r>
          </a:p>
        </p:txBody>
      </p:sp>
      <p:sp>
        <p:nvSpPr>
          <p:cNvPr id="2" name="Slide content">
            <a:extLst xmlns:a="http://schemas.openxmlformats.org/drawingml/2006/main">
              <a:ext uri="{FF2B5EF4-FFF2-40B4-BE49-F238E27FC236}">
                <a16:creationId xmlns:a16="http://schemas.microsoft.com/office/drawing/2014/main" id="{81029098-91A3-4020-A91A-CBE02FCADCAF}"/>
              </a:ext>
            </a:extLst>
          </p:cNvPr>
          <p:cNvSpPr>
            <a:spLocks xmlns:a="http://schemas.openxmlformats.org/drawingml/2006/main" noGrp="1"/>
          </p:cNvSpPr>
          <p:nvPr/>
        </p:nvSpPr>
        <p:spPr>
          <a:xfrm xmlns:a="http://schemas.openxmlformats.org/drawingml/2006/main">
            <a:off x="666750" y="1809750"/>
            <a:ext cx="107632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00" b="0" i="0">
                <a:solidFill>
                  <a:srgbClr val="3D5678"/>
                </a:solidFill>
                <a:latin typeface="Calibri"/>
                <a:ea typeface="Calibri"/>
                <a:cs typeface="Calibri"/>
              </a:defRPr>
            </a:defPPr>
            <a:lvl1pPr algn="l">
              <a:defRPr sz="2200" b="0" i="0">
                <a:solidFill>
                  <a:srgbClr val="3D5678"/>
                </a:solidFill>
                <a:latin typeface="Calibri"/>
                <a:ea typeface="Calibri"/>
                <a:cs typeface="Calibri"/>
              </a:defRPr>
            </a:lvl1pPr>
            <a:lvl2pPr algn="l">
              <a:defRPr sz="2200" b="0" i="0">
                <a:solidFill>
                  <a:srgbClr val="3D5678"/>
                </a:solidFill>
                <a:latin typeface="Calibri"/>
                <a:ea typeface="Calibri"/>
                <a:cs typeface="Calibri"/>
              </a:defRPr>
            </a:lvl2pPr>
            <a:lvl3pPr algn="l">
              <a:defRPr sz="2200" b="0" i="0">
                <a:solidFill>
                  <a:srgbClr val="3D5678"/>
                </a:solidFill>
                <a:latin typeface="Calibri"/>
                <a:ea typeface="Calibri"/>
                <a:cs typeface="Calibri"/>
              </a:defRPr>
            </a:lvl3pPr>
            <a:lvl4pPr algn="l">
              <a:defRPr sz="2200" b="0" i="0">
                <a:solidFill>
                  <a:srgbClr val="3D5678"/>
                </a:solidFill>
                <a:latin typeface="Calibri"/>
                <a:ea typeface="Calibri"/>
                <a:cs typeface="Calibri"/>
              </a:defRPr>
            </a:lvl4pPr>
            <a:lvl5pPr algn="l">
              <a:defRPr sz="2200" b="0" i="0">
                <a:solidFill>
                  <a:srgbClr val="3D5678"/>
                </a:solidFill>
                <a:latin typeface="Calibri"/>
                <a:ea typeface="Calibri"/>
                <a:cs typeface="Calibri"/>
              </a:defRPr>
            </a:lvl5pPr>
            <a:lvl6pPr algn="l">
              <a:defRPr sz="2200" b="0" i="0">
                <a:solidFill>
                  <a:srgbClr val="3D5678"/>
                </a:solidFill>
                <a:latin typeface="Calibri"/>
                <a:ea typeface="Calibri"/>
                <a:cs typeface="Calibri"/>
              </a:defRPr>
            </a:lvl6pPr>
            <a:lvl7pPr algn="l">
              <a:defRPr sz="2200" b="0" i="0">
                <a:solidFill>
                  <a:srgbClr val="3D5678"/>
                </a:solidFill>
                <a:latin typeface="Calibri"/>
                <a:ea typeface="Calibri"/>
                <a:cs typeface="Calibri"/>
              </a:defRPr>
            </a:lvl7pPr>
            <a:lvl8pPr algn="l">
              <a:defRPr sz="2200" b="0" i="0">
                <a:solidFill>
                  <a:srgbClr val="3D5678"/>
                </a:solidFill>
                <a:latin typeface="Calibri"/>
                <a:ea typeface="Calibri"/>
                <a:cs typeface="Calibri"/>
              </a:defRPr>
            </a:lvl8pPr>
            <a:lvl9pPr algn="l">
              <a:defRPr sz="2200" b="0" i="0">
                <a:solidFill>
                  <a:srgbClr val="3D5678"/>
                </a:solidFill>
                <a:latin typeface="Calibri"/>
                <a:ea typeface="Calibri"/>
                <a:cs typeface="Calibri"/>
              </a:defRPr>
            </a:lvl9pPr>
          </a:lstStyle>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Strict: apply only rewrites proved to keep the same result.</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Bounded: also allow rewrites that preserve the stated error bound.</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Algebraic: allow real-number identities even when floating-point output changes.</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Every guarantee depends on the input facts and proof conditions.</a:t>
            </a:r>
          </a:p>
        </p:txBody>
      </p:sp>
      <p:sp>
        <p:nvSpPr>
          <p:cNvPr id="3" name="Slide number">
            <a:extLst xmlns:a="http://schemas.openxmlformats.org/drawingml/2006/main">
              <a:ext uri="{FF2B5EF4-FFF2-40B4-BE49-F238E27FC236}">
                <a16:creationId xmlns:a16="http://schemas.microsoft.com/office/drawing/2014/main" id="{C7A5B544-858E-4E0A-8ABB-65B1F0F93A27}"/>
              </a:ext>
            </a:extLst>
          </p:cNvPr>
          <p:cNvSpPr>
            <a:spLocks xmlns:a="http://schemas.openxmlformats.org/drawingml/2006/main" noGrp="1"/>
          </p:cNvSpPr>
          <p:nvPr/>
        </p:nvSpPr>
        <p:spPr>
          <a:xfrm xmlns:a="http://schemas.openxmlformats.org/drawingml/2006/main">
            <a:off x="11334750" y="64008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00" b="0" i="0">
                <a:solidFill>
                  <a:srgbClr val="869AB5"/>
                </a:solidFill>
                <a:latin typeface="Calibri"/>
                <a:ea typeface="Calibri"/>
                <a:cs typeface="Calibri"/>
              </a:defRPr>
            </a:defPPr>
            <a:lvl1pPr algn="r">
              <a:defRPr sz="900" b="0" i="0">
                <a:solidFill>
                  <a:srgbClr val="869AB5"/>
                </a:solidFill>
                <a:latin typeface="Calibri"/>
                <a:ea typeface="Calibri"/>
                <a:cs typeface="Calibri"/>
              </a:defRPr>
            </a:lvl1pPr>
            <a:lvl2pPr algn="r">
              <a:defRPr sz="900" b="0" i="0">
                <a:solidFill>
                  <a:srgbClr val="869AB5"/>
                </a:solidFill>
                <a:latin typeface="Calibri"/>
                <a:ea typeface="Calibri"/>
                <a:cs typeface="Calibri"/>
              </a:defRPr>
            </a:lvl2pPr>
            <a:lvl3pPr algn="r">
              <a:defRPr sz="900" b="0" i="0">
                <a:solidFill>
                  <a:srgbClr val="869AB5"/>
                </a:solidFill>
                <a:latin typeface="Calibri"/>
                <a:ea typeface="Calibri"/>
                <a:cs typeface="Calibri"/>
              </a:defRPr>
            </a:lvl3pPr>
            <a:lvl4pPr algn="r">
              <a:defRPr sz="900" b="0" i="0">
                <a:solidFill>
                  <a:srgbClr val="869AB5"/>
                </a:solidFill>
                <a:latin typeface="Calibri"/>
                <a:ea typeface="Calibri"/>
                <a:cs typeface="Calibri"/>
              </a:defRPr>
            </a:lvl4pPr>
            <a:lvl5pPr algn="r">
              <a:defRPr sz="900" b="0" i="0">
                <a:solidFill>
                  <a:srgbClr val="869AB5"/>
                </a:solidFill>
                <a:latin typeface="Calibri"/>
                <a:ea typeface="Calibri"/>
                <a:cs typeface="Calibri"/>
              </a:defRPr>
            </a:lvl5pPr>
            <a:lvl6pPr algn="r">
              <a:defRPr sz="900" b="0" i="0">
                <a:solidFill>
                  <a:srgbClr val="869AB5"/>
                </a:solidFill>
                <a:latin typeface="Calibri"/>
                <a:ea typeface="Calibri"/>
                <a:cs typeface="Calibri"/>
              </a:defRPr>
            </a:lvl6pPr>
            <a:lvl7pPr algn="r">
              <a:defRPr sz="900" b="0" i="0">
                <a:solidFill>
                  <a:srgbClr val="869AB5"/>
                </a:solidFill>
                <a:latin typeface="Calibri"/>
                <a:ea typeface="Calibri"/>
                <a:cs typeface="Calibri"/>
              </a:defRPr>
            </a:lvl7pPr>
            <a:lvl8pPr algn="r">
              <a:defRPr sz="900" b="0" i="0">
                <a:solidFill>
                  <a:srgbClr val="869AB5"/>
                </a:solidFill>
                <a:latin typeface="Calibri"/>
                <a:ea typeface="Calibri"/>
                <a:cs typeface="Calibri"/>
              </a:defRPr>
            </a:lvl8pPr>
            <a:lvl9pPr algn="r">
              <a:defRPr sz="900" b="0" i="0">
                <a:solidFill>
                  <a:srgbClr val="869AB5"/>
                </a:solidFill>
                <a:latin typeface="Calibri"/>
                <a:ea typeface="Calibri"/>
                <a:cs typeface="Calibri"/>
              </a:defRPr>
            </a:lvl9pPr>
          </a:lstStyle>
          <a:p xmlns:a="http://schemas.openxmlformats.org/drawingml/2006/main">
            <a:pPr algn="r">
              <a:defRPr sz="900" b="0" i="0">
                <a:solidFill>
                  <a:srgbClr val="869AB5"/>
                </a:solidFill>
                <a:latin typeface="Calibri"/>
                <a:ea typeface="Calibri"/>
                <a:cs typeface="Calibri"/>
              </a:defRPr>
            </a:pPr>
            <a:r>
              <a:rPr sz="900" b="0" i="0">
                <a:solidFill>
                  <a:srgbClr val="869AB5"/>
                </a:solidFill>
                <a:latin typeface="Calibri"/>
                <a:ea typeface="Calibri"/>
                <a:cs typeface="Calibri"/>
              </a:rPr>
              <a:t>4</a:t>
            </a:r>
          </a:p>
        </p:txBody>
      </p:sp>
    </p:spTree>
    <p:extLst>
      <p:ext uri="{BB962C8B-B14F-4D97-AF65-F5344CB8AC3E}">
        <p14:creationId xmlns:p14="http://schemas.microsoft.com/office/powerpoint/2010/main" val="1478869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CB285D3C-8454-426D-9D6A-2FA5E8134354}"/>
              </a:ext>
            </a:extLst>
          </p:cNvPr>
          <p:cNvSpPr>
            <a:spLocks xmlns:a="http://schemas.openxmlformats.org/drawingml/2006/main" noGrp="1"/>
          </p:cNvSpPr>
          <p:nvPr/>
        </p:nvSpPr>
        <p:spPr>
          <a:xfrm xmlns:a="http://schemas.openxmlformats.org/drawingml/2006/main">
            <a:off x="552450" y="4572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i="0">
                <a:solidFill>
                  <a:srgbClr val="1B2A41"/>
                </a:solidFill>
                <a:latin typeface="Cambria"/>
                <a:ea typeface="Cambria"/>
                <a:cs typeface="Cambria"/>
              </a:defRPr>
            </a:defPPr>
            <a:lvl1pPr algn="l">
              <a:defRPr sz="3300" b="1" i="0">
                <a:solidFill>
                  <a:srgbClr val="1B2A41"/>
                </a:solidFill>
                <a:latin typeface="Cambria"/>
                <a:ea typeface="Cambria"/>
                <a:cs typeface="Cambria"/>
              </a:defRPr>
            </a:lvl1pPr>
            <a:lvl2pPr algn="l">
              <a:defRPr sz="3300" b="1" i="0">
                <a:solidFill>
                  <a:srgbClr val="1B2A41"/>
                </a:solidFill>
                <a:latin typeface="Cambria"/>
                <a:ea typeface="Cambria"/>
                <a:cs typeface="Cambria"/>
              </a:defRPr>
            </a:lvl2pPr>
            <a:lvl3pPr algn="l">
              <a:defRPr sz="3300" b="1" i="0">
                <a:solidFill>
                  <a:srgbClr val="1B2A41"/>
                </a:solidFill>
                <a:latin typeface="Cambria"/>
                <a:ea typeface="Cambria"/>
                <a:cs typeface="Cambria"/>
              </a:defRPr>
            </a:lvl3pPr>
            <a:lvl4pPr algn="l">
              <a:defRPr sz="3300" b="1" i="0">
                <a:solidFill>
                  <a:srgbClr val="1B2A41"/>
                </a:solidFill>
                <a:latin typeface="Cambria"/>
                <a:ea typeface="Cambria"/>
                <a:cs typeface="Cambria"/>
              </a:defRPr>
            </a:lvl4pPr>
            <a:lvl5pPr algn="l">
              <a:defRPr sz="3300" b="1" i="0">
                <a:solidFill>
                  <a:srgbClr val="1B2A41"/>
                </a:solidFill>
                <a:latin typeface="Cambria"/>
                <a:ea typeface="Cambria"/>
                <a:cs typeface="Cambria"/>
              </a:defRPr>
            </a:lvl5pPr>
            <a:lvl6pPr algn="l">
              <a:defRPr sz="3300" b="1" i="0">
                <a:solidFill>
                  <a:srgbClr val="1B2A41"/>
                </a:solidFill>
                <a:latin typeface="Cambria"/>
                <a:ea typeface="Cambria"/>
                <a:cs typeface="Cambria"/>
              </a:defRPr>
            </a:lvl6pPr>
            <a:lvl7pPr algn="l">
              <a:defRPr sz="3300" b="1" i="0">
                <a:solidFill>
                  <a:srgbClr val="1B2A41"/>
                </a:solidFill>
                <a:latin typeface="Cambria"/>
                <a:ea typeface="Cambria"/>
                <a:cs typeface="Cambria"/>
              </a:defRPr>
            </a:lvl7pPr>
            <a:lvl8pPr algn="l">
              <a:defRPr sz="3300" b="1" i="0">
                <a:solidFill>
                  <a:srgbClr val="1B2A41"/>
                </a:solidFill>
                <a:latin typeface="Cambria"/>
                <a:ea typeface="Cambria"/>
                <a:cs typeface="Cambria"/>
              </a:defRPr>
            </a:lvl8pPr>
            <a:lvl9pPr algn="l">
              <a:defRPr sz="3300" b="1" i="0">
                <a:solidFill>
                  <a:srgbClr val="1B2A41"/>
                </a:solidFill>
                <a:latin typeface="Cambria"/>
                <a:ea typeface="Cambria"/>
                <a:cs typeface="Cambria"/>
              </a:defRPr>
            </a:lvl9pPr>
          </a:lstStyle>
          <a:p xmlns:a="http://schemas.openxmlformats.org/drawingml/2006/main">
            <a:pPr algn="l">
              <a:defRPr sz="3300" b="1" i="0">
                <a:solidFill>
                  <a:srgbClr val="1B2A41"/>
                </a:solidFill>
                <a:latin typeface="Cambria"/>
                <a:ea typeface="Cambria"/>
                <a:cs typeface="Cambria"/>
              </a:defRPr>
            </a:pPr>
            <a:r>
              <a:rPr sz="3300" b="1" i="0">
                <a:solidFill>
                  <a:srgbClr val="1B2A41"/>
                </a:solidFill>
                <a:latin typeface="Cambria"/>
                <a:ea typeface="Cambria"/>
                <a:cs typeface="Cambria"/>
              </a:rPr>
              <a:t>Two implementations</a:t>
            </a:r>
          </a:p>
        </p:txBody>
      </p:sp>
      <p:sp>
        <p:nvSpPr>
          <p:cNvPr id="2" name="Slide content">
            <a:extLst xmlns:a="http://schemas.openxmlformats.org/drawingml/2006/main">
              <a:ext uri="{FF2B5EF4-FFF2-40B4-BE49-F238E27FC236}">
                <a16:creationId xmlns:a16="http://schemas.microsoft.com/office/drawing/2014/main" id="{6A10F693-2F6A-4B17-ABF5-0C805B1B63CA}"/>
              </a:ext>
            </a:extLst>
          </p:cNvPr>
          <p:cNvSpPr>
            <a:spLocks xmlns:a="http://schemas.openxmlformats.org/drawingml/2006/main" noGrp="1"/>
          </p:cNvSpPr>
          <p:nvPr/>
        </p:nvSpPr>
        <p:spPr>
          <a:xfrm xmlns:a="http://schemas.openxmlformats.org/drawingml/2006/main">
            <a:off x="666750" y="1809750"/>
            <a:ext cx="107632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00" b="0" i="0">
                <a:solidFill>
                  <a:srgbClr val="3D5678"/>
                </a:solidFill>
                <a:latin typeface="Calibri"/>
                <a:ea typeface="Calibri"/>
                <a:cs typeface="Calibri"/>
              </a:defRPr>
            </a:defPPr>
            <a:lvl1pPr algn="l">
              <a:defRPr sz="2200" b="0" i="0">
                <a:solidFill>
                  <a:srgbClr val="3D5678"/>
                </a:solidFill>
                <a:latin typeface="Calibri"/>
                <a:ea typeface="Calibri"/>
                <a:cs typeface="Calibri"/>
              </a:defRPr>
            </a:lvl1pPr>
            <a:lvl2pPr algn="l">
              <a:defRPr sz="2200" b="0" i="0">
                <a:solidFill>
                  <a:srgbClr val="3D5678"/>
                </a:solidFill>
                <a:latin typeface="Calibri"/>
                <a:ea typeface="Calibri"/>
                <a:cs typeface="Calibri"/>
              </a:defRPr>
            </a:lvl2pPr>
            <a:lvl3pPr algn="l">
              <a:defRPr sz="2200" b="0" i="0">
                <a:solidFill>
                  <a:srgbClr val="3D5678"/>
                </a:solidFill>
                <a:latin typeface="Calibri"/>
                <a:ea typeface="Calibri"/>
                <a:cs typeface="Calibri"/>
              </a:defRPr>
            </a:lvl3pPr>
            <a:lvl4pPr algn="l">
              <a:defRPr sz="2200" b="0" i="0">
                <a:solidFill>
                  <a:srgbClr val="3D5678"/>
                </a:solidFill>
                <a:latin typeface="Calibri"/>
                <a:ea typeface="Calibri"/>
                <a:cs typeface="Calibri"/>
              </a:defRPr>
            </a:lvl4pPr>
            <a:lvl5pPr algn="l">
              <a:defRPr sz="2200" b="0" i="0">
                <a:solidFill>
                  <a:srgbClr val="3D5678"/>
                </a:solidFill>
                <a:latin typeface="Calibri"/>
                <a:ea typeface="Calibri"/>
                <a:cs typeface="Calibri"/>
              </a:defRPr>
            </a:lvl5pPr>
            <a:lvl6pPr algn="l">
              <a:defRPr sz="2200" b="0" i="0">
                <a:solidFill>
                  <a:srgbClr val="3D5678"/>
                </a:solidFill>
                <a:latin typeface="Calibri"/>
                <a:ea typeface="Calibri"/>
                <a:cs typeface="Calibri"/>
              </a:defRPr>
            </a:lvl6pPr>
            <a:lvl7pPr algn="l">
              <a:defRPr sz="2200" b="0" i="0">
                <a:solidFill>
                  <a:srgbClr val="3D5678"/>
                </a:solidFill>
                <a:latin typeface="Calibri"/>
                <a:ea typeface="Calibri"/>
                <a:cs typeface="Calibri"/>
              </a:defRPr>
            </a:lvl7pPr>
            <a:lvl8pPr algn="l">
              <a:defRPr sz="2200" b="0" i="0">
                <a:solidFill>
                  <a:srgbClr val="3D5678"/>
                </a:solidFill>
                <a:latin typeface="Calibri"/>
                <a:ea typeface="Calibri"/>
                <a:cs typeface="Calibri"/>
              </a:defRPr>
            </a:lvl8pPr>
            <a:lvl9pPr algn="l">
              <a:defRPr sz="2200" b="0" i="0">
                <a:solidFill>
                  <a:srgbClr val="3D5678"/>
                </a:solidFill>
                <a:latin typeface="Calibri"/>
                <a:ea typeface="Calibri"/>
                <a:cs typeface="Calibri"/>
              </a:defRPr>
            </a:lvl9pPr>
          </a:lstStyle>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MatrixLang optimizes matrix expressions from declared input domains.</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ExactReduce brings related checks to ordinary C loops in LLVM 18.</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The LLVM pass enables vectorization or safe integer accumulation.</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A run-time guard keeps a strict fallback when the fast path is unsafe.</a:t>
            </a:r>
          </a:p>
        </p:txBody>
      </p:sp>
      <p:sp>
        <p:nvSpPr>
          <p:cNvPr id="3" name="Slide number">
            <a:extLst xmlns:a="http://schemas.openxmlformats.org/drawingml/2006/main">
              <a:ext uri="{FF2B5EF4-FFF2-40B4-BE49-F238E27FC236}">
                <a16:creationId xmlns:a16="http://schemas.microsoft.com/office/drawing/2014/main" id="{C01D5576-5FF0-45B3-B042-01732A78EC49}"/>
              </a:ext>
            </a:extLst>
          </p:cNvPr>
          <p:cNvSpPr>
            <a:spLocks xmlns:a="http://schemas.openxmlformats.org/drawingml/2006/main" noGrp="1"/>
          </p:cNvSpPr>
          <p:nvPr/>
        </p:nvSpPr>
        <p:spPr>
          <a:xfrm xmlns:a="http://schemas.openxmlformats.org/drawingml/2006/main">
            <a:off x="11334750" y="64008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00" b="0" i="0">
                <a:solidFill>
                  <a:srgbClr val="869AB5"/>
                </a:solidFill>
                <a:latin typeface="Calibri"/>
                <a:ea typeface="Calibri"/>
                <a:cs typeface="Calibri"/>
              </a:defRPr>
            </a:defPPr>
            <a:lvl1pPr algn="r">
              <a:defRPr sz="900" b="0" i="0">
                <a:solidFill>
                  <a:srgbClr val="869AB5"/>
                </a:solidFill>
                <a:latin typeface="Calibri"/>
                <a:ea typeface="Calibri"/>
                <a:cs typeface="Calibri"/>
              </a:defRPr>
            </a:lvl1pPr>
            <a:lvl2pPr algn="r">
              <a:defRPr sz="900" b="0" i="0">
                <a:solidFill>
                  <a:srgbClr val="869AB5"/>
                </a:solidFill>
                <a:latin typeface="Calibri"/>
                <a:ea typeface="Calibri"/>
                <a:cs typeface="Calibri"/>
              </a:defRPr>
            </a:lvl2pPr>
            <a:lvl3pPr algn="r">
              <a:defRPr sz="900" b="0" i="0">
                <a:solidFill>
                  <a:srgbClr val="869AB5"/>
                </a:solidFill>
                <a:latin typeface="Calibri"/>
                <a:ea typeface="Calibri"/>
                <a:cs typeface="Calibri"/>
              </a:defRPr>
            </a:lvl3pPr>
            <a:lvl4pPr algn="r">
              <a:defRPr sz="900" b="0" i="0">
                <a:solidFill>
                  <a:srgbClr val="869AB5"/>
                </a:solidFill>
                <a:latin typeface="Calibri"/>
                <a:ea typeface="Calibri"/>
                <a:cs typeface="Calibri"/>
              </a:defRPr>
            </a:lvl4pPr>
            <a:lvl5pPr algn="r">
              <a:defRPr sz="900" b="0" i="0">
                <a:solidFill>
                  <a:srgbClr val="869AB5"/>
                </a:solidFill>
                <a:latin typeface="Calibri"/>
                <a:ea typeface="Calibri"/>
                <a:cs typeface="Calibri"/>
              </a:defRPr>
            </a:lvl5pPr>
            <a:lvl6pPr algn="r">
              <a:defRPr sz="900" b="0" i="0">
                <a:solidFill>
                  <a:srgbClr val="869AB5"/>
                </a:solidFill>
                <a:latin typeface="Calibri"/>
                <a:ea typeface="Calibri"/>
                <a:cs typeface="Calibri"/>
              </a:defRPr>
            </a:lvl6pPr>
            <a:lvl7pPr algn="r">
              <a:defRPr sz="900" b="0" i="0">
                <a:solidFill>
                  <a:srgbClr val="869AB5"/>
                </a:solidFill>
                <a:latin typeface="Calibri"/>
                <a:ea typeface="Calibri"/>
                <a:cs typeface="Calibri"/>
              </a:defRPr>
            </a:lvl7pPr>
            <a:lvl8pPr algn="r">
              <a:defRPr sz="900" b="0" i="0">
                <a:solidFill>
                  <a:srgbClr val="869AB5"/>
                </a:solidFill>
                <a:latin typeface="Calibri"/>
                <a:ea typeface="Calibri"/>
                <a:cs typeface="Calibri"/>
              </a:defRPr>
            </a:lvl8pPr>
            <a:lvl9pPr algn="r">
              <a:defRPr sz="900" b="0" i="0">
                <a:solidFill>
                  <a:srgbClr val="869AB5"/>
                </a:solidFill>
                <a:latin typeface="Calibri"/>
                <a:ea typeface="Calibri"/>
                <a:cs typeface="Calibri"/>
              </a:defRPr>
            </a:lvl9pPr>
          </a:lstStyle>
          <a:p xmlns:a="http://schemas.openxmlformats.org/drawingml/2006/main">
            <a:pPr algn="r">
              <a:defRPr sz="900" b="0" i="0">
                <a:solidFill>
                  <a:srgbClr val="869AB5"/>
                </a:solidFill>
                <a:latin typeface="Calibri"/>
                <a:ea typeface="Calibri"/>
                <a:cs typeface="Calibri"/>
              </a:defRPr>
            </a:pPr>
            <a:r>
              <a:rPr sz="900" b="0" i="0">
                <a:solidFill>
                  <a:srgbClr val="869AB5"/>
                </a:solidFill>
                <a:latin typeface="Calibri"/>
                <a:ea typeface="Calibri"/>
                <a:cs typeface="Calibri"/>
              </a:rPr>
              <a:t>5</a:t>
            </a:r>
          </a:p>
        </p:txBody>
      </p:sp>
    </p:spTree>
    <p:extLst>
      <p:ext uri="{BB962C8B-B14F-4D97-AF65-F5344CB8AC3E}">
        <p14:creationId xmlns:p14="http://schemas.microsoft.com/office/powerpoint/2010/main" val="968902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61BD8D8B-4F75-4B75-9FF3-27325C63C8C0}"/>
              </a:ext>
            </a:extLst>
          </p:cNvPr>
          <p:cNvSpPr>
            <a:spLocks xmlns:a="http://schemas.openxmlformats.org/drawingml/2006/main" noGrp="1"/>
          </p:cNvSpPr>
          <p:nvPr/>
        </p:nvSpPr>
        <p:spPr>
          <a:xfrm xmlns:a="http://schemas.openxmlformats.org/drawingml/2006/main">
            <a:off x="552450" y="4572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i="0">
                <a:solidFill>
                  <a:srgbClr val="1B2A41"/>
                </a:solidFill>
                <a:latin typeface="Cambria"/>
                <a:ea typeface="Cambria"/>
                <a:cs typeface="Cambria"/>
              </a:defRPr>
            </a:defPPr>
            <a:lvl1pPr algn="l">
              <a:defRPr sz="3300" b="1" i="0">
                <a:solidFill>
                  <a:srgbClr val="1B2A41"/>
                </a:solidFill>
                <a:latin typeface="Cambria"/>
                <a:ea typeface="Cambria"/>
                <a:cs typeface="Cambria"/>
              </a:defRPr>
            </a:lvl1pPr>
            <a:lvl2pPr algn="l">
              <a:defRPr sz="3300" b="1" i="0">
                <a:solidFill>
                  <a:srgbClr val="1B2A41"/>
                </a:solidFill>
                <a:latin typeface="Cambria"/>
                <a:ea typeface="Cambria"/>
                <a:cs typeface="Cambria"/>
              </a:defRPr>
            </a:lvl2pPr>
            <a:lvl3pPr algn="l">
              <a:defRPr sz="3300" b="1" i="0">
                <a:solidFill>
                  <a:srgbClr val="1B2A41"/>
                </a:solidFill>
                <a:latin typeface="Cambria"/>
                <a:ea typeface="Cambria"/>
                <a:cs typeface="Cambria"/>
              </a:defRPr>
            </a:lvl3pPr>
            <a:lvl4pPr algn="l">
              <a:defRPr sz="3300" b="1" i="0">
                <a:solidFill>
                  <a:srgbClr val="1B2A41"/>
                </a:solidFill>
                <a:latin typeface="Cambria"/>
                <a:ea typeface="Cambria"/>
                <a:cs typeface="Cambria"/>
              </a:defRPr>
            </a:lvl4pPr>
            <a:lvl5pPr algn="l">
              <a:defRPr sz="3300" b="1" i="0">
                <a:solidFill>
                  <a:srgbClr val="1B2A41"/>
                </a:solidFill>
                <a:latin typeface="Cambria"/>
                <a:ea typeface="Cambria"/>
                <a:cs typeface="Cambria"/>
              </a:defRPr>
            </a:lvl5pPr>
            <a:lvl6pPr algn="l">
              <a:defRPr sz="3300" b="1" i="0">
                <a:solidFill>
                  <a:srgbClr val="1B2A41"/>
                </a:solidFill>
                <a:latin typeface="Cambria"/>
                <a:ea typeface="Cambria"/>
                <a:cs typeface="Cambria"/>
              </a:defRPr>
            </a:lvl6pPr>
            <a:lvl7pPr algn="l">
              <a:defRPr sz="3300" b="1" i="0">
                <a:solidFill>
                  <a:srgbClr val="1B2A41"/>
                </a:solidFill>
                <a:latin typeface="Cambria"/>
                <a:ea typeface="Cambria"/>
                <a:cs typeface="Cambria"/>
              </a:defRPr>
            </a:lvl7pPr>
            <a:lvl8pPr algn="l">
              <a:defRPr sz="3300" b="1" i="0">
                <a:solidFill>
                  <a:srgbClr val="1B2A41"/>
                </a:solidFill>
                <a:latin typeface="Cambria"/>
                <a:ea typeface="Cambria"/>
                <a:cs typeface="Cambria"/>
              </a:defRPr>
            </a:lvl8pPr>
            <a:lvl9pPr algn="l">
              <a:defRPr sz="3300" b="1" i="0">
                <a:solidFill>
                  <a:srgbClr val="1B2A41"/>
                </a:solidFill>
                <a:latin typeface="Cambria"/>
                <a:ea typeface="Cambria"/>
                <a:cs typeface="Cambria"/>
              </a:defRPr>
            </a:lvl9pPr>
          </a:lstStyle>
          <a:p xmlns:a="http://schemas.openxmlformats.org/drawingml/2006/main">
            <a:pPr algn="l">
              <a:defRPr sz="3300" b="1" i="0">
                <a:solidFill>
                  <a:srgbClr val="1B2A41"/>
                </a:solidFill>
                <a:latin typeface="Cambria"/>
                <a:ea typeface="Cambria"/>
                <a:cs typeface="Cambria"/>
              </a:defRPr>
            </a:pPr>
            <a:r>
              <a:rPr sz="3300" b="1" i="0">
                <a:solidFill>
                  <a:srgbClr val="1B2A41"/>
                </a:solidFill>
                <a:latin typeface="Cambria"/>
                <a:ea typeface="Cambria"/>
                <a:cs typeface="Cambria"/>
              </a:rPr>
              <a:t>Key results</a:t>
            </a:r>
          </a:p>
        </p:txBody>
      </p:sp>
      <p:sp>
        <p:nvSpPr>
          <p:cNvPr id="2" name="Slide content">
            <a:extLst xmlns:a="http://schemas.openxmlformats.org/drawingml/2006/main">
              <a:ext uri="{FF2B5EF4-FFF2-40B4-BE49-F238E27FC236}">
                <a16:creationId xmlns:a16="http://schemas.microsoft.com/office/drawing/2014/main" id="{B44182E7-9471-4973-81CB-95267E1D2DE7}"/>
              </a:ext>
            </a:extLst>
          </p:cNvPr>
          <p:cNvSpPr>
            <a:spLocks xmlns:a="http://schemas.openxmlformats.org/drawingml/2006/main" noGrp="1"/>
          </p:cNvSpPr>
          <p:nvPr/>
        </p:nvSpPr>
        <p:spPr>
          <a:xfrm xmlns:a="http://schemas.openxmlformats.org/drawingml/2006/main">
            <a:off x="666750" y="1809750"/>
            <a:ext cx="107632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00" b="0" i="0">
                <a:solidFill>
                  <a:srgbClr val="3D5678"/>
                </a:solidFill>
                <a:latin typeface="Calibri"/>
                <a:ea typeface="Calibri"/>
                <a:cs typeface="Calibri"/>
              </a:defRPr>
            </a:defPPr>
            <a:lvl1pPr algn="l">
              <a:defRPr sz="2200" b="0" i="0">
                <a:solidFill>
                  <a:srgbClr val="3D5678"/>
                </a:solidFill>
                <a:latin typeface="Calibri"/>
                <a:ea typeface="Calibri"/>
                <a:cs typeface="Calibri"/>
              </a:defRPr>
            </a:lvl1pPr>
            <a:lvl2pPr algn="l">
              <a:defRPr sz="2200" b="0" i="0">
                <a:solidFill>
                  <a:srgbClr val="3D5678"/>
                </a:solidFill>
                <a:latin typeface="Calibri"/>
                <a:ea typeface="Calibri"/>
                <a:cs typeface="Calibri"/>
              </a:defRPr>
            </a:lvl2pPr>
            <a:lvl3pPr algn="l">
              <a:defRPr sz="2200" b="0" i="0">
                <a:solidFill>
                  <a:srgbClr val="3D5678"/>
                </a:solidFill>
                <a:latin typeface="Calibri"/>
                <a:ea typeface="Calibri"/>
                <a:cs typeface="Calibri"/>
              </a:defRPr>
            </a:lvl3pPr>
            <a:lvl4pPr algn="l">
              <a:defRPr sz="2200" b="0" i="0">
                <a:solidFill>
                  <a:srgbClr val="3D5678"/>
                </a:solidFill>
                <a:latin typeface="Calibri"/>
                <a:ea typeface="Calibri"/>
                <a:cs typeface="Calibri"/>
              </a:defRPr>
            </a:lvl4pPr>
            <a:lvl5pPr algn="l">
              <a:defRPr sz="2200" b="0" i="0">
                <a:solidFill>
                  <a:srgbClr val="3D5678"/>
                </a:solidFill>
                <a:latin typeface="Calibri"/>
                <a:ea typeface="Calibri"/>
                <a:cs typeface="Calibri"/>
              </a:defRPr>
            </a:lvl5pPr>
            <a:lvl6pPr algn="l">
              <a:defRPr sz="2200" b="0" i="0">
                <a:solidFill>
                  <a:srgbClr val="3D5678"/>
                </a:solidFill>
                <a:latin typeface="Calibri"/>
                <a:ea typeface="Calibri"/>
                <a:cs typeface="Calibri"/>
              </a:defRPr>
            </a:lvl6pPr>
            <a:lvl7pPr algn="l">
              <a:defRPr sz="2200" b="0" i="0">
                <a:solidFill>
                  <a:srgbClr val="3D5678"/>
                </a:solidFill>
                <a:latin typeface="Calibri"/>
                <a:ea typeface="Calibri"/>
                <a:cs typeface="Calibri"/>
              </a:defRPr>
            </a:lvl7pPr>
            <a:lvl8pPr algn="l">
              <a:defRPr sz="2200" b="0" i="0">
                <a:solidFill>
                  <a:srgbClr val="3D5678"/>
                </a:solidFill>
                <a:latin typeface="Calibri"/>
                <a:ea typeface="Calibri"/>
                <a:cs typeface="Calibri"/>
              </a:defRPr>
            </a:lvl8pPr>
            <a:lvl9pPr algn="l">
              <a:defRPr sz="2200" b="0" i="0">
                <a:solidFill>
                  <a:srgbClr val="3D5678"/>
                </a:solidFill>
                <a:latin typeface="Calibri"/>
                <a:ea typeface="Calibri"/>
                <a:cs typeface="Calibri"/>
              </a:defRPr>
            </a:lvl9pPr>
          </a:lstStyle>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5.09–9.71× speedup over strict Clang on nine integer kernels.</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0 mismatches in 784 stress cases for each tested LLVM fast-path build.</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262 chain certificates checked independently with exact arithmetic.</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23 of 109 reductions licensed across four selected code bases.</a:t>
            </a:r>
          </a:p>
        </p:txBody>
      </p:sp>
      <p:sp>
        <p:nvSpPr>
          <p:cNvPr id="3" name="Slide number">
            <a:extLst xmlns:a="http://schemas.openxmlformats.org/drawingml/2006/main">
              <a:ext uri="{FF2B5EF4-FFF2-40B4-BE49-F238E27FC236}">
                <a16:creationId xmlns:a16="http://schemas.microsoft.com/office/drawing/2014/main" id="{8FF58C34-8FC4-46BA-99F5-F897C399C2C2}"/>
              </a:ext>
            </a:extLst>
          </p:cNvPr>
          <p:cNvSpPr>
            <a:spLocks xmlns:a="http://schemas.openxmlformats.org/drawingml/2006/main" noGrp="1"/>
          </p:cNvSpPr>
          <p:nvPr/>
        </p:nvSpPr>
        <p:spPr>
          <a:xfrm xmlns:a="http://schemas.openxmlformats.org/drawingml/2006/main">
            <a:off x="11334750" y="64008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00" b="0" i="0">
                <a:solidFill>
                  <a:srgbClr val="869AB5"/>
                </a:solidFill>
                <a:latin typeface="Calibri"/>
                <a:ea typeface="Calibri"/>
                <a:cs typeface="Calibri"/>
              </a:defRPr>
            </a:defPPr>
            <a:lvl1pPr algn="r">
              <a:defRPr sz="900" b="0" i="0">
                <a:solidFill>
                  <a:srgbClr val="869AB5"/>
                </a:solidFill>
                <a:latin typeface="Calibri"/>
                <a:ea typeface="Calibri"/>
                <a:cs typeface="Calibri"/>
              </a:defRPr>
            </a:lvl1pPr>
            <a:lvl2pPr algn="r">
              <a:defRPr sz="900" b="0" i="0">
                <a:solidFill>
                  <a:srgbClr val="869AB5"/>
                </a:solidFill>
                <a:latin typeface="Calibri"/>
                <a:ea typeface="Calibri"/>
                <a:cs typeface="Calibri"/>
              </a:defRPr>
            </a:lvl2pPr>
            <a:lvl3pPr algn="r">
              <a:defRPr sz="900" b="0" i="0">
                <a:solidFill>
                  <a:srgbClr val="869AB5"/>
                </a:solidFill>
                <a:latin typeface="Calibri"/>
                <a:ea typeface="Calibri"/>
                <a:cs typeface="Calibri"/>
              </a:defRPr>
            </a:lvl3pPr>
            <a:lvl4pPr algn="r">
              <a:defRPr sz="900" b="0" i="0">
                <a:solidFill>
                  <a:srgbClr val="869AB5"/>
                </a:solidFill>
                <a:latin typeface="Calibri"/>
                <a:ea typeface="Calibri"/>
                <a:cs typeface="Calibri"/>
              </a:defRPr>
            </a:lvl4pPr>
            <a:lvl5pPr algn="r">
              <a:defRPr sz="900" b="0" i="0">
                <a:solidFill>
                  <a:srgbClr val="869AB5"/>
                </a:solidFill>
                <a:latin typeface="Calibri"/>
                <a:ea typeface="Calibri"/>
                <a:cs typeface="Calibri"/>
              </a:defRPr>
            </a:lvl5pPr>
            <a:lvl6pPr algn="r">
              <a:defRPr sz="900" b="0" i="0">
                <a:solidFill>
                  <a:srgbClr val="869AB5"/>
                </a:solidFill>
                <a:latin typeface="Calibri"/>
                <a:ea typeface="Calibri"/>
                <a:cs typeface="Calibri"/>
              </a:defRPr>
            </a:lvl6pPr>
            <a:lvl7pPr algn="r">
              <a:defRPr sz="900" b="0" i="0">
                <a:solidFill>
                  <a:srgbClr val="869AB5"/>
                </a:solidFill>
                <a:latin typeface="Calibri"/>
                <a:ea typeface="Calibri"/>
                <a:cs typeface="Calibri"/>
              </a:defRPr>
            </a:lvl7pPr>
            <a:lvl8pPr algn="r">
              <a:defRPr sz="900" b="0" i="0">
                <a:solidFill>
                  <a:srgbClr val="869AB5"/>
                </a:solidFill>
                <a:latin typeface="Calibri"/>
                <a:ea typeface="Calibri"/>
                <a:cs typeface="Calibri"/>
              </a:defRPr>
            </a:lvl8pPr>
            <a:lvl9pPr algn="r">
              <a:defRPr sz="900" b="0" i="0">
                <a:solidFill>
                  <a:srgbClr val="869AB5"/>
                </a:solidFill>
                <a:latin typeface="Calibri"/>
                <a:ea typeface="Calibri"/>
                <a:cs typeface="Calibri"/>
              </a:defRPr>
            </a:lvl9pPr>
          </a:lstStyle>
          <a:p xmlns:a="http://schemas.openxmlformats.org/drawingml/2006/main">
            <a:pPr algn="r">
              <a:defRPr sz="900" b="0" i="0">
                <a:solidFill>
                  <a:srgbClr val="869AB5"/>
                </a:solidFill>
                <a:latin typeface="Calibri"/>
                <a:ea typeface="Calibri"/>
                <a:cs typeface="Calibri"/>
              </a:defRPr>
            </a:pPr>
            <a:r>
              <a:rPr sz="900" b="0" i="0">
                <a:solidFill>
                  <a:srgbClr val="869AB5"/>
                </a:solidFill>
                <a:latin typeface="Calibri"/>
                <a:ea typeface="Calibri"/>
                <a:cs typeface="Calibri"/>
              </a:rPr>
              <a:t>6</a:t>
            </a:r>
          </a:p>
        </p:txBody>
      </p:sp>
    </p:spTree>
    <p:extLst>
      <p:ext uri="{BB962C8B-B14F-4D97-AF65-F5344CB8AC3E}">
        <p14:creationId xmlns:p14="http://schemas.microsoft.com/office/powerpoint/2010/main" val="6999880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D8D04836-1C14-417A-982A-14C5B0333B85}"/>
              </a:ext>
            </a:extLst>
          </p:cNvPr>
          <p:cNvSpPr>
            <a:spLocks xmlns:a="http://schemas.openxmlformats.org/drawingml/2006/main" noGrp="1"/>
          </p:cNvSpPr>
          <p:nvPr/>
        </p:nvSpPr>
        <p:spPr>
          <a:xfrm xmlns:a="http://schemas.openxmlformats.org/drawingml/2006/main">
            <a:off x="552450" y="457200"/>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i="0">
                <a:solidFill>
                  <a:srgbClr val="1B2A41"/>
                </a:solidFill>
                <a:latin typeface="Cambria"/>
                <a:ea typeface="Cambria"/>
                <a:cs typeface="Cambria"/>
              </a:defRPr>
            </a:defPPr>
            <a:lvl1pPr algn="l">
              <a:defRPr sz="3300" b="1" i="0">
                <a:solidFill>
                  <a:srgbClr val="1B2A41"/>
                </a:solidFill>
                <a:latin typeface="Cambria"/>
                <a:ea typeface="Cambria"/>
                <a:cs typeface="Cambria"/>
              </a:defRPr>
            </a:lvl1pPr>
            <a:lvl2pPr algn="l">
              <a:defRPr sz="3300" b="1" i="0">
                <a:solidFill>
                  <a:srgbClr val="1B2A41"/>
                </a:solidFill>
                <a:latin typeface="Cambria"/>
                <a:ea typeface="Cambria"/>
                <a:cs typeface="Cambria"/>
              </a:defRPr>
            </a:lvl2pPr>
            <a:lvl3pPr algn="l">
              <a:defRPr sz="3300" b="1" i="0">
                <a:solidFill>
                  <a:srgbClr val="1B2A41"/>
                </a:solidFill>
                <a:latin typeface="Cambria"/>
                <a:ea typeface="Cambria"/>
                <a:cs typeface="Cambria"/>
              </a:defRPr>
            </a:lvl3pPr>
            <a:lvl4pPr algn="l">
              <a:defRPr sz="3300" b="1" i="0">
                <a:solidFill>
                  <a:srgbClr val="1B2A41"/>
                </a:solidFill>
                <a:latin typeface="Cambria"/>
                <a:ea typeface="Cambria"/>
                <a:cs typeface="Cambria"/>
              </a:defRPr>
            </a:lvl4pPr>
            <a:lvl5pPr algn="l">
              <a:defRPr sz="3300" b="1" i="0">
                <a:solidFill>
                  <a:srgbClr val="1B2A41"/>
                </a:solidFill>
                <a:latin typeface="Cambria"/>
                <a:ea typeface="Cambria"/>
                <a:cs typeface="Cambria"/>
              </a:defRPr>
            </a:lvl5pPr>
            <a:lvl6pPr algn="l">
              <a:defRPr sz="3300" b="1" i="0">
                <a:solidFill>
                  <a:srgbClr val="1B2A41"/>
                </a:solidFill>
                <a:latin typeface="Cambria"/>
                <a:ea typeface="Cambria"/>
                <a:cs typeface="Cambria"/>
              </a:defRPr>
            </a:lvl6pPr>
            <a:lvl7pPr algn="l">
              <a:defRPr sz="3300" b="1" i="0">
                <a:solidFill>
                  <a:srgbClr val="1B2A41"/>
                </a:solidFill>
                <a:latin typeface="Cambria"/>
                <a:ea typeface="Cambria"/>
                <a:cs typeface="Cambria"/>
              </a:defRPr>
            </a:lvl7pPr>
            <a:lvl8pPr algn="l">
              <a:defRPr sz="3300" b="1" i="0">
                <a:solidFill>
                  <a:srgbClr val="1B2A41"/>
                </a:solidFill>
                <a:latin typeface="Cambria"/>
                <a:ea typeface="Cambria"/>
                <a:cs typeface="Cambria"/>
              </a:defRPr>
            </a:lvl8pPr>
            <a:lvl9pPr algn="l">
              <a:defRPr sz="3300" b="1" i="0">
                <a:solidFill>
                  <a:srgbClr val="1B2A41"/>
                </a:solidFill>
                <a:latin typeface="Cambria"/>
                <a:ea typeface="Cambria"/>
                <a:cs typeface="Cambria"/>
              </a:defRPr>
            </a:lvl9pPr>
          </a:lstStyle>
          <a:p xmlns:a="http://schemas.openxmlformats.org/drawingml/2006/main">
            <a:pPr algn="l">
              <a:defRPr sz="3300" b="1" i="0">
                <a:solidFill>
                  <a:srgbClr val="1B2A41"/>
                </a:solidFill>
                <a:latin typeface="Cambria"/>
                <a:ea typeface="Cambria"/>
                <a:cs typeface="Cambria"/>
              </a:defRPr>
            </a:pPr>
            <a:r>
              <a:rPr sz="3300" b="1" i="0">
                <a:solidFill>
                  <a:srgbClr val="1B2A41"/>
                </a:solidFill>
                <a:latin typeface="Cambria"/>
                <a:ea typeface="Cambria"/>
                <a:cs typeface="Cambria"/>
              </a:rPr>
              <a:t>Scope and limitations</a:t>
            </a:r>
          </a:p>
        </p:txBody>
      </p:sp>
      <p:sp>
        <p:nvSpPr>
          <p:cNvPr id="2" name="Slide content">
            <a:extLst xmlns:a="http://schemas.openxmlformats.org/drawingml/2006/main">
              <a:ext uri="{FF2B5EF4-FFF2-40B4-BE49-F238E27FC236}">
                <a16:creationId xmlns:a16="http://schemas.microsoft.com/office/drawing/2014/main" id="{1414D1B7-FB2C-4DCF-8AEB-B7545320E21D}"/>
              </a:ext>
            </a:extLst>
          </p:cNvPr>
          <p:cNvSpPr>
            <a:spLocks xmlns:a="http://schemas.openxmlformats.org/drawingml/2006/main" noGrp="1"/>
          </p:cNvSpPr>
          <p:nvPr/>
        </p:nvSpPr>
        <p:spPr>
          <a:xfrm xmlns:a="http://schemas.openxmlformats.org/drawingml/2006/main">
            <a:off x="666750" y="1809750"/>
            <a:ext cx="107632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00" b="0" i="0">
                <a:solidFill>
                  <a:srgbClr val="3D5678"/>
                </a:solidFill>
                <a:latin typeface="Calibri"/>
                <a:ea typeface="Calibri"/>
                <a:cs typeface="Calibri"/>
              </a:defRPr>
            </a:defPPr>
            <a:lvl1pPr algn="l">
              <a:defRPr sz="2200" b="0" i="0">
                <a:solidFill>
                  <a:srgbClr val="3D5678"/>
                </a:solidFill>
                <a:latin typeface="Calibri"/>
                <a:ea typeface="Calibri"/>
                <a:cs typeface="Calibri"/>
              </a:defRPr>
            </a:lvl1pPr>
            <a:lvl2pPr algn="l">
              <a:defRPr sz="2200" b="0" i="0">
                <a:solidFill>
                  <a:srgbClr val="3D5678"/>
                </a:solidFill>
                <a:latin typeface="Calibri"/>
                <a:ea typeface="Calibri"/>
                <a:cs typeface="Calibri"/>
              </a:defRPr>
            </a:lvl2pPr>
            <a:lvl3pPr algn="l">
              <a:defRPr sz="2200" b="0" i="0">
                <a:solidFill>
                  <a:srgbClr val="3D5678"/>
                </a:solidFill>
                <a:latin typeface="Calibri"/>
                <a:ea typeface="Calibri"/>
                <a:cs typeface="Calibri"/>
              </a:defRPr>
            </a:lvl3pPr>
            <a:lvl4pPr algn="l">
              <a:defRPr sz="2200" b="0" i="0">
                <a:solidFill>
                  <a:srgbClr val="3D5678"/>
                </a:solidFill>
                <a:latin typeface="Calibri"/>
                <a:ea typeface="Calibri"/>
                <a:cs typeface="Calibri"/>
              </a:defRPr>
            </a:lvl4pPr>
            <a:lvl5pPr algn="l">
              <a:defRPr sz="2200" b="0" i="0">
                <a:solidFill>
                  <a:srgbClr val="3D5678"/>
                </a:solidFill>
                <a:latin typeface="Calibri"/>
                <a:ea typeface="Calibri"/>
                <a:cs typeface="Calibri"/>
              </a:defRPr>
            </a:lvl5pPr>
            <a:lvl6pPr algn="l">
              <a:defRPr sz="2200" b="0" i="0">
                <a:solidFill>
                  <a:srgbClr val="3D5678"/>
                </a:solidFill>
                <a:latin typeface="Calibri"/>
                <a:ea typeface="Calibri"/>
                <a:cs typeface="Calibri"/>
              </a:defRPr>
            </a:lvl6pPr>
            <a:lvl7pPr algn="l">
              <a:defRPr sz="2200" b="0" i="0">
                <a:solidFill>
                  <a:srgbClr val="3D5678"/>
                </a:solidFill>
                <a:latin typeface="Calibri"/>
                <a:ea typeface="Calibri"/>
                <a:cs typeface="Calibri"/>
              </a:defRPr>
            </a:lvl7pPr>
            <a:lvl8pPr algn="l">
              <a:defRPr sz="2200" b="0" i="0">
                <a:solidFill>
                  <a:srgbClr val="3D5678"/>
                </a:solidFill>
                <a:latin typeface="Calibri"/>
                <a:ea typeface="Calibri"/>
                <a:cs typeface="Calibri"/>
              </a:defRPr>
            </a:lvl8pPr>
            <a:lvl9pPr algn="l">
              <a:defRPr sz="2200" b="0" i="0">
                <a:solidFill>
                  <a:srgbClr val="3D5678"/>
                </a:solidFill>
                <a:latin typeface="Calibri"/>
                <a:ea typeface="Calibri"/>
                <a:cs typeface="Calibri"/>
              </a:defRPr>
            </a:lvl9pPr>
          </a:lstStyle>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Bounded rewrites must exclude overflow and inexact underflow.</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Certificate replay checks numerical obligations from supplied facts.</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The tested LLVM integration does not verify the entire compiler pipeline.</a:t>
            </a:r>
          </a:p>
          <a:p xmlns:a="http://schemas.openxmlformats.org/drawingml/2006/main">
            <a:pPr marL="279400" indent="-139700" algn="l">
              <a:spcAft>
                <a:spcPts val="2400"/>
              </a:spcAft>
              <a:buChar char="•"/>
              <a:defRPr sz="2200" b="0" i="0">
                <a:solidFill>
                  <a:srgbClr val="3D5678"/>
                </a:solidFill>
                <a:latin typeface="Calibri"/>
                <a:ea typeface="Calibri"/>
                <a:cs typeface="Calibri"/>
              </a:defRPr>
            </a:pPr>
            <a:r>
              <a:rPr sz="2200" b="0" i="0">
                <a:solidFill>
                  <a:srgbClr val="3D5678"/>
                </a:solidFill>
                <a:latin typeface="Calibri"/>
                <a:ea typeface="Calibri"/>
                <a:cs typeface="Calibri"/>
              </a:rPr>
              <a:t>Kernel-module costs: 29% more compilation time and 40% larger text size.</a:t>
            </a:r>
          </a:p>
        </p:txBody>
      </p:sp>
      <p:sp>
        <p:nvSpPr>
          <p:cNvPr id="3" name="Slide number">
            <a:extLst xmlns:a="http://schemas.openxmlformats.org/drawingml/2006/main">
              <a:ext uri="{FF2B5EF4-FFF2-40B4-BE49-F238E27FC236}">
                <a16:creationId xmlns:a16="http://schemas.microsoft.com/office/drawing/2014/main" id="{5CC29F6F-9C88-4B94-95CD-A979F6DB7341}"/>
              </a:ext>
            </a:extLst>
          </p:cNvPr>
          <p:cNvSpPr>
            <a:spLocks xmlns:a="http://schemas.openxmlformats.org/drawingml/2006/main" noGrp="1"/>
          </p:cNvSpPr>
          <p:nvPr/>
        </p:nvSpPr>
        <p:spPr>
          <a:xfrm xmlns:a="http://schemas.openxmlformats.org/drawingml/2006/main">
            <a:off x="11334750" y="64008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900" b="0" i="0">
                <a:solidFill>
                  <a:srgbClr val="869AB5"/>
                </a:solidFill>
                <a:latin typeface="Calibri"/>
                <a:ea typeface="Calibri"/>
                <a:cs typeface="Calibri"/>
              </a:defRPr>
            </a:defPPr>
            <a:lvl1pPr algn="r">
              <a:defRPr sz="900" b="0" i="0">
                <a:solidFill>
                  <a:srgbClr val="869AB5"/>
                </a:solidFill>
                <a:latin typeface="Calibri"/>
                <a:ea typeface="Calibri"/>
                <a:cs typeface="Calibri"/>
              </a:defRPr>
            </a:lvl1pPr>
            <a:lvl2pPr algn="r">
              <a:defRPr sz="900" b="0" i="0">
                <a:solidFill>
                  <a:srgbClr val="869AB5"/>
                </a:solidFill>
                <a:latin typeface="Calibri"/>
                <a:ea typeface="Calibri"/>
                <a:cs typeface="Calibri"/>
              </a:defRPr>
            </a:lvl2pPr>
            <a:lvl3pPr algn="r">
              <a:defRPr sz="900" b="0" i="0">
                <a:solidFill>
                  <a:srgbClr val="869AB5"/>
                </a:solidFill>
                <a:latin typeface="Calibri"/>
                <a:ea typeface="Calibri"/>
                <a:cs typeface="Calibri"/>
              </a:defRPr>
            </a:lvl3pPr>
            <a:lvl4pPr algn="r">
              <a:defRPr sz="900" b="0" i="0">
                <a:solidFill>
                  <a:srgbClr val="869AB5"/>
                </a:solidFill>
                <a:latin typeface="Calibri"/>
                <a:ea typeface="Calibri"/>
                <a:cs typeface="Calibri"/>
              </a:defRPr>
            </a:lvl4pPr>
            <a:lvl5pPr algn="r">
              <a:defRPr sz="900" b="0" i="0">
                <a:solidFill>
                  <a:srgbClr val="869AB5"/>
                </a:solidFill>
                <a:latin typeface="Calibri"/>
                <a:ea typeface="Calibri"/>
                <a:cs typeface="Calibri"/>
              </a:defRPr>
            </a:lvl5pPr>
            <a:lvl6pPr algn="r">
              <a:defRPr sz="900" b="0" i="0">
                <a:solidFill>
                  <a:srgbClr val="869AB5"/>
                </a:solidFill>
                <a:latin typeface="Calibri"/>
                <a:ea typeface="Calibri"/>
                <a:cs typeface="Calibri"/>
              </a:defRPr>
            </a:lvl6pPr>
            <a:lvl7pPr algn="r">
              <a:defRPr sz="900" b="0" i="0">
                <a:solidFill>
                  <a:srgbClr val="869AB5"/>
                </a:solidFill>
                <a:latin typeface="Calibri"/>
                <a:ea typeface="Calibri"/>
                <a:cs typeface="Calibri"/>
              </a:defRPr>
            </a:lvl7pPr>
            <a:lvl8pPr algn="r">
              <a:defRPr sz="900" b="0" i="0">
                <a:solidFill>
                  <a:srgbClr val="869AB5"/>
                </a:solidFill>
                <a:latin typeface="Calibri"/>
                <a:ea typeface="Calibri"/>
                <a:cs typeface="Calibri"/>
              </a:defRPr>
            </a:lvl8pPr>
            <a:lvl9pPr algn="r">
              <a:defRPr sz="900" b="0" i="0">
                <a:solidFill>
                  <a:srgbClr val="869AB5"/>
                </a:solidFill>
                <a:latin typeface="Calibri"/>
                <a:ea typeface="Calibri"/>
                <a:cs typeface="Calibri"/>
              </a:defRPr>
            </a:lvl9pPr>
          </a:lstStyle>
          <a:p xmlns:a="http://schemas.openxmlformats.org/drawingml/2006/main">
            <a:pPr algn="r">
              <a:defRPr sz="900" b="0" i="0">
                <a:solidFill>
                  <a:srgbClr val="869AB5"/>
                </a:solidFill>
                <a:latin typeface="Calibri"/>
                <a:ea typeface="Calibri"/>
                <a:cs typeface="Calibri"/>
              </a:defRPr>
            </a:pPr>
            <a:r>
              <a:rPr sz="900" b="0" i="0">
                <a:solidFill>
                  <a:srgbClr val="869AB5"/>
                </a:solidFill>
                <a:latin typeface="Calibri"/>
                <a:ea typeface="Calibri"/>
                <a:cs typeface="Calibri"/>
              </a:rPr>
              <a:t>7</a:t>
            </a:r>
          </a:p>
        </p:txBody>
      </p:sp>
    </p:spTree>
    <p:extLst>
      <p:ext uri="{BB962C8B-B14F-4D97-AF65-F5344CB8AC3E}">
        <p14:creationId xmlns:p14="http://schemas.microsoft.com/office/powerpoint/2010/main" val="96942135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528934B-7F9A-4430-BB32-6AA9D6873779}"/>
              </a:ext>
            </a:extLst>
          </p:cNvPr>
          <p:cNvSpPr>
            <a:spLocks xmlns:a="http://schemas.openxmlformats.org/drawingml/2006/main" noGrp="1"/>
          </p:cNvSpPr>
          <p:nvPr>
            <p:ph type="title" idx="100" hasCustomPrompt="1"/>
          </p:nvPr>
        </p:nvSpPr>
        <p:spPr>
          <a:xfrm xmlns:a="http://schemas.openxmlformats.org/drawingml/2006/main">
            <a:off x="822960" y="1162050"/>
            <a:ext cx="1057275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600" b="1" i="0">
                <a:solidFill>
                  <a:srgbClr val="FFFFFF"/>
                </a:solidFill>
                <a:latin typeface="Cambria"/>
                <a:ea typeface="Cambria"/>
                <a:cs typeface="Cambria"/>
              </a:defRPr>
            </a:defPPr>
            <a:lvl1pPr algn="l">
              <a:defRPr sz="3600" b="1" i="0">
                <a:solidFill>
                  <a:srgbClr val="FFFFFF"/>
                </a:solidFill>
                <a:latin typeface="Cambria"/>
                <a:ea typeface="Cambria"/>
                <a:cs typeface="Cambria"/>
              </a:defRPr>
            </a:lvl1pPr>
            <a:lvl2pPr algn="l">
              <a:defRPr sz="3600" b="1" i="0">
                <a:solidFill>
                  <a:srgbClr val="FFFFFF"/>
                </a:solidFill>
                <a:latin typeface="Cambria"/>
                <a:ea typeface="Cambria"/>
                <a:cs typeface="Cambria"/>
              </a:defRPr>
            </a:lvl2pPr>
            <a:lvl3pPr algn="l">
              <a:defRPr sz="3600" b="1" i="0">
                <a:solidFill>
                  <a:srgbClr val="FFFFFF"/>
                </a:solidFill>
                <a:latin typeface="Cambria"/>
                <a:ea typeface="Cambria"/>
                <a:cs typeface="Cambria"/>
              </a:defRPr>
            </a:lvl3pPr>
            <a:lvl4pPr algn="l">
              <a:defRPr sz="3600" b="1" i="0">
                <a:solidFill>
                  <a:srgbClr val="FFFFFF"/>
                </a:solidFill>
                <a:latin typeface="Cambria"/>
                <a:ea typeface="Cambria"/>
                <a:cs typeface="Cambria"/>
              </a:defRPr>
            </a:lvl4pPr>
            <a:lvl5pPr algn="l">
              <a:defRPr sz="3600" b="1" i="0">
                <a:solidFill>
                  <a:srgbClr val="FFFFFF"/>
                </a:solidFill>
                <a:latin typeface="Cambria"/>
                <a:ea typeface="Cambria"/>
                <a:cs typeface="Cambria"/>
              </a:defRPr>
            </a:lvl5pPr>
            <a:lvl6pPr algn="l">
              <a:defRPr sz="3600" b="1" i="0">
                <a:solidFill>
                  <a:srgbClr val="FFFFFF"/>
                </a:solidFill>
                <a:latin typeface="Cambria"/>
                <a:ea typeface="Cambria"/>
                <a:cs typeface="Cambria"/>
              </a:defRPr>
            </a:lvl6pPr>
            <a:lvl7pPr algn="l">
              <a:defRPr sz="3600" b="1" i="0">
                <a:solidFill>
                  <a:srgbClr val="FFFFFF"/>
                </a:solidFill>
                <a:latin typeface="Cambria"/>
                <a:ea typeface="Cambria"/>
                <a:cs typeface="Cambria"/>
              </a:defRPr>
            </a:lvl7pPr>
            <a:lvl8pPr algn="l">
              <a:defRPr sz="3600" b="1" i="0">
                <a:solidFill>
                  <a:srgbClr val="FFFFFF"/>
                </a:solidFill>
                <a:latin typeface="Cambria"/>
                <a:ea typeface="Cambria"/>
                <a:cs typeface="Cambria"/>
              </a:defRPr>
            </a:lvl8pPr>
            <a:lvl9pPr algn="l">
              <a:defRPr sz="3600" b="1" i="0">
                <a:solidFill>
                  <a:srgbClr val="FFFFFF"/>
                </a:solidFill>
                <a:latin typeface="Cambria"/>
                <a:ea typeface="Cambria"/>
                <a:cs typeface="Cambria"/>
              </a:defRPr>
            </a:lvl9pPr>
          </a:lstStyle>
          <a:p xmlns:a="http://schemas.openxmlformats.org/drawingml/2006/main">
            <a:pPr marL="0" indent="0" algn="l">
              <a:buNone/>
              <a:defRPr sz="3600" b="1" i="0">
                <a:solidFill>
                  <a:srgbClr val="FFFFFF"/>
                </a:solidFill>
                <a:latin typeface="Cambria"/>
                <a:ea typeface="Cambria"/>
                <a:cs typeface="Cambria"/>
              </a:defRPr>
            </a:pPr>
            <a:r>
              <a:rPr sz="3600" b="1" i="0">
                <a:solidFill>
                  <a:srgbClr val="FFFFFF"/>
                </a:solidFill>
                <a:latin typeface="Cambria"/>
                <a:ea typeface="Cambria"/>
                <a:cs typeface="Cambria"/>
              </a:rPr>
              <a:t>GitHub and quick start</a:t>
            </a:r>
            <a:endParaRPr sz="4000"/>
          </a:p>
        </p:txBody>
      </p:sp>
      <p:sp>
        <p:nvSpPr>
          <p:cNvPr id="3" name="Text 0">
            <a:extLst xmlns:a="http://schemas.openxmlformats.org/drawingml/2006/main">
              <a:ext uri="{FF2B5EF4-FFF2-40B4-BE49-F238E27FC236}">
                <a16:creationId xmlns:a16="http://schemas.microsoft.com/office/drawing/2014/main" id="{926200FE-9A32-438B-ABAD-63593FCB8FE3}"/>
              </a:ext>
            </a:extLst>
          </p:cNvPr>
          <p:cNvSpPr>
            <a:spLocks xmlns:a="http://schemas.openxmlformats.org/drawingml/2006/main" noGrp="1"/>
          </p:cNvSpPr>
          <p:nvPr>
            <p:ph type="body" idx="101" hasCustomPrompt="1"/>
          </p:nvPr>
        </p:nvSpPr>
        <p:spPr>
          <a:xfrm xmlns:a="http://schemas.openxmlformats.org/drawingml/2006/main">
            <a:off x="822960" y="3067050"/>
            <a:ext cx="10572750" cy="22383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100" b="0" i="0">
                <a:solidFill>
                  <a:srgbClr val="EDF2F7"/>
                </a:solidFill>
                <a:latin typeface="Calibri"/>
                <a:ea typeface="Calibri"/>
                <a:cs typeface="Calibri"/>
              </a:defRPr>
            </a:defPPr>
            <a:lvl1pPr algn="l">
              <a:defRPr sz="2100" b="0" i="0">
                <a:solidFill>
                  <a:srgbClr val="EDF2F7"/>
                </a:solidFill>
                <a:latin typeface="Calibri"/>
                <a:ea typeface="Calibri"/>
                <a:cs typeface="Calibri"/>
              </a:defRPr>
            </a:lvl1pPr>
            <a:lvl2pPr algn="l">
              <a:defRPr sz="2100" b="0" i="0">
                <a:solidFill>
                  <a:srgbClr val="EDF2F7"/>
                </a:solidFill>
                <a:latin typeface="Calibri"/>
                <a:ea typeface="Calibri"/>
                <a:cs typeface="Calibri"/>
              </a:defRPr>
            </a:lvl2pPr>
            <a:lvl3pPr algn="l">
              <a:defRPr sz="2100" b="0" i="0">
                <a:solidFill>
                  <a:srgbClr val="EDF2F7"/>
                </a:solidFill>
                <a:latin typeface="Calibri"/>
                <a:ea typeface="Calibri"/>
                <a:cs typeface="Calibri"/>
              </a:defRPr>
            </a:lvl3pPr>
            <a:lvl4pPr algn="l">
              <a:defRPr sz="2100" b="0" i="0">
                <a:solidFill>
                  <a:srgbClr val="EDF2F7"/>
                </a:solidFill>
                <a:latin typeface="Calibri"/>
                <a:ea typeface="Calibri"/>
                <a:cs typeface="Calibri"/>
              </a:defRPr>
            </a:lvl4pPr>
            <a:lvl5pPr algn="l">
              <a:defRPr sz="2100" b="0" i="0">
                <a:solidFill>
                  <a:srgbClr val="EDF2F7"/>
                </a:solidFill>
                <a:latin typeface="Calibri"/>
                <a:ea typeface="Calibri"/>
                <a:cs typeface="Calibri"/>
              </a:defRPr>
            </a:lvl5pPr>
            <a:lvl6pPr algn="l">
              <a:defRPr sz="2100" b="0" i="0">
                <a:solidFill>
                  <a:srgbClr val="EDF2F7"/>
                </a:solidFill>
                <a:latin typeface="Calibri"/>
                <a:ea typeface="Calibri"/>
                <a:cs typeface="Calibri"/>
              </a:defRPr>
            </a:lvl6pPr>
            <a:lvl7pPr algn="l">
              <a:defRPr sz="2100" b="0" i="0">
                <a:solidFill>
                  <a:srgbClr val="EDF2F7"/>
                </a:solidFill>
                <a:latin typeface="Calibri"/>
                <a:ea typeface="Calibri"/>
                <a:cs typeface="Calibri"/>
              </a:defRPr>
            </a:lvl7pPr>
            <a:lvl8pPr algn="l">
              <a:defRPr sz="2100" b="0" i="0">
                <a:solidFill>
                  <a:srgbClr val="EDF2F7"/>
                </a:solidFill>
                <a:latin typeface="Calibri"/>
                <a:ea typeface="Calibri"/>
                <a:cs typeface="Calibri"/>
              </a:defRPr>
            </a:lvl8pPr>
            <a:lvl9pPr algn="l">
              <a:defRPr sz="2100" b="0" i="0">
                <a:solidFill>
                  <a:srgbClr val="EDF2F7"/>
                </a:solidFill>
                <a:latin typeface="Calibri"/>
                <a:ea typeface="Calibri"/>
                <a:cs typeface="Calibri"/>
              </a:defRPr>
            </a:lvl9pPr>
          </a:lstStyle>
          <a:p xmlns:a="http://schemas.openxmlformats.org/drawingml/2006/main">
            <a:pPr marL="0" indent="0" algn="l">
              <a:buNone/>
              <a:defRPr sz="2100" b="0" i="0">
                <a:solidFill>
                  <a:srgbClr val="EDF2F7"/>
                </a:solidFill>
                <a:latin typeface="Calibri"/>
                <a:ea typeface="Calibri"/>
                <a:cs typeface="Calibri"/>
              </a:defRPr>
            </a:pPr>
            <a:r>
              <a:rPr sz="2100" b="0" i="0">
                <a:solidFill>
                  <a:srgbClr val="EDF2F7"/>
                </a:solidFill>
                <a:latin typeface="Calibri"/>
                <a:ea typeface="Calibri"/>
                <a:cs typeface="Calibri"/>
              </a:rPr>
              <a:t>Build and test MatrixLang</a:t>
            </a:r>
            <a:endParaRPr sz="1800"/>
          </a:p>
          <a:p xmlns:a="http://schemas.openxmlformats.org/drawingml/2006/main">
            <a:pPr marL="0" indent="0" algn="l">
              <a:buNone/>
              <a:defRPr sz="2100" b="0" i="0">
                <a:solidFill>
                  <a:srgbClr val="EDF2F7"/>
                </a:solidFill>
                <a:latin typeface="Calibri"/>
                <a:ea typeface="Calibri"/>
                <a:cs typeface="Calibri"/>
              </a:defRPr>
            </a:pPr>
            <a:r>
              <a:rPr sz="2100" b="0" i="0">
                <a:solidFill>
                  <a:srgbClr val="EDF2F7"/>
                </a:solidFill>
                <a:latin typeface="Calibri"/>
                <a:ea typeface="Calibri"/>
                <a:cs typeface="Calibri"/>
              </a:rPr>
              <a:t>make &amp;&amp; make test</a:t>
            </a:r>
            <a:endParaRPr sz="1800"/>
          </a:p>
          <a:p xmlns:a="http://schemas.openxmlformats.org/drawingml/2006/main">
            <a:pPr marL="0" indent="0">
              <a:buNone/>
            </a:pPr>
            <a:r>
              <a:rPr sz="1800" b="1">
                <a:solidFill>
                  <a:schemeClr val="accent1"/>
                </a:solidFill>
              </a:rPr>
              <a:t/>
            </a:r>
            <a:endParaRPr sz="1800"/>
          </a:p>
          <a:p xmlns:a="http://schemas.openxmlformats.org/drawingml/2006/main">
            <a:pPr marL="0" indent="0" algn="l">
              <a:buNone/>
              <a:defRPr sz="2100" b="0" i="0">
                <a:solidFill>
                  <a:srgbClr val="EDF2F7"/>
                </a:solidFill>
                <a:latin typeface="Calibri"/>
                <a:ea typeface="Calibri"/>
                <a:cs typeface="Calibri"/>
              </a:defRPr>
            </a:pPr>
            <a:r>
              <a:rPr sz="2100" b="0" i="0">
                <a:solidFill>
                  <a:srgbClr val="EDF2F7"/>
                </a:solidFill>
                <a:latin typeface="Calibri"/>
                <a:ea typeface="Calibri"/>
                <a:cs typeface="Calibri"/>
              </a:rPr>
              <a:t>Build and test the LLVM pass</a:t>
            </a:r>
            <a:endParaRPr sz="1800"/>
          </a:p>
          <a:p xmlns:a="http://schemas.openxmlformats.org/drawingml/2006/main">
            <a:pPr marL="0" indent="0" algn="l">
              <a:buNone/>
              <a:defRPr sz="2100" b="0" i="0">
                <a:solidFill>
                  <a:srgbClr val="EDF2F7"/>
                </a:solidFill>
                <a:latin typeface="Calibri"/>
                <a:ea typeface="Calibri"/>
                <a:cs typeface="Calibri"/>
              </a:defRPr>
            </a:pPr>
            <a:r>
              <a:rPr sz="2100" b="0" i="0">
                <a:solidFill>
                  <a:srgbClr val="EDF2F7"/>
                </a:solidFill>
                <a:latin typeface="Calibri"/>
                <a:ea typeface="Calibri"/>
                <a:cs typeface="Calibri"/>
              </a:rPr>
              <a:t>make -C llvm &amp;&amp; make -C llvm test</a:t>
            </a:r>
            <a:endParaRPr sz="1800"/>
          </a:p>
        </p:txBody>
      </p:sp>
      <p:sp>
        <p:nvSpPr>
          <p:cNvPr id="4" name="GitHub repository">
            <a:extLst xmlns:a="http://schemas.openxmlformats.org/drawingml/2006/main">
              <a:ext uri="{FF2B5EF4-FFF2-40B4-BE49-F238E27FC236}">
                <a16:creationId xmlns:a16="http://schemas.microsoft.com/office/drawing/2014/main" id="{338575A5-1DCB-4623-8968-DAFF5A722071}"/>
              </a:ext>
            </a:extLst>
          </p:cNvPr>
          <p:cNvSpPr>
            <a:spLocks xmlns:a="http://schemas.openxmlformats.org/drawingml/2006/main" noGrp="1"/>
          </p:cNvSpPr>
          <p:nvPr/>
        </p:nvSpPr>
        <p:spPr>
          <a:xfrm xmlns:a="http://schemas.openxmlformats.org/drawingml/2006/main">
            <a:off x="822960" y="22860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i="0">
                <a:solidFill>
                  <a:srgbClr val="F6A934"/>
                </a:solidFill>
                <a:latin typeface="Calibri"/>
                <a:ea typeface="Calibri"/>
                <a:cs typeface="Calibri"/>
              </a:defRPr>
            </a:defPPr>
            <a:lvl1pPr algn="l">
              <a:defRPr sz="2400" b="0" i="0">
                <a:solidFill>
                  <a:srgbClr val="F6A934"/>
                </a:solidFill>
                <a:latin typeface="Calibri"/>
                <a:ea typeface="Calibri"/>
                <a:cs typeface="Calibri"/>
              </a:defRPr>
            </a:lvl1pPr>
            <a:lvl2pPr algn="l">
              <a:defRPr sz="2400" b="0" i="0">
                <a:solidFill>
                  <a:srgbClr val="F6A934"/>
                </a:solidFill>
                <a:latin typeface="Calibri"/>
                <a:ea typeface="Calibri"/>
                <a:cs typeface="Calibri"/>
              </a:defRPr>
            </a:lvl2pPr>
            <a:lvl3pPr algn="l">
              <a:defRPr sz="2400" b="0" i="0">
                <a:solidFill>
                  <a:srgbClr val="F6A934"/>
                </a:solidFill>
                <a:latin typeface="Calibri"/>
                <a:ea typeface="Calibri"/>
                <a:cs typeface="Calibri"/>
              </a:defRPr>
            </a:lvl3pPr>
            <a:lvl4pPr algn="l">
              <a:defRPr sz="2400" b="0" i="0">
                <a:solidFill>
                  <a:srgbClr val="F6A934"/>
                </a:solidFill>
                <a:latin typeface="Calibri"/>
                <a:ea typeface="Calibri"/>
                <a:cs typeface="Calibri"/>
              </a:defRPr>
            </a:lvl4pPr>
            <a:lvl5pPr algn="l">
              <a:defRPr sz="2400" b="0" i="0">
                <a:solidFill>
                  <a:srgbClr val="F6A934"/>
                </a:solidFill>
                <a:latin typeface="Calibri"/>
                <a:ea typeface="Calibri"/>
                <a:cs typeface="Calibri"/>
              </a:defRPr>
            </a:lvl5pPr>
            <a:lvl6pPr algn="l">
              <a:defRPr sz="2400" b="0" i="0">
                <a:solidFill>
                  <a:srgbClr val="F6A934"/>
                </a:solidFill>
                <a:latin typeface="Calibri"/>
                <a:ea typeface="Calibri"/>
                <a:cs typeface="Calibri"/>
              </a:defRPr>
            </a:lvl6pPr>
            <a:lvl7pPr algn="l">
              <a:defRPr sz="2400" b="0" i="0">
                <a:solidFill>
                  <a:srgbClr val="F6A934"/>
                </a:solidFill>
                <a:latin typeface="Calibri"/>
                <a:ea typeface="Calibri"/>
                <a:cs typeface="Calibri"/>
              </a:defRPr>
            </a:lvl7pPr>
            <a:lvl8pPr algn="l">
              <a:defRPr sz="2400" b="0" i="0">
                <a:solidFill>
                  <a:srgbClr val="F6A934"/>
                </a:solidFill>
                <a:latin typeface="Calibri"/>
                <a:ea typeface="Calibri"/>
                <a:cs typeface="Calibri"/>
              </a:defRPr>
            </a:lvl8pPr>
            <a:lvl9pPr algn="l">
              <a:defRPr sz="2400" b="0" i="0">
                <a:solidFill>
                  <a:srgbClr val="F6A934"/>
                </a:solidFill>
                <a:latin typeface="Calibri"/>
                <a:ea typeface="Calibri"/>
                <a:cs typeface="Calibri"/>
              </a:defRPr>
            </a:lvl9pPr>
          </a:lstStyle>
          <a:p xmlns:a="http://schemas.openxmlformats.org/drawingml/2006/main">
            <a:pPr algn="l">
              <a:defRPr sz="2400" b="0" i="0">
                <a:solidFill>
                  <a:srgbClr val="F6A934"/>
                </a:solidFill>
                <a:latin typeface="Calibri"/>
                <a:ea typeface="Calibri"/>
                <a:cs typeface="Calibri"/>
              </a:defRPr>
            </a:pPr>
            <a:r>
              <a:rPr sz="2400" b="0" i="0" u="sng">
                <a:solidFill>
                  <a:srgbClr val="F6A934"/>
                </a:solidFill>
                <a:latin typeface="Calibri"/>
                <a:ea typeface="Calibri"/>
                <a:cs typeface="Calibri"/>
                <a:hlinkClick xmlns:r="http://schemas.openxmlformats.org/officeDocument/2006/relationships" r:id="R9bcb2b480ec54992"/>
              </a:rPr>
              <a:t>github.com/aswanth-07/matrixlang</a:t>
            </a:r>
          </a:p>
        </p:txBody>
      </p:sp>
      <p:sp>
        <p:nvSpPr>
          <p:cNvPr id="5" name="Questions">
            <a:extLst xmlns:a="http://schemas.openxmlformats.org/drawingml/2006/main">
              <a:ext uri="{FF2B5EF4-FFF2-40B4-BE49-F238E27FC236}">
                <a16:creationId xmlns:a16="http://schemas.microsoft.com/office/drawing/2014/main" id="{71B0A4C2-47CA-4882-8E58-AE22D9A6E0FD}"/>
              </a:ext>
            </a:extLst>
          </p:cNvPr>
          <p:cNvSpPr>
            <a:spLocks xmlns:a="http://schemas.openxmlformats.org/drawingml/2006/main" noGrp="1"/>
          </p:cNvSpPr>
          <p:nvPr/>
        </p:nvSpPr>
        <p:spPr>
          <a:xfrm xmlns:a="http://schemas.openxmlformats.org/drawingml/2006/main">
            <a:off x="822960" y="58293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i="0">
                <a:solidFill>
                  <a:srgbClr val="EDF2F7"/>
                </a:solidFill>
                <a:latin typeface="Calibri"/>
                <a:ea typeface="Calibri"/>
                <a:cs typeface="Calibri"/>
              </a:defRPr>
            </a:defPPr>
            <a:lvl1pPr algn="l">
              <a:defRPr sz="2100" b="1" i="0">
                <a:solidFill>
                  <a:srgbClr val="EDF2F7"/>
                </a:solidFill>
                <a:latin typeface="Calibri"/>
                <a:ea typeface="Calibri"/>
                <a:cs typeface="Calibri"/>
              </a:defRPr>
            </a:lvl1pPr>
            <a:lvl2pPr algn="l">
              <a:defRPr sz="2100" b="1" i="0">
                <a:solidFill>
                  <a:srgbClr val="EDF2F7"/>
                </a:solidFill>
                <a:latin typeface="Calibri"/>
                <a:ea typeface="Calibri"/>
                <a:cs typeface="Calibri"/>
              </a:defRPr>
            </a:lvl2pPr>
            <a:lvl3pPr algn="l">
              <a:defRPr sz="2100" b="1" i="0">
                <a:solidFill>
                  <a:srgbClr val="EDF2F7"/>
                </a:solidFill>
                <a:latin typeface="Calibri"/>
                <a:ea typeface="Calibri"/>
                <a:cs typeface="Calibri"/>
              </a:defRPr>
            </a:lvl3pPr>
            <a:lvl4pPr algn="l">
              <a:defRPr sz="2100" b="1" i="0">
                <a:solidFill>
                  <a:srgbClr val="EDF2F7"/>
                </a:solidFill>
                <a:latin typeface="Calibri"/>
                <a:ea typeface="Calibri"/>
                <a:cs typeface="Calibri"/>
              </a:defRPr>
            </a:lvl4pPr>
            <a:lvl5pPr algn="l">
              <a:defRPr sz="2100" b="1" i="0">
                <a:solidFill>
                  <a:srgbClr val="EDF2F7"/>
                </a:solidFill>
                <a:latin typeface="Calibri"/>
                <a:ea typeface="Calibri"/>
                <a:cs typeface="Calibri"/>
              </a:defRPr>
            </a:lvl5pPr>
            <a:lvl6pPr algn="l">
              <a:defRPr sz="2100" b="1" i="0">
                <a:solidFill>
                  <a:srgbClr val="EDF2F7"/>
                </a:solidFill>
                <a:latin typeface="Calibri"/>
                <a:ea typeface="Calibri"/>
                <a:cs typeface="Calibri"/>
              </a:defRPr>
            </a:lvl6pPr>
            <a:lvl7pPr algn="l">
              <a:defRPr sz="2100" b="1" i="0">
                <a:solidFill>
                  <a:srgbClr val="EDF2F7"/>
                </a:solidFill>
                <a:latin typeface="Calibri"/>
                <a:ea typeface="Calibri"/>
                <a:cs typeface="Calibri"/>
              </a:defRPr>
            </a:lvl7pPr>
            <a:lvl8pPr algn="l">
              <a:defRPr sz="2100" b="1" i="0">
                <a:solidFill>
                  <a:srgbClr val="EDF2F7"/>
                </a:solidFill>
                <a:latin typeface="Calibri"/>
                <a:ea typeface="Calibri"/>
                <a:cs typeface="Calibri"/>
              </a:defRPr>
            </a:lvl8pPr>
            <a:lvl9pPr algn="l">
              <a:defRPr sz="2100" b="1" i="0">
                <a:solidFill>
                  <a:srgbClr val="EDF2F7"/>
                </a:solidFill>
                <a:latin typeface="Calibri"/>
                <a:ea typeface="Calibri"/>
                <a:cs typeface="Calibri"/>
              </a:defRPr>
            </a:lvl9pPr>
          </a:lstStyle>
          <a:p xmlns:a="http://schemas.openxmlformats.org/drawingml/2006/main">
            <a:pPr algn="l">
              <a:defRPr sz="2100" b="1" i="0">
                <a:solidFill>
                  <a:srgbClr val="EDF2F7"/>
                </a:solidFill>
                <a:latin typeface="Calibri"/>
                <a:ea typeface="Calibri"/>
                <a:cs typeface="Calibri"/>
              </a:defRPr>
            </a:pPr>
            <a:r>
              <a:rPr sz="2100" b="1" i="0">
                <a:solidFill>
                  <a:srgbClr val="EDF2F7"/>
                </a:solidFill>
                <a:latin typeface="Calibri"/>
                <a:ea typeface="Calibri"/>
                <a:cs typeface="Calibri"/>
              </a:rPr>
              <a:t>Thank you. Questions?</a:t>
            </a:r>
          </a:p>
        </p:txBody>
      </p:sp>
    </p:spTree>
    <p:extLst>
      <p:ext uri="{BB962C8B-B14F-4D97-AF65-F5344CB8AC3E}">
        <p14:creationId xmlns:p14="http://schemas.microsoft.com/office/powerpoint/2010/main" val="897163450"/>
      </p:ext>
    </p:extLst>
  </p:cSld>
</p:sld>
</file>

<file path=ppt/theme/theme1.xml><?xml version="1.0" encoding="utf-8"?>
<a:theme xmlns:a="http://schemas.openxmlformats.org/drawingml/2006/main" name="Exact Bounded Relaxed">
  <a:themeElements>
    <a:clrScheme name="Exact Bounded Relaxed">
      <a:dk1>
        <a:srgbClr val="1B2A41"/>
      </a:dk1>
      <a:lt1>
        <a:srgbClr val="FFFFFF"/>
      </a:lt1>
      <a:dk2>
        <a:srgbClr val="3C506B"/>
      </a:dk2>
      <a:lt2>
        <a:srgbClr val="EEF2F6"/>
      </a:lt2>
      <a:accent1>
        <a:srgbClr val="F2A541"/>
      </a:accent1>
      <a:accent2>
        <a:srgbClr val="2E9E6B"/>
      </a:accent2>
      <a:accent3>
        <a:srgbClr val="D1495B"/>
      </a:accent3>
      <a:accent4>
        <a:srgbClr val="4C7DA8"/>
      </a:accent4>
      <a:accent5>
        <a:srgbClr val="8A9BB0"/>
      </a:accent5>
      <a:accent6>
        <a:srgbClr val="6B5B95"/>
      </a:accent6>
      <a:hlink>
        <a:srgbClr val="4C7DA8"/>
      </a:hlink>
      <a:folHlink>
        <a:srgbClr val="6B5B95"/>
      </a:folHlink>
    </a:clrScheme>
    <a:fontScheme name="Exact Bounded Relax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Exact Bounded Relaxe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2026-10-24T05:33:49.8880000Z</dcterms:created>
  <dcterms:modified xsi:type="dcterms:W3CDTF">2026-10-24T05:33:49.8880000Z</dcterms:modified>
</coreProperties>
</file>