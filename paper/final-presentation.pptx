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bcbea87-c395-c383-9221-8785004a2dc8}">
          <p14:sldIdLst>
            <p14:sldId id="256"/>
            <p14:sldId id="257"/>
          </p14:sldIdLst>
        </p14:section>
        <p14:section name="Approach" id="{faf54e33-9e9b-fbbb-f6d4-3b53b0d51f52}">
          <p14:sldIdLst>
            <p14:sldId id="258"/>
            <p14:sldId id="259"/>
            <p14:sldId id="260"/>
          </p14:sldIdLst>
        </p14:section>
        <p14:section name="Results" id="{277e03dd-eaa0-2e48-5423-bbbaf18bebae}">
          <p14:sldIdLst>
            <p14:sldId id="261"/>
            <p14:sldId id="262"/>
            <p14:sldId id="263"/>
            <p14:sldId id="264"/>
          </p14:sldIdLst>
        </p14:section>
        <p14:section name="Conclusion" id="{ac3b2e24-bd31-401d-ff5f-e92ae995e7c6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Speedup over strict Clang (×), MNIST, Cora and generated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ExactReduce (identical bits)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Pixel sum</c:v>
                  </c:pt>
                  <c:pt idx="1">
                    <c:v>Sum sq.</c:v>
                  </c:pt>
                  <c:pt idx="2">
                    <c:v>Gram</c:v>
                  </c:pt>
                  <c:pt idx="3">
                    <c:v>int8 model</c:v>
                  </c:pt>
                  <c:pt idx="4">
                    <c:v>Degrees</c:v>
                  </c:pt>
                  <c:pt idx="5">
                    <c:v>2-walks</c:v>
                  </c:pt>
                  <c:pt idx="6">
                    <c:v>GEMM</c:v>
                  </c:pt>
                  <c:pt idx="7">
                    <c:v>Energy</c:v>
                  </c:pt>
                  <c:pt idx="8">
                    <c:v>int32 sum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6.5</c:v>
                </c:pt>
                <c:pt idx="1">
                  <c:v>6.31</c:v>
                </c:pt>
                <c:pt idx="2">
                  <c:v>5.42</c:v>
                </c:pt>
                <c:pt idx="3">
                  <c:v>9.71</c:v>
                </c:pt>
                <c:pt idx="4">
                  <c:v>9.19</c:v>
                </c:pt>
                <c:pt idx="5">
                  <c:v>5.69</c:v>
                </c:pt>
                <c:pt idx="6">
                  <c:v>5.09</c:v>
                </c:pt>
                <c:pt idx="7">
                  <c:v>9.15</c:v>
                </c:pt>
                <c:pt idx="8">
                  <c:v>8.36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-ffast-math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Pixel sum</c:v>
                  </c:pt>
                  <c:pt idx="1">
                    <c:v>Sum sq.</c:v>
                  </c:pt>
                  <c:pt idx="2">
                    <c:v>Gram</c:v>
                  </c:pt>
                  <c:pt idx="3">
                    <c:v>int8 model</c:v>
                  </c:pt>
                  <c:pt idx="4">
                    <c:v>Degrees</c:v>
                  </c:pt>
                  <c:pt idx="5">
                    <c:v>2-walks</c:v>
                  </c:pt>
                  <c:pt idx="6">
                    <c:v>GEMM</c:v>
                  </c:pt>
                  <c:pt idx="7">
                    <c:v>Energy</c:v>
                  </c:pt>
                  <c:pt idx="8">
                    <c:v>int32 sum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6.57</c:v>
                </c:pt>
                <c:pt idx="1">
                  <c:v>6.21</c:v>
                </c:pt>
                <c:pt idx="2">
                  <c:v>5.33</c:v>
                </c:pt>
                <c:pt idx="3">
                  <c:v>10.18</c:v>
                </c:pt>
                <c:pt idx="4">
                  <c:v>9.25</c:v>
                </c:pt>
                <c:pt idx="5">
                  <c:v>5.77</c:v>
                </c:pt>
                <c:pt idx="6">
                  <c:v>5.35</c:v>
                </c:pt>
                <c:pt idx="7">
                  <c:v>9.39</c:v>
                </c:pt>
                <c:pt idx="8">
                  <c:v>8.75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C50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0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50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compilers make floating-point code fast by reordering arithmetic, but today that is all-or-nothing. We show a compiler can prove which guarantee each shortcut keeps.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strict mode is safe but slow; fast-math is fast but gives no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rewrite falls into one of three levels. Which one depends on the data, so the compiler proves it from facts about the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pipeline. Key fact: integers below 2^53 add exactly in a double, so if every partial sum stays below that, any order gives the same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MatrixLang shows the full idea with declared domains. The LLVM plugin shows it works in a production compiler on ordinary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run on the LLVM plugin. Kahan summation is a careful technique; fast-math rearranges away its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integer reductions on real MNIST and Cora data plus generated data. Same speed as fast-math, strict bits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Soundness: bit-for-bit checks, inputs built to break the proof, deliberately broken mutants, and the threshold shown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datasets (Cora, MNIST), existing code bases, and a second machine and compiler. Honest: most scientific code sums real data and is correctly declined.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scope: integer-valued data for bit identity; bounded guarantees for real data in MatrixLang.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message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Exact, Bounded, or Relaxed: Proving Which Floating-Point Guarantee a Compiler Rewrite Keeps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A Aswanth Raj  ·  Dr. RANJITHKUMAR 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School of Computer Science and Engineering, VIT Vellore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Manuscript prepared for ACM Transactions on Architecture and Code Optimization (TACO)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Compilers force a choice: fast or correct</a:t>
            </a:r>
            <a:endParaRPr lang="en-US" sz="3200" dirty="0"/>
          </a:p>
        </p:txBody>
      </p:sp>
      <p:sp>
        <p:nvSpPr>
          <p:cNvPr id="3" name="strict card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Strict IEEE mode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945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Never reorders arithmetic. Every result is exact to the program as written, but sums stay one-at-a-time and slow.</a:t>
            </a:r>
            <a:endParaRPr lang="en-US" sz="1600" dirty="0"/>
          </a:p>
        </p:txBody>
      </p:sp>
      <p:sp>
        <p:nvSpPr>
          <p:cNvPr id="8" name="fast-math card"/>
          <p:cNvSpPr/>
          <p:nvPr/>
        </p:nvSpPr>
        <p:spPr>
          <a:xfrm>
            <a:off x="626364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18068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-ffast-math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1945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Reorders freely and vectorizes: much faster. But nobody knows which results changed, or by how much.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order matters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6177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Computers round after almost every operation, so (a + b) + c can differ from a + (b + c).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 CPU adds 8–16 numbers at once only if it may split a sum into lanes, which is a reordering.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idea: three guarantees, proved per rewrite</a:t>
            </a:r>
            <a:endParaRPr lang="en-US" sz="3200" dirty="0"/>
          </a:p>
        </p:txBody>
      </p:sp>
      <p:sp>
        <p:nvSpPr>
          <p:cNvPr id="3" name="Bit-identical card"/>
          <p:cNvSpPr/>
          <p:nvPr/>
        </p:nvSpPr>
        <p:spPr>
          <a:xfrm>
            <a:off x="54864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1691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Bit-identical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Same bits as the program as written, for every input.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Integer-valued data: pixels, audio samples, int8 weights, counts</a:t>
            </a:r>
            <a:endParaRPr lang="en-US" sz="1400" dirty="0"/>
          </a:p>
        </p:txBody>
      </p:sp>
      <p:sp>
        <p:nvSpPr>
          <p:cNvPr id="9" name="Bound-preserving card"/>
          <p:cNvSpPr/>
          <p:nvPr/>
        </p:nvSpPr>
        <p:spPr>
          <a:xfrm>
            <a:off x="4325112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425" y="181691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Bound-preserving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Bits may change, but the worst-case error bound stays the same.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Real data with a known range, e.g. values in [−1, 1]</a:t>
            </a:r>
            <a:endParaRPr lang="en-US" sz="1400" dirty="0"/>
          </a:p>
        </p:txBody>
      </p:sp>
      <p:sp>
        <p:nvSpPr>
          <p:cNvPr id="15" name="Relaxed card"/>
          <p:cNvSpPr/>
          <p:nvPr/>
        </p:nvSpPr>
        <p:spPr>
          <a:xfrm>
            <a:off x="8101584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16459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897" y="1816913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Relaxed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Correct only over the real numbers, as fast-math assumes.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75904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Unbounded data: used only if the programmer allows it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compiler takes a shortcut only if the contract allows its level, and labels every output with its guarantee.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compiler decides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Facts about values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Declared input domains (MatrixLang) or integer ranges LLVM already knows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15184" y="320040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34640" y="155448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651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Proof per rewrite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all partial sums stay exact (below 2^53)? Does the error bound hold?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01184" y="320040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120640" y="155448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51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Level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Bit-identical, bound-preserving or relaxed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87184" y="320040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406640" y="155448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651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Contract decides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Strict takes only bit-identical rewrites; bounded also takes bound-preserving ones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73184" y="320040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92640" y="155448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3784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78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829800" y="2651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Act on it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Certificate per output; OpenMP reduction clauses in C; reassoc flags in LLVM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Theorem: a matrix chain whose sub-chains fit in 53 bits returns the correctly rounded product under every bracketing. The threshold is tight: one step above it, inputs exist where bracketings differ.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implementations</a:t>
            </a:r>
            <a:endParaRPr lang="en-US" sz="3200" dirty="0"/>
          </a:p>
        </p:txBody>
      </p:sp>
      <p:sp>
        <p:nvSpPr>
          <p:cNvPr id="3" name="MatrixLang card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MatrixLang compiler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7,700 lines of C11, flex and bison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Inputs declare domains: input(int8), input(real(1))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Reorders matrix chains under each contract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Prints a certificate for every output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Emits C with OpenMP reduction clauses</a:t>
            </a:r>
            <a:endParaRPr lang="en-US" sz="1600" dirty="0"/>
          </a:p>
        </p:txBody>
      </p:sp>
      <p:sp>
        <p:nvSpPr>
          <p:cNvPr id="8" name="ExactReduce card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18068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ExactReduce LLVM plugin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955 lines of C++, loaded with clang -fpass-plugin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Reads integer ranges in ordinary C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Proves sums exact statically, or adds a cheap run-time guard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Sets reassoc only on proven sums; never nsz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Clang's vectorizer then does the rest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fast-math gets it wrong, we stay correct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377440"/>
                <a:gridCol w="23774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Strict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-ffast-math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Kahan sum of 0.1, ten million times (true: 1,000,000)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1000000.0000000000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999999.9999899360  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1000000.0000000000  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float sum of 10M pixels (order matters)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2559933952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2557894400  (changed)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2559933952  (kept)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double sum of 10M pixels (exact in any order)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12.4 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1.6 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1.5 ms, same bits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Fast-math cannot tell safe shortcuts from unsafe ones. Ours takes the safe ones and leaves the rest alone.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LLVM: fast-math speed, strict bits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5.09–9.71×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faster than strict, nine integer kernels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95–102%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-ffast-math's speedup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1.65×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even on 16-element loops: the guard is cheap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Verified, not assumed</a:t>
            </a:r>
            <a:endParaRPr lang="en-US" sz="3200" dirty="0"/>
          </a:p>
        </p:txBody>
      </p:sp>
      <p:sp>
        <p:nvSpPr>
          <p:cNvPr id="3" name="check 0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57,600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executions: no output certified bit-identical ever differed (MatrixLang)</a:t>
            </a:r>
            <a:endParaRPr lang="en-US" sz="1600" dirty="0"/>
          </a:p>
        </p:txBody>
      </p:sp>
      <p:sp>
        <p:nvSpPr>
          <p:cNvPr id="6" name="check 1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 / 784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514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adversarial inputs changed by our plugin; fast-math changed 14</a:t>
            </a:r>
            <a:endParaRPr lang="en-US" sz="1600" dirty="0"/>
          </a:p>
        </p:txBody>
      </p:sp>
      <p:sp>
        <p:nvSpPr>
          <p:cNvPr id="9" name="check 2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92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failures from a mutant allowing one extra bit: the check is necessary, not conservative</a:t>
            </a:r>
            <a:endParaRPr lang="en-US" sz="1600" dirty="0"/>
          </a:p>
        </p:txBody>
      </p:sp>
      <p:sp>
        <p:nvSpPr>
          <p:cNvPr id="12" name="check 3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m*+1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892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theorem's threshold is the true boundary: inputs one step above it differ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Every number in the paper is generated by scripts from raw measurements; datasets are checked by SHA-256.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data, real code, two machines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3" y="158831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325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1,168×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32588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faster walk counts on the Cora citation graph, identical bits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3" y="2822753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5603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404 / 404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256032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identical results in CPython's audioop, up to 8.05× faster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" y="3886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3" y="405719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794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23 of 109</a:t>
            </a:r>
            <a:endParaRPr lang="en-US" sz="34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37947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reductions licensed in audioop, Pillow, SciPy and PolyBench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40080" y="512064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3" y="5291633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91640" y="5029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 result</a:t>
            </a:r>
            <a:endParaRPr lang="en-US" sz="3400" dirty="0"/>
          </a:p>
        </p:txBody>
      </p:sp>
      <p:sp>
        <p:nvSpPr>
          <p:cNvPr id="18" name="Text 12"/>
          <p:cNvSpPr txBox="1"/>
          <p:nvPr/>
        </p:nvSpPr>
        <p:spPr>
          <a:xfrm>
            <a:off x="4526280" y="50292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per certified kernel across 2 machines, GCC and Clang, every build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it helps, and its limits</a:t>
            </a:r>
            <a:endParaRPr lang="en-US" sz="3200" dirty="0"/>
          </a:p>
        </p:txBody>
      </p:sp>
      <p:sp>
        <p:nvSpPr>
          <p:cNvPr id="3" name="uses card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Uses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Image and audio statistics, histograms, correlation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Graph analytics and counting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Reproducible results across threads, CPUs and compilers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Safer speed for code that would otherwise need fast-math</a:t>
            </a:r>
            <a:endParaRPr lang="en-US" sz="1600" dirty="0"/>
          </a:p>
        </p:txBody>
      </p:sp>
      <p:sp>
        <p:nvSpPr>
          <p:cNvPr id="6" name="limits card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Limits and 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Bit-identical only for integer-valued data; true decimals get the bounded level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MatrixLang has no loops; the LLVM plugin covers loops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Next: bounded level in LLVM via range annotations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Next: an RFC to bring the license into LLVM's vectorizer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Fast wherever it is provably correct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Three guarantees instead of an on/off switch, with a certificate for every output.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Proved from the data, checked by execution, and working inside LLVM today.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act Bounded Relaxed">
  <a:themeElements>
    <a:clrScheme name="Exact Bounded Relaxed">
      <a:dk1>
        <a:srgbClr val="1B2A41"/>
      </a:dk1>
      <a:lt1>
        <a:srgbClr val="FFFFFF"/>
      </a:lt1>
      <a:dk2>
        <a:srgbClr val="3C506B"/>
      </a:dk2>
      <a:lt2>
        <a:srgbClr val="EEF2F6"/>
      </a:lt2>
      <a:accent1>
        <a:srgbClr val="F2A541"/>
      </a:accent1>
      <a:accent2>
        <a:srgbClr val="2E9E6B"/>
      </a:accent2>
      <a:accent3>
        <a:srgbClr val="D1495B"/>
      </a:accent3>
      <a:accent4>
        <a:srgbClr val="4C7DA8"/>
      </a:accent4>
      <a:accent5>
        <a:srgbClr val="8A9BB0"/>
      </a:accent5>
      <a:accent6>
        <a:srgbClr val="6B5B95"/>
      </a:accent6>
      <a:hlink>
        <a:srgbClr val="4C7DA8"/>
      </a:hlink>
      <a:folHlink>
        <a:srgbClr val="6B5B95"/>
      </a:folHlink>
    </a:clrScheme>
    <a:fontScheme name="Exact Bounded Relax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Exact, Bounded, or Relaxed</dc:title>
  <dc:subject>PptxGenJS Presentation</dc:subject>
  <dc:creator>A Aswanth Raj, Dr. RANJITHKUMAR S</dc:creator>
  <cp:lastModifiedBy>A Aswanth Raj, Dr. RANJITHKUMAR S</cp:lastModifiedBy>
  <cp:revision>1</cp:revision>
  <dcterms:created xsi:type="dcterms:W3CDTF">2026-10-22T09:36:58Z</dcterms:created>
  <dcterms:modified xsi:type="dcterms:W3CDTF">2026-10-22T09:36:58Z</dcterms:modified>
</cp:coreProperties>
</file>